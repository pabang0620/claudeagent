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8-created" id="256"/>
    <p:sldId r:id="rId9-created" id="257"/>
    <p:sldId r:id="rId10-created" id="258"/>
    <p:sldId r:id="rId11-created" id="259"/>
    <p:sldId r:id="rId12-created" id="260"/>
    <p:sldId r:id="rId13-created" id="261"/>
    <p:sldId r:id="rId14-created" id="262"/>
    <p:sldId r:id="rId15-created" id="263"/>
    <p:sldId r:id="rId16-created" id="264"/>
    <p:sldId r:id="rId17-created" id="265"/>
    <p:sldId r:id="rId18-created" id="266"/>
    <p:sldId r:id="rId19-created" id="267"/>
    <p:sldId r:id="rId20-created" id="268"/>
    <p:sldId r:id="rId21-created" id="269"/>
    <p:sldId r:id="rId22-created" id="270"/>
    <p:sldId r:id="rId23-created" id="271"/>
    <p:sldId r:id="rId24-created" id="272"/>
    <p:sldId r:id="rId25-created" id="273"/>
    <p:sldId r:id="rId26-created" id="274"/>
    <p:sldId r:id="rId27-created" id="275"/>
    <p:sldId r:id="rId28-created" id="276"/>
    <p:sldId r:id="rId29-created" id="277"/>
    <p:sldId r:id="rId30-created" id="278"/>
    <p:sldId r:id="rId31-created" id="279"/>
    <p:sldId r:id="rId32-created" id="280"/>
    <p:sldId r:id="rId33-created" id="281"/>
    <p:sldId r:id="rId34-created" id="282"/>
    <p:sldId r:id="rId35-created" id="283"/>
    <p:sldId r:id="rId36-created" id="284"/>
  </p:sldIdLst>
  <p:sldSz cx="1090536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-created" Type="http://schemas.openxmlformats.org/officeDocument/2006/relationships/slide" Target="slides/slide2.xml"/><Relationship Id="rId9-created" Type="http://schemas.openxmlformats.org/officeDocument/2006/relationships/slide" Target="slides/slide3.xml"/><Relationship Id="rId10-created" Type="http://schemas.openxmlformats.org/officeDocument/2006/relationships/slide" Target="slides/slide4.xml"/><Relationship Id="rId11-created" Type="http://schemas.openxmlformats.org/officeDocument/2006/relationships/slide" Target="slides/slide5.xml"/><Relationship Id="rId12-created" Type="http://schemas.openxmlformats.org/officeDocument/2006/relationships/slide" Target="slides/slide6.xml"/><Relationship Id="rId13-created" Type="http://schemas.openxmlformats.org/officeDocument/2006/relationships/slide" Target="slides/slide7.xml"/><Relationship Id="rId14-created" Type="http://schemas.openxmlformats.org/officeDocument/2006/relationships/slide" Target="slides/slide8.xml"/><Relationship Id="rId15-created" Type="http://schemas.openxmlformats.org/officeDocument/2006/relationships/slide" Target="slides/slide9.xml"/><Relationship Id="rId16-created" Type="http://schemas.openxmlformats.org/officeDocument/2006/relationships/slide" Target="slides/slide10.xml"/><Relationship Id="rId17-created" Type="http://schemas.openxmlformats.org/officeDocument/2006/relationships/slide" Target="slides/slide11.xml"/><Relationship Id="rId18-created" Type="http://schemas.openxmlformats.org/officeDocument/2006/relationships/slide" Target="slides/slide12.xml"/><Relationship Id="rId19-created" Type="http://schemas.openxmlformats.org/officeDocument/2006/relationships/slide" Target="slides/slide13.xml"/><Relationship Id="rId20-created" Type="http://schemas.openxmlformats.org/officeDocument/2006/relationships/slide" Target="slides/slide14.xml"/><Relationship Id="rId21-created" Type="http://schemas.openxmlformats.org/officeDocument/2006/relationships/slide" Target="slides/slide15.xml"/><Relationship Id="rId22-created" Type="http://schemas.openxmlformats.org/officeDocument/2006/relationships/slide" Target="slides/slide16.xml"/><Relationship Id="rId23-created" Type="http://schemas.openxmlformats.org/officeDocument/2006/relationships/slide" Target="slides/slide17.xml"/><Relationship Id="rId24-created" Type="http://schemas.openxmlformats.org/officeDocument/2006/relationships/slide" Target="slides/slide18.xml"/><Relationship Id="rId25-created" Type="http://schemas.openxmlformats.org/officeDocument/2006/relationships/slide" Target="slides/slide19.xml"/><Relationship Id="rId26-created" Type="http://schemas.openxmlformats.org/officeDocument/2006/relationships/slide" Target="slides/slide20.xml"/><Relationship Id="rId27-created" Type="http://schemas.openxmlformats.org/officeDocument/2006/relationships/slide" Target="slides/slide21.xml"/><Relationship Id="rId28-created" Type="http://schemas.openxmlformats.org/officeDocument/2006/relationships/slide" Target="slides/slide22.xml"/><Relationship Id="rId29-created" Type="http://schemas.openxmlformats.org/officeDocument/2006/relationships/slide" Target="slides/slide23.xml"/><Relationship Id="rId30-created" Type="http://schemas.openxmlformats.org/officeDocument/2006/relationships/slide" Target="slides/slide24.xml"/><Relationship Id="rId31-created" Type="http://schemas.openxmlformats.org/officeDocument/2006/relationships/slide" Target="slides/slide25.xml"/><Relationship Id="rId32-created" Type="http://schemas.openxmlformats.org/officeDocument/2006/relationships/slide" Target="slides/slide26.xml"/><Relationship Id="rId33-created" Type="http://schemas.openxmlformats.org/officeDocument/2006/relationships/slide" Target="slides/slide27.xml"/><Relationship Id="rId34-created" Type="http://schemas.openxmlformats.org/officeDocument/2006/relationships/slide" Target="slides/slide28.xml"/><Relationship Id="rId35-created" Type="http://schemas.openxmlformats.org/officeDocument/2006/relationships/slide" Target="slides/slide29.xml"/><Relationship Id="rId36-created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5" name="asset:BGP-201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777240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77240" y="502920"/>
              <a:ext cx="54864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정부 제안서 표지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77240" y="841248"/>
              <a:ext cx="9350880" cy="7772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스마트도시 데이터 통합플랫폼 구축사업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1645920"/>
              <a:ext cx="93508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FFFFFF"/>
                  </a:solidFill>
                  <a:latin typeface="Pretendard GOV SemiBold"/>
                  <a:ea typeface="Pretendard GOV SemiBold"/>
                  <a:cs typeface="Pretendard GOV SemiBold"/>
                </a:rPr>
                <a:t>지자체 협업 실증 및 확산 제안서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777240" y="2148840"/>
              <a:ext cx="2103120" cy="54864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77240" y="2514600"/>
              <a:ext cx="9350880" cy="4160520"/>
            </a:xfrm>
            <a:prstGeom prst="rect">
              <a:avLst/>
            </a:prstGeom>
            <a:solidFill>
              <a:srgbClr val="E9EAF1"/>
            </a:solidFill>
            <a:ln w="19050">
              <a:solidFill>
                <a:srgbClr val="D0554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5589840" y="3968496"/>
              <a:ext cx="391180" cy="39118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4766880" y="4206605"/>
              <a:ext cx="1014983" cy="612282"/>
            </a:xfrm>
            <a:prstGeom prst="triangl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77240" y="4849977"/>
              <a:ext cx="93508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실사 이미지 삽입 영역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7240" y="5124297"/>
              <a:ext cx="93508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(제안 시점 라이선스 확보 사진으로 교체)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7240" y="690372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  <a:latin typeface="Pretendard GOV Light"/>
                  <a:ea typeface="Pretendard GOV Light"/>
                  <a:cs typeface="Pretendard GOV Light"/>
                </a:rPr>
                <a:t>2026 · OO광역시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70520" y="6903720"/>
              <a:ext cx="3657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000" b="1">
                  <a:solidFill>
                    <a:srgbClr val="FFFFFF"/>
                  </a:solidFill>
                  <a:latin typeface="Pretendard GOV Light"/>
                  <a:ea typeface="Pretendard GOV Light"/>
                  <a:cs typeface="Pretendard GOV Light"/>
                </a:rPr>
                <a:t>PART 00 · 표지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BGP-202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7772400"/>
            </a:xfrm>
            <a:prstGeom prst="rect">
              <a:avLst/>
            </a:prstGeom>
            <a:gradFill rotWithShape="1">
              <a:gsLst>
                <a:gs pos="0">
                  <a:srgbClr val="2E4692"/>
                </a:gs>
                <a:gs pos="100000">
                  <a:srgbClr val="7030A0"/>
                </a:gs>
              </a:gsLst>
              <a:lin scaled="0" ang="189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77240" y="685800"/>
              <a:ext cx="5547868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정부 제안서 표지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77240" y="1051560"/>
              <a:ext cx="5547868" cy="1417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공공데이터 개방 활성화 지원사업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2606040"/>
              <a:ext cx="554786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FFFFFF"/>
                  </a:solidFill>
                  <a:latin typeface="Pretendard GOV SemiBold"/>
                  <a:ea typeface="Pretendard GOV SemiBold"/>
                  <a:cs typeface="Pretendard GOV SemiBold"/>
                </a:rPr>
                <a:t>민간 협력형 데이터 유통체계 구축 제안서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777240" y="3154680"/>
              <a:ext cx="1828800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7240" y="6903720"/>
              <a:ext cx="55478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  <a:latin typeface="Pretendard GOV Light"/>
                  <a:ea typeface="Pretendard GOV Light"/>
                  <a:cs typeface="Pretendard GOV Light"/>
                </a:rPr>
                <a:t>2026 · OO광역시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197537" y="777240"/>
              <a:ext cx="2930582" cy="62179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0554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8739023" y="3448827"/>
              <a:ext cx="217308" cy="21730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8281853" y="3581101"/>
              <a:ext cx="563844" cy="340135"/>
            </a:xfrm>
            <a:prstGeom prst="triangl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97537" y="4027922"/>
              <a:ext cx="2930582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실사 이미지 삽입 영역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97537" y="4302242"/>
              <a:ext cx="2930582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(제안 시점 라이선스 확보 사진으로 교체)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2" name="asset:BGP-203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274320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2743200"/>
              <a:ext cx="10905360" cy="5029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77240" y="502920"/>
              <a:ext cx="54864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정부 제안서 표지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868680"/>
              <a:ext cx="9350880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지역경제 활성화 통합지원사업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7240" y="2971800"/>
              <a:ext cx="93508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2E4692"/>
                  </a:solidFill>
                  <a:latin typeface="Pretendard GOV SemiBold"/>
                  <a:ea typeface="Pretendard GOV SemiBold"/>
                  <a:cs typeface="Pretendard GOV SemiBold"/>
                </a:rPr>
                <a:t>소상공인 디지털 전환 지원 제안서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983799" y="3611880"/>
              <a:ext cx="4937760" cy="3200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0554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5581061" y="4612928"/>
              <a:ext cx="366144" cy="366144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4810771" y="4835799"/>
              <a:ext cx="950025" cy="573096"/>
            </a:xfrm>
            <a:prstGeom prst="triangl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983799" y="5450870"/>
              <a:ext cx="49377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실사 이미지 삽입 영역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83799" y="5725190"/>
              <a:ext cx="493776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(제안 시점 라이선스 확보 사진으로 교체)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983799" y="3611880"/>
              <a:ext cx="292608" cy="4114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983799" y="3611880"/>
              <a:ext cx="41148" cy="2926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8951" y="3611880"/>
              <a:ext cx="292608" cy="4114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80411" y="3611880"/>
              <a:ext cx="41148" cy="2926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983799" y="6771132"/>
              <a:ext cx="292608" cy="4114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83799" y="6519672"/>
              <a:ext cx="41148" cy="2926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628951" y="6771132"/>
              <a:ext cx="292608" cy="4114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880411" y="6519672"/>
              <a:ext cx="41148" cy="2926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77240" y="726948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2026 · OO광역시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HDR-201"/>
          <p:cNvGrpSpPr/>
          <p:nvPr/>
        </p:nvGrpSpPr>
        <p:grpSpPr>
          <a:xfrm>
            <a:off x="546923" y="3566160"/>
            <a:ext cx="9811512" cy="457200"/>
            <a:chOff x="546923" y="3566160"/>
            <a:chExt cx="9811512" cy="457200"/>
          </a:xfrm>
        </p:grpSpPr>
        <p:sp>
          <p:nvSpPr>
            <p:cNvPr id="3" name="Rounded Rectangle 2"/>
            <p:cNvSpPr/>
            <p:nvPr/>
          </p:nvSpPr>
          <p:spPr>
            <a:xfrm>
              <a:off x="546923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E9EAF1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사업 개요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2421443" y="3739896"/>
              <a:ext cx="109728" cy="109728"/>
            </a:xfrm>
            <a:prstGeom prst="chevron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531171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추진 전략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4405691" y="3739896"/>
              <a:ext cx="109728" cy="109728"/>
            </a:xfrm>
            <a:prstGeom prst="chevron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515420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E9EAF1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추진 체계</a:t>
              </a:r>
            </a:p>
          </p:txBody>
        </p:sp>
        <p:sp>
          <p:nvSpPr>
            <p:cNvPr id="8" name="Chevron 7"/>
            <p:cNvSpPr/>
            <p:nvPr/>
          </p:nvSpPr>
          <p:spPr>
            <a:xfrm>
              <a:off x="6389939" y="3739896"/>
              <a:ext cx="109728" cy="109728"/>
            </a:xfrm>
            <a:prstGeom prst="chevron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499667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E9EAF1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세부 추진계획</a:t>
              </a:r>
            </a:p>
          </p:txBody>
        </p:sp>
        <p:sp>
          <p:nvSpPr>
            <p:cNvPr id="10" name="Chevron 9"/>
            <p:cNvSpPr/>
            <p:nvPr/>
          </p:nvSpPr>
          <p:spPr>
            <a:xfrm>
              <a:off x="8374188" y="3739896"/>
              <a:ext cx="109728" cy="109728"/>
            </a:xfrm>
            <a:prstGeom prst="chevron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483916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E9EAF1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기대효과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HDR-202"/>
          <p:cNvGrpSpPr/>
          <p:nvPr/>
        </p:nvGrpSpPr>
        <p:grpSpPr>
          <a:xfrm>
            <a:off x="560640" y="3108960"/>
            <a:ext cx="10351008" cy="1005839"/>
            <a:chOff x="560640" y="3108960"/>
            <a:chExt cx="10351008" cy="1005839"/>
          </a:xfrm>
        </p:grpSpPr>
        <p:sp>
          <p:nvSpPr>
            <p:cNvPr id="3" name="Rectangle 2"/>
            <p:cNvSpPr/>
            <p:nvPr/>
          </p:nvSpPr>
          <p:spPr>
            <a:xfrm>
              <a:off x="1347024" y="3374136"/>
              <a:ext cx="8211312" cy="3657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63560" y="3108960"/>
              <a:ext cx="566928" cy="56692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60640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사업 개요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258120" y="3108960"/>
              <a:ext cx="566928" cy="56692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755199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추진 전략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452680" y="3108960"/>
              <a:ext cx="566928" cy="566928"/>
            </a:xfrm>
            <a:prstGeom prst="ellips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949760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추진 체계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647239" y="3108960"/>
              <a:ext cx="566928" cy="5669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Pretendard GOV Black"/>
                  <a:ea typeface="Pretendard GOV Black"/>
                  <a:cs typeface="Pretendard GOV Black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44319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세부 추진계획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9841800" y="3108960"/>
              <a:ext cx="566928" cy="5669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Pretendard GOV Black"/>
                  <a:ea typeface="Pretendard GOV Black"/>
                  <a:cs typeface="Pretendard GOV Black"/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338880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기대효과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204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777240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22960" y="1005840"/>
              <a:ext cx="3657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7030A0"/>
                  </a:solidFill>
                  <a:latin typeface="Pretendard GOV Light"/>
                  <a:ea typeface="Pretendard GOV Light"/>
                  <a:cs typeface="Pretendard GOV Light"/>
                </a:rPr>
                <a:t>PART 01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22960" y="1417320"/>
              <a:ext cx="3657600" cy="2743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01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46320" y="2331720"/>
              <a:ext cx="5236080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사업 개요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846320" y="3657600"/>
              <a:ext cx="2194560" cy="640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46320" y="3886200"/>
              <a:ext cx="52360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FFFFFF"/>
                  </a:solidFill>
                  <a:latin typeface="Pretendard GOV SemiBold"/>
                  <a:ea typeface="Pretendard GOV SemiBold"/>
                  <a:cs typeface="Pretendard GOV SemiBold"/>
                </a:rPr>
                <a:t>사업 추진 배경과 목표를 설명합니다.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726948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  <a:latin typeface="Pretendard GOV Light"/>
                  <a:ea typeface="Pretendard GOV Light"/>
                  <a:cs typeface="Pretendard GOV Light"/>
                </a:rPr>
                <a:t>2026 · 스마트도시 데이터 통합플랫폼 구축사업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HDR-203"/>
          <p:cNvGrpSpPr/>
          <p:nvPr/>
        </p:nvGrpSpPr>
        <p:grpSpPr>
          <a:xfrm>
            <a:off x="560640" y="457200"/>
            <a:ext cx="9784080" cy="457200"/>
            <a:chOff x="560640" y="457200"/>
            <a:chExt cx="9784080" cy="457200"/>
          </a:xfrm>
        </p:grpSpPr>
        <p:sp>
          <p:nvSpPr>
            <p:cNvPr id="3" name="Rectangle 2"/>
            <p:cNvSpPr/>
            <p:nvPr/>
          </p:nvSpPr>
          <p:spPr>
            <a:xfrm>
              <a:off x="560640" y="457200"/>
              <a:ext cx="9784080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33792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1. 사업 개요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590608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2. 추진 전략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517456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47424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3. 추진 체계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474272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04239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4. 세부 추진계획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31087" y="859536"/>
              <a:ext cx="1956815" cy="54864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31087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61056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5. 기대효과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87903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asset:PRC-201"/>
          <p:cNvGrpSpPr/>
          <p:nvPr/>
        </p:nvGrpSpPr>
        <p:grpSpPr>
          <a:xfrm>
            <a:off x="594359" y="3086100"/>
            <a:ext cx="9720072" cy="1645920"/>
            <a:chOff x="594359" y="3086100"/>
            <a:chExt cx="9720072" cy="1645920"/>
          </a:xfrm>
        </p:grpSpPr>
        <p:sp>
          <p:nvSpPr>
            <p:cNvPr id="3" name="Rounded Rectangle 2"/>
            <p:cNvSpPr/>
            <p:nvPr/>
          </p:nvSpPr>
          <p:spPr>
            <a:xfrm>
              <a:off x="594359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과제 발굴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395727" y="3447288"/>
              <a:ext cx="164592" cy="329184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578607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현황 조사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379975" y="3447288"/>
              <a:ext cx="164592" cy="329184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562855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계획 수립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6364223" y="3447288"/>
              <a:ext cx="164592" cy="329184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547103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사업 추진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8348471" y="3447288"/>
              <a:ext cx="164592" cy="329184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531351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성과 관리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4359" y="4366260"/>
              <a:ext cx="972007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단계별 세부 추진계획은 하위 실행계획에 따라 조정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HDR-203"/>
          <p:cNvGrpSpPr/>
          <p:nvPr/>
        </p:nvGrpSpPr>
        <p:grpSpPr>
          <a:xfrm>
            <a:off x="560640" y="457200"/>
            <a:ext cx="9784080" cy="457200"/>
            <a:chOff x="560640" y="457200"/>
            <a:chExt cx="9784080" cy="457200"/>
          </a:xfrm>
        </p:grpSpPr>
        <p:sp>
          <p:nvSpPr>
            <p:cNvPr id="3" name="Rectangle 2"/>
            <p:cNvSpPr/>
            <p:nvPr/>
          </p:nvSpPr>
          <p:spPr>
            <a:xfrm>
              <a:off x="560640" y="457200"/>
              <a:ext cx="9784080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33792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1. 사업 개요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590608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2. 추진 전략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517456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47424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3. 추진 체계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474272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04239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4. 세부 추진계획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31087" y="859536"/>
              <a:ext cx="1956815" cy="54864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31087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61056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5. 기대효과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87903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asset:KPI-206"/>
          <p:cNvGrpSpPr/>
          <p:nvPr/>
        </p:nvGrpSpPr>
        <p:grpSpPr>
          <a:xfrm>
            <a:off x="379476" y="2331720"/>
            <a:ext cx="10149840" cy="2468880"/>
            <a:chOff x="379476" y="2331720"/>
            <a:chExt cx="10149840" cy="2468880"/>
          </a:xfrm>
        </p:grpSpPr>
        <p:sp>
          <p:nvSpPr>
            <p:cNvPr id="3" name="Rounded Rectangle 2"/>
            <p:cNvSpPr/>
            <p:nvPr/>
          </p:nvSpPr>
          <p:spPr>
            <a:xfrm>
              <a:off x="379476" y="2331720"/>
              <a:ext cx="2331720" cy="246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2E46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79476" y="2331720"/>
              <a:ext cx="2331720" cy="457200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79476" y="2331720"/>
              <a:ext cx="2331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지표 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79476" y="3017520"/>
              <a:ext cx="233172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1,000</a:t>
              </a:r>
              <a:r>
                <a:rPr sz="13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70916" y="4251960"/>
              <a:ext cx="21488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검증 사업 DB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985515" y="2331720"/>
              <a:ext cx="2331720" cy="246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85515" y="2331720"/>
              <a:ext cx="2331720" cy="4572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85515" y="2331720"/>
              <a:ext cx="2331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지표 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985515" y="3017520"/>
              <a:ext cx="233172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7030A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40</a:t>
              </a:r>
              <a:r>
                <a:rPr sz="13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개소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76956" y="4251960"/>
              <a:ext cx="21488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참여기관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591555" y="2331720"/>
              <a:ext cx="2331720" cy="246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591555" y="2331720"/>
              <a:ext cx="2331720" cy="457200"/>
            </a:xfrm>
            <a:prstGeom prst="round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591555" y="2331720"/>
              <a:ext cx="2331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지표 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91555" y="3017520"/>
              <a:ext cx="233172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D05548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42</a:t>
              </a:r>
              <a:r>
                <a:rPr sz="13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억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682995" y="4251960"/>
              <a:ext cx="21488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연계 예산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197596" y="2331720"/>
              <a:ext cx="2331720" cy="246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6975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197596" y="2331720"/>
              <a:ext cx="2331720" cy="457200"/>
            </a:xfrm>
            <a:prstGeom prst="roundRect">
              <a:avLst/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7596" y="2331720"/>
              <a:ext cx="2331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지표 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197596" y="3017520"/>
              <a:ext cx="233172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69759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4.6</a:t>
              </a:r>
              <a:r>
                <a:rPr sz="13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점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289036" y="4251960"/>
              <a:ext cx="21488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만족도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KPI-203"/>
          <p:cNvGrpSpPr/>
          <p:nvPr/>
        </p:nvGrpSpPr>
        <p:grpSpPr>
          <a:xfrm>
            <a:off x="1280160" y="1554480"/>
            <a:ext cx="8348471" cy="4206240"/>
            <a:chOff x="1280160" y="1554480"/>
            <a:chExt cx="8348471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1280160" y="1554480"/>
              <a:ext cx="8348471" cy="4206240"/>
            </a:xfrm>
            <a:prstGeom prst="roundRect">
              <a:avLst>
                <a:gd name="adj" fmla="val 6000"/>
              </a:avLst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554480" y="1874519"/>
              <a:ext cx="77998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4692"/>
                  </a:solidFill>
                  <a:latin typeface="Pretendard GOV ExtraBold"/>
                  <a:ea typeface="Pretendard GOV ExtraBold"/>
                  <a:cs typeface="Pretendard GOV ExtraBold"/>
                </a:rPr>
                <a:t>연간 핵심 성과지표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554480" y="2514600"/>
              <a:ext cx="7799831" cy="20116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96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12,500</a:t>
              </a:r>
              <a:r>
                <a:rPr sz="28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4617720"/>
              <a:ext cx="77998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누적 민원 처리건수 — 전년 대비 28% 증가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554480" y="5257800"/>
              <a:ext cx="7799831" cy="128016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54480" y="5257800"/>
              <a:ext cx="6707855" cy="12801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HDR-203"/>
          <p:cNvGrpSpPr/>
          <p:nvPr/>
        </p:nvGrpSpPr>
        <p:grpSpPr>
          <a:xfrm>
            <a:off x="560640" y="457200"/>
            <a:ext cx="9784080" cy="457200"/>
            <a:chOff x="560640" y="457200"/>
            <a:chExt cx="9784080" cy="457200"/>
          </a:xfrm>
        </p:grpSpPr>
        <p:sp>
          <p:nvSpPr>
            <p:cNvPr id="3" name="Rectangle 2"/>
            <p:cNvSpPr/>
            <p:nvPr/>
          </p:nvSpPr>
          <p:spPr>
            <a:xfrm>
              <a:off x="560640" y="457200"/>
              <a:ext cx="9784080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33792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1. 사업 개요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590608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2. 추진 전략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517456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47424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3. 추진 체계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474272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04239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4. 세부 추진계획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31087" y="859536"/>
              <a:ext cx="1956815" cy="54864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31087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61056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5. 기대효과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87903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aphicFrame>
        <p:nvGraphicFramePr>
          <p:cNvPr id="4" name="asset:TBL-201"/>
          <p:cNvGraphicFramePr>
            <a:graphicFrameLocks noGrp="1"/>
          </p:cNvGraphicFramePr>
          <p:nvPr/>
        </p:nvGraphicFramePr>
        <p:xfrm>
          <a:off x="457200" y="1234440"/>
          <a:ext cx="9990956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7830"/>
                <a:gridCol w="1298824"/>
                <a:gridCol w="1298824"/>
                <a:gridCol w="1298824"/>
                <a:gridCol w="1298824"/>
                <a:gridCol w="2397830"/>
              </a:tblGrid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2025년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2026년 계획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증감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 추진율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▲18%p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예산 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▲23%p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콘텐츠 제작 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120건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108건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150건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121건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▲13건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고객 만족도(CSAT)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85점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82점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90점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79점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▼3점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" name="asset:TBL-202"/>
          <p:cNvGraphicFramePr>
            <a:graphicFrameLocks noGrp="1"/>
          </p:cNvGraphicFramePr>
          <p:nvPr/>
        </p:nvGraphicFramePr>
        <p:xfrm>
          <a:off x="457200" y="1234440"/>
          <a:ext cx="9990958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8824"/>
                <a:gridCol w="1448689"/>
                <a:gridCol w="1448689"/>
                <a:gridCol w="1448689"/>
                <a:gridCol w="1448689"/>
                <a:gridCol w="1448689"/>
                <a:gridCol w="1448689"/>
              </a:tblGrid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추진체계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성과관리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환류체계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조직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역할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점검주기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개선조치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총괄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사업총괄반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예산·일정 총괄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사업추진율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월 1회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지연시 즉시 보고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실행분과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세부과제 수행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과제완료율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월 1회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지연과제 재계획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자문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전문가 자문단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기술·정책 자문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자문충족도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분기 1회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자문의견 반영률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평가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성과평가위원회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성과 검증·환류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환류이행률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반기 1회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미이행 과제 재조치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" name="asset:TBL-203"/>
          <p:cNvGraphicFramePr>
            <a:graphicFrameLocks noGrp="1"/>
          </p:cNvGraphicFramePr>
          <p:nvPr/>
        </p:nvGraphicFramePr>
        <p:xfrm>
          <a:off x="457200" y="1234440"/>
          <a:ext cx="9990957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76"/>
                <a:gridCol w="3197107"/>
                <a:gridCol w="1798372"/>
                <a:gridCol w="1598553"/>
                <a:gridCol w="2597649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No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과제명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담당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진행상태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시스템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개발운영팀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검수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데이터 연계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정보화팀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연계테스트 통과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사업운영팀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2E46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68% 진척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대국민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홍보팀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2E46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채널 3종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성과평가 체계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평가관리팀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일정 재조정 필요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유지보수 체계 수립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6975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착수 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" name="asset:TBL-204"/>
          <p:cNvGraphicFramePr>
            <a:graphicFrameLocks noGrp="1"/>
          </p:cNvGraphicFramePr>
          <p:nvPr/>
        </p:nvGraphicFramePr>
        <p:xfrm>
          <a:off x="457200" y="1234440"/>
          <a:ext cx="9990958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8011"/>
                <a:gridCol w="4595841"/>
                <a:gridCol w="1598553"/>
                <a:gridCol w="1598553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평가영역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세부 평가지표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배점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획득점수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 이해도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사업목표 부합성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추진전략 타당성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rowSpan="3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수행 역량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조직 및 인력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유사사업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협력체계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가격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예산 적정성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" name="asset:TBL-205"/>
          <p:cNvGraphicFramePr>
            <a:graphicFrameLocks noGrp="1"/>
          </p:cNvGraphicFramePr>
          <p:nvPr/>
        </p:nvGraphicFramePr>
        <p:xfrm>
          <a:off x="457200" y="1234440"/>
          <a:ext cx="9990957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8734"/>
                <a:gridCol w="2397830"/>
                <a:gridCol w="1598553"/>
                <a:gridCol w="1598553"/>
                <a:gridCol w="1398734"/>
                <a:gridCol w="1598553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세부항목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예산액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집행액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인건비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정규인력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82,400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91.6%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정상집행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전문인력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40,000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35,100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87.8%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정상집행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rowSpan="3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120,000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98,500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82.1%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정상집행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시스템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150,000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112,300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74.9%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순연 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홍보·확산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51,200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85.3%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정상집행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460,000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379,500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82.5%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-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" name="asset:TBL-206"/>
          <p:cNvGraphicFramePr>
            <a:graphicFrameLocks noGrp="1"/>
          </p:cNvGraphicFramePr>
          <p:nvPr/>
        </p:nvGraphicFramePr>
        <p:xfrm>
          <a:off x="457200" y="1234440"/>
          <a:ext cx="9990958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8734"/>
                <a:gridCol w="4196203"/>
                <a:gridCol w="1998191"/>
                <a:gridCol w="239783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점검항목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확인여부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보안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취약점 점검 조치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✓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최종 조치완료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개인정보 처리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✓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DPIA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성능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부하테스트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2E46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3차 테스트 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장애대응 체계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6975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매뉴얼 작성 예정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운영 매뉴얼 수립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✓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배포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교육·이관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6975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착수 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26" name="asset:TML-201"/>
          <p:cNvGrpSpPr/>
          <p:nvPr/>
        </p:nvGrpSpPr>
        <p:grpSpPr>
          <a:xfrm>
            <a:off x="457200" y="320040"/>
            <a:ext cx="10082400" cy="7178039"/>
            <a:chOff x="457200" y="320040"/>
            <a:chExt cx="10082400" cy="7178039"/>
          </a:xfrm>
        </p:grpSpPr>
        <p:sp>
          <p:nvSpPr>
            <p:cNvPr id="2" name="TextBox 1"/>
            <p:cNvSpPr txBox="1"/>
            <p:nvPr/>
          </p:nvSpPr>
          <p:spPr>
            <a:xfrm>
              <a:off x="457200" y="320040"/>
              <a:ext cx="99909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2E4692"/>
                  </a:solidFill>
                  <a:latin typeface="Pretendard GOV Black"/>
                  <a:ea typeface="Pretendard GOV Black"/>
                  <a:cs typeface="Pretendard GOV Black"/>
                </a:rPr>
                <a:t>gov 대형 실행 스케줄 그리드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57200" y="777240"/>
              <a:ext cx="99909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2단 헤더(월 카테고리 1/5/4/4/5/4/4 비균등 gridSpan × 27리프 컬럼, slide4 실측 구조) · 리프=ISO 주차 26~52 · 좌측 구분 + 우측 비고 컬럼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234440"/>
              <a:ext cx="1737360" cy="731520"/>
            </a:xfrm>
            <a:prstGeom prst="rect">
              <a:avLst/>
            </a:prstGeom>
            <a:solidFill>
              <a:srgbClr val="8F99A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" y="1234440"/>
              <a:ext cx="1737360" cy="7315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구분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194560" y="1234440"/>
              <a:ext cx="285368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194560" y="123444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6월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479928" y="1234440"/>
              <a:ext cx="1426844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479928" y="1234440"/>
              <a:ext cx="142684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7월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06773" y="1234440"/>
              <a:ext cx="1141475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6773" y="1234440"/>
              <a:ext cx="1141475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8월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048248" y="1234440"/>
              <a:ext cx="1141475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48248" y="1234440"/>
              <a:ext cx="1141475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9월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189724" y="1234440"/>
              <a:ext cx="1426844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89724" y="1234440"/>
              <a:ext cx="142684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10월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16568" y="1234440"/>
              <a:ext cx="1141475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16568" y="1234440"/>
              <a:ext cx="1141475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11월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758044" y="1234440"/>
              <a:ext cx="1141475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758044" y="1234440"/>
              <a:ext cx="1141475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12월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194560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94560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26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479928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479928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27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765297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765297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28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050666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050666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29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336035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336035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621404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621404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31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906773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906773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32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192142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192142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33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477511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477511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34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762879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762879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35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048248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048248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36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333617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333617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37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618986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618986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38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04355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904355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39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189724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189724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40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475093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475093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760462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760462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42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045831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045831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43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331200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331200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44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616568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616568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45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901937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901937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46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8187306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187306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47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472675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472675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48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8758044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758044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49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043413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043413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50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9328782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9328782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51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9614151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614151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52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899520" y="1234440"/>
              <a:ext cx="640080" cy="731520"/>
            </a:xfrm>
            <a:prstGeom prst="rect">
              <a:avLst/>
            </a:prstGeom>
            <a:solidFill>
              <a:srgbClr val="8F99A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899520" y="1234440"/>
              <a:ext cx="640080" cy="7315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비고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57200" y="1965960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30352" y="1965960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주요 마일스톤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194560" y="1965960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9899520" y="1965960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2211682" y="2016671"/>
              <a:ext cx="821862" cy="129082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457200" y="2196465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30352" y="2196465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사전 자문 결과 및 전략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2194560" y="2196465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899520" y="2196465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2497051" y="2247176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457200" y="242696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30352" y="242696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분야별 학계 전문가 자문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194560" y="242696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899520" y="242696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2782419" y="2477681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457200" y="2657475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30352" y="2657475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분야별 업계 전문가 자문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194560" y="2657475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9899520" y="2657475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3067788" y="2708186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57200" y="2887980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30352" y="2887980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자문위원회 개최(오프라인)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2194560" y="2887980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899520" y="2887980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3353157" y="2938691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57200" y="3118485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30352" y="3118485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적합성 검토(온라인)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2194560" y="3118485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9899520" y="3118485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3638526" y="3169196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457200" y="334898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530352" y="334898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정량 검증 방안 수립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194560" y="334898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9899520" y="334898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3923895" y="3399701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57200" y="357949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30352" y="357949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대상 정보 취합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194560" y="357949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9899520" y="357949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Rounded Rectangle 114"/>
            <p:cNvSpPr/>
            <p:nvPr/>
          </p:nvSpPr>
          <p:spPr>
            <a:xfrm>
              <a:off x="4209264" y="3630206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457200" y="380999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30352" y="380999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1차 정량 검증 결과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2194560" y="380999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9899520" y="380999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4494633" y="3860711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457200" y="404050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530352" y="404050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신용도 조회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2194560" y="404050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9899520" y="404050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4780002" y="4091216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57200" y="427100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530352" y="427100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2차 검증 체크리스트</a:t>
              </a: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2194560" y="427100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9899520" y="427100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Rounded Rectangle 129"/>
            <p:cNvSpPr/>
            <p:nvPr/>
          </p:nvSpPr>
          <p:spPr>
            <a:xfrm>
              <a:off x="5065371" y="4321721"/>
              <a:ext cx="821862" cy="129082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457200" y="450151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530352" y="450151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체크리스트 수집 결과</a:t>
              </a:r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2194560" y="450151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9899520" y="450151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Rounded Rectangle 134"/>
            <p:cNvSpPr/>
            <p:nvPr/>
          </p:nvSpPr>
          <p:spPr>
            <a:xfrm>
              <a:off x="5350739" y="4552226"/>
              <a:ext cx="821862" cy="129082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457200" y="473201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530352" y="473201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분류 기준 수립</a:t>
              </a:r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2194560" y="473201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9899520" y="473201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Rounded Rectangle 139"/>
            <p:cNvSpPr/>
            <p:nvPr/>
          </p:nvSpPr>
          <p:spPr>
            <a:xfrm>
              <a:off x="5636108" y="4782731"/>
              <a:ext cx="821862" cy="129082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457200" y="496252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30352" y="496252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분류 체계 개편</a:t>
              </a: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2194560" y="496252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9899520" y="496252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Rounded Rectangle 144"/>
            <p:cNvSpPr/>
            <p:nvPr/>
          </p:nvSpPr>
          <p:spPr>
            <a:xfrm>
              <a:off x="5921477" y="5013236"/>
              <a:ext cx="821862" cy="129082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457200" y="519302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530352" y="519302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분류 체계 완성</a:t>
              </a: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2194560" y="519302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9899520" y="519302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Rounded Rectangle 149"/>
            <p:cNvSpPr/>
            <p:nvPr/>
          </p:nvSpPr>
          <p:spPr>
            <a:xfrm>
              <a:off x="6206846" y="5243741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457200" y="542353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30352" y="542353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활용 방안 마련</a:t>
              </a: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2194560" y="542353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9899520" y="542353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Rounded Rectangle 154"/>
            <p:cNvSpPr/>
            <p:nvPr/>
          </p:nvSpPr>
          <p:spPr>
            <a:xfrm>
              <a:off x="6492215" y="5474246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457200" y="565403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530352" y="565403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신규 항목 반영</a:t>
              </a: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2194560" y="565403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9899520" y="565403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Rounded Rectangle 159"/>
            <p:cNvSpPr/>
            <p:nvPr/>
          </p:nvSpPr>
          <p:spPr>
            <a:xfrm>
              <a:off x="6777584" y="5704751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457200" y="588454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530352" y="588454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활성화 방안 수립</a:t>
              </a: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2194560" y="588454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9899520" y="588454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Rounded Rectangle 164"/>
            <p:cNvSpPr/>
            <p:nvPr/>
          </p:nvSpPr>
          <p:spPr>
            <a:xfrm>
              <a:off x="7062953" y="5935256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457200" y="611504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530352" y="611504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개편 카테고리 반영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2194560" y="611504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9899520" y="611504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Rounded Rectangle 169"/>
            <p:cNvSpPr/>
            <p:nvPr/>
          </p:nvSpPr>
          <p:spPr>
            <a:xfrm>
              <a:off x="7348322" y="6165761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457200" y="634555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530352" y="634555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데이터베이스 반영</a:t>
              </a: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2194560" y="634555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9899520" y="634555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Rounded Rectangle 174"/>
            <p:cNvSpPr/>
            <p:nvPr/>
          </p:nvSpPr>
          <p:spPr>
            <a:xfrm>
              <a:off x="7633691" y="6396266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457200" y="657605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530352" y="657605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운영 정책 기획(1)</a:t>
              </a:r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2194560" y="657605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9899520" y="657605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Rounded Rectangle 179"/>
            <p:cNvSpPr/>
            <p:nvPr/>
          </p:nvSpPr>
          <p:spPr>
            <a:xfrm>
              <a:off x="7919059" y="6626771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457200" y="680656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30352" y="680656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운영 정책 기획(2)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2194560" y="680656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9899520" y="680656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Rounded Rectangle 184"/>
            <p:cNvSpPr/>
            <p:nvPr/>
          </p:nvSpPr>
          <p:spPr>
            <a:xfrm>
              <a:off x="8204428" y="6857276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57200" y="703706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530352" y="703706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등급 제도 기획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2194560" y="703706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9899520" y="703706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Rounded Rectangle 189"/>
            <p:cNvSpPr/>
            <p:nvPr/>
          </p:nvSpPr>
          <p:spPr>
            <a:xfrm>
              <a:off x="8489797" y="7087781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457200" y="726757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530352" y="726757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인증마크 도입 기획</a:t>
              </a:r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2194560" y="726757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9899520" y="726757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Rounded Rectangle 194"/>
            <p:cNvSpPr/>
            <p:nvPr/>
          </p:nvSpPr>
          <p:spPr>
            <a:xfrm>
              <a:off x="8775166" y="7318286"/>
              <a:ext cx="821862" cy="129082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6" name="Connector 195"/>
            <p:cNvCxnSpPr/>
            <p:nvPr/>
          </p:nvCxnSpPr>
          <p:spPr>
            <a:xfrm>
              <a:off x="2194560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or 196"/>
            <p:cNvCxnSpPr/>
            <p:nvPr/>
          </p:nvCxnSpPr>
          <p:spPr>
            <a:xfrm>
              <a:off x="2479928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ctor 197"/>
            <p:cNvCxnSpPr/>
            <p:nvPr/>
          </p:nvCxnSpPr>
          <p:spPr>
            <a:xfrm>
              <a:off x="2765297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ctor 198"/>
            <p:cNvCxnSpPr/>
            <p:nvPr/>
          </p:nvCxnSpPr>
          <p:spPr>
            <a:xfrm>
              <a:off x="3050666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or 199"/>
            <p:cNvCxnSpPr/>
            <p:nvPr/>
          </p:nvCxnSpPr>
          <p:spPr>
            <a:xfrm>
              <a:off x="3336035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ctor 200"/>
            <p:cNvCxnSpPr/>
            <p:nvPr/>
          </p:nvCxnSpPr>
          <p:spPr>
            <a:xfrm>
              <a:off x="3621404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ctor 201"/>
            <p:cNvCxnSpPr/>
            <p:nvPr/>
          </p:nvCxnSpPr>
          <p:spPr>
            <a:xfrm>
              <a:off x="3906773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ctor 202"/>
            <p:cNvCxnSpPr/>
            <p:nvPr/>
          </p:nvCxnSpPr>
          <p:spPr>
            <a:xfrm>
              <a:off x="4192142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or 203"/>
            <p:cNvCxnSpPr/>
            <p:nvPr/>
          </p:nvCxnSpPr>
          <p:spPr>
            <a:xfrm>
              <a:off x="4477511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ctor 204"/>
            <p:cNvCxnSpPr/>
            <p:nvPr/>
          </p:nvCxnSpPr>
          <p:spPr>
            <a:xfrm>
              <a:off x="4762879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ctor 205"/>
            <p:cNvCxnSpPr/>
            <p:nvPr/>
          </p:nvCxnSpPr>
          <p:spPr>
            <a:xfrm>
              <a:off x="5048248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ctor 206"/>
            <p:cNvCxnSpPr/>
            <p:nvPr/>
          </p:nvCxnSpPr>
          <p:spPr>
            <a:xfrm>
              <a:off x="5333617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ctor 207"/>
            <p:cNvCxnSpPr/>
            <p:nvPr/>
          </p:nvCxnSpPr>
          <p:spPr>
            <a:xfrm>
              <a:off x="5618986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or 208"/>
            <p:cNvCxnSpPr/>
            <p:nvPr/>
          </p:nvCxnSpPr>
          <p:spPr>
            <a:xfrm>
              <a:off x="5904355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ctor 209"/>
            <p:cNvCxnSpPr/>
            <p:nvPr/>
          </p:nvCxnSpPr>
          <p:spPr>
            <a:xfrm>
              <a:off x="6189724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ctor 210"/>
            <p:cNvCxnSpPr/>
            <p:nvPr/>
          </p:nvCxnSpPr>
          <p:spPr>
            <a:xfrm>
              <a:off x="6475093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ctor 211"/>
            <p:cNvCxnSpPr/>
            <p:nvPr/>
          </p:nvCxnSpPr>
          <p:spPr>
            <a:xfrm>
              <a:off x="6760462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ctor 212"/>
            <p:cNvCxnSpPr/>
            <p:nvPr/>
          </p:nvCxnSpPr>
          <p:spPr>
            <a:xfrm>
              <a:off x="7045831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ctor 213"/>
            <p:cNvCxnSpPr/>
            <p:nvPr/>
          </p:nvCxnSpPr>
          <p:spPr>
            <a:xfrm>
              <a:off x="7331200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ctor 214"/>
            <p:cNvCxnSpPr/>
            <p:nvPr/>
          </p:nvCxnSpPr>
          <p:spPr>
            <a:xfrm>
              <a:off x="7616568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ctor 215"/>
            <p:cNvCxnSpPr/>
            <p:nvPr/>
          </p:nvCxnSpPr>
          <p:spPr>
            <a:xfrm>
              <a:off x="7901937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ctor 216"/>
            <p:cNvCxnSpPr/>
            <p:nvPr/>
          </p:nvCxnSpPr>
          <p:spPr>
            <a:xfrm>
              <a:off x="8187306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ctor 217"/>
            <p:cNvCxnSpPr/>
            <p:nvPr/>
          </p:nvCxnSpPr>
          <p:spPr>
            <a:xfrm>
              <a:off x="8472675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ctor 218"/>
            <p:cNvCxnSpPr/>
            <p:nvPr/>
          </p:nvCxnSpPr>
          <p:spPr>
            <a:xfrm>
              <a:off x="8758044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ctor 219"/>
            <p:cNvCxnSpPr/>
            <p:nvPr/>
          </p:nvCxnSpPr>
          <p:spPr>
            <a:xfrm>
              <a:off x="9043413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ctor 220"/>
            <p:cNvCxnSpPr/>
            <p:nvPr/>
          </p:nvCxnSpPr>
          <p:spPr>
            <a:xfrm>
              <a:off x="9328782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ctor 221"/>
            <p:cNvCxnSpPr/>
            <p:nvPr/>
          </p:nvCxnSpPr>
          <p:spPr>
            <a:xfrm>
              <a:off x="9614151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ctor 222"/>
            <p:cNvCxnSpPr/>
            <p:nvPr/>
          </p:nvCxnSpPr>
          <p:spPr>
            <a:xfrm>
              <a:off x="9899520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ctor 223"/>
            <p:cNvCxnSpPr/>
            <p:nvPr/>
          </p:nvCxnSpPr>
          <p:spPr>
            <a:xfrm>
              <a:off x="457200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ctor 224"/>
            <p:cNvCxnSpPr/>
            <p:nvPr/>
          </p:nvCxnSpPr>
          <p:spPr>
            <a:xfrm>
              <a:off x="10539600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88" name="asset:TML-202"/>
          <p:cNvGrpSpPr/>
          <p:nvPr/>
        </p:nvGrpSpPr>
        <p:grpSpPr>
          <a:xfrm>
            <a:off x="457200" y="320040"/>
            <a:ext cx="10082400" cy="4297680"/>
            <a:chOff x="457200" y="320040"/>
            <a:chExt cx="10082400" cy="4297680"/>
          </a:xfrm>
        </p:grpSpPr>
        <p:sp>
          <p:nvSpPr>
            <p:cNvPr id="2" name="TextBox 1"/>
            <p:cNvSpPr txBox="1"/>
            <p:nvPr/>
          </p:nvSpPr>
          <p:spPr>
            <a:xfrm>
              <a:off x="457200" y="320040"/>
              <a:ext cx="99909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2E4692"/>
                  </a:solidFill>
                  <a:latin typeface="Pretendard GOV Black"/>
                  <a:ea typeface="Pretendard GOV Black"/>
                  <a:cs typeface="Pretendard GOV Black"/>
                </a:rPr>
                <a:t>gov 초대형 열 스케줄 그리드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57200" y="777240"/>
              <a:ext cx="99909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2단 헤더(월 카테고리 7/23/21 비균등 gridSpan × 51리프 컬럼, slide6 실측 구조) · 리프=영업일 날짜(주말 스킵) · 세로회전(과밀 방지)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234440"/>
              <a:ext cx="1463040" cy="868680"/>
            </a:xfrm>
            <a:prstGeom prst="rect">
              <a:avLst/>
            </a:prstGeom>
            <a:solidFill>
              <a:srgbClr val="8F99A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" y="1234440"/>
              <a:ext cx="146304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구분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20240" y="1234440"/>
              <a:ext cx="1183049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920240" y="1234440"/>
              <a:ext cx="118304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6월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103289" y="1234440"/>
              <a:ext cx="3887162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03289" y="1234440"/>
              <a:ext cx="388716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7월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90451" y="1234440"/>
              <a:ext cx="3549148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990451" y="1234440"/>
              <a:ext cx="354914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8월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20240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20240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22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089247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089247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23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258254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258254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24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427261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427261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25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596268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6268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26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765275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765275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29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934282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934282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103289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103289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72296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72296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441303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441303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610310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610310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6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779317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79317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7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948324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948324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8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17331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117331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9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286338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286338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10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455345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455345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13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624352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24352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14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793360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93360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962367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962367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16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131374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131374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17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300381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300381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20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469388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469388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21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5638395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638395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22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807402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07402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23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976409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976409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24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145416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145416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27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314423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314423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28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483430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483430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29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652437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652437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30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821444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821444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990451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90451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7159458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159458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7328465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328465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5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497472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497472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6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7666480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666480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7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835487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835487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10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8004494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004494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11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8173501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8173501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12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8342508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342508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13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8511515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8511515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14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8680522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680522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17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849529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849529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18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9018536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9018536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19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9187543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187543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20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9356550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9356550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21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9525557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9525557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24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9694564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9694564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25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9863571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9863571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26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0032578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10032578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27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0201585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10201585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28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10370592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0370592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31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457200" y="2103120"/>
              <a:ext cx="146304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30352" y="2103120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사전 검토 및 실행 전략 수립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1920240" y="2103120"/>
              <a:ext cx="8619360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1930380" y="2213762"/>
              <a:ext cx="993761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457200" y="2606039"/>
              <a:ext cx="146304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30352" y="2606039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1차 전문가 자문 실시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1920240" y="2606039"/>
              <a:ext cx="8619360" cy="502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2775415" y="2716682"/>
              <a:ext cx="993761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457200" y="3108960"/>
              <a:ext cx="146304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530352" y="3108960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2차 전문가 자문 실시</a:t>
              </a: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920240" y="3108960"/>
              <a:ext cx="8619360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3620451" y="3219602"/>
              <a:ext cx="993761" cy="281635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57200" y="3611880"/>
              <a:ext cx="146304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530352" y="3611880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자문위원회 개최(오프라인)</a:t>
              </a: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1920240" y="3611880"/>
              <a:ext cx="8619360" cy="502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Rounded Rectangle 128"/>
            <p:cNvSpPr/>
            <p:nvPr/>
          </p:nvSpPr>
          <p:spPr>
            <a:xfrm>
              <a:off x="4465486" y="3722522"/>
              <a:ext cx="993761" cy="281635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457200" y="4114800"/>
              <a:ext cx="146304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530352" y="4114800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적합성 검토(온라인)</a:t>
              </a: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1920240" y="4114800"/>
              <a:ext cx="8619360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Rounded Rectangle 132"/>
            <p:cNvSpPr/>
            <p:nvPr/>
          </p:nvSpPr>
          <p:spPr>
            <a:xfrm>
              <a:off x="5310521" y="4225442"/>
              <a:ext cx="993761" cy="281635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4" name="Connector 133"/>
            <p:cNvCxnSpPr/>
            <p:nvPr/>
          </p:nvCxnSpPr>
          <p:spPr>
            <a:xfrm>
              <a:off x="192024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or 134"/>
            <p:cNvCxnSpPr/>
            <p:nvPr/>
          </p:nvCxnSpPr>
          <p:spPr>
            <a:xfrm>
              <a:off x="2089247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 135"/>
            <p:cNvCxnSpPr/>
            <p:nvPr/>
          </p:nvCxnSpPr>
          <p:spPr>
            <a:xfrm>
              <a:off x="2258254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36"/>
            <p:cNvCxnSpPr/>
            <p:nvPr/>
          </p:nvCxnSpPr>
          <p:spPr>
            <a:xfrm>
              <a:off x="2427261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or 137"/>
            <p:cNvCxnSpPr/>
            <p:nvPr/>
          </p:nvCxnSpPr>
          <p:spPr>
            <a:xfrm>
              <a:off x="2596268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or 138"/>
            <p:cNvCxnSpPr/>
            <p:nvPr/>
          </p:nvCxnSpPr>
          <p:spPr>
            <a:xfrm>
              <a:off x="2765275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ctor 139"/>
            <p:cNvCxnSpPr/>
            <p:nvPr/>
          </p:nvCxnSpPr>
          <p:spPr>
            <a:xfrm>
              <a:off x="2934282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 140"/>
            <p:cNvCxnSpPr/>
            <p:nvPr/>
          </p:nvCxnSpPr>
          <p:spPr>
            <a:xfrm>
              <a:off x="3103289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or 141"/>
            <p:cNvCxnSpPr/>
            <p:nvPr/>
          </p:nvCxnSpPr>
          <p:spPr>
            <a:xfrm>
              <a:off x="3272296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42"/>
            <p:cNvCxnSpPr/>
            <p:nvPr/>
          </p:nvCxnSpPr>
          <p:spPr>
            <a:xfrm>
              <a:off x="3441303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43"/>
            <p:cNvCxnSpPr/>
            <p:nvPr/>
          </p:nvCxnSpPr>
          <p:spPr>
            <a:xfrm>
              <a:off x="361031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44"/>
            <p:cNvCxnSpPr/>
            <p:nvPr/>
          </p:nvCxnSpPr>
          <p:spPr>
            <a:xfrm>
              <a:off x="3779317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 145"/>
            <p:cNvCxnSpPr/>
            <p:nvPr/>
          </p:nvCxnSpPr>
          <p:spPr>
            <a:xfrm>
              <a:off x="3948324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 146"/>
            <p:cNvCxnSpPr/>
            <p:nvPr/>
          </p:nvCxnSpPr>
          <p:spPr>
            <a:xfrm>
              <a:off x="4117331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47"/>
            <p:cNvCxnSpPr/>
            <p:nvPr/>
          </p:nvCxnSpPr>
          <p:spPr>
            <a:xfrm>
              <a:off x="4286338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48"/>
            <p:cNvCxnSpPr/>
            <p:nvPr/>
          </p:nvCxnSpPr>
          <p:spPr>
            <a:xfrm>
              <a:off x="4455345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ctor 149"/>
            <p:cNvCxnSpPr/>
            <p:nvPr/>
          </p:nvCxnSpPr>
          <p:spPr>
            <a:xfrm>
              <a:off x="4624352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ctor 150"/>
            <p:cNvCxnSpPr/>
            <p:nvPr/>
          </p:nvCxnSpPr>
          <p:spPr>
            <a:xfrm>
              <a:off x="479336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ctor 151"/>
            <p:cNvCxnSpPr/>
            <p:nvPr/>
          </p:nvCxnSpPr>
          <p:spPr>
            <a:xfrm>
              <a:off x="4962367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or 152"/>
            <p:cNvCxnSpPr/>
            <p:nvPr/>
          </p:nvCxnSpPr>
          <p:spPr>
            <a:xfrm>
              <a:off x="5131374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ctor 153"/>
            <p:cNvCxnSpPr/>
            <p:nvPr/>
          </p:nvCxnSpPr>
          <p:spPr>
            <a:xfrm>
              <a:off x="5300381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ctor 154"/>
            <p:cNvCxnSpPr/>
            <p:nvPr/>
          </p:nvCxnSpPr>
          <p:spPr>
            <a:xfrm>
              <a:off x="5469388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or 155"/>
            <p:cNvCxnSpPr/>
            <p:nvPr/>
          </p:nvCxnSpPr>
          <p:spPr>
            <a:xfrm>
              <a:off x="5638395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or 156"/>
            <p:cNvCxnSpPr/>
            <p:nvPr/>
          </p:nvCxnSpPr>
          <p:spPr>
            <a:xfrm>
              <a:off x="5807402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or 157"/>
            <p:cNvCxnSpPr/>
            <p:nvPr/>
          </p:nvCxnSpPr>
          <p:spPr>
            <a:xfrm>
              <a:off x="5976409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 158"/>
            <p:cNvCxnSpPr/>
            <p:nvPr/>
          </p:nvCxnSpPr>
          <p:spPr>
            <a:xfrm>
              <a:off x="6145416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or 159"/>
            <p:cNvCxnSpPr/>
            <p:nvPr/>
          </p:nvCxnSpPr>
          <p:spPr>
            <a:xfrm>
              <a:off x="6314423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or 160"/>
            <p:cNvCxnSpPr/>
            <p:nvPr/>
          </p:nvCxnSpPr>
          <p:spPr>
            <a:xfrm>
              <a:off x="648343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or 161"/>
            <p:cNvCxnSpPr/>
            <p:nvPr/>
          </p:nvCxnSpPr>
          <p:spPr>
            <a:xfrm>
              <a:off x="6652437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or 162"/>
            <p:cNvCxnSpPr/>
            <p:nvPr/>
          </p:nvCxnSpPr>
          <p:spPr>
            <a:xfrm>
              <a:off x="6821444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or 163"/>
            <p:cNvCxnSpPr/>
            <p:nvPr/>
          </p:nvCxnSpPr>
          <p:spPr>
            <a:xfrm>
              <a:off x="6990451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or 164"/>
            <p:cNvCxnSpPr/>
            <p:nvPr/>
          </p:nvCxnSpPr>
          <p:spPr>
            <a:xfrm>
              <a:off x="7159458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ctor 165"/>
            <p:cNvCxnSpPr/>
            <p:nvPr/>
          </p:nvCxnSpPr>
          <p:spPr>
            <a:xfrm>
              <a:off x="7328465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or 166"/>
            <p:cNvCxnSpPr/>
            <p:nvPr/>
          </p:nvCxnSpPr>
          <p:spPr>
            <a:xfrm>
              <a:off x="7497472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or 167"/>
            <p:cNvCxnSpPr/>
            <p:nvPr/>
          </p:nvCxnSpPr>
          <p:spPr>
            <a:xfrm>
              <a:off x="766648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68"/>
            <p:cNvCxnSpPr/>
            <p:nvPr/>
          </p:nvCxnSpPr>
          <p:spPr>
            <a:xfrm>
              <a:off x="7835487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69"/>
            <p:cNvCxnSpPr/>
            <p:nvPr/>
          </p:nvCxnSpPr>
          <p:spPr>
            <a:xfrm>
              <a:off x="8004494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70"/>
            <p:cNvCxnSpPr/>
            <p:nvPr/>
          </p:nvCxnSpPr>
          <p:spPr>
            <a:xfrm>
              <a:off x="8173501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ctor 171"/>
            <p:cNvCxnSpPr/>
            <p:nvPr/>
          </p:nvCxnSpPr>
          <p:spPr>
            <a:xfrm>
              <a:off x="8342508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ctor 172"/>
            <p:cNvCxnSpPr/>
            <p:nvPr/>
          </p:nvCxnSpPr>
          <p:spPr>
            <a:xfrm>
              <a:off x="8511515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 173"/>
            <p:cNvCxnSpPr/>
            <p:nvPr/>
          </p:nvCxnSpPr>
          <p:spPr>
            <a:xfrm>
              <a:off x="8680522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74"/>
            <p:cNvCxnSpPr/>
            <p:nvPr/>
          </p:nvCxnSpPr>
          <p:spPr>
            <a:xfrm>
              <a:off x="8849529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75"/>
            <p:cNvCxnSpPr/>
            <p:nvPr/>
          </p:nvCxnSpPr>
          <p:spPr>
            <a:xfrm>
              <a:off x="9018536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ctor 176"/>
            <p:cNvCxnSpPr/>
            <p:nvPr/>
          </p:nvCxnSpPr>
          <p:spPr>
            <a:xfrm>
              <a:off x="9187543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ctor 177"/>
            <p:cNvCxnSpPr/>
            <p:nvPr/>
          </p:nvCxnSpPr>
          <p:spPr>
            <a:xfrm>
              <a:off x="935655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ctor 178"/>
            <p:cNvCxnSpPr/>
            <p:nvPr/>
          </p:nvCxnSpPr>
          <p:spPr>
            <a:xfrm>
              <a:off x="9525557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179"/>
            <p:cNvCxnSpPr/>
            <p:nvPr/>
          </p:nvCxnSpPr>
          <p:spPr>
            <a:xfrm>
              <a:off x="9694564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ctor 180"/>
            <p:cNvCxnSpPr/>
            <p:nvPr/>
          </p:nvCxnSpPr>
          <p:spPr>
            <a:xfrm>
              <a:off x="9863571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ctor 181"/>
            <p:cNvCxnSpPr/>
            <p:nvPr/>
          </p:nvCxnSpPr>
          <p:spPr>
            <a:xfrm>
              <a:off x="10032578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ctor 182"/>
            <p:cNvCxnSpPr/>
            <p:nvPr/>
          </p:nvCxnSpPr>
          <p:spPr>
            <a:xfrm>
              <a:off x="10201585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ctor 183"/>
            <p:cNvCxnSpPr/>
            <p:nvPr/>
          </p:nvCxnSpPr>
          <p:spPr>
            <a:xfrm>
              <a:off x="10370592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ctor 184"/>
            <p:cNvCxnSpPr/>
            <p:nvPr/>
          </p:nvCxnSpPr>
          <p:spPr>
            <a:xfrm>
              <a:off x="1053960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>
              <a:off x="45720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>
              <a:off x="1053960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PRC-202"/>
          <p:cNvGrpSpPr/>
          <p:nvPr/>
        </p:nvGrpSpPr>
        <p:grpSpPr>
          <a:xfrm>
            <a:off x="822960" y="1463040"/>
            <a:ext cx="9052560" cy="4480560"/>
            <a:chOff x="822960" y="1463040"/>
            <a:chExt cx="9052560" cy="4480560"/>
          </a:xfrm>
        </p:grpSpPr>
        <p:sp>
          <p:nvSpPr>
            <p:cNvPr id="3" name="Rectangle 2"/>
            <p:cNvSpPr/>
            <p:nvPr/>
          </p:nvSpPr>
          <p:spPr>
            <a:xfrm>
              <a:off x="822960" y="5074920"/>
              <a:ext cx="2331720" cy="86868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1단계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기반 조성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2971800" y="4023360"/>
              <a:ext cx="2331720" cy="868680"/>
            </a:xfrm>
            <a:prstGeom prst="rect">
              <a:avLst/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2단계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시범 운영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5120640" y="2971800"/>
              <a:ext cx="2331720" cy="86868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3단계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본격 확산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7269480" y="1920240"/>
              <a:ext cx="2331720" cy="868680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4단계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고도화·정착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3154679" y="4892040"/>
              <a:ext cx="166879" cy="617219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5303520" y="3840480"/>
              <a:ext cx="166878" cy="617220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V="1">
              <a:off x="7452360" y="2788920"/>
              <a:ext cx="166878" cy="617220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995160" y="1463040"/>
              <a:ext cx="28803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단계별 목표 달성 시 다음 단계 전환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PRC-203"/>
          <p:cNvGrpSpPr/>
          <p:nvPr/>
        </p:nvGrpSpPr>
        <p:grpSpPr>
          <a:xfrm>
            <a:off x="1568195" y="3154679"/>
            <a:ext cx="7772400" cy="1691640"/>
            <a:chOff x="1568195" y="3154679"/>
            <a:chExt cx="7772400" cy="1691640"/>
          </a:xfrm>
        </p:grpSpPr>
        <p:sp>
          <p:nvSpPr>
            <p:cNvPr id="3" name="Chevron 2"/>
            <p:cNvSpPr/>
            <p:nvPr/>
          </p:nvSpPr>
          <p:spPr>
            <a:xfrm>
              <a:off x="1568195" y="3154679"/>
              <a:ext cx="1810512" cy="1097280"/>
            </a:xfrm>
            <a:prstGeom prst="chevron">
              <a:avLst/>
            </a:prstGeom>
            <a:solidFill>
              <a:srgbClr val="2E469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접수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3058668" y="3154679"/>
              <a:ext cx="1810512" cy="1097280"/>
            </a:xfrm>
            <a:prstGeom prst="chevron">
              <a:avLst/>
            </a:prstGeom>
            <a:solidFill>
              <a:srgbClr val="697591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검토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4549140" y="3154679"/>
              <a:ext cx="1810512" cy="1097280"/>
            </a:xfrm>
            <a:prstGeom prst="chevron">
              <a:avLst/>
            </a:prstGeom>
            <a:solidFill>
              <a:srgbClr val="7030A0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심사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6039612" y="3154679"/>
              <a:ext cx="1810512" cy="1097280"/>
            </a:xfrm>
            <a:prstGeom prst="chevron">
              <a:avLst/>
            </a:prstGeom>
            <a:solidFill>
              <a:srgbClr val="D05548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승인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7530083" y="3154679"/>
              <a:ext cx="1810512" cy="1097280"/>
            </a:xfrm>
            <a:prstGeom prst="chevron">
              <a:avLst/>
            </a:prstGeom>
            <a:solidFill>
              <a:srgbClr val="2E469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집행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68195" y="4480559"/>
              <a:ext cx="7772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민원 처리 5단계 표준 절차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PRC-204"/>
          <p:cNvGrpSpPr/>
          <p:nvPr/>
        </p:nvGrpSpPr>
        <p:grpSpPr>
          <a:xfrm>
            <a:off x="2528315" y="1051559"/>
            <a:ext cx="5852161" cy="5852161"/>
            <a:chOff x="2528315" y="1051559"/>
            <a:chExt cx="5852161" cy="5852161"/>
          </a:xfrm>
        </p:grpSpPr>
        <p:sp>
          <p:nvSpPr>
            <p:cNvPr id="3" name="Oval 2"/>
            <p:cNvSpPr/>
            <p:nvPr/>
          </p:nvSpPr>
          <p:spPr>
            <a:xfrm>
              <a:off x="4494276" y="3291839"/>
              <a:ext cx="1920240" cy="1371600"/>
            </a:xfrm>
            <a:prstGeom prst="ellipse">
              <a:avLst/>
            </a:prstGeom>
            <a:solidFill>
              <a:srgbClr val="E9EAF1"/>
            </a:solidFill>
            <a:ln w="9525">
              <a:solidFill>
                <a:srgbClr val="6975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000000"/>
                  </a:solidFill>
                  <a:latin typeface="Pretendard GOV ExtraBold"/>
                  <a:ea typeface="Pretendard GOV ExtraBold"/>
                  <a:cs typeface="Pretendard GOV ExtraBol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000000"/>
                  </a:solidFill>
                  <a:latin typeface="Pretendard GOV ExtraBold"/>
                  <a:ea typeface="Pretendard GOV ExtraBold"/>
                  <a:cs typeface="Pretendard GOV ExtraBold"/>
                </a:rPr>
                <a:t>순환관리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042782" y="2417186"/>
              <a:ext cx="972067" cy="972067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6042782" y="4566026"/>
              <a:ext cx="972067" cy="972067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 flipV="1">
              <a:off x="3893942" y="4566026"/>
              <a:ext cx="972067" cy="972067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3893942" y="2417186"/>
              <a:ext cx="972067" cy="972067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4677156" y="1051559"/>
              <a:ext cx="1554480" cy="1554480"/>
            </a:xfrm>
            <a:prstGeom prst="ellipse">
              <a:avLst/>
            </a:prstGeom>
            <a:solidFill>
              <a:srgbClr val="2E469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계획(Plan)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825996" y="3200399"/>
              <a:ext cx="1554480" cy="1554480"/>
            </a:xfrm>
            <a:prstGeom prst="ellipse">
              <a:avLst/>
            </a:prstGeom>
            <a:solidFill>
              <a:srgbClr val="697591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실행(Do)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677156" y="5349240"/>
              <a:ext cx="1554480" cy="1554480"/>
            </a:xfrm>
            <a:prstGeom prst="ellipse">
              <a:avLst/>
            </a:prstGeom>
            <a:solidFill>
              <a:srgbClr val="7030A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점검(Check)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2528315" y="3200399"/>
              <a:ext cx="1554480" cy="1554480"/>
            </a:xfrm>
            <a:prstGeom prst="ellipse">
              <a:avLst/>
            </a:prstGeom>
            <a:solidFill>
              <a:srgbClr val="D0554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개선(Act)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PRC-205"/>
          <p:cNvGrpSpPr/>
          <p:nvPr/>
        </p:nvGrpSpPr>
        <p:grpSpPr>
          <a:xfrm>
            <a:off x="2550998" y="960119"/>
            <a:ext cx="5806795" cy="5589722"/>
            <a:chOff x="2550998" y="960119"/>
            <a:chExt cx="5806795" cy="5589722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5454396" y="1645919"/>
              <a:ext cx="0" cy="2331720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 flipV="1">
              <a:off x="5454396" y="3257098"/>
              <a:ext cx="2217597" cy="720541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5454396" y="3977639"/>
              <a:ext cx="1370550" cy="1886402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4083845" y="3977639"/>
              <a:ext cx="1370551" cy="1886402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3236798" y="3257098"/>
              <a:ext cx="2217598" cy="720541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4539996" y="3063239"/>
              <a:ext cx="1828800" cy="1828800"/>
            </a:xfrm>
            <a:prstGeom prst="ellipse">
              <a:avLst/>
            </a:prstGeom>
            <a:solidFill>
              <a:srgbClr val="2E469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통합 추진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체계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768596" y="960119"/>
              <a:ext cx="1371600" cy="1371600"/>
            </a:xfrm>
            <a:prstGeom prst="ellipse">
              <a:avLst/>
            </a:prstGeom>
            <a:solidFill>
              <a:srgbClr val="697591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정책 기획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986193" y="2571298"/>
              <a:ext cx="1371600" cy="1371600"/>
            </a:xfrm>
            <a:prstGeom prst="ellipse">
              <a:avLst/>
            </a:prstGeom>
            <a:solidFill>
              <a:srgbClr val="7030A0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예산 편성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139146" y="5178241"/>
              <a:ext cx="1371600" cy="1371600"/>
            </a:xfrm>
            <a:prstGeom prst="ellipse">
              <a:avLst/>
            </a:prstGeom>
            <a:solidFill>
              <a:srgbClr val="D05548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사업 집행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398045" y="5178241"/>
              <a:ext cx="1371600" cy="1371600"/>
            </a:xfrm>
            <a:prstGeom prst="ellipse">
              <a:avLst/>
            </a:prstGeom>
            <a:solidFill>
              <a:srgbClr val="697591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성과 평가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550998" y="2571298"/>
              <a:ext cx="1371600" cy="1371600"/>
            </a:xfrm>
            <a:prstGeom prst="ellipse">
              <a:avLst/>
            </a:prstGeom>
            <a:solidFill>
              <a:srgbClr val="7030A0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환류·개선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PRC-206"/>
          <p:cNvGrpSpPr/>
          <p:nvPr/>
        </p:nvGrpSpPr>
        <p:grpSpPr>
          <a:xfrm>
            <a:off x="777240" y="3040379"/>
            <a:ext cx="9683496" cy="2606040"/>
            <a:chOff x="777240" y="3040379"/>
            <a:chExt cx="9683496" cy="2606040"/>
          </a:xfrm>
        </p:grpSpPr>
        <p:sp>
          <p:nvSpPr>
            <p:cNvPr id="3" name="Rounded Rectangle 2"/>
            <p:cNvSpPr/>
            <p:nvPr/>
          </p:nvSpPr>
          <p:spPr>
            <a:xfrm>
              <a:off x="777240" y="3246120"/>
              <a:ext cx="1600200" cy="914400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신청 접수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404872" y="3520439"/>
              <a:ext cx="502920" cy="365760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2935224" y="3040379"/>
              <a:ext cx="1325880" cy="1325880"/>
            </a:xfrm>
            <a:prstGeom prst="diamond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요건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검토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288536" y="3520439"/>
              <a:ext cx="502920" cy="365760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818888" y="3246120"/>
              <a:ext cx="1600200" cy="914400"/>
            </a:xfrm>
            <a:prstGeom prst="roundRect">
              <a:avLst>
                <a:gd name="adj" fmla="val 6000"/>
              </a:avLst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사업 수행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6446520" y="3520439"/>
              <a:ext cx="502920" cy="365760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6976872" y="3040379"/>
              <a:ext cx="1325880" cy="1325880"/>
            </a:xfrm>
            <a:prstGeom prst="diamond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실적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검증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8330183" y="3520439"/>
              <a:ext cx="502920" cy="365760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860536" y="3246120"/>
              <a:ext cx="1600200" cy="914400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정산·종료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7456932" y="4411979"/>
              <a:ext cx="365760" cy="457200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839712" y="4914899"/>
              <a:ext cx="1600200" cy="731520"/>
            </a:xfrm>
            <a:prstGeom prst="roundRect">
              <a:avLst>
                <a:gd name="adj" fmla="val 6000"/>
              </a:avLst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보완 요청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5" name="asset:KPI-201"/>
          <p:cNvGrpSpPr/>
          <p:nvPr/>
        </p:nvGrpSpPr>
        <p:grpSpPr>
          <a:xfrm>
            <a:off x="1225296" y="2203704"/>
            <a:ext cx="8458200" cy="2322576"/>
            <a:chOff x="1225296" y="2203704"/>
            <a:chExt cx="8458200" cy="2322576"/>
          </a:xfrm>
        </p:grpSpPr>
        <p:sp>
          <p:nvSpPr>
            <p:cNvPr id="3" name="Oval 2"/>
            <p:cNvSpPr/>
            <p:nvPr/>
          </p:nvSpPr>
          <p:spPr>
            <a:xfrm>
              <a:off x="1325880" y="220370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2E46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408176" y="2286000"/>
              <a:ext cx="1645920" cy="1645920"/>
            </a:xfrm>
            <a:prstGeom prst="ellips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98%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25296" y="406908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정시 집행률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474720" y="220370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557016" y="2286000"/>
              <a:ext cx="1645920" cy="164592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4.8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74136" y="406908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주민 만족도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623560" y="220370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5705856" y="2286000"/>
              <a:ext cx="1645920" cy="1645920"/>
            </a:xfrm>
            <a:prstGeom prst="ellipse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120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522976" y="406908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참여 기관수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772400" y="220370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6975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7854696" y="2286000"/>
              <a:ext cx="1645920" cy="1645920"/>
            </a:xfrm>
            <a:prstGeom prst="ellipse">
              <a:avLst/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32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671816" y="406908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연계 지자체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8" name="asset:KPI-202"/>
          <p:cNvGrpSpPr/>
          <p:nvPr/>
        </p:nvGrpSpPr>
        <p:grpSpPr>
          <a:xfrm>
            <a:off x="1431036" y="2194560"/>
            <a:ext cx="8046720" cy="2761488"/>
            <a:chOff x="1431036" y="2194560"/>
            <a:chExt cx="8046720" cy="2761488"/>
          </a:xfrm>
        </p:grpSpPr>
        <p:sp>
          <p:nvSpPr>
            <p:cNvPr id="3" name="Oval 2"/>
            <p:cNvSpPr/>
            <p:nvPr/>
          </p:nvSpPr>
          <p:spPr>
            <a:xfrm>
              <a:off x="1431036" y="2194560"/>
              <a:ext cx="2194560" cy="2194560"/>
            </a:xfrm>
            <a:prstGeom prst="ellipse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ie 3"/>
            <p:cNvSpPr/>
            <p:nvPr/>
          </p:nvSpPr>
          <p:spPr>
            <a:xfrm>
              <a:off x="1431036" y="2194560"/>
              <a:ext cx="2194560" cy="219456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6328" y="2479852"/>
              <a:ext cx="1623974" cy="16239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31036" y="2880359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00000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95</a:t>
              </a:r>
              <a:r>
                <a:rPr sz="1300" b="1">
                  <a:solidFill>
                    <a:srgbClr val="2E4692"/>
                  </a:solidFill>
                  <a:latin typeface="Pretendard GOV SemiBold"/>
                  <a:ea typeface="Pretendard GOV SemiBold"/>
                  <a:cs typeface="Pretendard GOV SemiBold"/>
                </a:rPr>
                <a:t> %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431036" y="4498848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사업 목표 달성률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357116" y="2194560"/>
              <a:ext cx="2194560" cy="2194560"/>
            </a:xfrm>
            <a:prstGeom prst="ellipse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Pie 8"/>
            <p:cNvSpPr/>
            <p:nvPr/>
          </p:nvSpPr>
          <p:spPr>
            <a:xfrm>
              <a:off x="4357116" y="2194560"/>
              <a:ext cx="2194560" cy="219456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4642408" y="2479852"/>
              <a:ext cx="1623974" cy="16239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57116" y="2880359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00000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82</a:t>
              </a:r>
              <a:r>
                <a:rPr sz="1300" b="1">
                  <a:solidFill>
                    <a:srgbClr val="7030A0"/>
                  </a:solidFill>
                  <a:latin typeface="Pretendard GOV SemiBold"/>
                  <a:ea typeface="Pretendard GOV SemiBold"/>
                  <a:cs typeface="Pretendard GOV SemiBold"/>
                </a:rPr>
                <a:t> %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357116" y="4498848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주민 만족도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7283196" y="2194560"/>
              <a:ext cx="2194560" cy="2194560"/>
            </a:xfrm>
            <a:prstGeom prst="ellipse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Pie 13"/>
            <p:cNvSpPr/>
            <p:nvPr/>
          </p:nvSpPr>
          <p:spPr>
            <a:xfrm>
              <a:off x="7283196" y="2194560"/>
              <a:ext cx="2194560" cy="2194560"/>
            </a:xfrm>
            <a:prstGeom prst="pie">
              <a:avLst>
                <a:gd name="adj1" fmla="val -9000000"/>
                <a:gd name="adj2" fmla="val 15480000"/>
              </a:avLst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7568488" y="2479852"/>
              <a:ext cx="1623974" cy="16239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83196" y="2880359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00000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68</a:t>
              </a:r>
              <a:r>
                <a:rPr sz="1300" b="1">
                  <a:solidFill>
                    <a:srgbClr val="D05548"/>
                  </a:solidFill>
                  <a:latin typeface="Pretendard GOV SemiBold"/>
                  <a:ea typeface="Pretendard GOV SemiBold"/>
                  <a:cs typeface="Pretendard GOV SemiBold"/>
                </a:rPr>
                <a:t> %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283196" y="4498848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예산 집행률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" name="asset:KPI-204"/>
          <p:cNvGrpSpPr/>
          <p:nvPr/>
        </p:nvGrpSpPr>
        <p:grpSpPr>
          <a:xfrm>
            <a:off x="822960" y="1417320"/>
            <a:ext cx="9738360" cy="4251960"/>
            <a:chOff x="822960" y="1417320"/>
            <a:chExt cx="9738360" cy="4251960"/>
          </a:xfrm>
        </p:grpSpPr>
        <p:sp>
          <p:nvSpPr>
            <p:cNvPr id="3" name="Rounded Rectangle 2"/>
            <p:cNvSpPr/>
            <p:nvPr/>
          </p:nvSpPr>
          <p:spPr>
            <a:xfrm>
              <a:off x="822960" y="1417320"/>
              <a:ext cx="4709160" cy="1965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822960" y="1417320"/>
              <a:ext cx="146304" cy="196596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34440" y="1645920"/>
              <a:ext cx="406908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1,000</a:t>
              </a:r>
              <a:r>
                <a:rPr sz="16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34440" y="2788920"/>
              <a:ext cx="4069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검증완료 사업 DB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852160" y="1417320"/>
              <a:ext cx="4709160" cy="1965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852160" y="1417320"/>
              <a:ext cx="146304" cy="19659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63640" y="1645920"/>
              <a:ext cx="406908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7030A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40</a:t>
              </a:r>
              <a:r>
                <a:rPr sz="16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개소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63640" y="2788920"/>
              <a:ext cx="4069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참여 지역기관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22960" y="3703320"/>
              <a:ext cx="4709160" cy="1965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22960" y="3703320"/>
              <a:ext cx="146304" cy="1965960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34440" y="3931920"/>
              <a:ext cx="406908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D05548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42</a:t>
              </a:r>
              <a:r>
                <a:rPr sz="16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억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34440" y="5074919"/>
              <a:ext cx="4069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연계 예산 규모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852160" y="3703320"/>
              <a:ext cx="4709160" cy="1965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852160" y="3703320"/>
              <a:ext cx="146304" cy="1965960"/>
            </a:xfrm>
            <a:prstGeom prst="rect">
              <a:avLst/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63640" y="3931920"/>
              <a:ext cx="406908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69759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95</a:t>
              </a:r>
              <a:r>
                <a:rPr sz="16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263640" y="5074919"/>
              <a:ext cx="4069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사업 목표 달성률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0" name="asset:KPI-205"/>
          <p:cNvGrpSpPr/>
          <p:nvPr/>
        </p:nvGrpSpPr>
        <p:grpSpPr>
          <a:xfrm>
            <a:off x="457200" y="1737360"/>
            <a:ext cx="9994391" cy="3566160"/>
            <a:chOff x="457200" y="1737360"/>
            <a:chExt cx="9994391" cy="356616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737360"/>
              <a:ext cx="3087624" cy="35661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85800" y="2011679"/>
              <a:ext cx="263042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민원 처리건수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395728"/>
              <a:ext cx="2630424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4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1,000</a:t>
              </a:r>
              <a:r>
                <a:rPr sz="14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3200400"/>
              <a:ext cx="2630424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▲ +18% 전년比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931163" y="4480559"/>
              <a:ext cx="310896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88363" y="4279392"/>
              <a:ext cx="310896" cy="65836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45563" y="4370831"/>
              <a:ext cx="310896" cy="56692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302764" y="4069079"/>
              <a:ext cx="310896" cy="86868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759964" y="3794759"/>
              <a:ext cx="310896" cy="114300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910583" y="1737360"/>
              <a:ext cx="3087624" cy="35661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39183" y="2011679"/>
              <a:ext cx="263042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예산 집행액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39183" y="2395728"/>
              <a:ext cx="2630424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4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42</a:t>
              </a:r>
              <a:r>
                <a:rPr sz="14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억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39183" y="3200400"/>
              <a:ext cx="2630424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D05548"/>
                  </a:solidFill>
                  <a:latin typeface="Pretendard GOV Medium"/>
                  <a:ea typeface="Pretendard GOV Medium"/>
                  <a:cs typeface="Pretendard GOV Medium"/>
                </a:rPr>
                <a:t>▲ +27% 전년比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84548" y="4480559"/>
              <a:ext cx="310896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841748" y="4279392"/>
              <a:ext cx="310896" cy="65836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298948" y="4370831"/>
              <a:ext cx="310896" cy="56692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756148" y="4069079"/>
              <a:ext cx="310896" cy="86868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213348" y="3794759"/>
              <a:ext cx="310896" cy="1143000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363967" y="1737360"/>
              <a:ext cx="3087624" cy="35661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592567" y="2011679"/>
              <a:ext cx="263042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주민 만족도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592567" y="2395728"/>
              <a:ext cx="2630424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4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4.6</a:t>
              </a:r>
              <a:r>
                <a:rPr sz="14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점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592567" y="3200400"/>
              <a:ext cx="2630424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030A0"/>
                  </a:solidFill>
                  <a:latin typeface="Pretendard GOV Medium"/>
                  <a:ea typeface="Pretendard GOV Medium"/>
                  <a:cs typeface="Pretendard GOV Medium"/>
                </a:rPr>
                <a:t>▲ +5% 전년比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837931" y="4480559"/>
              <a:ext cx="310896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295131" y="4279392"/>
              <a:ext cx="310896" cy="65836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752331" y="4370831"/>
              <a:ext cx="310896" cy="56692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209531" y="4069079"/>
              <a:ext cx="310896" cy="86868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666731" y="3794759"/>
              <a:ext cx="310896" cy="1143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205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77724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822960" y="1463040"/>
              <a:ext cx="2011680" cy="2011680"/>
            </a:xfrm>
            <a:prstGeom prst="roundRect">
              <a:avLst>
                <a:gd name="adj" fmla="val 6000"/>
              </a:avLst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02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200400" y="1572768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7030A0"/>
                  </a:solidFill>
                  <a:latin typeface="Pretendard GOV Light"/>
                  <a:ea typeface="Pretendard GOV Light"/>
                  <a:cs typeface="Pretendard GOV Light"/>
                </a:rPr>
                <a:t>PART 02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0" y="1965960"/>
              <a:ext cx="6881999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2E4692"/>
                  </a:solidFill>
                  <a:latin typeface="Pretendard GOV Black"/>
                  <a:ea typeface="Pretendard GOV Black"/>
                  <a:cs typeface="Pretendard GOV Black"/>
                </a:rPr>
                <a:t>기대 효과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00400" y="3246120"/>
              <a:ext cx="2194560" cy="640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0" y="3474720"/>
              <a:ext cx="6881999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사업 추진에 따른 기대효과와 성과지표를 제시합니다.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726948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2026 · 스마트도시 데이터 통합플랫폼 구축사업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8" name="asset:HDR-204"/>
          <p:cNvGrpSpPr/>
          <p:nvPr/>
        </p:nvGrpSpPr>
        <p:grpSpPr>
          <a:xfrm>
            <a:off x="1200719" y="2560320"/>
            <a:ext cx="8503920" cy="1721815"/>
            <a:chOff x="1200719" y="2560320"/>
            <a:chExt cx="8503920" cy="1721815"/>
          </a:xfrm>
        </p:grpSpPr>
        <p:sp>
          <p:nvSpPr>
            <p:cNvPr id="3" name="TextBox 2"/>
            <p:cNvSpPr txBox="1"/>
            <p:nvPr/>
          </p:nvSpPr>
          <p:spPr>
            <a:xfrm>
              <a:off x="1200719" y="2560320"/>
              <a:ext cx="85039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4692"/>
                  </a:solidFill>
                  <a:latin typeface="Pretendard GOV ExtraBold"/>
                  <a:ea typeface="Pretendard GOV ExtraBold"/>
                  <a:cs typeface="Pretendard GOV ExtraBold"/>
                </a:rPr>
                <a:t>챕터 진행현황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20071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0071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Ch.1 사업 개요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93807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3807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Ch.2 추진 전략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67543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7543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Ch.3 추진 체계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1279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1279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Ch.4 세부 추진계획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5015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15015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Ch.5 기대효과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00719" y="4053535"/>
              <a:ext cx="201168" cy="201168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75039" y="4007815"/>
              <a:ext cx="82296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완료(1)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35159" y="4053535"/>
              <a:ext cx="201168" cy="2011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709479" y="4007815"/>
              <a:ext cx="82296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예정(0)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HDR-205"/>
          <p:cNvGrpSpPr/>
          <p:nvPr/>
        </p:nvGrpSpPr>
        <p:grpSpPr>
          <a:xfrm>
            <a:off x="3349560" y="3566160"/>
            <a:ext cx="3227832" cy="521208"/>
            <a:chOff x="3349560" y="3566160"/>
            <a:chExt cx="3227832" cy="521208"/>
          </a:xfrm>
        </p:grpSpPr>
        <p:sp>
          <p:nvSpPr>
            <p:cNvPr id="3" name="TextBox 2"/>
            <p:cNvSpPr txBox="1"/>
            <p:nvPr/>
          </p:nvSpPr>
          <p:spPr>
            <a:xfrm>
              <a:off x="3349560" y="3566160"/>
              <a:ext cx="118872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진행 2/5</a:t>
              </a:r>
            </a:p>
          </p:txBody>
        </p:sp>
        <p:sp>
          <p:nvSpPr>
            <p:cNvPr id="4" name="Oval 3"/>
            <p:cNvSpPr/>
            <p:nvPr/>
          </p:nvSpPr>
          <p:spPr>
            <a:xfrm>
              <a:off x="4584000" y="3566160"/>
              <a:ext cx="274320" cy="274320"/>
            </a:xfrm>
            <a:prstGeom prst="ellips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474272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Ch1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4986336" y="3566160"/>
              <a:ext cx="274320" cy="2743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76608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388672" y="3566160"/>
              <a:ext cx="274320" cy="274320"/>
            </a:xfrm>
            <a:prstGeom prst="ellips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278944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Ch3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791008" y="3566160"/>
              <a:ext cx="274320" cy="2743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681280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Ch4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6193344" y="3566160"/>
              <a:ext cx="274320" cy="2743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83616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