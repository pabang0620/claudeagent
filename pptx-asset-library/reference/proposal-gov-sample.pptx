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r:id="rId8-created" id="256"/>
    <p:sldId r:id="rId9-created" id="257"/>
    <p:sldId r:id="rId10-created" id="258"/>
    <p:sldId r:id="rId11-created" id="259"/>
    <p:sldId r:id="rId12-created" id="260"/>
    <p:sldId r:id="rId13-created" id="261"/>
    <p:sldId r:id="rId14-created" id="262"/>
    <p:sldId r:id="rId15-created" id="263"/>
    <p:sldId r:id="rId16-created" id="264"/>
    <p:sldId r:id="rId17-created" id="265"/>
    <p:sldId r:id="rId18-created" id="266"/>
    <p:sldId r:id="rId19-created" id="267"/>
    <p:sldId r:id="rId20-created" id="268"/>
    <p:sldId r:id="rId21-created" id="269"/>
    <p:sldId r:id="rId22-created" id="270"/>
    <p:sldId r:id="rId23-created" id="271"/>
    <p:sldId r:id="rId24-created" id="272"/>
    <p:sldId r:id="rId25-created" id="273"/>
    <p:sldId r:id="rId26-created" id="274"/>
    <p:sldId r:id="rId27-created" id="275"/>
    <p:sldId r:id="rId28-created" id="276"/>
    <p:sldId r:id="rId29-created" id="277"/>
    <p:sldId r:id="rId30-created" id="278"/>
    <p:sldId r:id="rId31-created" id="279"/>
    <p:sldId r:id="rId32-created" id="280"/>
    <p:sldId r:id="rId33-created" id="281"/>
    <p:sldId r:id="rId34-created" id="282"/>
    <p:sldId r:id="rId35-created" id="283"/>
    <p:sldId r:id="rId36-created" id="284"/>
  </p:sldIdLst>
  <p:sldSz cx="1090536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-created" Type="http://schemas.openxmlformats.org/officeDocument/2006/relationships/slide" Target="slides/slide2.xml"/><Relationship Id="rId9-created" Type="http://schemas.openxmlformats.org/officeDocument/2006/relationships/slide" Target="slides/slide3.xml"/><Relationship Id="rId10-created" Type="http://schemas.openxmlformats.org/officeDocument/2006/relationships/slide" Target="slides/slide4.xml"/><Relationship Id="rId11-created" Type="http://schemas.openxmlformats.org/officeDocument/2006/relationships/slide" Target="slides/slide5.xml"/><Relationship Id="rId12-created" Type="http://schemas.openxmlformats.org/officeDocument/2006/relationships/slide" Target="slides/slide6.xml"/><Relationship Id="rId13-created" Type="http://schemas.openxmlformats.org/officeDocument/2006/relationships/slide" Target="slides/slide7.xml"/><Relationship Id="rId14-created" Type="http://schemas.openxmlformats.org/officeDocument/2006/relationships/slide" Target="slides/slide8.xml"/><Relationship Id="rId15-created" Type="http://schemas.openxmlformats.org/officeDocument/2006/relationships/slide" Target="slides/slide9.xml"/><Relationship Id="rId16-created" Type="http://schemas.openxmlformats.org/officeDocument/2006/relationships/slide" Target="slides/slide10.xml"/><Relationship Id="rId17-created" Type="http://schemas.openxmlformats.org/officeDocument/2006/relationships/slide" Target="slides/slide11.xml"/><Relationship Id="rId18-created" Type="http://schemas.openxmlformats.org/officeDocument/2006/relationships/slide" Target="slides/slide12.xml"/><Relationship Id="rId19-created" Type="http://schemas.openxmlformats.org/officeDocument/2006/relationships/slide" Target="slides/slide13.xml"/><Relationship Id="rId20-created" Type="http://schemas.openxmlformats.org/officeDocument/2006/relationships/slide" Target="slides/slide14.xml"/><Relationship Id="rId21-created" Type="http://schemas.openxmlformats.org/officeDocument/2006/relationships/slide" Target="slides/slide15.xml"/><Relationship Id="rId22-created" Type="http://schemas.openxmlformats.org/officeDocument/2006/relationships/slide" Target="slides/slide16.xml"/><Relationship Id="rId23-created" Type="http://schemas.openxmlformats.org/officeDocument/2006/relationships/slide" Target="slides/slide17.xml"/><Relationship Id="rId24-created" Type="http://schemas.openxmlformats.org/officeDocument/2006/relationships/slide" Target="slides/slide18.xml"/><Relationship Id="rId25-created" Type="http://schemas.openxmlformats.org/officeDocument/2006/relationships/slide" Target="slides/slide19.xml"/><Relationship Id="rId26-created" Type="http://schemas.openxmlformats.org/officeDocument/2006/relationships/slide" Target="slides/slide20.xml"/><Relationship Id="rId27-created" Type="http://schemas.openxmlformats.org/officeDocument/2006/relationships/slide" Target="slides/slide21.xml"/><Relationship Id="rId28-created" Type="http://schemas.openxmlformats.org/officeDocument/2006/relationships/slide" Target="slides/slide22.xml"/><Relationship Id="rId29-created" Type="http://schemas.openxmlformats.org/officeDocument/2006/relationships/slide" Target="slides/slide23.xml"/><Relationship Id="rId30-created" Type="http://schemas.openxmlformats.org/officeDocument/2006/relationships/slide" Target="slides/slide24.xml"/><Relationship Id="rId31-created" Type="http://schemas.openxmlformats.org/officeDocument/2006/relationships/slide" Target="slides/slide25.xml"/><Relationship Id="rId32-created" Type="http://schemas.openxmlformats.org/officeDocument/2006/relationships/slide" Target="slides/slide26.xml"/><Relationship Id="rId33-created" Type="http://schemas.openxmlformats.org/officeDocument/2006/relationships/slide" Target="slides/slide27.xml"/><Relationship Id="rId34-created" Type="http://schemas.openxmlformats.org/officeDocument/2006/relationships/slide" Target="slides/slide28.xml"/><Relationship Id="rId35-created" Type="http://schemas.openxmlformats.org/officeDocument/2006/relationships/slide" Target="slides/slide29.xml"/><Relationship Id="rId36-created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5" name="asset:BGP-201"/>
          <p:cNvGrpSpPr/>
          <p:nvPr/>
        </p:nvGrpSpPr>
        <p:grpSpPr>
          <a:xfrm>
            <a:off x="0" y="0"/>
            <a:ext cx="10905360" cy="7772400"/>
            <a:chOff x="0" y="0"/>
            <a:chExt cx="10905360" cy="7772400"/>
          </a:xfrm>
        </p:grpSpPr>
        <p:sp>
          <p:nvSpPr>
            <p:cNvPr id="3" name="Rectangle 2"/>
            <p:cNvSpPr/>
            <p:nvPr/>
          </p:nvSpPr>
          <p:spPr>
            <a:xfrm>
              <a:off x="0" y="0"/>
              <a:ext cx="10905360" cy="7772400"/>
            </a:xfrm>
            <a:prstGeom prst="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777240" y="502920"/>
              <a:ext cx="54864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정부 제안서 표지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77240" y="841248"/>
              <a:ext cx="9350880" cy="7772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3600" b="1">
                  <a:solidFill>
                    <a:srgbClr val="FFFFFF"/>
                  </a:solidFill>
                  <a:latin typeface="Pretendard GOV Black"/>
                  <a:ea typeface="Pretendard GOV Black"/>
                  <a:cs typeface="Pretendard GOV Black"/>
                </a:rPr>
                <a:t>스마트도시 데이터 통합플랫폼 구축사업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77240" y="1645920"/>
              <a:ext cx="93508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0">
                  <a:solidFill>
                    <a:srgbClr val="FFFFFF"/>
                  </a:solidFill>
                  <a:latin typeface="Pretendard GOV SemiBold"/>
                  <a:ea typeface="Pretendard GOV SemiBold"/>
                  <a:cs typeface="Pretendard GOV SemiBold"/>
                </a:rPr>
                <a:t>지자체 협업 실증 및 확산 제안서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777240" y="2148840"/>
              <a:ext cx="2103120" cy="54864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777240" y="2514600"/>
              <a:ext cx="9350880" cy="4160520"/>
            </a:xfrm>
            <a:prstGeom prst="rect">
              <a:avLst/>
            </a:prstGeom>
            <a:solidFill>
              <a:srgbClr val="E9EAF1"/>
            </a:solidFill>
            <a:ln w="19050">
              <a:solidFill>
                <a:srgbClr val="D05548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5589840" y="3968496"/>
              <a:ext cx="391180" cy="39118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Isosceles Triangle 9"/>
            <p:cNvSpPr/>
            <p:nvPr/>
          </p:nvSpPr>
          <p:spPr>
            <a:xfrm>
              <a:off x="4766880" y="4206605"/>
              <a:ext cx="1014983" cy="612282"/>
            </a:xfrm>
            <a:prstGeom prst="triangle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77240" y="4849977"/>
              <a:ext cx="93508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E4692"/>
                  </a:solidFill>
                  <a:latin typeface="Pretendard GOV Light"/>
                  <a:ea typeface="Pretendard GOV Light"/>
                  <a:cs typeface="Pretendard GOV Light"/>
                </a:rPr>
                <a:t>실사 이미지 삽입 영역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77240" y="5124297"/>
              <a:ext cx="935088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2E4692"/>
                  </a:solidFill>
                  <a:latin typeface="Pretendard GOV Light"/>
                  <a:ea typeface="Pretendard GOV Light"/>
                  <a:cs typeface="Pretendard GOV Light"/>
                </a:rPr>
                <a:t>(제안 시점 라이선스 확보 사진으로 교체)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77240" y="6903720"/>
              <a:ext cx="54864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FFFFFF"/>
                  </a:solidFill>
                  <a:latin typeface="Pretendard GOV Light"/>
                  <a:ea typeface="Pretendard GOV Light"/>
                  <a:cs typeface="Pretendard GOV Light"/>
                </a:rPr>
                <a:t>2026 · OO광역시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470520" y="6903720"/>
              <a:ext cx="36576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r"/>
              <a:r>
                <a:rPr sz="1000" b="1">
                  <a:solidFill>
                    <a:srgbClr val="FFFFFF"/>
                  </a:solidFill>
                  <a:latin typeface="Pretendard GOV Light"/>
                  <a:ea typeface="Pretendard GOV Light"/>
                  <a:cs typeface="Pretendard GOV Light"/>
                </a:rPr>
                <a:t>PART 00 · 표지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4" name="asset:BGP-202"/>
          <p:cNvGrpSpPr/>
          <p:nvPr/>
        </p:nvGrpSpPr>
        <p:grpSpPr>
          <a:xfrm>
            <a:off x="0" y="0"/>
            <a:ext cx="10905360" cy="7772400"/>
            <a:chOff x="0" y="0"/>
            <a:chExt cx="10905360" cy="7772400"/>
          </a:xfrm>
        </p:grpSpPr>
        <p:sp>
          <p:nvSpPr>
            <p:cNvPr id="3" name="Rectangle 2"/>
            <p:cNvSpPr/>
            <p:nvPr/>
          </p:nvSpPr>
          <p:spPr>
            <a:xfrm>
              <a:off x="0" y="0"/>
              <a:ext cx="10905360" cy="7772400"/>
            </a:xfrm>
            <a:prstGeom prst="rect">
              <a:avLst/>
            </a:prstGeom>
            <a:gradFill rotWithShape="1">
              <a:gsLst>
                <a:gs pos="0">
                  <a:srgbClr val="2E4692"/>
                </a:gs>
                <a:gs pos="100000">
                  <a:srgbClr val="7030A0"/>
                </a:gs>
              </a:gsLst>
              <a:lin scaled="0" ang="189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777240" y="685800"/>
              <a:ext cx="5547868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정부 제안서 표지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77240" y="1051560"/>
              <a:ext cx="5547868" cy="1417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3600" b="1">
                  <a:solidFill>
                    <a:srgbClr val="FFFFFF"/>
                  </a:solidFill>
                  <a:latin typeface="Pretendard GOV Black"/>
                  <a:ea typeface="Pretendard GOV Black"/>
                  <a:cs typeface="Pretendard GOV Black"/>
                </a:rPr>
                <a:t>공공데이터 개방 활성화 지원사업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77240" y="2606040"/>
              <a:ext cx="554786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0">
                  <a:solidFill>
                    <a:srgbClr val="FFFFFF"/>
                  </a:solidFill>
                  <a:latin typeface="Pretendard GOV SemiBold"/>
                  <a:ea typeface="Pretendard GOV SemiBold"/>
                  <a:cs typeface="Pretendard GOV SemiBold"/>
                </a:rPr>
                <a:t>민간 협력형 데이터 유통체계 구축 제안서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777240" y="3154680"/>
              <a:ext cx="1828800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77240" y="6903720"/>
              <a:ext cx="55478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FFFFFF"/>
                  </a:solidFill>
                  <a:latin typeface="Pretendard GOV Light"/>
                  <a:ea typeface="Pretendard GOV Light"/>
                  <a:cs typeface="Pretendard GOV Light"/>
                </a:rPr>
                <a:t>2026 · OO광역시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7197537" y="777240"/>
              <a:ext cx="2930582" cy="621792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05548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8739023" y="3448827"/>
              <a:ext cx="217308" cy="217308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Isosceles Triangle 10"/>
            <p:cNvSpPr/>
            <p:nvPr/>
          </p:nvSpPr>
          <p:spPr>
            <a:xfrm>
              <a:off x="8281853" y="3581101"/>
              <a:ext cx="563844" cy="340135"/>
            </a:xfrm>
            <a:prstGeom prst="triangle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197537" y="4027922"/>
              <a:ext cx="2930582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E4692"/>
                  </a:solidFill>
                  <a:latin typeface="Pretendard GOV Light"/>
                  <a:ea typeface="Pretendard GOV Light"/>
                  <a:cs typeface="Pretendard GOV Light"/>
                </a:rPr>
                <a:t>실사 이미지 삽입 영역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197537" y="4302242"/>
              <a:ext cx="2930582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2E4692"/>
                  </a:solidFill>
                  <a:latin typeface="Pretendard GOV Light"/>
                  <a:ea typeface="Pretendard GOV Light"/>
                  <a:cs typeface="Pretendard GOV Light"/>
                </a:rPr>
                <a:t>(제안 시점 라이선스 확보 사진으로 교체)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2" name="asset:BGP-203"/>
          <p:cNvGrpSpPr/>
          <p:nvPr/>
        </p:nvGrpSpPr>
        <p:grpSpPr>
          <a:xfrm>
            <a:off x="0" y="0"/>
            <a:ext cx="10905360" cy="7772400"/>
            <a:chOff x="0" y="0"/>
            <a:chExt cx="10905360" cy="7772400"/>
          </a:xfrm>
        </p:grpSpPr>
        <p:sp>
          <p:nvSpPr>
            <p:cNvPr id="3" name="Rectangle 2"/>
            <p:cNvSpPr/>
            <p:nvPr/>
          </p:nvSpPr>
          <p:spPr>
            <a:xfrm>
              <a:off x="0" y="0"/>
              <a:ext cx="10905360" cy="2743200"/>
            </a:xfrm>
            <a:prstGeom prst="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2743200"/>
              <a:ext cx="10905360" cy="502920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77240" y="502920"/>
              <a:ext cx="54864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정부 제안서 표지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77240" y="868680"/>
              <a:ext cx="9350880" cy="8229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3600" b="1">
                  <a:solidFill>
                    <a:srgbClr val="FFFFFF"/>
                  </a:solidFill>
                  <a:latin typeface="Pretendard GOV Black"/>
                  <a:ea typeface="Pretendard GOV Black"/>
                  <a:cs typeface="Pretendard GOV Black"/>
                </a:rPr>
                <a:t>지역경제 활성화 통합지원사업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77240" y="2971800"/>
              <a:ext cx="935088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0">
                  <a:solidFill>
                    <a:srgbClr val="2E4692"/>
                  </a:solidFill>
                  <a:latin typeface="Pretendard GOV SemiBold"/>
                  <a:ea typeface="Pretendard GOV SemiBold"/>
                  <a:cs typeface="Pretendard GOV SemiBold"/>
                </a:rPr>
                <a:t>소상공인 디지털 전환 지원 제안서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983799" y="3611880"/>
              <a:ext cx="4937760" cy="32004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05548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5581061" y="4612928"/>
              <a:ext cx="366144" cy="366144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Isosceles Triangle 9"/>
            <p:cNvSpPr/>
            <p:nvPr/>
          </p:nvSpPr>
          <p:spPr>
            <a:xfrm>
              <a:off x="4810771" y="4835799"/>
              <a:ext cx="950025" cy="573096"/>
            </a:xfrm>
            <a:prstGeom prst="triangle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983799" y="5450870"/>
              <a:ext cx="493776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E4692"/>
                  </a:solidFill>
                  <a:latin typeface="Pretendard GOV Light"/>
                  <a:ea typeface="Pretendard GOV Light"/>
                  <a:cs typeface="Pretendard GOV Light"/>
                </a:rPr>
                <a:t>실사 이미지 삽입 영역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83799" y="5725190"/>
              <a:ext cx="493776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2E4692"/>
                  </a:solidFill>
                  <a:latin typeface="Pretendard GOV Light"/>
                  <a:ea typeface="Pretendard GOV Light"/>
                  <a:cs typeface="Pretendard GOV Light"/>
                </a:rPr>
                <a:t>(제안 시점 라이선스 확보 사진으로 교체)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983799" y="3611880"/>
              <a:ext cx="292608" cy="41148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983799" y="3611880"/>
              <a:ext cx="41148" cy="292608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628951" y="3611880"/>
              <a:ext cx="292608" cy="41148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880411" y="3611880"/>
              <a:ext cx="41148" cy="292608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983799" y="6771132"/>
              <a:ext cx="292608" cy="41148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983799" y="6519672"/>
              <a:ext cx="41148" cy="292608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628951" y="6771132"/>
              <a:ext cx="292608" cy="41148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880411" y="6519672"/>
              <a:ext cx="41148" cy="292608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77240" y="7269480"/>
              <a:ext cx="54864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E4692"/>
                  </a:solidFill>
                  <a:latin typeface="Pretendard GOV Light"/>
                  <a:ea typeface="Pretendard GOV Light"/>
                  <a:cs typeface="Pretendard GOV Light"/>
                </a:rPr>
                <a:t>2026 · OO광역시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2" name="asset:HDR-201"/>
          <p:cNvGrpSpPr/>
          <p:nvPr/>
        </p:nvGrpSpPr>
        <p:grpSpPr>
          <a:xfrm>
            <a:off x="546923" y="3566160"/>
            <a:ext cx="9811512" cy="457200"/>
            <a:chOff x="546923" y="3566160"/>
            <a:chExt cx="9811512" cy="457200"/>
          </a:xfrm>
        </p:grpSpPr>
        <p:sp>
          <p:nvSpPr>
            <p:cNvPr id="3" name="Rounded Rectangle 2"/>
            <p:cNvSpPr/>
            <p:nvPr/>
          </p:nvSpPr>
          <p:spPr>
            <a:xfrm>
              <a:off x="546923" y="3566160"/>
              <a:ext cx="1874519" cy="457200"/>
            </a:xfrm>
            <a:prstGeom prst="roundRect">
              <a:avLst>
                <a:gd name="adj" fmla="val 50000"/>
              </a:avLst>
            </a:prstGeom>
            <a:solidFill>
              <a:srgbClr val="E9EAF1"/>
            </a:solidFill>
            <a:ln w="9525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사업 개요</a:t>
              </a:r>
            </a:p>
          </p:txBody>
        </p:sp>
        <p:sp>
          <p:nvSpPr>
            <p:cNvPr id="4" name="Chevron 3"/>
            <p:cNvSpPr/>
            <p:nvPr/>
          </p:nvSpPr>
          <p:spPr>
            <a:xfrm>
              <a:off x="2421443" y="3739896"/>
              <a:ext cx="109728" cy="109728"/>
            </a:xfrm>
            <a:prstGeom prst="chevron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531171" y="3566160"/>
              <a:ext cx="1874519" cy="457200"/>
            </a:xfrm>
            <a:prstGeom prst="roundRect">
              <a:avLst>
                <a:gd name="adj" fmla="val 50000"/>
              </a:avLst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추진 전략</a:t>
              </a:r>
            </a:p>
          </p:txBody>
        </p:sp>
        <p:sp>
          <p:nvSpPr>
            <p:cNvPr id="6" name="Chevron 5"/>
            <p:cNvSpPr/>
            <p:nvPr/>
          </p:nvSpPr>
          <p:spPr>
            <a:xfrm>
              <a:off x="4405691" y="3739896"/>
              <a:ext cx="109728" cy="109728"/>
            </a:xfrm>
            <a:prstGeom prst="chevron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515420" y="3566160"/>
              <a:ext cx="1874519" cy="457200"/>
            </a:xfrm>
            <a:prstGeom prst="roundRect">
              <a:avLst>
                <a:gd name="adj" fmla="val 50000"/>
              </a:avLst>
            </a:prstGeom>
            <a:solidFill>
              <a:srgbClr val="E9EAF1"/>
            </a:solidFill>
            <a:ln w="9525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추진 체계</a:t>
              </a:r>
            </a:p>
          </p:txBody>
        </p:sp>
        <p:sp>
          <p:nvSpPr>
            <p:cNvPr id="8" name="Chevron 7"/>
            <p:cNvSpPr/>
            <p:nvPr/>
          </p:nvSpPr>
          <p:spPr>
            <a:xfrm>
              <a:off x="6389939" y="3739896"/>
              <a:ext cx="109728" cy="109728"/>
            </a:xfrm>
            <a:prstGeom prst="chevron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499667" y="3566160"/>
              <a:ext cx="1874519" cy="457200"/>
            </a:xfrm>
            <a:prstGeom prst="roundRect">
              <a:avLst>
                <a:gd name="adj" fmla="val 50000"/>
              </a:avLst>
            </a:prstGeom>
            <a:solidFill>
              <a:srgbClr val="E9EAF1"/>
            </a:solidFill>
            <a:ln w="9525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세부 추진계획</a:t>
              </a:r>
            </a:p>
          </p:txBody>
        </p:sp>
        <p:sp>
          <p:nvSpPr>
            <p:cNvPr id="10" name="Chevron 9"/>
            <p:cNvSpPr/>
            <p:nvPr/>
          </p:nvSpPr>
          <p:spPr>
            <a:xfrm>
              <a:off x="8374188" y="3739896"/>
              <a:ext cx="109728" cy="109728"/>
            </a:xfrm>
            <a:prstGeom prst="chevron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483916" y="3566160"/>
              <a:ext cx="1874519" cy="457200"/>
            </a:xfrm>
            <a:prstGeom prst="roundRect">
              <a:avLst>
                <a:gd name="adj" fmla="val 50000"/>
              </a:avLst>
            </a:prstGeom>
            <a:solidFill>
              <a:srgbClr val="E9EAF1"/>
            </a:solidFill>
            <a:ln w="9525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기대효과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4" name="asset:HDR-202"/>
          <p:cNvGrpSpPr/>
          <p:nvPr/>
        </p:nvGrpSpPr>
        <p:grpSpPr>
          <a:xfrm>
            <a:off x="560640" y="3108960"/>
            <a:ext cx="10351008" cy="1005839"/>
            <a:chOff x="560640" y="3108960"/>
            <a:chExt cx="10351008" cy="1005839"/>
          </a:xfrm>
        </p:grpSpPr>
        <p:sp>
          <p:nvSpPr>
            <p:cNvPr id="3" name="Rectangle 2"/>
            <p:cNvSpPr/>
            <p:nvPr/>
          </p:nvSpPr>
          <p:spPr>
            <a:xfrm>
              <a:off x="1347024" y="3374136"/>
              <a:ext cx="8211312" cy="36576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63560" y="3108960"/>
              <a:ext cx="566928" cy="566928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 GOV Black"/>
                  <a:ea typeface="Pretendard GOV Black"/>
                  <a:cs typeface="Pretendard GOV Black"/>
                </a:rPr>
                <a:t>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60640" y="3749039"/>
              <a:ext cx="15727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사업 개요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3258120" y="3108960"/>
              <a:ext cx="566928" cy="566928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 GOV Black"/>
                  <a:ea typeface="Pretendard GOV Black"/>
                  <a:cs typeface="Pretendard GOV Black"/>
                </a:rPr>
                <a:t>2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755199" y="3749039"/>
              <a:ext cx="15727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추진 전략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5452680" y="3108960"/>
              <a:ext cx="566928" cy="566928"/>
            </a:xfrm>
            <a:prstGeom prst="ellipse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 GOV Black"/>
                  <a:ea typeface="Pretendard GOV Black"/>
                  <a:cs typeface="Pretendard GOV Black"/>
                </a:rPr>
                <a:t>3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949760" y="3749039"/>
              <a:ext cx="15727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2E4692"/>
                  </a:solidFill>
                  <a:latin typeface="Pretendard GOV Medium"/>
                  <a:ea typeface="Pretendard GOV Medium"/>
                  <a:cs typeface="Pretendard GOV Medium"/>
                </a:rPr>
                <a:t>추진 체계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647239" y="3108960"/>
              <a:ext cx="566928" cy="56692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000000"/>
                  </a:solidFill>
                  <a:latin typeface="Pretendard GOV Black"/>
                  <a:ea typeface="Pretendard GOV Black"/>
                  <a:cs typeface="Pretendard GOV Black"/>
                </a:rPr>
                <a:t>4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144319" y="3749039"/>
              <a:ext cx="15727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세부 추진계획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9841800" y="3108960"/>
              <a:ext cx="566928" cy="56692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000000"/>
                  </a:solidFill>
                  <a:latin typeface="Pretendard GOV Black"/>
                  <a:ea typeface="Pretendard GOV Black"/>
                  <a:cs typeface="Pretendard GOV Black"/>
                </a:rPr>
                <a:t>5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338880" y="3749039"/>
              <a:ext cx="15727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기대효과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0" name="asset:BGP-204"/>
          <p:cNvGrpSpPr/>
          <p:nvPr/>
        </p:nvGrpSpPr>
        <p:grpSpPr>
          <a:xfrm>
            <a:off x="0" y="0"/>
            <a:ext cx="10905360" cy="7772400"/>
            <a:chOff x="0" y="0"/>
            <a:chExt cx="10905360" cy="7772400"/>
          </a:xfrm>
        </p:grpSpPr>
        <p:sp>
          <p:nvSpPr>
            <p:cNvPr id="3" name="Rectangle 2"/>
            <p:cNvSpPr/>
            <p:nvPr/>
          </p:nvSpPr>
          <p:spPr>
            <a:xfrm>
              <a:off x="0" y="0"/>
              <a:ext cx="10905360" cy="7772400"/>
            </a:xfrm>
            <a:prstGeom prst="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822960" y="1005840"/>
              <a:ext cx="36576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7030A0"/>
                  </a:solidFill>
                  <a:latin typeface="Pretendard GOV Light"/>
                  <a:ea typeface="Pretendard GOV Light"/>
                  <a:cs typeface="Pretendard GOV Light"/>
                </a:rPr>
                <a:t>PART 01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22960" y="1417320"/>
              <a:ext cx="3657600" cy="2743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7000" b="1">
                  <a:solidFill>
                    <a:srgbClr val="FFFFFF"/>
                  </a:solidFill>
                  <a:latin typeface="Pretendard GOV Black"/>
                  <a:ea typeface="Pretendard GOV Black"/>
                  <a:cs typeface="Pretendard GOV Black"/>
                </a:rPr>
                <a:t>01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846320" y="2331720"/>
              <a:ext cx="5236080" cy="11887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3600" b="1">
                  <a:solidFill>
                    <a:srgbClr val="FFFFFF"/>
                  </a:solidFill>
                  <a:latin typeface="Pretendard GOV Black"/>
                  <a:ea typeface="Pretendard GOV Black"/>
                  <a:cs typeface="Pretendard GOV Black"/>
                </a:rPr>
                <a:t>사업 개요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4846320" y="3657600"/>
              <a:ext cx="2194560" cy="64008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846320" y="3886200"/>
              <a:ext cx="523608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0">
                  <a:solidFill>
                    <a:srgbClr val="FFFFFF"/>
                  </a:solidFill>
                  <a:latin typeface="Pretendard GOV SemiBold"/>
                  <a:ea typeface="Pretendard GOV SemiBold"/>
                  <a:cs typeface="Pretendard GOV SemiBold"/>
                </a:rPr>
                <a:t>사업 추진 배경과 목표를 설명합니다.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22960" y="7269480"/>
              <a:ext cx="54864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FFFFFF"/>
                  </a:solidFill>
                  <a:latin typeface="Pretendard GOV Light"/>
                  <a:ea typeface="Pretendard GOV Light"/>
                  <a:cs typeface="Pretendard GOV Light"/>
                </a:rPr>
                <a:t>2026 · 스마트도시 데이터 통합플랫폼 구축사업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4" name="asset:HDR-203"/>
          <p:cNvGrpSpPr/>
          <p:nvPr/>
        </p:nvGrpSpPr>
        <p:grpSpPr>
          <a:xfrm>
            <a:off x="560640" y="457200"/>
            <a:ext cx="9784080" cy="457200"/>
            <a:chOff x="560640" y="457200"/>
            <a:chExt cx="9784080" cy="457200"/>
          </a:xfrm>
        </p:grpSpPr>
        <p:sp>
          <p:nvSpPr>
            <p:cNvPr id="3" name="Rectangle 2"/>
            <p:cNvSpPr/>
            <p:nvPr/>
          </p:nvSpPr>
          <p:spPr>
            <a:xfrm>
              <a:off x="560640" y="457200"/>
              <a:ext cx="9784080" cy="45720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633792" y="457200"/>
              <a:ext cx="1810511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1. 사업 개요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590608" y="457200"/>
              <a:ext cx="1810511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2. 추진 전략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2517456" y="530352"/>
              <a:ext cx="10972" cy="310896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547424" y="457200"/>
              <a:ext cx="1810511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3. 추진 체계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474272" y="530352"/>
              <a:ext cx="10972" cy="310896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504239" y="457200"/>
              <a:ext cx="1810511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2E4692"/>
                  </a:solidFill>
                  <a:latin typeface="Pretendard GOV Medium"/>
                  <a:ea typeface="Pretendard GOV Medium"/>
                  <a:cs typeface="Pretendard GOV Medium"/>
                </a:rPr>
                <a:t>4. 세부 추진계획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431087" y="859536"/>
              <a:ext cx="1956815" cy="54864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431087" y="530352"/>
              <a:ext cx="10972" cy="310896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61056" y="457200"/>
              <a:ext cx="1810511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5. 기대효과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387903" y="530352"/>
              <a:ext cx="10972" cy="310896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" name="asset:PRC-201"/>
          <p:cNvGrpSpPr/>
          <p:nvPr/>
        </p:nvGrpSpPr>
        <p:grpSpPr>
          <a:xfrm>
            <a:off x="594359" y="3086100"/>
            <a:ext cx="9720072" cy="1645920"/>
            <a:chOff x="594359" y="3086100"/>
            <a:chExt cx="9720072" cy="1645920"/>
          </a:xfrm>
        </p:grpSpPr>
        <p:sp>
          <p:nvSpPr>
            <p:cNvPr id="3" name="Rounded Rectangle 2"/>
            <p:cNvSpPr/>
            <p:nvPr/>
          </p:nvSpPr>
          <p:spPr>
            <a:xfrm>
              <a:off x="594359" y="3086100"/>
              <a:ext cx="1783080" cy="1051560"/>
            </a:xfrm>
            <a:prstGeom prst="roundRect">
              <a:avLst>
                <a:gd name="adj" fmla="val 6000"/>
              </a:avLst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과제 발굴</a:t>
              </a:r>
            </a:p>
          </p:txBody>
        </p:sp>
        <p:sp>
          <p:nvSpPr>
            <p:cNvPr id="4" name="Right Arrow 3"/>
            <p:cNvSpPr/>
            <p:nvPr/>
          </p:nvSpPr>
          <p:spPr>
            <a:xfrm>
              <a:off x="2395727" y="3447288"/>
              <a:ext cx="164592" cy="329184"/>
            </a:xfrm>
            <a:prstGeom prst="rightArrow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578607" y="3086100"/>
              <a:ext cx="1783080" cy="1051560"/>
            </a:xfrm>
            <a:prstGeom prst="roundRect">
              <a:avLst>
                <a:gd name="adj" fmla="val 6000"/>
              </a:avLst>
            </a:prstGeom>
            <a:solidFill>
              <a:srgbClr val="6975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현황 조사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4379975" y="3447288"/>
              <a:ext cx="164592" cy="329184"/>
            </a:xfrm>
            <a:prstGeom prst="rightArrow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562855" y="3086100"/>
              <a:ext cx="1783080" cy="1051560"/>
            </a:xfrm>
            <a:prstGeom prst="roundRect">
              <a:avLst>
                <a:gd name="adj" fmla="val 6000"/>
              </a:avLst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계획 수립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6364223" y="3447288"/>
              <a:ext cx="164592" cy="329184"/>
            </a:xfrm>
            <a:prstGeom prst="rightArrow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547103" y="3086100"/>
              <a:ext cx="1783080" cy="1051560"/>
            </a:xfrm>
            <a:prstGeom prst="roundRect">
              <a:avLst>
                <a:gd name="adj" fmla="val 6000"/>
              </a:avLst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사업 추진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8348471" y="3447288"/>
              <a:ext cx="164592" cy="329184"/>
            </a:xfrm>
            <a:prstGeom prst="rightArrow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531351" y="3086100"/>
              <a:ext cx="1783080" cy="1051560"/>
            </a:xfrm>
            <a:prstGeom prst="roundRect">
              <a:avLst>
                <a:gd name="adj" fmla="val 6000"/>
              </a:avLst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성과 관리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94359" y="4366260"/>
              <a:ext cx="9720072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697591"/>
                  </a:solidFill>
                  <a:latin typeface="Pretendard GOV Light"/>
                  <a:ea typeface="Pretendard GOV Light"/>
                  <a:cs typeface="Pretendard GOV Light"/>
                </a:rPr>
                <a:t>단계별 세부 추진계획은 하위 실행계획에 따라 조정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4" name="asset:HDR-203"/>
          <p:cNvGrpSpPr/>
          <p:nvPr/>
        </p:nvGrpSpPr>
        <p:grpSpPr>
          <a:xfrm>
            <a:off x="560640" y="457200"/>
            <a:ext cx="9784080" cy="457200"/>
            <a:chOff x="560640" y="457200"/>
            <a:chExt cx="9784080" cy="457200"/>
          </a:xfrm>
        </p:grpSpPr>
        <p:sp>
          <p:nvSpPr>
            <p:cNvPr id="3" name="Rectangle 2"/>
            <p:cNvSpPr/>
            <p:nvPr/>
          </p:nvSpPr>
          <p:spPr>
            <a:xfrm>
              <a:off x="560640" y="457200"/>
              <a:ext cx="9784080" cy="45720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633792" y="457200"/>
              <a:ext cx="1810511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1. 사업 개요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590608" y="457200"/>
              <a:ext cx="1810511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2. 추진 전략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2517456" y="530352"/>
              <a:ext cx="10972" cy="310896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547424" y="457200"/>
              <a:ext cx="1810511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3. 추진 체계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474272" y="530352"/>
              <a:ext cx="10972" cy="310896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504239" y="457200"/>
              <a:ext cx="1810511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2E4692"/>
                  </a:solidFill>
                  <a:latin typeface="Pretendard GOV Medium"/>
                  <a:ea typeface="Pretendard GOV Medium"/>
                  <a:cs typeface="Pretendard GOV Medium"/>
                </a:rPr>
                <a:t>4. 세부 추진계획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431087" y="859536"/>
              <a:ext cx="1956815" cy="54864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431087" y="530352"/>
              <a:ext cx="10972" cy="310896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61056" y="457200"/>
              <a:ext cx="1810511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5. 기대효과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387903" y="530352"/>
              <a:ext cx="10972" cy="310896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" name="asset:KPI-206"/>
          <p:cNvGrpSpPr/>
          <p:nvPr/>
        </p:nvGrpSpPr>
        <p:grpSpPr>
          <a:xfrm>
            <a:off x="379476" y="2331720"/>
            <a:ext cx="10149840" cy="2468880"/>
            <a:chOff x="379476" y="2331720"/>
            <a:chExt cx="10149840" cy="2468880"/>
          </a:xfrm>
        </p:grpSpPr>
        <p:sp>
          <p:nvSpPr>
            <p:cNvPr id="3" name="Rounded Rectangle 2"/>
            <p:cNvSpPr/>
            <p:nvPr/>
          </p:nvSpPr>
          <p:spPr>
            <a:xfrm>
              <a:off x="379476" y="2331720"/>
              <a:ext cx="2331720" cy="246888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7">
              <a:solidFill>
                <a:srgbClr val="2E469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379476" y="2331720"/>
              <a:ext cx="2331720" cy="457200"/>
            </a:xfrm>
            <a:prstGeom prst="round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79476" y="2331720"/>
              <a:ext cx="23317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지표 1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79476" y="3017520"/>
              <a:ext cx="2331720" cy="10058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2E4692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1,000</a:t>
              </a:r>
              <a:r>
                <a:rPr sz="13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70916" y="4251960"/>
              <a:ext cx="214883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검증 사업 DB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985515" y="2331720"/>
              <a:ext cx="2331720" cy="246888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7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985515" y="2331720"/>
              <a:ext cx="2331720" cy="4572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985515" y="2331720"/>
              <a:ext cx="23317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지표 2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985515" y="3017520"/>
              <a:ext cx="2331720" cy="10058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7030A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40</a:t>
              </a:r>
              <a:r>
                <a:rPr sz="13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 개소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076956" y="4251960"/>
              <a:ext cx="214883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참여기관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5591555" y="2331720"/>
              <a:ext cx="2331720" cy="246888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7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5591555" y="2331720"/>
              <a:ext cx="2331720" cy="457200"/>
            </a:xfrm>
            <a:prstGeom prst="round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591555" y="2331720"/>
              <a:ext cx="23317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지표 3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591555" y="3017520"/>
              <a:ext cx="2331720" cy="10058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D05548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42</a:t>
              </a:r>
              <a:r>
                <a:rPr sz="13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 억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682995" y="4251960"/>
              <a:ext cx="214883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연계 예산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197596" y="2331720"/>
              <a:ext cx="2331720" cy="246888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7">
              <a:solidFill>
                <a:srgbClr val="6975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8197596" y="2331720"/>
              <a:ext cx="2331720" cy="457200"/>
            </a:xfrm>
            <a:prstGeom prst="roundRect">
              <a:avLst/>
            </a:prstGeom>
            <a:solidFill>
              <a:srgbClr val="6975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197596" y="2331720"/>
              <a:ext cx="23317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지표 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197596" y="3017520"/>
              <a:ext cx="2331720" cy="10058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697591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4.6</a:t>
              </a:r>
              <a:r>
                <a:rPr sz="13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 점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289036" y="4251960"/>
              <a:ext cx="214883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만족도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9" name="asset:KPI-203"/>
          <p:cNvGrpSpPr/>
          <p:nvPr/>
        </p:nvGrpSpPr>
        <p:grpSpPr>
          <a:xfrm>
            <a:off x="1280160" y="1554480"/>
            <a:ext cx="8348471" cy="4206240"/>
            <a:chOff x="1280160" y="1554480"/>
            <a:chExt cx="8348471" cy="4206240"/>
          </a:xfrm>
        </p:grpSpPr>
        <p:sp>
          <p:nvSpPr>
            <p:cNvPr id="3" name="Rounded Rectangle 2"/>
            <p:cNvSpPr/>
            <p:nvPr/>
          </p:nvSpPr>
          <p:spPr>
            <a:xfrm>
              <a:off x="1280160" y="1554480"/>
              <a:ext cx="8348471" cy="4206240"/>
            </a:xfrm>
            <a:prstGeom prst="roundRect">
              <a:avLst>
                <a:gd name="adj" fmla="val 6000"/>
              </a:avLst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554480" y="1874519"/>
              <a:ext cx="7799831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E4692"/>
                  </a:solidFill>
                  <a:latin typeface="Pretendard GOV ExtraBold"/>
                  <a:ea typeface="Pretendard GOV ExtraBold"/>
                  <a:cs typeface="Pretendard GOV ExtraBold"/>
                </a:rPr>
                <a:t>연간 핵심 성과지표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554480" y="2514600"/>
              <a:ext cx="7799831" cy="20116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9600" b="1">
                  <a:solidFill>
                    <a:srgbClr val="2E4692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12,500</a:t>
              </a:r>
              <a:r>
                <a:rPr sz="28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554480" y="4617720"/>
              <a:ext cx="7799831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누적 민원 처리건수 — 전년 대비 28% 증가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554480" y="5257800"/>
              <a:ext cx="7799831" cy="128016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554480" y="5257800"/>
              <a:ext cx="6707855" cy="128016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4" name="asset:HDR-203"/>
          <p:cNvGrpSpPr/>
          <p:nvPr/>
        </p:nvGrpSpPr>
        <p:grpSpPr>
          <a:xfrm>
            <a:off x="560640" y="457200"/>
            <a:ext cx="9784080" cy="457200"/>
            <a:chOff x="560640" y="457200"/>
            <a:chExt cx="9784080" cy="457200"/>
          </a:xfrm>
        </p:grpSpPr>
        <p:sp>
          <p:nvSpPr>
            <p:cNvPr id="3" name="Rectangle 2"/>
            <p:cNvSpPr/>
            <p:nvPr/>
          </p:nvSpPr>
          <p:spPr>
            <a:xfrm>
              <a:off x="560640" y="457200"/>
              <a:ext cx="9784080" cy="45720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633792" y="457200"/>
              <a:ext cx="1810511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1. 사업 개요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590608" y="457200"/>
              <a:ext cx="1810511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2. 추진 전략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2517456" y="530352"/>
              <a:ext cx="10972" cy="310896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547424" y="457200"/>
              <a:ext cx="1810511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3. 추진 체계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474272" y="530352"/>
              <a:ext cx="10972" cy="310896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504239" y="457200"/>
              <a:ext cx="1810511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2E4692"/>
                  </a:solidFill>
                  <a:latin typeface="Pretendard GOV Medium"/>
                  <a:ea typeface="Pretendard GOV Medium"/>
                  <a:cs typeface="Pretendard GOV Medium"/>
                </a:rPr>
                <a:t>4. 세부 추진계획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431087" y="859536"/>
              <a:ext cx="1956815" cy="54864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431087" y="530352"/>
              <a:ext cx="10972" cy="310896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61056" y="457200"/>
              <a:ext cx="1810511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5. 기대효과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387903" y="530352"/>
              <a:ext cx="10972" cy="310896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aphicFrame>
        <p:nvGraphicFramePr>
          <p:cNvPr id="4" name="asset:TBL-201"/>
          <p:cNvGraphicFramePr>
            <a:graphicFrameLocks noGrp="1"/>
          </p:cNvGraphicFramePr>
          <p:nvPr/>
        </p:nvGraphicFramePr>
        <p:xfrm>
          <a:off x="457200" y="1234440"/>
          <a:ext cx="9990956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97830"/>
                <a:gridCol w="1298824"/>
                <a:gridCol w="1298824"/>
                <a:gridCol w="1298824"/>
                <a:gridCol w="1298824"/>
                <a:gridCol w="2397830"/>
              </a:tblGrid>
              <a:tr h="502920">
                <a:tc row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구분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2025년 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76829E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2026년 계획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76829E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 row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증감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</a:tr>
              <a:tr h="502920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Medium"/>
                          <a:ea typeface="Pretendard GOV Medium"/>
                          <a:cs typeface="Pretendard GOV Medium"/>
                        </a:rPr>
                        <a:t>목표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Medium"/>
                          <a:ea typeface="Pretendard GOV Medium"/>
                          <a:cs typeface="Pretendard GOV Medium"/>
                        </a:rPr>
                        <a:t>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Medium"/>
                          <a:ea typeface="Pretendard GOV Medium"/>
                          <a:cs typeface="Pretendard GOV Medium"/>
                        </a:rPr>
                        <a:t>목표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Medium"/>
                          <a:ea typeface="Pretendard GOV Medium"/>
                          <a:cs typeface="Pretendard GOV Medium"/>
                        </a:rPr>
                        <a:t>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사업 추진율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80%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76%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100%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94%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▲18%p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예산 집행률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70%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68%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95%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91%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▲23%p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콘텐츠 제작 건수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120건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108건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150건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121건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▲13건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고객 만족도(CSAT)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85점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82점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90점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79점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▼3점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" name="asset:TBL-202"/>
          <p:cNvGraphicFramePr>
            <a:graphicFrameLocks noGrp="1"/>
          </p:cNvGraphicFramePr>
          <p:nvPr/>
        </p:nvGraphicFramePr>
        <p:xfrm>
          <a:off x="457200" y="1234440"/>
          <a:ext cx="9990958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8824"/>
                <a:gridCol w="1448689"/>
                <a:gridCol w="1448689"/>
                <a:gridCol w="1448689"/>
                <a:gridCol w="1448689"/>
                <a:gridCol w="1448689"/>
                <a:gridCol w="1448689"/>
              </a:tblGrid>
              <a:tr h="502920">
                <a:tc row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구분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추진체계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성과관리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환류체계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</a:tr>
              <a:tr h="502920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Medium"/>
                          <a:ea typeface="Pretendard GOV Medium"/>
                          <a:cs typeface="Pretendard GOV Medium"/>
                        </a:rPr>
                        <a:t>조직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Medium"/>
                          <a:ea typeface="Pretendard GOV Medium"/>
                          <a:cs typeface="Pretendard GOV Medium"/>
                        </a:rPr>
                        <a:t>역할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Medium"/>
                          <a:ea typeface="Pretendard GOV Medium"/>
                          <a:cs typeface="Pretendard GOV Medium"/>
                        </a:rPr>
                        <a:t>지표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Medium"/>
                          <a:ea typeface="Pretendard GOV Medium"/>
                          <a:cs typeface="Pretendard GOV Medium"/>
                        </a:rPr>
                        <a:t>목표치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Medium"/>
                          <a:ea typeface="Pretendard GOV Medium"/>
                          <a:cs typeface="Pretendard GOV Medium"/>
                        </a:rPr>
                        <a:t>점검주기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Medium"/>
                          <a:ea typeface="Pretendard GOV Medium"/>
                          <a:cs typeface="Pretendard GOV Medium"/>
                        </a:rPr>
                        <a:t>개선조치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총괄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사업총괄반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예산·일정 총괄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사업추진율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100%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월 1회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지연시 즉시 보고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실행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실행분과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세부과제 수행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과제완료율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95%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월 1회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지연과제 재계획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자문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전문가 자문단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기술·정책 자문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자문충족도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90%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분기 1회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자문의견 반영률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평가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성과평가위원회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성과 검증·환류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환류이행률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100%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반기 1회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미이행 과제 재조치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" name="asset:TBL-203"/>
          <p:cNvGraphicFramePr>
            <a:graphicFrameLocks noGrp="1"/>
          </p:cNvGraphicFramePr>
          <p:nvPr/>
        </p:nvGraphicFramePr>
        <p:xfrm>
          <a:off x="457200" y="1234440"/>
          <a:ext cx="9990957" cy="3520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9276"/>
                <a:gridCol w="3197107"/>
                <a:gridCol w="1798372"/>
                <a:gridCol w="1598553"/>
                <a:gridCol w="2597649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No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과제명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담당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진행상태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비고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시스템 구축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개발운영팀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검수 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데이터 연계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정보화팀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연계테스트 통과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콘텐츠 제작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사업운영팀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진행중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2E46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68% 진척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대국민 홍보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홍보팀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진행중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2E46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채널 3종 운영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성과평가 체계 구축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평가관리팀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지연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일정 재조정 필요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유지보수 체계 수립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운영지원팀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대기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6975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착수 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" name="asset:TBL-204"/>
          <p:cNvGraphicFramePr>
            <a:graphicFrameLocks noGrp="1"/>
          </p:cNvGraphicFramePr>
          <p:nvPr/>
        </p:nvGraphicFramePr>
        <p:xfrm>
          <a:off x="457200" y="1234440"/>
          <a:ext cx="9990958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8011"/>
                <a:gridCol w="4595841"/>
                <a:gridCol w="1598553"/>
                <a:gridCol w="1598553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평가영역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세부 평가지표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배점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획득점수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</a:tr>
              <a:tr h="502920">
                <a:tc rowSpan="2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사업 이해도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7682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사업목표 부합성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4692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추진전략 타당성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4692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  <a:tr h="502920">
                <a:tc rowSpan="3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수행 역량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7682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조직 및 인력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4692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유사사업 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4692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  <a:tr h="502920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협력체계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4692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가격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7682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예산 적정성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4692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  <a:tr h="502920"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합계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60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50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" name="asset:TBL-205"/>
          <p:cNvGraphicFramePr>
            <a:graphicFrameLocks noGrp="1"/>
          </p:cNvGraphicFramePr>
          <p:nvPr/>
        </p:nvGraphicFramePr>
        <p:xfrm>
          <a:off x="457200" y="1234440"/>
          <a:ext cx="9990957" cy="3520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8734"/>
                <a:gridCol w="2397830"/>
                <a:gridCol w="1598553"/>
                <a:gridCol w="1598553"/>
                <a:gridCol w="1398734"/>
                <a:gridCol w="1598553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구분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세부항목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예산액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집행액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집행률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비고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</a:tr>
              <a:tr h="502920">
                <a:tc rowSpan="2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인건비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7682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정규인력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90,000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E4692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82,400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91.6%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정상집행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전문인력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40,000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E4692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35,100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87.8%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정상집행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  <a:tr h="502920">
                <a:tc rowSpan="3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사업비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7682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콘텐츠 제작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120,000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E4692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98,500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82.1%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정상집행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시스템 구축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150,000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E4692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112,300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74.9%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순연 집행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  <a:tr h="502920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홍보·확산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60,000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E4692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51,200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85.3%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정상집행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합계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460,000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379,500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82.5%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-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" name="asset:TBL-206"/>
          <p:cNvGraphicFramePr>
            <a:graphicFrameLocks noGrp="1"/>
          </p:cNvGraphicFramePr>
          <p:nvPr/>
        </p:nvGraphicFramePr>
        <p:xfrm>
          <a:off x="457200" y="1234440"/>
          <a:ext cx="9990958" cy="3520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8734"/>
                <a:gridCol w="4196203"/>
                <a:gridCol w="1998191"/>
                <a:gridCol w="239783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구분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점검항목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확인여부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비고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</a:tr>
              <a:tr h="502920">
                <a:tc rowSpan="2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보안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7682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취약점 점검 조치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✓ 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최종 조치완료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개인정보 처리 점검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✓ 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DPIA 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  <a:tr h="502920">
                <a:tc rowSpan="2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성능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7682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부하테스트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진행중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2E46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3차 테스트 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장애대응 체계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예정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6975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매뉴얼 작성 예정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  <a:tr h="502920">
                <a:tc rowSpan="2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운영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7682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운영 매뉴얼 수립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✓ 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배포 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교육·이관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예정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6975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착수 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27" name="asset:TML-201"/>
          <p:cNvGrpSpPr/>
          <p:nvPr/>
        </p:nvGrpSpPr>
        <p:grpSpPr>
          <a:xfrm>
            <a:off x="457200" y="320040"/>
            <a:ext cx="10082400" cy="6675120"/>
            <a:chOff x="457200" y="320040"/>
            <a:chExt cx="10082400" cy="6675120"/>
          </a:xfrm>
        </p:grpSpPr>
        <p:sp>
          <p:nvSpPr>
            <p:cNvPr id="2" name="TextBox 1"/>
            <p:cNvSpPr txBox="1"/>
            <p:nvPr/>
          </p:nvSpPr>
          <p:spPr>
            <a:xfrm>
              <a:off x="457200" y="320040"/>
              <a:ext cx="99909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2E4692"/>
                  </a:solidFill>
                  <a:latin typeface="Pretendard GOV Black"/>
                  <a:ea typeface="Pretendard GOV Black"/>
                  <a:cs typeface="Pretendard GOV Black"/>
                </a:rPr>
                <a:t>gov 대형 실행 스케줄 그리드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457200" y="777240"/>
              <a:ext cx="999096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697591"/>
                  </a:solidFill>
                  <a:latin typeface="Pretendard GOV Light"/>
                  <a:ea typeface="Pretendard GOV Light"/>
                  <a:cs typeface="Pretendard GOV Light"/>
                </a:rPr>
                <a:t>2단 헤더(3단계 카테고리×24리프 컬럼, slide4 실측 구조) · 리프 단위=주(week, 정답지 실측 확정)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234440"/>
              <a:ext cx="1737360" cy="731520"/>
            </a:xfrm>
            <a:prstGeom prst="rect">
              <a:avLst/>
            </a:prstGeom>
            <a:solidFill>
              <a:srgbClr val="8F99A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57200" y="1234440"/>
              <a:ext cx="1737360" cy="7315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 GOV ExtraBold"/>
                  <a:ea typeface="Pretendard GOV ExtraBold"/>
                  <a:cs typeface="Pretendard GOV ExtraBold"/>
                </a:rPr>
                <a:t>실행 과업 / 기간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2194560" y="1234440"/>
              <a:ext cx="2781679" cy="365760"/>
            </a:xfrm>
            <a:prstGeom prst="rect">
              <a:avLst/>
            </a:prstGeom>
            <a:solidFill>
              <a:srgbClr val="76829E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194560" y="1234440"/>
              <a:ext cx="2781679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 GOV ExtraBold"/>
                  <a:ea typeface="Pretendard GOV ExtraBold"/>
                  <a:cs typeface="Pretendard GOV ExtraBold"/>
                </a:rPr>
                <a:t>1단계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976240" y="1234440"/>
              <a:ext cx="2781679" cy="365760"/>
            </a:xfrm>
            <a:prstGeom prst="rect">
              <a:avLst/>
            </a:prstGeom>
            <a:solidFill>
              <a:srgbClr val="76829E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976240" y="1234440"/>
              <a:ext cx="2781679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 GOV ExtraBold"/>
                  <a:ea typeface="Pretendard GOV ExtraBold"/>
                  <a:cs typeface="Pretendard GOV ExtraBold"/>
                </a:rPr>
                <a:t>2단계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757920" y="1234440"/>
              <a:ext cx="2781679" cy="365760"/>
            </a:xfrm>
            <a:prstGeom prst="rect">
              <a:avLst/>
            </a:prstGeom>
            <a:solidFill>
              <a:srgbClr val="76829E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757920" y="1234440"/>
              <a:ext cx="2781679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 GOV ExtraBold"/>
                  <a:ea typeface="Pretendard GOV ExtraBold"/>
                  <a:cs typeface="Pretendard GOV ExtraBold"/>
                </a:rPr>
                <a:t>3단계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194560" y="1600200"/>
              <a:ext cx="347709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194560" y="1600200"/>
              <a:ext cx="347709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1주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542270" y="1600200"/>
              <a:ext cx="347709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542270" y="1600200"/>
              <a:ext cx="347709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2주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889980" y="1600200"/>
              <a:ext cx="347709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889980" y="1600200"/>
              <a:ext cx="347709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3주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237690" y="1600200"/>
              <a:ext cx="347709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237690" y="1600200"/>
              <a:ext cx="347709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4주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585400" y="1600200"/>
              <a:ext cx="347709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585400" y="1600200"/>
              <a:ext cx="347709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5주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933109" y="1600200"/>
              <a:ext cx="347709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933109" y="1600200"/>
              <a:ext cx="347709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6주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280819" y="1600200"/>
              <a:ext cx="347709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280819" y="1600200"/>
              <a:ext cx="347709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7주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628530" y="1600200"/>
              <a:ext cx="347709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628530" y="1600200"/>
              <a:ext cx="347709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8주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976240" y="1600200"/>
              <a:ext cx="347709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976240" y="1600200"/>
              <a:ext cx="347709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9주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323950" y="1600200"/>
              <a:ext cx="347709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323950" y="1600200"/>
              <a:ext cx="347709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10주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671659" y="1600200"/>
              <a:ext cx="347709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671659" y="1600200"/>
              <a:ext cx="347709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11주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019370" y="1600200"/>
              <a:ext cx="347709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19370" y="1600200"/>
              <a:ext cx="347709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12주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367080" y="1600200"/>
              <a:ext cx="347709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367080" y="1600200"/>
              <a:ext cx="347709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13주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714789" y="1600200"/>
              <a:ext cx="347709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714789" y="1600200"/>
              <a:ext cx="347709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14주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7062499" y="1600200"/>
              <a:ext cx="347709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062499" y="1600200"/>
              <a:ext cx="347709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15주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7410210" y="1600200"/>
              <a:ext cx="347709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410210" y="1600200"/>
              <a:ext cx="347709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16주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7757920" y="1600200"/>
              <a:ext cx="347709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757920" y="1600200"/>
              <a:ext cx="347709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17주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8105629" y="1600200"/>
              <a:ext cx="347709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105629" y="1600200"/>
              <a:ext cx="347709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18주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8453339" y="1600200"/>
              <a:ext cx="347709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453339" y="1600200"/>
              <a:ext cx="347709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19주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8801050" y="1600200"/>
              <a:ext cx="347709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801050" y="1600200"/>
              <a:ext cx="347709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20주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9148760" y="1600200"/>
              <a:ext cx="347709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148760" y="1600200"/>
              <a:ext cx="347709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21주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9496470" y="1600200"/>
              <a:ext cx="347709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9496470" y="1600200"/>
              <a:ext cx="347709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22주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9844180" y="1600200"/>
              <a:ext cx="347709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9844180" y="1600200"/>
              <a:ext cx="347709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23주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10191890" y="1600200"/>
              <a:ext cx="347709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10191890" y="1600200"/>
              <a:ext cx="347709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24주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457200" y="1965960"/>
              <a:ext cx="1737360" cy="502920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530352" y="1965960"/>
              <a:ext cx="1609343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사업 착수 및 계획수립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2194560" y="1965960"/>
              <a:ext cx="8345039" cy="50292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Rounded Rectangle 62"/>
            <p:cNvSpPr/>
            <p:nvPr/>
          </p:nvSpPr>
          <p:spPr>
            <a:xfrm>
              <a:off x="2215422" y="2076602"/>
              <a:ext cx="1001404" cy="281635"/>
            </a:xfrm>
            <a:prstGeom prst="round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457200" y="2468880"/>
              <a:ext cx="1737360" cy="5029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30352" y="2468880"/>
              <a:ext cx="1609343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요구사항 분석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2194560" y="2468880"/>
              <a:ext cx="8345039" cy="5029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2563132" y="2579522"/>
              <a:ext cx="1001404" cy="281635"/>
            </a:xfrm>
            <a:prstGeom prst="round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57200" y="2971800"/>
              <a:ext cx="1737360" cy="502920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530352" y="2971800"/>
              <a:ext cx="1609343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기본설계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2194560" y="2971800"/>
              <a:ext cx="8345039" cy="50292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2910842" y="3082442"/>
              <a:ext cx="1001404" cy="281635"/>
            </a:xfrm>
            <a:prstGeom prst="round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457200" y="3474720"/>
              <a:ext cx="1737360" cy="5029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530352" y="3474720"/>
              <a:ext cx="1609343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상세설계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2194560" y="3474720"/>
              <a:ext cx="8345039" cy="5029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Rounded Rectangle 74"/>
            <p:cNvSpPr/>
            <p:nvPr/>
          </p:nvSpPr>
          <p:spPr>
            <a:xfrm>
              <a:off x="3258552" y="3585362"/>
              <a:ext cx="1001404" cy="281635"/>
            </a:xfrm>
            <a:prstGeom prst="round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457200" y="3977639"/>
              <a:ext cx="1737360" cy="502920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530352" y="3977639"/>
              <a:ext cx="1609343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시스템 개발(1차)</a:t>
              </a: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2194560" y="3977639"/>
              <a:ext cx="8345039" cy="50292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Rounded Rectangle 78"/>
            <p:cNvSpPr/>
            <p:nvPr/>
          </p:nvSpPr>
          <p:spPr>
            <a:xfrm>
              <a:off x="3606262" y="4088282"/>
              <a:ext cx="1001404" cy="281635"/>
            </a:xfrm>
            <a:prstGeom prst="round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457200" y="4480560"/>
              <a:ext cx="1737360" cy="5029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530352" y="4480560"/>
              <a:ext cx="1609343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시스템 개발(2차)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2194560" y="4480560"/>
              <a:ext cx="8345039" cy="5029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Rounded Rectangle 82"/>
            <p:cNvSpPr/>
            <p:nvPr/>
          </p:nvSpPr>
          <p:spPr>
            <a:xfrm>
              <a:off x="3953972" y="4591202"/>
              <a:ext cx="1001404" cy="281635"/>
            </a:xfrm>
            <a:prstGeom prst="round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457200" y="4983480"/>
              <a:ext cx="1737360" cy="502920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530352" y="4983480"/>
              <a:ext cx="1609343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통합시험</a:t>
              </a:r>
            </a:p>
          </p:txBody>
        </p:sp>
        <p:sp>
          <p:nvSpPr>
            <p:cNvPr id="86" name="Rectangle 85"/>
            <p:cNvSpPr/>
            <p:nvPr/>
          </p:nvSpPr>
          <p:spPr>
            <a:xfrm>
              <a:off x="2194560" y="4983480"/>
              <a:ext cx="8345039" cy="50292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Rounded Rectangle 86"/>
            <p:cNvSpPr/>
            <p:nvPr/>
          </p:nvSpPr>
          <p:spPr>
            <a:xfrm>
              <a:off x="4301682" y="5094122"/>
              <a:ext cx="1001404" cy="281635"/>
            </a:xfrm>
            <a:prstGeom prst="round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457200" y="5486400"/>
              <a:ext cx="1737360" cy="5029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530352" y="5486400"/>
              <a:ext cx="1609343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시범운영</a:t>
              </a: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2194560" y="5486400"/>
              <a:ext cx="8345039" cy="5029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Rounded Rectangle 90"/>
            <p:cNvSpPr/>
            <p:nvPr/>
          </p:nvSpPr>
          <p:spPr>
            <a:xfrm>
              <a:off x="4649392" y="5597042"/>
              <a:ext cx="1001404" cy="281635"/>
            </a:xfrm>
            <a:prstGeom prst="round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457200" y="5989320"/>
              <a:ext cx="1737360" cy="502920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530352" y="5989320"/>
              <a:ext cx="1609343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성과평가</a:t>
              </a:r>
            </a:p>
          </p:txBody>
        </p:sp>
        <p:sp>
          <p:nvSpPr>
            <p:cNvPr id="94" name="Rectangle 93"/>
            <p:cNvSpPr/>
            <p:nvPr/>
          </p:nvSpPr>
          <p:spPr>
            <a:xfrm>
              <a:off x="2194560" y="5989320"/>
              <a:ext cx="8345039" cy="50292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Rounded Rectangle 94"/>
            <p:cNvSpPr/>
            <p:nvPr/>
          </p:nvSpPr>
          <p:spPr>
            <a:xfrm>
              <a:off x="4997102" y="6099962"/>
              <a:ext cx="1001404" cy="281635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457200" y="6492240"/>
              <a:ext cx="1737360" cy="5029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530352" y="6492240"/>
              <a:ext cx="1609343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사업 완료·정산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2194560" y="6492240"/>
              <a:ext cx="8345039" cy="5029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Rounded Rectangle 98"/>
            <p:cNvSpPr/>
            <p:nvPr/>
          </p:nvSpPr>
          <p:spPr>
            <a:xfrm>
              <a:off x="5344812" y="6602882"/>
              <a:ext cx="1001404" cy="281635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0" name="Connector 99"/>
            <p:cNvCxnSpPr/>
            <p:nvPr/>
          </p:nvCxnSpPr>
          <p:spPr>
            <a:xfrm>
              <a:off x="2194560" y="1234440"/>
              <a:ext cx="0" cy="576072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ctor 100"/>
            <p:cNvCxnSpPr/>
            <p:nvPr/>
          </p:nvCxnSpPr>
          <p:spPr>
            <a:xfrm>
              <a:off x="2542270" y="1234440"/>
              <a:ext cx="0" cy="576072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ctor 101"/>
            <p:cNvCxnSpPr/>
            <p:nvPr/>
          </p:nvCxnSpPr>
          <p:spPr>
            <a:xfrm>
              <a:off x="2889980" y="1234440"/>
              <a:ext cx="0" cy="576072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ctor 102"/>
            <p:cNvCxnSpPr/>
            <p:nvPr/>
          </p:nvCxnSpPr>
          <p:spPr>
            <a:xfrm>
              <a:off x="3237690" y="1234440"/>
              <a:ext cx="0" cy="576072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ctor 103"/>
            <p:cNvCxnSpPr/>
            <p:nvPr/>
          </p:nvCxnSpPr>
          <p:spPr>
            <a:xfrm>
              <a:off x="3585400" y="1234440"/>
              <a:ext cx="0" cy="576072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ctor 104"/>
            <p:cNvCxnSpPr/>
            <p:nvPr/>
          </p:nvCxnSpPr>
          <p:spPr>
            <a:xfrm>
              <a:off x="3933109" y="1234440"/>
              <a:ext cx="0" cy="576072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ctor 105"/>
            <p:cNvCxnSpPr/>
            <p:nvPr/>
          </p:nvCxnSpPr>
          <p:spPr>
            <a:xfrm>
              <a:off x="4280819" y="1234440"/>
              <a:ext cx="0" cy="576072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ctor 106"/>
            <p:cNvCxnSpPr/>
            <p:nvPr/>
          </p:nvCxnSpPr>
          <p:spPr>
            <a:xfrm>
              <a:off x="4628530" y="1234440"/>
              <a:ext cx="0" cy="576072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ctor 107"/>
            <p:cNvCxnSpPr/>
            <p:nvPr/>
          </p:nvCxnSpPr>
          <p:spPr>
            <a:xfrm>
              <a:off x="4976240" y="1234440"/>
              <a:ext cx="0" cy="576072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or 108"/>
            <p:cNvCxnSpPr/>
            <p:nvPr/>
          </p:nvCxnSpPr>
          <p:spPr>
            <a:xfrm>
              <a:off x="5323950" y="1234440"/>
              <a:ext cx="0" cy="576072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ctor 109"/>
            <p:cNvCxnSpPr/>
            <p:nvPr/>
          </p:nvCxnSpPr>
          <p:spPr>
            <a:xfrm>
              <a:off x="5671659" y="1234440"/>
              <a:ext cx="0" cy="576072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or 110"/>
            <p:cNvCxnSpPr/>
            <p:nvPr/>
          </p:nvCxnSpPr>
          <p:spPr>
            <a:xfrm>
              <a:off x="6019370" y="1234440"/>
              <a:ext cx="0" cy="576072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or 111"/>
            <p:cNvCxnSpPr/>
            <p:nvPr/>
          </p:nvCxnSpPr>
          <p:spPr>
            <a:xfrm>
              <a:off x="6367080" y="1234440"/>
              <a:ext cx="0" cy="576072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or 112"/>
            <p:cNvCxnSpPr/>
            <p:nvPr/>
          </p:nvCxnSpPr>
          <p:spPr>
            <a:xfrm>
              <a:off x="6714789" y="1234440"/>
              <a:ext cx="0" cy="576072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nector 113"/>
            <p:cNvCxnSpPr/>
            <p:nvPr/>
          </p:nvCxnSpPr>
          <p:spPr>
            <a:xfrm>
              <a:off x="7062499" y="1234440"/>
              <a:ext cx="0" cy="576072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ctor 114"/>
            <p:cNvCxnSpPr/>
            <p:nvPr/>
          </p:nvCxnSpPr>
          <p:spPr>
            <a:xfrm>
              <a:off x="7410210" y="1234440"/>
              <a:ext cx="0" cy="576072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ctor 115"/>
            <p:cNvCxnSpPr/>
            <p:nvPr/>
          </p:nvCxnSpPr>
          <p:spPr>
            <a:xfrm>
              <a:off x="7757920" y="1234440"/>
              <a:ext cx="0" cy="576072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ctor 116"/>
            <p:cNvCxnSpPr/>
            <p:nvPr/>
          </p:nvCxnSpPr>
          <p:spPr>
            <a:xfrm>
              <a:off x="8105629" y="1234440"/>
              <a:ext cx="0" cy="576072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ctor 117"/>
            <p:cNvCxnSpPr/>
            <p:nvPr/>
          </p:nvCxnSpPr>
          <p:spPr>
            <a:xfrm>
              <a:off x="8453339" y="1234440"/>
              <a:ext cx="0" cy="576072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ctor 118"/>
            <p:cNvCxnSpPr/>
            <p:nvPr/>
          </p:nvCxnSpPr>
          <p:spPr>
            <a:xfrm>
              <a:off x="8801050" y="1234440"/>
              <a:ext cx="0" cy="576072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ctor 119"/>
            <p:cNvCxnSpPr/>
            <p:nvPr/>
          </p:nvCxnSpPr>
          <p:spPr>
            <a:xfrm>
              <a:off x="9148760" y="1234440"/>
              <a:ext cx="0" cy="576072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nector 120"/>
            <p:cNvCxnSpPr/>
            <p:nvPr/>
          </p:nvCxnSpPr>
          <p:spPr>
            <a:xfrm>
              <a:off x="9496470" y="1234440"/>
              <a:ext cx="0" cy="576072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nector 121"/>
            <p:cNvCxnSpPr/>
            <p:nvPr/>
          </p:nvCxnSpPr>
          <p:spPr>
            <a:xfrm>
              <a:off x="9844180" y="1234440"/>
              <a:ext cx="0" cy="576072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ctor 122"/>
            <p:cNvCxnSpPr/>
            <p:nvPr/>
          </p:nvCxnSpPr>
          <p:spPr>
            <a:xfrm>
              <a:off x="10191890" y="1234440"/>
              <a:ext cx="0" cy="576072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ctor 123"/>
            <p:cNvCxnSpPr/>
            <p:nvPr/>
          </p:nvCxnSpPr>
          <p:spPr>
            <a:xfrm>
              <a:off x="10539600" y="1234440"/>
              <a:ext cx="0" cy="576072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nector 124"/>
            <p:cNvCxnSpPr/>
            <p:nvPr/>
          </p:nvCxnSpPr>
          <p:spPr>
            <a:xfrm>
              <a:off x="457200" y="1234440"/>
              <a:ext cx="0" cy="576072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ctor 125"/>
            <p:cNvCxnSpPr/>
            <p:nvPr/>
          </p:nvCxnSpPr>
          <p:spPr>
            <a:xfrm>
              <a:off x="10539600" y="1234440"/>
              <a:ext cx="0" cy="576072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69" name="asset:TML-202"/>
          <p:cNvGrpSpPr/>
          <p:nvPr/>
        </p:nvGrpSpPr>
        <p:grpSpPr>
          <a:xfrm>
            <a:off x="457200" y="320040"/>
            <a:ext cx="10082400" cy="4800600"/>
            <a:chOff x="457200" y="320040"/>
            <a:chExt cx="10082400" cy="4800600"/>
          </a:xfrm>
        </p:grpSpPr>
        <p:sp>
          <p:nvSpPr>
            <p:cNvPr id="2" name="TextBox 1"/>
            <p:cNvSpPr txBox="1"/>
            <p:nvPr/>
          </p:nvSpPr>
          <p:spPr>
            <a:xfrm>
              <a:off x="457200" y="320040"/>
              <a:ext cx="99909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2E4692"/>
                  </a:solidFill>
                  <a:latin typeface="Pretendard GOV Black"/>
                  <a:ea typeface="Pretendard GOV Black"/>
                  <a:cs typeface="Pretendard GOV Black"/>
                </a:rPr>
                <a:t>gov 초대형 열 스케줄 그리드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457200" y="777240"/>
              <a:ext cx="999096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697591"/>
                  </a:solidFill>
                  <a:latin typeface="Pretendard GOV Light"/>
                  <a:ea typeface="Pretendard GOV Light"/>
                  <a:cs typeface="Pretendard GOV Light"/>
                </a:rPr>
                <a:t>2단 헤더(2단계 카테고리×44리프 컬럼, slide6 실측 구조) · 리프 단위=일(영업일, 정답지 실측 확정) · 세로회전(과밀 방지)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234440"/>
              <a:ext cx="1463040" cy="868680"/>
            </a:xfrm>
            <a:prstGeom prst="rect">
              <a:avLst/>
            </a:prstGeom>
            <a:solidFill>
              <a:srgbClr val="8F99A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57200" y="1234440"/>
              <a:ext cx="146304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 GOV ExtraBold"/>
                  <a:ea typeface="Pretendard GOV ExtraBold"/>
                  <a:cs typeface="Pretendard GOV ExtraBold"/>
                </a:rPr>
                <a:t>실행 과업 / 기간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20240" y="1234440"/>
              <a:ext cx="4309680" cy="365760"/>
            </a:xfrm>
            <a:prstGeom prst="rect">
              <a:avLst/>
            </a:prstGeom>
            <a:solidFill>
              <a:srgbClr val="76829E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920240" y="1234440"/>
              <a:ext cx="430968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 GOV ExtraBold"/>
                  <a:ea typeface="Pretendard GOV ExtraBold"/>
                  <a:cs typeface="Pretendard GOV ExtraBold"/>
                </a:rPr>
                <a:t>1단계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6229920" y="1234440"/>
              <a:ext cx="4309680" cy="365760"/>
            </a:xfrm>
            <a:prstGeom prst="rect">
              <a:avLst/>
            </a:prstGeom>
            <a:solidFill>
              <a:srgbClr val="76829E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229920" y="1234440"/>
              <a:ext cx="430968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 GOV ExtraBold"/>
                  <a:ea typeface="Pretendard GOV ExtraBold"/>
                  <a:cs typeface="Pretendard GOV ExtraBold"/>
                </a:rPr>
                <a:t>2단계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20240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920240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1일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116134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116134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2일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312029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312029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3일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507923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507923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4일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703818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703818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5일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899712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899712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6일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095607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095607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7일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291501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291501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8일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487396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487396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9일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683290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683290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10일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879185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879185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11일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075079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075079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12일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270974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270974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13일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4466869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466869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14일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662763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662763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15일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4858658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858658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16일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5054552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054552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17일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5250447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250447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18일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446341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446341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19일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642236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642236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20일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838130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838130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21일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6034025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034025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22일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6229920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229920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23일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6425814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425814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24일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6621709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621709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25일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6817603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817603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26일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7013498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013498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27일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7209392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7209392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28일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7405287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7405287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29일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7601181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601181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30일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7797076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7797076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31일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7992970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7992970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32일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8188865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8188865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33일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8384759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8384759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34일</a:t>
              </a: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8580654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8580654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35일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8776549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8776549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36일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8972443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8972443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37일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9168338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9168338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38일</a:t>
              </a:r>
            </a:p>
          </p:txBody>
        </p:sp>
        <p:sp>
          <p:nvSpPr>
            <p:cNvPr id="86" name="Rectangle 85"/>
            <p:cNvSpPr/>
            <p:nvPr/>
          </p:nvSpPr>
          <p:spPr>
            <a:xfrm>
              <a:off x="9364232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9364232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39일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9560127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9560127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40일</a:t>
              </a: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9756021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9756021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41일</a:t>
              </a: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9951916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9951916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42일</a:t>
              </a:r>
            </a:p>
          </p:txBody>
        </p:sp>
        <p:sp>
          <p:nvSpPr>
            <p:cNvPr id="94" name="Rectangle 93"/>
            <p:cNvSpPr/>
            <p:nvPr/>
          </p:nvSpPr>
          <p:spPr>
            <a:xfrm>
              <a:off x="10147810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10147810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43일</a:t>
              </a:r>
            </a:p>
          </p:txBody>
        </p:sp>
        <p:sp>
          <p:nvSpPr>
            <p:cNvPr id="96" name="Rectangle 95"/>
            <p:cNvSpPr/>
            <p:nvPr/>
          </p:nvSpPr>
          <p:spPr>
            <a:xfrm>
              <a:off x="10343705" y="1600200"/>
              <a:ext cx="195894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10343705" y="1600200"/>
              <a:ext cx="19589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44일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457200" y="2103120"/>
              <a:ext cx="1463040" cy="502920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530352" y="2103120"/>
              <a:ext cx="133502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기획·설계</a:t>
              </a:r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1920240" y="2103120"/>
              <a:ext cx="8619360" cy="50292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Rounded Rectangle 100"/>
            <p:cNvSpPr/>
            <p:nvPr/>
          </p:nvSpPr>
          <p:spPr>
            <a:xfrm>
              <a:off x="1931993" y="2213762"/>
              <a:ext cx="955965" cy="281635"/>
            </a:xfrm>
            <a:prstGeom prst="round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457200" y="2606039"/>
              <a:ext cx="1463040" cy="5029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530352" y="2606039"/>
              <a:ext cx="133502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개발·구축</a:t>
              </a:r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1920240" y="2606039"/>
              <a:ext cx="8619360" cy="5029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Rounded Rectangle 104"/>
            <p:cNvSpPr/>
            <p:nvPr/>
          </p:nvSpPr>
          <p:spPr>
            <a:xfrm>
              <a:off x="2519677" y="2716682"/>
              <a:ext cx="955965" cy="281635"/>
            </a:xfrm>
            <a:prstGeom prst="round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457200" y="3108960"/>
              <a:ext cx="1463040" cy="502920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530352" y="3108960"/>
              <a:ext cx="133502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시험·검증</a:t>
              </a: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1920240" y="3108960"/>
              <a:ext cx="8619360" cy="50292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Rounded Rectangle 108"/>
            <p:cNvSpPr/>
            <p:nvPr/>
          </p:nvSpPr>
          <p:spPr>
            <a:xfrm>
              <a:off x="3107360" y="3219602"/>
              <a:ext cx="955965" cy="281635"/>
            </a:xfrm>
            <a:prstGeom prst="round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457200" y="3611880"/>
              <a:ext cx="1463040" cy="5029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530352" y="3611880"/>
              <a:ext cx="133502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시범운영</a:t>
              </a:r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1920240" y="3611880"/>
              <a:ext cx="8619360" cy="5029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Rounded Rectangle 112"/>
            <p:cNvSpPr/>
            <p:nvPr/>
          </p:nvSpPr>
          <p:spPr>
            <a:xfrm>
              <a:off x="3695044" y="3722522"/>
              <a:ext cx="955965" cy="281635"/>
            </a:xfrm>
            <a:prstGeom prst="round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457200" y="4114800"/>
              <a:ext cx="1463040" cy="502920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530352" y="4114800"/>
              <a:ext cx="133502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확산·안정화</a:t>
              </a:r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1920240" y="4114800"/>
              <a:ext cx="8619360" cy="50292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Rounded Rectangle 116"/>
            <p:cNvSpPr/>
            <p:nvPr/>
          </p:nvSpPr>
          <p:spPr>
            <a:xfrm>
              <a:off x="4282728" y="4225442"/>
              <a:ext cx="955965" cy="281635"/>
            </a:xfrm>
            <a:prstGeom prst="round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457200" y="4617720"/>
              <a:ext cx="1463040" cy="5029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30352" y="4617720"/>
              <a:ext cx="133502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성과평가·환류</a:t>
              </a:r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1920240" y="4617720"/>
              <a:ext cx="8619360" cy="5029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Rounded Rectangle 120"/>
            <p:cNvSpPr/>
            <p:nvPr/>
          </p:nvSpPr>
          <p:spPr>
            <a:xfrm>
              <a:off x="4870411" y="4728362"/>
              <a:ext cx="955965" cy="281635"/>
            </a:xfrm>
            <a:prstGeom prst="round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2" name="Connector 121"/>
            <p:cNvCxnSpPr/>
            <p:nvPr/>
          </p:nvCxnSpPr>
          <p:spPr>
            <a:xfrm>
              <a:off x="1920240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ctor 122"/>
            <p:cNvCxnSpPr/>
            <p:nvPr/>
          </p:nvCxnSpPr>
          <p:spPr>
            <a:xfrm>
              <a:off x="2116134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ctor 123"/>
            <p:cNvCxnSpPr/>
            <p:nvPr/>
          </p:nvCxnSpPr>
          <p:spPr>
            <a:xfrm>
              <a:off x="2312029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nector 124"/>
            <p:cNvCxnSpPr/>
            <p:nvPr/>
          </p:nvCxnSpPr>
          <p:spPr>
            <a:xfrm>
              <a:off x="2507923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ctor 125"/>
            <p:cNvCxnSpPr/>
            <p:nvPr/>
          </p:nvCxnSpPr>
          <p:spPr>
            <a:xfrm>
              <a:off x="2703818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ctor 126"/>
            <p:cNvCxnSpPr/>
            <p:nvPr/>
          </p:nvCxnSpPr>
          <p:spPr>
            <a:xfrm>
              <a:off x="2899712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nector 127"/>
            <p:cNvCxnSpPr/>
            <p:nvPr/>
          </p:nvCxnSpPr>
          <p:spPr>
            <a:xfrm>
              <a:off x="3095607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Connector 128"/>
            <p:cNvCxnSpPr/>
            <p:nvPr/>
          </p:nvCxnSpPr>
          <p:spPr>
            <a:xfrm>
              <a:off x="3291501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Connector 129"/>
            <p:cNvCxnSpPr/>
            <p:nvPr/>
          </p:nvCxnSpPr>
          <p:spPr>
            <a:xfrm>
              <a:off x="3487396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or 130"/>
            <p:cNvCxnSpPr/>
            <p:nvPr/>
          </p:nvCxnSpPr>
          <p:spPr>
            <a:xfrm>
              <a:off x="3683290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onnector 131"/>
            <p:cNvCxnSpPr/>
            <p:nvPr/>
          </p:nvCxnSpPr>
          <p:spPr>
            <a:xfrm>
              <a:off x="3879185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Connector 132"/>
            <p:cNvCxnSpPr/>
            <p:nvPr/>
          </p:nvCxnSpPr>
          <p:spPr>
            <a:xfrm>
              <a:off x="4075079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nector 133"/>
            <p:cNvCxnSpPr/>
            <p:nvPr/>
          </p:nvCxnSpPr>
          <p:spPr>
            <a:xfrm>
              <a:off x="4270974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nector 134"/>
            <p:cNvCxnSpPr/>
            <p:nvPr/>
          </p:nvCxnSpPr>
          <p:spPr>
            <a:xfrm>
              <a:off x="4466869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ctor 135"/>
            <p:cNvCxnSpPr/>
            <p:nvPr/>
          </p:nvCxnSpPr>
          <p:spPr>
            <a:xfrm>
              <a:off x="4662763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nector 136"/>
            <p:cNvCxnSpPr/>
            <p:nvPr/>
          </p:nvCxnSpPr>
          <p:spPr>
            <a:xfrm>
              <a:off x="4858658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nector 137"/>
            <p:cNvCxnSpPr/>
            <p:nvPr/>
          </p:nvCxnSpPr>
          <p:spPr>
            <a:xfrm>
              <a:off x="5054552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nector 138"/>
            <p:cNvCxnSpPr/>
            <p:nvPr/>
          </p:nvCxnSpPr>
          <p:spPr>
            <a:xfrm>
              <a:off x="5250447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nector 139"/>
            <p:cNvCxnSpPr/>
            <p:nvPr/>
          </p:nvCxnSpPr>
          <p:spPr>
            <a:xfrm>
              <a:off x="5446341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nector 140"/>
            <p:cNvCxnSpPr/>
            <p:nvPr/>
          </p:nvCxnSpPr>
          <p:spPr>
            <a:xfrm>
              <a:off x="5642236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nector 141"/>
            <p:cNvCxnSpPr/>
            <p:nvPr/>
          </p:nvCxnSpPr>
          <p:spPr>
            <a:xfrm>
              <a:off x="5838130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Connector 142"/>
            <p:cNvCxnSpPr/>
            <p:nvPr/>
          </p:nvCxnSpPr>
          <p:spPr>
            <a:xfrm>
              <a:off x="6034025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nector 143"/>
            <p:cNvCxnSpPr/>
            <p:nvPr/>
          </p:nvCxnSpPr>
          <p:spPr>
            <a:xfrm>
              <a:off x="6229920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Connector 144"/>
            <p:cNvCxnSpPr/>
            <p:nvPr/>
          </p:nvCxnSpPr>
          <p:spPr>
            <a:xfrm>
              <a:off x="6425814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nector 145"/>
            <p:cNvCxnSpPr/>
            <p:nvPr/>
          </p:nvCxnSpPr>
          <p:spPr>
            <a:xfrm>
              <a:off x="6621709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nector 146"/>
            <p:cNvCxnSpPr/>
            <p:nvPr/>
          </p:nvCxnSpPr>
          <p:spPr>
            <a:xfrm>
              <a:off x="6817603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ctor 147"/>
            <p:cNvCxnSpPr/>
            <p:nvPr/>
          </p:nvCxnSpPr>
          <p:spPr>
            <a:xfrm>
              <a:off x="7013498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nector 148"/>
            <p:cNvCxnSpPr/>
            <p:nvPr/>
          </p:nvCxnSpPr>
          <p:spPr>
            <a:xfrm>
              <a:off x="7209392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Connector 149"/>
            <p:cNvCxnSpPr/>
            <p:nvPr/>
          </p:nvCxnSpPr>
          <p:spPr>
            <a:xfrm>
              <a:off x="7405287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Connector 150"/>
            <p:cNvCxnSpPr/>
            <p:nvPr/>
          </p:nvCxnSpPr>
          <p:spPr>
            <a:xfrm>
              <a:off x="7601181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Connector 151"/>
            <p:cNvCxnSpPr/>
            <p:nvPr/>
          </p:nvCxnSpPr>
          <p:spPr>
            <a:xfrm>
              <a:off x="7797076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or 152"/>
            <p:cNvCxnSpPr/>
            <p:nvPr/>
          </p:nvCxnSpPr>
          <p:spPr>
            <a:xfrm>
              <a:off x="7992970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Connector 153"/>
            <p:cNvCxnSpPr/>
            <p:nvPr/>
          </p:nvCxnSpPr>
          <p:spPr>
            <a:xfrm>
              <a:off x="8188865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Connector 154"/>
            <p:cNvCxnSpPr/>
            <p:nvPr/>
          </p:nvCxnSpPr>
          <p:spPr>
            <a:xfrm>
              <a:off x="8384759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or 155"/>
            <p:cNvCxnSpPr/>
            <p:nvPr/>
          </p:nvCxnSpPr>
          <p:spPr>
            <a:xfrm>
              <a:off x="8580654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or 156"/>
            <p:cNvCxnSpPr/>
            <p:nvPr/>
          </p:nvCxnSpPr>
          <p:spPr>
            <a:xfrm>
              <a:off x="8776549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or 157"/>
            <p:cNvCxnSpPr/>
            <p:nvPr/>
          </p:nvCxnSpPr>
          <p:spPr>
            <a:xfrm>
              <a:off x="8972443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nector 158"/>
            <p:cNvCxnSpPr/>
            <p:nvPr/>
          </p:nvCxnSpPr>
          <p:spPr>
            <a:xfrm>
              <a:off x="9168338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ctor 159"/>
            <p:cNvCxnSpPr/>
            <p:nvPr/>
          </p:nvCxnSpPr>
          <p:spPr>
            <a:xfrm>
              <a:off x="9364232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nector 160"/>
            <p:cNvCxnSpPr/>
            <p:nvPr/>
          </p:nvCxnSpPr>
          <p:spPr>
            <a:xfrm>
              <a:off x="9560127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nector 161"/>
            <p:cNvCxnSpPr/>
            <p:nvPr/>
          </p:nvCxnSpPr>
          <p:spPr>
            <a:xfrm>
              <a:off x="9756021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nector 162"/>
            <p:cNvCxnSpPr/>
            <p:nvPr/>
          </p:nvCxnSpPr>
          <p:spPr>
            <a:xfrm>
              <a:off x="9951916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nector 163"/>
            <p:cNvCxnSpPr/>
            <p:nvPr/>
          </p:nvCxnSpPr>
          <p:spPr>
            <a:xfrm>
              <a:off x="10147810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nector 164"/>
            <p:cNvCxnSpPr/>
            <p:nvPr/>
          </p:nvCxnSpPr>
          <p:spPr>
            <a:xfrm>
              <a:off x="10343705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nector 165"/>
            <p:cNvCxnSpPr/>
            <p:nvPr/>
          </p:nvCxnSpPr>
          <p:spPr>
            <a:xfrm>
              <a:off x="10539600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nector 166"/>
            <p:cNvCxnSpPr/>
            <p:nvPr/>
          </p:nvCxnSpPr>
          <p:spPr>
            <a:xfrm>
              <a:off x="457200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nector 167"/>
            <p:cNvCxnSpPr/>
            <p:nvPr/>
          </p:nvCxnSpPr>
          <p:spPr>
            <a:xfrm>
              <a:off x="10539600" y="1234440"/>
              <a:ext cx="0" cy="388620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1" name="asset:PRC-202"/>
          <p:cNvGrpSpPr/>
          <p:nvPr/>
        </p:nvGrpSpPr>
        <p:grpSpPr>
          <a:xfrm>
            <a:off x="822960" y="1463040"/>
            <a:ext cx="9052560" cy="4480560"/>
            <a:chOff x="822960" y="1463040"/>
            <a:chExt cx="9052560" cy="4480560"/>
          </a:xfrm>
        </p:grpSpPr>
        <p:sp>
          <p:nvSpPr>
            <p:cNvPr id="3" name="Rectangle 2"/>
            <p:cNvSpPr/>
            <p:nvPr/>
          </p:nvSpPr>
          <p:spPr>
            <a:xfrm>
              <a:off x="822960" y="5074920"/>
              <a:ext cx="2331720" cy="868680"/>
            </a:xfrm>
            <a:prstGeom prst="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1단계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기반 조성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2971800" y="4023360"/>
              <a:ext cx="2331720" cy="868680"/>
            </a:xfrm>
            <a:prstGeom prst="rect">
              <a:avLst/>
            </a:prstGeom>
            <a:solidFill>
              <a:srgbClr val="6975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2단계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시범 운영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5120640" y="2971800"/>
              <a:ext cx="2331720" cy="86868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3단계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본격 확산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7269480" y="1920240"/>
              <a:ext cx="2331720" cy="868680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4단계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고도화·정착</a:t>
              </a:r>
            </a:p>
          </p:txBody>
        </p:sp>
        <p:cxnSp>
          <p:nvCxnSpPr>
            <p:cNvPr id="7" name="Connector 6"/>
            <p:cNvCxnSpPr/>
            <p:nvPr/>
          </p:nvCxnSpPr>
          <p:spPr>
            <a:xfrm flipV="1">
              <a:off x="3154679" y="4892040"/>
              <a:ext cx="166879" cy="617219"/>
            </a:xfrm>
            <a:prstGeom prst="line">
              <a:avLst/>
            </a:prstGeom>
            <a:ln w="19050">
              <a:solidFill>
                <a:srgbClr val="D0554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 flipV="1">
              <a:off x="5303520" y="3840480"/>
              <a:ext cx="166878" cy="617220"/>
            </a:xfrm>
            <a:prstGeom prst="line">
              <a:avLst/>
            </a:prstGeom>
            <a:ln w="19050">
              <a:solidFill>
                <a:srgbClr val="D0554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 flipV="1">
              <a:off x="7452360" y="2788920"/>
              <a:ext cx="166878" cy="617220"/>
            </a:xfrm>
            <a:prstGeom prst="line">
              <a:avLst/>
            </a:prstGeom>
            <a:ln w="19050">
              <a:solidFill>
                <a:srgbClr val="D0554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6995160" y="1463040"/>
              <a:ext cx="288036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697591"/>
                  </a:solidFill>
                  <a:latin typeface="Pretendard GOV Light"/>
                  <a:ea typeface="Pretendard GOV Light"/>
                  <a:cs typeface="Pretendard GOV Light"/>
                </a:rPr>
                <a:t>단계별 목표 달성 시 다음 단계 전환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9" name="asset:PRC-203"/>
          <p:cNvGrpSpPr/>
          <p:nvPr/>
        </p:nvGrpSpPr>
        <p:grpSpPr>
          <a:xfrm>
            <a:off x="1568195" y="3154679"/>
            <a:ext cx="7772400" cy="1691640"/>
            <a:chOff x="1568195" y="3154679"/>
            <a:chExt cx="7772400" cy="1691640"/>
          </a:xfrm>
        </p:grpSpPr>
        <p:sp>
          <p:nvSpPr>
            <p:cNvPr id="3" name="Chevron 2"/>
            <p:cNvSpPr/>
            <p:nvPr/>
          </p:nvSpPr>
          <p:spPr>
            <a:xfrm>
              <a:off x="1568195" y="3154679"/>
              <a:ext cx="1810512" cy="1097280"/>
            </a:xfrm>
            <a:prstGeom prst="chevron">
              <a:avLst/>
            </a:prstGeom>
            <a:solidFill>
              <a:srgbClr val="2E469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접수</a:t>
              </a:r>
            </a:p>
          </p:txBody>
        </p:sp>
        <p:sp>
          <p:nvSpPr>
            <p:cNvPr id="4" name="Chevron 3"/>
            <p:cNvSpPr/>
            <p:nvPr/>
          </p:nvSpPr>
          <p:spPr>
            <a:xfrm>
              <a:off x="3058668" y="3154679"/>
              <a:ext cx="1810512" cy="1097280"/>
            </a:xfrm>
            <a:prstGeom prst="chevron">
              <a:avLst/>
            </a:prstGeom>
            <a:solidFill>
              <a:srgbClr val="697591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검토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4549140" y="3154679"/>
              <a:ext cx="1810512" cy="1097280"/>
            </a:xfrm>
            <a:prstGeom prst="chevron">
              <a:avLst/>
            </a:prstGeom>
            <a:solidFill>
              <a:srgbClr val="7030A0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심사</a:t>
              </a:r>
            </a:p>
          </p:txBody>
        </p:sp>
        <p:sp>
          <p:nvSpPr>
            <p:cNvPr id="6" name="Chevron 5"/>
            <p:cNvSpPr/>
            <p:nvPr/>
          </p:nvSpPr>
          <p:spPr>
            <a:xfrm>
              <a:off x="6039612" y="3154679"/>
              <a:ext cx="1810512" cy="1097280"/>
            </a:xfrm>
            <a:prstGeom prst="chevron">
              <a:avLst/>
            </a:prstGeom>
            <a:solidFill>
              <a:srgbClr val="D05548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승인</a:t>
              </a:r>
            </a:p>
          </p:txBody>
        </p:sp>
        <p:sp>
          <p:nvSpPr>
            <p:cNvPr id="7" name="Chevron 6"/>
            <p:cNvSpPr/>
            <p:nvPr/>
          </p:nvSpPr>
          <p:spPr>
            <a:xfrm>
              <a:off x="7530083" y="3154679"/>
              <a:ext cx="1810512" cy="1097280"/>
            </a:xfrm>
            <a:prstGeom prst="chevron">
              <a:avLst/>
            </a:prstGeom>
            <a:solidFill>
              <a:srgbClr val="2E4692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집행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568195" y="4480559"/>
              <a:ext cx="77724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697591"/>
                  </a:solidFill>
                  <a:latin typeface="Pretendard GOV Light"/>
                  <a:ea typeface="Pretendard GOV Light"/>
                  <a:cs typeface="Pretendard GOV Light"/>
                </a:rPr>
                <a:t>민원 처리 5단계 표준 절차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2" name="asset:PRC-204"/>
          <p:cNvGrpSpPr/>
          <p:nvPr/>
        </p:nvGrpSpPr>
        <p:grpSpPr>
          <a:xfrm>
            <a:off x="2528315" y="1051559"/>
            <a:ext cx="5852161" cy="5852161"/>
            <a:chOff x="2528315" y="1051559"/>
            <a:chExt cx="5852161" cy="5852161"/>
          </a:xfrm>
        </p:grpSpPr>
        <p:sp>
          <p:nvSpPr>
            <p:cNvPr id="3" name="Oval 2"/>
            <p:cNvSpPr/>
            <p:nvPr/>
          </p:nvSpPr>
          <p:spPr>
            <a:xfrm>
              <a:off x="4494276" y="3291839"/>
              <a:ext cx="1920240" cy="1371600"/>
            </a:xfrm>
            <a:prstGeom prst="ellipse">
              <a:avLst/>
            </a:prstGeom>
            <a:solidFill>
              <a:srgbClr val="E9EAF1"/>
            </a:solidFill>
            <a:ln w="9525">
              <a:solidFill>
                <a:srgbClr val="6975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000000"/>
                  </a:solidFill>
                  <a:latin typeface="Pretendard GOV ExtraBold"/>
                  <a:ea typeface="Pretendard GOV ExtraBold"/>
                  <a:cs typeface="Pretendard GOV ExtraBold"/>
                </a:rPr>
                <a:t>지속 개선</a:t>
              </a:r>
            </a:p>
            <a:p>
              <a:pPr algn="ctr"/>
              <a:r>
                <a:rPr sz="1200" b="1">
                  <a:solidFill>
                    <a:srgbClr val="000000"/>
                  </a:solidFill>
                  <a:latin typeface="Pretendard GOV ExtraBold"/>
                  <a:ea typeface="Pretendard GOV ExtraBold"/>
                  <a:cs typeface="Pretendard GOV ExtraBold"/>
                </a:rPr>
                <a:t>순환관리</a:t>
              </a:r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6042782" y="2417186"/>
              <a:ext cx="972067" cy="972067"/>
            </a:xfrm>
            <a:prstGeom prst="line">
              <a:avLst/>
            </a:prstGeom>
            <a:ln w="19050">
              <a:solidFill>
                <a:srgbClr val="D0554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 flipH="1">
              <a:off x="6042782" y="4566026"/>
              <a:ext cx="972067" cy="972067"/>
            </a:xfrm>
            <a:prstGeom prst="line">
              <a:avLst/>
            </a:prstGeom>
            <a:ln w="19050">
              <a:solidFill>
                <a:srgbClr val="D0554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 flipH="1" flipV="1">
              <a:off x="3893942" y="4566026"/>
              <a:ext cx="972067" cy="972067"/>
            </a:xfrm>
            <a:prstGeom prst="line">
              <a:avLst/>
            </a:prstGeom>
            <a:ln w="19050">
              <a:solidFill>
                <a:srgbClr val="D0554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V="1">
              <a:off x="3893942" y="2417186"/>
              <a:ext cx="972067" cy="972067"/>
            </a:xfrm>
            <a:prstGeom prst="line">
              <a:avLst/>
            </a:prstGeom>
            <a:ln w="19050">
              <a:solidFill>
                <a:srgbClr val="D0554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/>
            <p:cNvSpPr/>
            <p:nvPr/>
          </p:nvSpPr>
          <p:spPr>
            <a:xfrm>
              <a:off x="4677156" y="1051559"/>
              <a:ext cx="1554480" cy="1554480"/>
            </a:xfrm>
            <a:prstGeom prst="ellipse">
              <a:avLst/>
            </a:prstGeom>
            <a:solidFill>
              <a:srgbClr val="2E469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계획(Plan)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6825996" y="3200399"/>
              <a:ext cx="1554480" cy="1554480"/>
            </a:xfrm>
            <a:prstGeom prst="ellipse">
              <a:avLst/>
            </a:prstGeom>
            <a:solidFill>
              <a:srgbClr val="697591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실행(Do)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4677156" y="5349240"/>
              <a:ext cx="1554480" cy="1554480"/>
            </a:xfrm>
            <a:prstGeom prst="ellipse">
              <a:avLst/>
            </a:prstGeom>
            <a:solidFill>
              <a:srgbClr val="7030A0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점검(Check)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2528315" y="3200399"/>
              <a:ext cx="1554480" cy="1554480"/>
            </a:xfrm>
            <a:prstGeom prst="ellipse">
              <a:avLst/>
            </a:prstGeom>
            <a:solidFill>
              <a:srgbClr val="D05548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개선(Act)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4" name="asset:PRC-205"/>
          <p:cNvGrpSpPr/>
          <p:nvPr/>
        </p:nvGrpSpPr>
        <p:grpSpPr>
          <a:xfrm>
            <a:off x="2550998" y="960119"/>
            <a:ext cx="5806795" cy="5589722"/>
            <a:chOff x="2550998" y="960119"/>
            <a:chExt cx="5806795" cy="5589722"/>
          </a:xfrm>
        </p:grpSpPr>
        <p:cxnSp>
          <p:nvCxnSpPr>
            <p:cNvPr id="3" name="Connector 2"/>
            <p:cNvCxnSpPr/>
            <p:nvPr/>
          </p:nvCxnSpPr>
          <p:spPr>
            <a:xfrm flipV="1">
              <a:off x="5454396" y="1645919"/>
              <a:ext cx="0" cy="2331720"/>
            </a:xfrm>
            <a:prstGeom prst="line">
              <a:avLst/>
            </a:prstGeom>
            <a:ln w="14287">
              <a:solidFill>
                <a:srgbClr val="69759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Connector 3"/>
            <p:cNvCxnSpPr/>
            <p:nvPr/>
          </p:nvCxnSpPr>
          <p:spPr>
            <a:xfrm flipV="1">
              <a:off x="5454396" y="3257098"/>
              <a:ext cx="2217597" cy="720541"/>
            </a:xfrm>
            <a:prstGeom prst="line">
              <a:avLst/>
            </a:prstGeom>
            <a:ln w="14287">
              <a:solidFill>
                <a:srgbClr val="69759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>
              <a:off x="5454396" y="3977639"/>
              <a:ext cx="1370550" cy="1886402"/>
            </a:xfrm>
            <a:prstGeom prst="line">
              <a:avLst/>
            </a:prstGeom>
            <a:ln w="14287">
              <a:solidFill>
                <a:srgbClr val="69759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 flipH="1">
              <a:off x="4083845" y="3977639"/>
              <a:ext cx="1370551" cy="1886402"/>
            </a:xfrm>
            <a:prstGeom prst="line">
              <a:avLst/>
            </a:prstGeom>
            <a:ln w="14287">
              <a:solidFill>
                <a:srgbClr val="69759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H="1" flipV="1">
              <a:off x="3236798" y="3257098"/>
              <a:ext cx="2217598" cy="720541"/>
            </a:xfrm>
            <a:prstGeom prst="line">
              <a:avLst/>
            </a:prstGeom>
            <a:ln w="14287">
              <a:solidFill>
                <a:srgbClr val="69759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/>
            <p:cNvSpPr/>
            <p:nvPr/>
          </p:nvSpPr>
          <p:spPr>
            <a:xfrm>
              <a:off x="4539996" y="3063239"/>
              <a:ext cx="1828800" cy="1828800"/>
            </a:xfrm>
            <a:prstGeom prst="ellipse">
              <a:avLst/>
            </a:prstGeom>
            <a:solidFill>
              <a:srgbClr val="2E4692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통합 추진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체계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4768596" y="960119"/>
              <a:ext cx="1371600" cy="1371600"/>
            </a:xfrm>
            <a:prstGeom prst="ellipse">
              <a:avLst/>
            </a:prstGeom>
            <a:solidFill>
              <a:srgbClr val="697591"/>
            </a:solidFill>
            <a:ln w="14287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정책 기획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6986193" y="2571298"/>
              <a:ext cx="1371600" cy="1371600"/>
            </a:xfrm>
            <a:prstGeom prst="ellipse">
              <a:avLst/>
            </a:prstGeom>
            <a:solidFill>
              <a:srgbClr val="7030A0"/>
            </a:solidFill>
            <a:ln w="14287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예산 편성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6139146" y="5178241"/>
              <a:ext cx="1371600" cy="1371600"/>
            </a:xfrm>
            <a:prstGeom prst="ellipse">
              <a:avLst/>
            </a:prstGeom>
            <a:solidFill>
              <a:srgbClr val="D05548"/>
            </a:solidFill>
            <a:ln w="14287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사업 집행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3398045" y="5178241"/>
              <a:ext cx="1371600" cy="1371600"/>
            </a:xfrm>
            <a:prstGeom prst="ellipse">
              <a:avLst/>
            </a:prstGeom>
            <a:solidFill>
              <a:srgbClr val="697591"/>
            </a:solidFill>
            <a:ln w="14287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성과 평가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2550998" y="2571298"/>
              <a:ext cx="1371600" cy="1371600"/>
            </a:xfrm>
            <a:prstGeom prst="ellipse">
              <a:avLst/>
            </a:prstGeom>
            <a:solidFill>
              <a:srgbClr val="7030A0"/>
            </a:solidFill>
            <a:ln w="14287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환류·개선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4" name="asset:PRC-206"/>
          <p:cNvGrpSpPr/>
          <p:nvPr/>
        </p:nvGrpSpPr>
        <p:grpSpPr>
          <a:xfrm>
            <a:off x="777240" y="3040379"/>
            <a:ext cx="9683496" cy="2606040"/>
            <a:chOff x="777240" y="3040379"/>
            <a:chExt cx="9683496" cy="2606040"/>
          </a:xfrm>
        </p:grpSpPr>
        <p:sp>
          <p:nvSpPr>
            <p:cNvPr id="3" name="Rounded Rectangle 2"/>
            <p:cNvSpPr/>
            <p:nvPr/>
          </p:nvSpPr>
          <p:spPr>
            <a:xfrm>
              <a:off x="777240" y="3246120"/>
              <a:ext cx="1600200" cy="914400"/>
            </a:xfrm>
            <a:prstGeom prst="roundRect">
              <a:avLst>
                <a:gd name="adj" fmla="val 6000"/>
              </a:avLst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신청 접수</a:t>
              </a:r>
            </a:p>
          </p:txBody>
        </p:sp>
        <p:sp>
          <p:nvSpPr>
            <p:cNvPr id="4" name="Right Arrow 3"/>
            <p:cNvSpPr/>
            <p:nvPr/>
          </p:nvSpPr>
          <p:spPr>
            <a:xfrm>
              <a:off x="2404872" y="3520439"/>
              <a:ext cx="502920" cy="365760"/>
            </a:xfrm>
            <a:prstGeom prst="rightArrow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2935224" y="3040379"/>
              <a:ext cx="1325880" cy="1325880"/>
            </a:xfrm>
            <a:prstGeom prst="diamond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요건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검토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4288536" y="3520439"/>
              <a:ext cx="502920" cy="365760"/>
            </a:xfrm>
            <a:prstGeom prst="rightArrow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818888" y="3246120"/>
              <a:ext cx="1600200" cy="914400"/>
            </a:xfrm>
            <a:prstGeom prst="roundRect">
              <a:avLst>
                <a:gd name="adj" fmla="val 6000"/>
              </a:avLst>
            </a:prstGeom>
            <a:solidFill>
              <a:srgbClr val="6975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사업 수행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6446520" y="3520439"/>
              <a:ext cx="502920" cy="365760"/>
            </a:xfrm>
            <a:prstGeom prst="rightArrow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6976872" y="3040379"/>
              <a:ext cx="1325880" cy="1325880"/>
            </a:xfrm>
            <a:prstGeom prst="diamond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실적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검증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8330183" y="3520439"/>
              <a:ext cx="502920" cy="365760"/>
            </a:xfrm>
            <a:prstGeom prst="rightArrow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860536" y="3246120"/>
              <a:ext cx="1600200" cy="914400"/>
            </a:xfrm>
            <a:prstGeom prst="roundRect">
              <a:avLst>
                <a:gd name="adj" fmla="val 6000"/>
              </a:avLst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정산·종료</a:t>
              </a:r>
            </a:p>
          </p:txBody>
        </p:sp>
        <p:sp>
          <p:nvSpPr>
            <p:cNvPr id="12" name="Down Arrow 11"/>
            <p:cNvSpPr/>
            <p:nvPr/>
          </p:nvSpPr>
          <p:spPr>
            <a:xfrm>
              <a:off x="7456932" y="4411979"/>
              <a:ext cx="365760" cy="457200"/>
            </a:xfrm>
            <a:prstGeom prst="downArrow">
              <a:avLst/>
            </a:prstGeom>
            <a:solidFill>
              <a:srgbClr val="C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839712" y="4914899"/>
              <a:ext cx="1600200" cy="731520"/>
            </a:xfrm>
            <a:prstGeom prst="roundRect">
              <a:avLst>
                <a:gd name="adj" fmla="val 6000"/>
              </a:avLst>
            </a:prstGeom>
            <a:solidFill>
              <a:srgbClr val="C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보완 요청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5" name="asset:KPI-201"/>
          <p:cNvGrpSpPr/>
          <p:nvPr/>
        </p:nvGrpSpPr>
        <p:grpSpPr>
          <a:xfrm>
            <a:off x="1225296" y="2203704"/>
            <a:ext cx="8458200" cy="2322576"/>
            <a:chOff x="1225296" y="2203704"/>
            <a:chExt cx="8458200" cy="2322576"/>
          </a:xfrm>
        </p:grpSpPr>
        <p:sp>
          <p:nvSpPr>
            <p:cNvPr id="3" name="Oval 2"/>
            <p:cNvSpPr/>
            <p:nvPr/>
          </p:nvSpPr>
          <p:spPr>
            <a:xfrm>
              <a:off x="1325880" y="2203704"/>
              <a:ext cx="1810512" cy="1810512"/>
            </a:xfrm>
            <a:prstGeom prst="ellipse">
              <a:avLst/>
            </a:prstGeom>
            <a:noFill/>
            <a:ln w="19050">
              <a:solidFill>
                <a:srgbClr val="2E469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408176" y="2286000"/>
              <a:ext cx="1645920" cy="1645920"/>
            </a:xfrm>
            <a:prstGeom prst="ellipse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98%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225296" y="406908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정시 집행률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3474720" y="2203704"/>
              <a:ext cx="1810512" cy="1810512"/>
            </a:xfrm>
            <a:prstGeom prst="ellipse">
              <a:avLst/>
            </a:prstGeom>
            <a:noFill/>
            <a:ln w="1905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3557016" y="2286000"/>
              <a:ext cx="1645920" cy="164592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4.8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374136" y="406908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주민 만족도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5623560" y="2203704"/>
              <a:ext cx="1810512" cy="1810512"/>
            </a:xfrm>
            <a:prstGeom prst="ellipse">
              <a:avLst/>
            </a:prstGeom>
            <a:noFill/>
            <a:ln w="19050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5705856" y="2286000"/>
              <a:ext cx="1645920" cy="1645920"/>
            </a:xfrm>
            <a:prstGeom prst="ellipse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120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522976" y="406908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참여 기관수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7772400" y="2203704"/>
              <a:ext cx="1810512" cy="1810512"/>
            </a:xfrm>
            <a:prstGeom prst="ellipse">
              <a:avLst/>
            </a:prstGeom>
            <a:noFill/>
            <a:ln w="19050">
              <a:solidFill>
                <a:srgbClr val="6975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7854696" y="2286000"/>
              <a:ext cx="1645920" cy="1645920"/>
            </a:xfrm>
            <a:prstGeom prst="ellipse">
              <a:avLst/>
            </a:prstGeom>
            <a:solidFill>
              <a:srgbClr val="6975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32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671816" y="406908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연계 지자체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8" name="asset:KPI-202"/>
          <p:cNvGrpSpPr/>
          <p:nvPr/>
        </p:nvGrpSpPr>
        <p:grpSpPr>
          <a:xfrm>
            <a:off x="1431036" y="2194560"/>
            <a:ext cx="8046720" cy="2761488"/>
            <a:chOff x="1431036" y="2194560"/>
            <a:chExt cx="8046720" cy="2761488"/>
          </a:xfrm>
        </p:grpSpPr>
        <p:sp>
          <p:nvSpPr>
            <p:cNvPr id="3" name="Oval 2"/>
            <p:cNvSpPr/>
            <p:nvPr/>
          </p:nvSpPr>
          <p:spPr>
            <a:xfrm>
              <a:off x="1431036" y="2194560"/>
              <a:ext cx="2194560" cy="2194560"/>
            </a:xfrm>
            <a:prstGeom prst="ellipse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Pie 3"/>
            <p:cNvSpPr/>
            <p:nvPr/>
          </p:nvSpPr>
          <p:spPr>
            <a:xfrm>
              <a:off x="1431036" y="2194560"/>
              <a:ext cx="2194560" cy="2194560"/>
            </a:xfrm>
            <a:prstGeom prst="pie">
              <a:avLst>
                <a:gd name="adj1" fmla="val -9000000"/>
                <a:gd name="adj2" fmla="val 25200000"/>
              </a:avLst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716328" y="2479852"/>
              <a:ext cx="1623974" cy="162397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431036" y="2880359"/>
              <a:ext cx="21945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00000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95</a:t>
              </a:r>
              <a:r>
                <a:rPr sz="1300" b="1">
                  <a:solidFill>
                    <a:srgbClr val="2E4692"/>
                  </a:solidFill>
                  <a:latin typeface="Pretendard GOV SemiBold"/>
                  <a:ea typeface="Pretendard GOV SemiBold"/>
                  <a:cs typeface="Pretendard GOV SemiBold"/>
                </a:rPr>
                <a:t> %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431036" y="4498848"/>
              <a:ext cx="21945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사업 목표 달성률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4357116" y="2194560"/>
              <a:ext cx="2194560" cy="2194560"/>
            </a:xfrm>
            <a:prstGeom prst="ellipse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Pie 8"/>
            <p:cNvSpPr/>
            <p:nvPr/>
          </p:nvSpPr>
          <p:spPr>
            <a:xfrm>
              <a:off x="4357116" y="2194560"/>
              <a:ext cx="2194560" cy="2194560"/>
            </a:xfrm>
            <a:prstGeom prst="pie">
              <a:avLst>
                <a:gd name="adj1" fmla="val -9000000"/>
                <a:gd name="adj2" fmla="val 20520000"/>
              </a:avLst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4642408" y="2479852"/>
              <a:ext cx="1623974" cy="162397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357116" y="2880359"/>
              <a:ext cx="21945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00000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82</a:t>
              </a:r>
              <a:r>
                <a:rPr sz="1300" b="1">
                  <a:solidFill>
                    <a:srgbClr val="7030A0"/>
                  </a:solidFill>
                  <a:latin typeface="Pretendard GOV SemiBold"/>
                  <a:ea typeface="Pretendard GOV SemiBold"/>
                  <a:cs typeface="Pretendard GOV SemiBold"/>
                </a:rPr>
                <a:t> %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357116" y="4498848"/>
              <a:ext cx="21945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주민 만족도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7283196" y="2194560"/>
              <a:ext cx="2194560" cy="2194560"/>
            </a:xfrm>
            <a:prstGeom prst="ellipse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Pie 13"/>
            <p:cNvSpPr/>
            <p:nvPr/>
          </p:nvSpPr>
          <p:spPr>
            <a:xfrm>
              <a:off x="7283196" y="2194560"/>
              <a:ext cx="2194560" cy="2194560"/>
            </a:xfrm>
            <a:prstGeom prst="pie">
              <a:avLst>
                <a:gd name="adj1" fmla="val -9000000"/>
                <a:gd name="adj2" fmla="val 15480000"/>
              </a:avLst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7568488" y="2479852"/>
              <a:ext cx="1623974" cy="162397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283196" y="2880359"/>
              <a:ext cx="21945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00000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68</a:t>
              </a:r>
              <a:r>
                <a:rPr sz="1300" b="1">
                  <a:solidFill>
                    <a:srgbClr val="D05548"/>
                  </a:solidFill>
                  <a:latin typeface="Pretendard GOV SemiBold"/>
                  <a:ea typeface="Pretendard GOV SemiBold"/>
                  <a:cs typeface="Pretendard GOV SemiBold"/>
                </a:rPr>
                <a:t> %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283196" y="4498848"/>
              <a:ext cx="21945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예산 집행률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" name="asset:KPI-204"/>
          <p:cNvGrpSpPr/>
          <p:nvPr/>
        </p:nvGrpSpPr>
        <p:grpSpPr>
          <a:xfrm>
            <a:off x="822960" y="1417320"/>
            <a:ext cx="9738360" cy="4251960"/>
            <a:chOff x="822960" y="1417320"/>
            <a:chExt cx="9738360" cy="4251960"/>
          </a:xfrm>
        </p:grpSpPr>
        <p:sp>
          <p:nvSpPr>
            <p:cNvPr id="3" name="Rounded Rectangle 2"/>
            <p:cNvSpPr/>
            <p:nvPr/>
          </p:nvSpPr>
          <p:spPr>
            <a:xfrm>
              <a:off x="822960" y="1417320"/>
              <a:ext cx="4709160" cy="196596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7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822960" y="1417320"/>
              <a:ext cx="146304" cy="1965960"/>
            </a:xfrm>
            <a:prstGeom prst="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234440" y="1645920"/>
              <a:ext cx="4069080" cy="10058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4000" b="1">
                  <a:solidFill>
                    <a:srgbClr val="2E4692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1,000</a:t>
              </a:r>
              <a:r>
                <a:rPr sz="16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234440" y="2788920"/>
              <a:ext cx="4069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검증완료 사업 DB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852160" y="1417320"/>
              <a:ext cx="4709160" cy="196596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7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852160" y="1417320"/>
              <a:ext cx="146304" cy="196596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263640" y="1645920"/>
              <a:ext cx="4069080" cy="10058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4000" b="1">
                  <a:solidFill>
                    <a:srgbClr val="7030A0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40</a:t>
              </a:r>
              <a:r>
                <a:rPr sz="16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 개소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263640" y="2788920"/>
              <a:ext cx="4069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참여 지역기관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22960" y="3703320"/>
              <a:ext cx="4709160" cy="196596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7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822960" y="3703320"/>
              <a:ext cx="146304" cy="1965960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34440" y="3931920"/>
              <a:ext cx="4069080" cy="10058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4000" b="1">
                  <a:solidFill>
                    <a:srgbClr val="D05548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42</a:t>
              </a:r>
              <a:r>
                <a:rPr sz="16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 억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234440" y="5074919"/>
              <a:ext cx="4069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연계 예산 규모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852160" y="3703320"/>
              <a:ext cx="4709160" cy="196596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7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852160" y="3703320"/>
              <a:ext cx="146304" cy="1965960"/>
            </a:xfrm>
            <a:prstGeom prst="rect">
              <a:avLst/>
            </a:prstGeom>
            <a:solidFill>
              <a:srgbClr val="6975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263640" y="3931920"/>
              <a:ext cx="4069080" cy="10058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4000" b="1">
                  <a:solidFill>
                    <a:srgbClr val="697591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95</a:t>
              </a:r>
              <a:r>
                <a:rPr sz="16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 %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263640" y="5074919"/>
              <a:ext cx="4069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사업 목표 달성률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30" name="asset:KPI-205"/>
          <p:cNvGrpSpPr/>
          <p:nvPr/>
        </p:nvGrpSpPr>
        <p:grpSpPr>
          <a:xfrm>
            <a:off x="457200" y="1737360"/>
            <a:ext cx="9994391" cy="3566160"/>
            <a:chOff x="457200" y="1737360"/>
            <a:chExt cx="9994391" cy="356616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737360"/>
              <a:ext cx="3087624" cy="356616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7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685800" y="2011679"/>
              <a:ext cx="2630424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민원 처리건수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5800" y="2395728"/>
              <a:ext cx="2630424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400" b="1">
                  <a:solidFill>
                    <a:srgbClr val="2E4692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1,000</a:t>
              </a:r>
              <a:r>
                <a:rPr sz="14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 건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3200400"/>
              <a:ext cx="2630424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E4692"/>
                  </a:solidFill>
                  <a:latin typeface="Pretendard GOV Medium"/>
                  <a:ea typeface="Pretendard GOV Medium"/>
                  <a:cs typeface="Pretendard GOV Medium"/>
                </a:rPr>
                <a:t>▲ +18% 전년比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931163" y="4480559"/>
              <a:ext cx="310896" cy="45720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388363" y="4279392"/>
              <a:ext cx="310896" cy="658368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45563" y="4370831"/>
              <a:ext cx="310896" cy="566928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302764" y="4069079"/>
              <a:ext cx="310896" cy="86868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759964" y="3794759"/>
              <a:ext cx="310896" cy="1143000"/>
            </a:xfrm>
            <a:prstGeom prst="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910583" y="1737360"/>
              <a:ext cx="3087624" cy="356616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7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139183" y="2011679"/>
              <a:ext cx="2630424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예산 집행액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139183" y="2395728"/>
              <a:ext cx="2630424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400" b="1">
                  <a:solidFill>
                    <a:srgbClr val="2E4692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42</a:t>
              </a:r>
              <a:r>
                <a:rPr sz="14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 억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139183" y="3200400"/>
              <a:ext cx="2630424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D05548"/>
                  </a:solidFill>
                  <a:latin typeface="Pretendard GOV Medium"/>
                  <a:ea typeface="Pretendard GOV Medium"/>
                  <a:cs typeface="Pretendard GOV Medium"/>
                </a:rPr>
                <a:t>▲ +27% 전년比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384548" y="4480559"/>
              <a:ext cx="310896" cy="45720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841748" y="4279392"/>
              <a:ext cx="310896" cy="658368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298948" y="4370831"/>
              <a:ext cx="310896" cy="566928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756148" y="4069079"/>
              <a:ext cx="310896" cy="86868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213348" y="3794759"/>
              <a:ext cx="310896" cy="1143000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7363967" y="1737360"/>
              <a:ext cx="3087624" cy="356616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4287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592567" y="2011679"/>
              <a:ext cx="2630424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000000"/>
                  </a:solidFill>
                  <a:latin typeface="Pretendard GOV Medium"/>
                  <a:ea typeface="Pretendard GOV Medium"/>
                  <a:cs typeface="Pretendard GOV Medium"/>
                </a:rPr>
                <a:t>주민 만족도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592567" y="2395728"/>
              <a:ext cx="2630424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l"/>
              <a:r>
                <a:rPr sz="3400" b="1">
                  <a:solidFill>
                    <a:srgbClr val="2E4692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4.6</a:t>
              </a:r>
              <a:r>
                <a:rPr sz="14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 점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592567" y="3200400"/>
              <a:ext cx="2630424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7030A0"/>
                  </a:solidFill>
                  <a:latin typeface="Pretendard GOV Medium"/>
                  <a:ea typeface="Pretendard GOV Medium"/>
                  <a:cs typeface="Pretendard GOV Medium"/>
                </a:rPr>
                <a:t>▲ +5% 전년比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837931" y="4480559"/>
              <a:ext cx="310896" cy="45720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8295131" y="4279392"/>
              <a:ext cx="310896" cy="658368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8752331" y="4370831"/>
              <a:ext cx="310896" cy="566928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209531" y="4069079"/>
              <a:ext cx="310896" cy="86868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9666731" y="3794759"/>
              <a:ext cx="310896" cy="11430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0" name="asset:BGP-205"/>
          <p:cNvGrpSpPr/>
          <p:nvPr/>
        </p:nvGrpSpPr>
        <p:grpSpPr>
          <a:xfrm>
            <a:off x="0" y="0"/>
            <a:ext cx="10905360" cy="7772400"/>
            <a:chOff x="0" y="0"/>
            <a:chExt cx="10905360" cy="7772400"/>
          </a:xfrm>
        </p:grpSpPr>
        <p:sp>
          <p:nvSpPr>
            <p:cNvPr id="3" name="Rectangle 2"/>
            <p:cNvSpPr/>
            <p:nvPr/>
          </p:nvSpPr>
          <p:spPr>
            <a:xfrm>
              <a:off x="0" y="0"/>
              <a:ext cx="10905360" cy="777240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822960" y="1463040"/>
              <a:ext cx="2011680" cy="2011680"/>
            </a:xfrm>
            <a:prstGeom prst="roundRect">
              <a:avLst>
                <a:gd name="adj" fmla="val 6000"/>
              </a:avLst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0" b="1">
                  <a:solidFill>
                    <a:srgbClr val="FFFFFF"/>
                  </a:solidFill>
                  <a:latin typeface="Pretendard GOV Black"/>
                  <a:ea typeface="Pretendard GOV Black"/>
                  <a:cs typeface="Pretendard GOV Black"/>
                </a:rPr>
                <a:t>02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200400" y="1572768"/>
              <a:ext cx="54864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1">
                  <a:solidFill>
                    <a:srgbClr val="7030A0"/>
                  </a:solidFill>
                  <a:latin typeface="Pretendard GOV Light"/>
                  <a:ea typeface="Pretendard GOV Light"/>
                  <a:cs typeface="Pretendard GOV Light"/>
                </a:rPr>
                <a:t>PART 02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200400" y="1965960"/>
              <a:ext cx="6881999" cy="11887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3600" b="1">
                  <a:solidFill>
                    <a:srgbClr val="2E4692"/>
                  </a:solidFill>
                  <a:latin typeface="Pretendard GOV Black"/>
                  <a:ea typeface="Pretendard GOV Black"/>
                  <a:cs typeface="Pretendard GOV Black"/>
                </a:rPr>
                <a:t>기대 효과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200400" y="3246120"/>
              <a:ext cx="2194560" cy="64008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00400" y="3474720"/>
              <a:ext cx="6881999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0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사업 추진에 따른 기대효과와 성과지표를 제시합니다.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22960" y="7269480"/>
              <a:ext cx="54864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  <a:latin typeface="Pretendard GOV Light"/>
                  <a:ea typeface="Pretendard GOV Light"/>
                  <a:cs typeface="Pretendard GOV Light"/>
                </a:rPr>
                <a:t>2026 · 스마트도시 데이터 통합플랫폼 구축사업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8" name="asset:HDR-204"/>
          <p:cNvGrpSpPr/>
          <p:nvPr/>
        </p:nvGrpSpPr>
        <p:grpSpPr>
          <a:xfrm>
            <a:off x="1200719" y="2560320"/>
            <a:ext cx="8503920" cy="1721815"/>
            <a:chOff x="1200719" y="2560320"/>
            <a:chExt cx="8503920" cy="1721815"/>
          </a:xfrm>
        </p:grpSpPr>
        <p:sp>
          <p:nvSpPr>
            <p:cNvPr id="3" name="TextBox 2"/>
            <p:cNvSpPr txBox="1"/>
            <p:nvPr/>
          </p:nvSpPr>
          <p:spPr>
            <a:xfrm>
              <a:off x="1200719" y="2560320"/>
              <a:ext cx="850392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E4692"/>
                  </a:solidFill>
                  <a:latin typeface="Pretendard GOV ExtraBold"/>
                  <a:ea typeface="Pretendard GOV ExtraBold"/>
                  <a:cs typeface="Pretendard GOV ExtraBold"/>
                </a:rPr>
                <a:t>챕터 진행현황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200719" y="3017520"/>
              <a:ext cx="1554480" cy="651967"/>
            </a:xfrm>
            <a:prstGeom prst="roundRect">
              <a:avLst>
                <a:gd name="adj" fmla="val 6000"/>
              </a:avLst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800" b="1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200719" y="3724351"/>
              <a:ext cx="155448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Light"/>
                  <a:ea typeface="Pretendard GOV Light"/>
                  <a:cs typeface="Pretendard GOV Light"/>
                </a:rPr>
                <a:t>Ch.1 사업 개요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938079" y="3017520"/>
              <a:ext cx="1554480" cy="651967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9050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800" b="1">
                  <a:solidFill>
                    <a:srgbClr val="2E4692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0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938079" y="3724351"/>
              <a:ext cx="155448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Light"/>
                  <a:ea typeface="Pretendard GOV Light"/>
                  <a:cs typeface="Pretendard GOV Light"/>
                </a:rPr>
                <a:t>Ch.2 추진 전략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675439" y="3017520"/>
              <a:ext cx="1554480" cy="651967"/>
            </a:xfrm>
            <a:prstGeom prst="roundRect">
              <a:avLst>
                <a:gd name="adj" fmla="val 6000"/>
              </a:avLst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800" b="1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675439" y="3724351"/>
              <a:ext cx="155448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Light"/>
                  <a:ea typeface="Pretendard GOV Light"/>
                  <a:cs typeface="Pretendard GOV Light"/>
                </a:rPr>
                <a:t>Ch.3 추진 체계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412799" y="3017520"/>
              <a:ext cx="1554480" cy="651967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9050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800" b="1">
                  <a:solidFill>
                    <a:srgbClr val="2E4692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0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412799" y="3724351"/>
              <a:ext cx="155448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Light"/>
                  <a:ea typeface="Pretendard GOV Light"/>
                  <a:cs typeface="Pretendard GOV Light"/>
                </a:rPr>
                <a:t>Ch.4 세부 추진계획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150159" y="3017520"/>
              <a:ext cx="1554480" cy="651967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9050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800" b="1">
                  <a:solidFill>
                    <a:srgbClr val="2E4692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0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150159" y="3724351"/>
              <a:ext cx="155448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000000"/>
                  </a:solidFill>
                  <a:latin typeface="Pretendard GOV Light"/>
                  <a:ea typeface="Pretendard GOV Light"/>
                  <a:cs typeface="Pretendard GOV Light"/>
                </a:rPr>
                <a:t>Ch.5 기대효과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200719" y="4053535"/>
              <a:ext cx="201168" cy="201168"/>
            </a:xfrm>
            <a:prstGeom prst="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475039" y="4007815"/>
              <a:ext cx="82296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0">
                  <a:solidFill>
                    <a:srgbClr val="000000"/>
                  </a:solidFill>
                  <a:latin typeface="Pretendard GOV Light"/>
                  <a:ea typeface="Pretendard GOV Light"/>
                  <a:cs typeface="Pretendard GOV Light"/>
                </a:rPr>
                <a:t>완료(1)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435159" y="4053535"/>
              <a:ext cx="201168" cy="2011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709479" y="4007815"/>
              <a:ext cx="82296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0">
                  <a:solidFill>
                    <a:srgbClr val="000000"/>
                  </a:solidFill>
                  <a:latin typeface="Pretendard GOV Light"/>
                  <a:ea typeface="Pretendard GOV Light"/>
                  <a:cs typeface="Pretendard GOV Light"/>
                </a:rPr>
                <a:t>예정(0)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4" name="asset:HDR-205"/>
          <p:cNvGrpSpPr/>
          <p:nvPr/>
        </p:nvGrpSpPr>
        <p:grpSpPr>
          <a:xfrm>
            <a:off x="3349560" y="3566160"/>
            <a:ext cx="3227832" cy="521208"/>
            <a:chOff x="3349560" y="3566160"/>
            <a:chExt cx="3227832" cy="521208"/>
          </a:xfrm>
        </p:grpSpPr>
        <p:sp>
          <p:nvSpPr>
            <p:cNvPr id="3" name="TextBox 2"/>
            <p:cNvSpPr txBox="1"/>
            <p:nvPr/>
          </p:nvSpPr>
          <p:spPr>
            <a:xfrm>
              <a:off x="3349560" y="3566160"/>
              <a:ext cx="118872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2E4692"/>
                  </a:solidFill>
                  <a:latin typeface="Pretendard GOV Medium"/>
                  <a:ea typeface="Pretendard GOV Medium"/>
                  <a:cs typeface="Pretendard GOV Medium"/>
                </a:rPr>
                <a:t>진행 2/5</a:t>
              </a:r>
            </a:p>
          </p:txBody>
        </p:sp>
        <p:sp>
          <p:nvSpPr>
            <p:cNvPr id="4" name="Oval 3"/>
            <p:cNvSpPr/>
            <p:nvPr/>
          </p:nvSpPr>
          <p:spPr>
            <a:xfrm>
              <a:off x="4584000" y="3566160"/>
              <a:ext cx="274320" cy="274320"/>
            </a:xfrm>
            <a:prstGeom prst="ellipse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474272" y="3867912"/>
              <a:ext cx="493776" cy="2194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000000"/>
                  </a:solidFill>
                  <a:latin typeface="Pretendard GOV Light"/>
                  <a:ea typeface="Pretendard GOV Light"/>
                  <a:cs typeface="Pretendard GOV Light"/>
                </a:rPr>
                <a:t>Ch1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4986336" y="3566160"/>
              <a:ext cx="274320" cy="2743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E4692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0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876608" y="3867912"/>
              <a:ext cx="493776" cy="2194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000000"/>
                  </a:solidFill>
                  <a:latin typeface="Pretendard GOV Light"/>
                  <a:ea typeface="Pretendard GOV Light"/>
                  <a:cs typeface="Pretendard GOV Light"/>
                </a:rPr>
                <a:t>Ch2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5388672" y="3566160"/>
              <a:ext cx="274320" cy="274320"/>
            </a:xfrm>
            <a:prstGeom prst="ellipse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278944" y="3867912"/>
              <a:ext cx="493776" cy="2194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000000"/>
                  </a:solidFill>
                  <a:latin typeface="Pretendard GOV Light"/>
                  <a:ea typeface="Pretendard GOV Light"/>
                  <a:cs typeface="Pretendard GOV Light"/>
                </a:rPr>
                <a:t>Ch3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5791008" y="3566160"/>
              <a:ext cx="274320" cy="2743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E4692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0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681280" y="3867912"/>
              <a:ext cx="493776" cy="2194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000000"/>
                  </a:solidFill>
                  <a:latin typeface="Pretendard GOV Light"/>
                  <a:ea typeface="Pretendard GOV Light"/>
                  <a:cs typeface="Pretendard GOV Light"/>
                </a:rPr>
                <a:t>Ch4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6193344" y="3566160"/>
              <a:ext cx="274320" cy="2743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055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E4692"/>
                  </a:solidFill>
                  <a:latin typeface="페이퍼로지 8 ExtraBold"/>
                  <a:ea typeface="페이퍼로지 8 ExtraBold"/>
                  <a:cs typeface="페이퍼로지 8 ExtraBold"/>
                </a:rPr>
                <a:t>0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083616" y="3867912"/>
              <a:ext cx="493776" cy="21945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000000"/>
                  </a:solidFill>
                  <a:latin typeface="Pretendard GOV Light"/>
                  <a:ea typeface="Pretendard GOV Light"/>
                  <a:cs typeface="Pretendard GOV Light"/>
                </a:rPr>
                <a:t>Ch5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