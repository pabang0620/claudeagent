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TML-001</a:t>
            </a:r>
          </a:p>
        </p:txBody>
      </p:sp>
      <p:grpSp>
        <p:nvGrpSpPr>
          <p:cNvPr id="28" name="asset:TML-001"/>
          <p:cNvGrpSpPr/>
          <p:nvPr/>
        </p:nvGrpSpPr>
        <p:grpSpPr>
          <a:xfrm>
            <a:off x="251460" y="475488"/>
            <a:ext cx="11686032" cy="5422392"/>
            <a:chOff x="251460" y="475488"/>
            <a:chExt cx="11686032" cy="54223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(마일스톤 5개)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 원 5개, 라벨 상하 교차 배치</a:t>
              </a:r>
            </a:p>
          </p:txBody>
        </p:sp>
        <p:sp>
          <p:nvSpPr>
            <p:cNvPr id="5" name="TML-001_bg"/>
            <p:cNvSpPr/>
            <p:nvPr/>
          </p:nvSpPr>
          <p:spPr>
            <a:xfrm>
              <a:off x="1097280" y="1417320"/>
              <a:ext cx="9994392" cy="44805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sosceles Triangle 6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1460" y="2240279"/>
              <a:ext cx="196596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664458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3207258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81478" y="4919472"/>
              <a:ext cx="196596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454146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V="1">
              <a:off x="6094476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5637276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11496" y="2240279"/>
              <a:ext cx="196596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852449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8067294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41514" y="4919472"/>
              <a:ext cx="196596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시험·안정화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8314181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71532" y="2240279"/>
              <a:ext cx="196596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최종납품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TML-002</a:t>
            </a:r>
          </a:p>
        </p:txBody>
      </p:sp>
      <p:grpSp>
        <p:nvGrpSpPr>
          <p:cNvPr id="43" name="asset:TML-002"/>
          <p:cNvGrpSpPr/>
          <p:nvPr/>
        </p:nvGrpSpPr>
        <p:grpSpPr>
          <a:xfrm>
            <a:off x="502920" y="475488"/>
            <a:ext cx="11155680" cy="4626864"/>
            <a:chOff x="502920" y="475488"/>
            <a:chExt cx="11155680" cy="462686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간트차트형 일정표 (작업 4행)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작업별 기간 막대를 도형으로 표현 (차트 아님)</a:t>
              </a:r>
            </a:p>
          </p:txBody>
        </p:sp>
        <p:sp>
          <p:nvSpPr>
            <p:cNvPr id="5" name="TML-002_bg"/>
            <p:cNvSpPr/>
            <p:nvPr/>
          </p:nvSpPr>
          <p:spPr>
            <a:xfrm>
              <a:off x="960120" y="1554480"/>
              <a:ext cx="10241280" cy="354787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1600200"/>
              <a:ext cx="246888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1600200"/>
              <a:ext cx="24688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작업 / 기간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474720" y="1600200"/>
              <a:ext cx="1280159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74720" y="1600200"/>
              <a:ext cx="12801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54880" y="1600200"/>
              <a:ext cx="1280159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54880" y="1600200"/>
              <a:ext cx="12801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35040" y="1600200"/>
              <a:ext cx="1280159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35040" y="1600200"/>
              <a:ext cx="12801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315200" y="1600200"/>
              <a:ext cx="1280159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15200" y="1600200"/>
              <a:ext cx="12801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595359" y="1600200"/>
              <a:ext cx="1280159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595359" y="1600200"/>
              <a:ext cx="12801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875519" y="1600200"/>
              <a:ext cx="1280159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75519" y="1600200"/>
              <a:ext cx="12801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3474720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754880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35040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7315200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595359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875519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11155680" y="2057400"/>
              <a:ext cx="0" cy="299923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005840" y="2057400"/>
              <a:ext cx="2468880" cy="74980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15568" y="2057400"/>
              <a:ext cx="2286000" cy="7498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474720" y="2057400"/>
              <a:ext cx="7680959" cy="7498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529584" y="2222357"/>
              <a:ext cx="2450591" cy="41989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2807208"/>
              <a:ext cx="2468880" cy="7498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15568" y="2807208"/>
              <a:ext cx="2286000" cy="7498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474720" y="2807208"/>
              <a:ext cx="7680959" cy="7498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809744" y="2972165"/>
              <a:ext cx="2450591" cy="41989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05840" y="3557015"/>
              <a:ext cx="2468880" cy="74980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5568" y="3557015"/>
              <a:ext cx="2286000" cy="7498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474720" y="3557015"/>
              <a:ext cx="7680959" cy="7498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089903" y="3721973"/>
              <a:ext cx="3730751" cy="41989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306824"/>
              <a:ext cx="2468880" cy="7498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15568" y="4306824"/>
              <a:ext cx="2286000" cy="7498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시험·안정화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474720" y="4306824"/>
              <a:ext cx="7680959" cy="7498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650224" y="4471781"/>
              <a:ext cx="2450591" cy="41989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TML-005</a:t>
            </a:r>
          </a:p>
        </p:txBody>
      </p:sp>
      <p:grpSp>
        <p:nvGrpSpPr>
          <p:cNvPr id="23" name="asset:TML-005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플래그 타임라인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수평 기준선 위 깃발 도형으로 주요 마일스톤 표기</a:t>
              </a:r>
            </a:p>
          </p:txBody>
        </p:sp>
        <p:sp>
          <p:nvSpPr>
            <p:cNvPr id="5" name="TML-005_bg"/>
            <p:cNvSpPr/>
            <p:nvPr/>
          </p:nvSpPr>
          <p:spPr>
            <a:xfrm>
              <a:off x="1143000" y="1463040"/>
              <a:ext cx="9921240" cy="42062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280160" y="5212080"/>
              <a:ext cx="9646920" cy="0"/>
            </a:xfrm>
            <a:prstGeom prst="line">
              <a:avLst/>
            </a:prstGeom>
            <a:ln w="381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2385441" y="5111496"/>
              <a:ext cx="201168" cy="201168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 flipV="1">
              <a:off x="2486025" y="2926080"/>
              <a:ext cx="0" cy="2286000"/>
            </a:xfrm>
            <a:prstGeom prst="line">
              <a:avLst/>
            </a:prstGeom>
            <a:ln w="254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Pentagon 8"/>
            <p:cNvSpPr/>
            <p:nvPr/>
          </p:nvSpPr>
          <p:spPr>
            <a:xfrm>
              <a:off x="2486025" y="2926080"/>
              <a:ext cx="1600200" cy="640080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48865" y="3639312"/>
              <a:ext cx="201168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착수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4797170" y="5111496"/>
              <a:ext cx="201168" cy="201168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V="1">
              <a:off x="4897754" y="2926080"/>
              <a:ext cx="0" cy="2286000"/>
            </a:xfrm>
            <a:prstGeom prst="line">
              <a:avLst/>
            </a:prstGeom>
            <a:ln w="254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Pentagon 12"/>
            <p:cNvSpPr/>
            <p:nvPr/>
          </p:nvSpPr>
          <p:spPr>
            <a:xfrm>
              <a:off x="4897754" y="2926080"/>
              <a:ext cx="1600200" cy="640080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60594" y="3639312"/>
              <a:ext cx="201168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중간보고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08900" y="5111496"/>
              <a:ext cx="201168" cy="201168"/>
            </a:xfrm>
            <a:prstGeom prst="ellipse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Connector 15"/>
            <p:cNvCxnSpPr/>
            <p:nvPr/>
          </p:nvCxnSpPr>
          <p:spPr>
            <a:xfrm flipV="1">
              <a:off x="7309484" y="2926080"/>
              <a:ext cx="0" cy="2286000"/>
            </a:xfrm>
            <a:prstGeom prst="line">
              <a:avLst/>
            </a:prstGeom>
            <a:ln w="254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Pentagon 16"/>
            <p:cNvSpPr/>
            <p:nvPr/>
          </p:nvSpPr>
          <p:spPr>
            <a:xfrm>
              <a:off x="7309484" y="2926080"/>
              <a:ext cx="1600200" cy="640080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72324" y="3639312"/>
              <a:ext cx="201168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시범 운영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620631" y="5111496"/>
              <a:ext cx="201168" cy="201168"/>
            </a:xfrm>
            <a:prstGeom prst="ellipse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9721215" y="2926080"/>
              <a:ext cx="0" cy="2286000"/>
            </a:xfrm>
            <a:prstGeom prst="line">
              <a:avLst/>
            </a:prstGeom>
            <a:ln w="254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Pentagon 20"/>
            <p:cNvSpPr/>
            <p:nvPr/>
          </p:nvSpPr>
          <p:spPr>
            <a:xfrm>
              <a:off x="9721215" y="2926080"/>
              <a:ext cx="1600200" cy="640080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84055" y="3639312"/>
              <a:ext cx="2011680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최종납품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TML-006</a:t>
            </a:r>
          </a:p>
        </p:txBody>
      </p:sp>
      <p:grpSp>
        <p:nvGrpSpPr>
          <p:cNvPr id="38" name="asset:TML-006"/>
          <p:cNvGrpSpPr/>
          <p:nvPr/>
        </p:nvGrpSpPr>
        <p:grpSpPr>
          <a:xfrm>
            <a:off x="502920" y="475488"/>
            <a:ext cx="11155680" cy="5687568"/>
            <a:chOff x="502920" y="475488"/>
            <a:chExt cx="11155680" cy="56875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로드맵 3트랙 (트랙별 레인)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가로 레인 위 단계별 활동 박스 배치</a:t>
              </a:r>
            </a:p>
          </p:txBody>
        </p:sp>
        <p:sp>
          <p:nvSpPr>
            <p:cNvPr id="5" name="TML-006_bg"/>
            <p:cNvSpPr/>
            <p:nvPr/>
          </p:nvSpPr>
          <p:spPr>
            <a:xfrm>
              <a:off x="960120" y="1508760"/>
              <a:ext cx="10241280" cy="465429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1554480"/>
              <a:ext cx="182880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155448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단계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34640" y="1554480"/>
              <a:ext cx="208026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34640" y="1554480"/>
              <a:ext cx="20802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14900" y="1554480"/>
              <a:ext cx="208026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14900" y="1554480"/>
              <a:ext cx="20802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95160" y="1554480"/>
              <a:ext cx="208026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95160" y="1554480"/>
              <a:ext cx="20802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075419" y="1554480"/>
              <a:ext cx="208026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75419" y="1554480"/>
              <a:ext cx="20802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14900" y="2084832"/>
              <a:ext cx="0" cy="4032504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995160" y="2084832"/>
              <a:ext cx="0" cy="4032504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075419" y="2084832"/>
              <a:ext cx="0" cy="4032504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1005840" y="2084832"/>
              <a:ext cx="1828800" cy="12344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97280" y="2084832"/>
              <a:ext cx="1645920" cy="1234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834640" y="2084832"/>
              <a:ext cx="8321040" cy="1234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834640" y="2702052"/>
              <a:ext cx="8321040" cy="0"/>
            </a:xfrm>
            <a:prstGeom prst="line">
              <a:avLst/>
            </a:prstGeom>
            <a:ln w="15875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2926080" y="2286000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 분석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006340" y="2286000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과제 정의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3483864"/>
              <a:ext cx="1828800" cy="12344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3483864"/>
              <a:ext cx="1645920" cy="1234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34640" y="3483864"/>
              <a:ext cx="8321040" cy="1234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2834640" y="4101084"/>
              <a:ext cx="8321040" cy="0"/>
            </a:xfrm>
            <a:prstGeom prst="line">
              <a:avLst/>
            </a:prstGeom>
            <a:ln w="15875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/>
            <p:cNvSpPr/>
            <p:nvPr/>
          </p:nvSpPr>
          <p:spPr>
            <a:xfrm>
              <a:off x="5006340" y="3685032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아키텍처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086600" y="3685032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개발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166859" y="3685032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시험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4882896"/>
              <a:ext cx="1828800" cy="12344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4882896"/>
              <a:ext cx="1645920" cy="1234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34640" y="4882896"/>
              <a:ext cx="8321040" cy="1234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2834640" y="5500116"/>
              <a:ext cx="8321040" cy="0"/>
            </a:xfrm>
            <a:prstGeom prst="line">
              <a:avLst/>
            </a:prstGeom>
            <a:ln w="15875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35"/>
            <p:cNvSpPr/>
            <p:nvPr/>
          </p:nvSpPr>
          <p:spPr>
            <a:xfrm>
              <a:off x="7086600" y="5084064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시범 운영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166859" y="5084064"/>
              <a:ext cx="1897379" cy="832104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정식 운영·이관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