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TML-011</a:t>
            </a:r>
          </a:p>
        </p:txBody>
      </p:sp>
      <p:grpSp>
        <p:nvGrpSpPr>
          <p:cNvPr id="26" name="asset:TML-011"/>
          <p:cNvGrpSpPr/>
          <p:nvPr/>
        </p:nvGrpSpPr>
        <p:grpSpPr>
          <a:xfrm>
            <a:off x="502920" y="475488"/>
            <a:ext cx="11155680" cy="6409944"/>
            <a:chOff x="502920" y="475488"/>
            <a:chExt cx="11155680" cy="640994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원형 연차 로드맵 (원 둘레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중심 허브를 둘러싼 원 둘레에 단계를 등간격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66359" y="3154679"/>
              <a:ext cx="1645920" cy="1645920"/>
            </a:xfrm>
            <a:prstGeom prst="ellipse">
              <a:avLst/>
            </a:prstGeom>
            <a:solidFill>
              <a:srgbClr val="1F3864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추진</a:t>
              </a:r>
            </a:p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로드맵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 flipV="1">
              <a:off x="5989320" y="2560320"/>
              <a:ext cx="0" cy="1417319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568696" y="2139696"/>
              <a:ext cx="841248" cy="841248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29200" y="10698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84064" y="11247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1년차 기반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84064" y="1453895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체계 수립·기반 구축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598932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/>
            <p:cNvSpPr/>
            <p:nvPr/>
          </p:nvSpPr>
          <p:spPr>
            <a:xfrm>
              <a:off x="6986016" y="3557015"/>
              <a:ext cx="841248" cy="841248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5438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986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2년차 확산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5986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기능 확대·고도화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5989320" y="3977639"/>
              <a:ext cx="0" cy="141732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5568696" y="4974336"/>
              <a:ext cx="841248" cy="841248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029200" y="6099048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84064" y="6153912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3년차 성과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84064" y="64830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전면 확산·성과 창출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H="1">
              <a:off x="4572000" y="3977639"/>
              <a:ext cx="1417320" cy="0"/>
            </a:xfrm>
            <a:prstGeom prst="line">
              <a:avLst/>
            </a:prstGeom>
            <a:ln w="1587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4151376" y="3557015"/>
              <a:ext cx="841248" cy="841248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2514600" y="3584447"/>
              <a:ext cx="1920240" cy="786384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569464" y="3639311"/>
              <a:ext cx="1810512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4년차 정착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569464" y="3968496"/>
              <a:ext cx="1810512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자립 운영·지속 확산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TML-012</a:t>
            </a:r>
          </a:p>
        </p:txBody>
      </p:sp>
      <p:grpSp>
        <p:nvGrpSpPr>
          <p:cNvPr id="52" name="asset:TML-012"/>
          <p:cNvGrpSpPr/>
          <p:nvPr/>
        </p:nvGrpSpPr>
        <p:grpSpPr>
          <a:xfrm>
            <a:off x="502920" y="475488"/>
            <a:ext cx="11155680" cy="5376672"/>
            <a:chOff x="502920" y="475488"/>
            <a:chExt cx="11155680" cy="53766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단계 + 산출물 로드맵 (단계 원 → 산출물)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단계 원을 화살표로 잇고 각 단계 아래 산출물 박스 배치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695069" y="1600200"/>
              <a:ext cx="960120" cy="960120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2615184"/>
              <a:ext cx="233857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655189" y="2080260"/>
              <a:ext cx="1652778" cy="0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>
              <a:off x="2175129" y="2980944"/>
              <a:ext cx="0" cy="82296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005840" y="3063240"/>
              <a:ext cx="2338578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78992" y="3154680"/>
              <a:ext cx="219227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188720" y="3666744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71600" y="3538728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착수보고서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188720" y="4178808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371600" y="4050792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현황 분석서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1188720" y="4690872"/>
              <a:ext cx="91440" cy="914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371600" y="4562856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요구사항 정의서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4307967" y="1600200"/>
              <a:ext cx="960120" cy="960120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618738" y="2615184"/>
              <a:ext cx="233857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268087" y="2080260"/>
              <a:ext cx="1652778" cy="0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788027" y="2980944"/>
              <a:ext cx="0" cy="82296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3618738" y="3063240"/>
              <a:ext cx="2338578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91889" y="3154680"/>
              <a:ext cx="219227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3801618" y="3666744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984498" y="3538728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설계서</a:t>
              </a:r>
            </a:p>
          </p:txBody>
        </p:sp>
        <p:sp>
          <p:nvSpPr>
            <p:cNvPr id="25" name="Oval 24"/>
            <p:cNvSpPr/>
            <p:nvPr/>
          </p:nvSpPr>
          <p:spPr>
            <a:xfrm>
              <a:off x="3801618" y="4178808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84498" y="4050792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 설계서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3801618" y="4690872"/>
              <a:ext cx="91440" cy="914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84498" y="4562856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화면 정의서</a:t>
              </a:r>
            </a:p>
          </p:txBody>
        </p:sp>
        <p:sp>
          <p:nvSpPr>
            <p:cNvPr id="29" name="Oval 28"/>
            <p:cNvSpPr/>
            <p:nvPr/>
          </p:nvSpPr>
          <p:spPr>
            <a:xfrm>
              <a:off x="6920865" y="1600200"/>
              <a:ext cx="960120" cy="960120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231636" y="2615184"/>
              <a:ext cx="233857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구축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7880985" y="2080260"/>
              <a:ext cx="1652778" cy="0"/>
            </a:xfrm>
            <a:prstGeom prst="line">
              <a:avLst/>
            </a:prstGeom>
            <a:ln w="22225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>
              <a:off x="7400925" y="2980944"/>
              <a:ext cx="0" cy="82296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ounded Rectangle 32"/>
            <p:cNvSpPr/>
            <p:nvPr/>
          </p:nvSpPr>
          <p:spPr>
            <a:xfrm>
              <a:off x="6231636" y="3063240"/>
              <a:ext cx="2338578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304788" y="3154680"/>
              <a:ext cx="219227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14516" y="3666744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97396" y="3538728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개발 산출물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14516" y="4178808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97396" y="4050792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단위 시험서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14516" y="4690872"/>
              <a:ext cx="91440" cy="9144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97396" y="4562856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중간보고서</a:t>
              </a:r>
            </a:p>
          </p:txBody>
        </p:sp>
        <p:sp>
          <p:nvSpPr>
            <p:cNvPr id="41" name="Oval 40"/>
            <p:cNvSpPr/>
            <p:nvPr/>
          </p:nvSpPr>
          <p:spPr>
            <a:xfrm>
              <a:off x="9533763" y="1600200"/>
              <a:ext cx="960120" cy="960120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44534" y="2615184"/>
              <a:ext cx="233857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시험·안정화</a:t>
              </a:r>
            </a:p>
          </p:txBody>
        </p:sp>
        <p:cxnSp>
          <p:nvCxnSpPr>
            <p:cNvPr id="43" name="Connector 42"/>
            <p:cNvCxnSpPr/>
            <p:nvPr/>
          </p:nvCxnSpPr>
          <p:spPr>
            <a:xfrm>
              <a:off x="10013823" y="2980944"/>
              <a:ext cx="0" cy="82296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ounded Rectangle 43"/>
            <p:cNvSpPr/>
            <p:nvPr/>
          </p:nvSpPr>
          <p:spPr>
            <a:xfrm>
              <a:off x="8844534" y="3063240"/>
              <a:ext cx="2338578" cy="278892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917686" y="3154680"/>
              <a:ext cx="2192274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주요 산출물</a:t>
              </a:r>
            </a:p>
          </p:txBody>
        </p:sp>
        <p:sp>
          <p:nvSpPr>
            <p:cNvPr id="46" name="Oval 45"/>
            <p:cNvSpPr/>
            <p:nvPr/>
          </p:nvSpPr>
          <p:spPr>
            <a:xfrm>
              <a:off x="9027413" y="3666744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210294" y="3538728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시험서</a:t>
              </a:r>
            </a:p>
          </p:txBody>
        </p:sp>
        <p:sp>
          <p:nvSpPr>
            <p:cNvPr id="48" name="Oval 47"/>
            <p:cNvSpPr/>
            <p:nvPr/>
          </p:nvSpPr>
          <p:spPr>
            <a:xfrm>
              <a:off x="9027413" y="4178808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210294" y="4050792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안정화 보고</a:t>
              </a:r>
            </a:p>
          </p:txBody>
        </p:sp>
        <p:sp>
          <p:nvSpPr>
            <p:cNvPr id="50" name="Oval 49"/>
            <p:cNvSpPr/>
            <p:nvPr/>
          </p:nvSpPr>
          <p:spPr>
            <a:xfrm>
              <a:off x="9027413" y="4690872"/>
              <a:ext cx="91440" cy="914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210294" y="4562856"/>
              <a:ext cx="183565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완료보고서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TML-015</a:t>
            </a:r>
          </a:p>
        </p:txBody>
      </p:sp>
      <p:grpSp>
        <p:nvGrpSpPr>
          <p:cNvPr id="50" name="asset:TML-015"/>
          <p:cNvGrpSpPr/>
          <p:nvPr/>
        </p:nvGrpSpPr>
        <p:grpSpPr>
          <a:xfrm>
            <a:off x="502920" y="475488"/>
            <a:ext cx="11155680" cy="5833872"/>
            <a:chOff x="502920" y="475488"/>
            <a:chExt cx="11155680" cy="583387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분기 그리드 (활동군 × 4 분기)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활동군을 행으로, 분기를 열로 교차한 그리드형 추진일정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600200"/>
              <a:ext cx="2103120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활동군 / 분기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10896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Q1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12064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Q2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32319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Q3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solidFill>
              <a:srgbClr val="2A4A7F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0" y="1600200"/>
              <a:ext cx="2011679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Q4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05840" y="2176272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97280" y="2176272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기획·관리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310896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218688" y="2382926"/>
              <a:ext cx="1792223" cy="619963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착수·현황분석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12064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230368" y="2382926"/>
              <a:ext cx="1792223" cy="619963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7132319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242047" y="2382926"/>
              <a:ext cx="1792223" cy="619963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중간점검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9144000" y="2176272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253728" y="2382926"/>
              <a:ext cx="1792223" cy="619963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완료보고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005840" y="3209544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97280" y="3209544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설계·개발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0896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12064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230368" y="3416198"/>
              <a:ext cx="1792223" cy="619963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기본·상세설계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132319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7242047" y="3416198"/>
              <a:ext cx="1792223" cy="619963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 개발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144000" y="3209544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253728" y="3416198"/>
              <a:ext cx="1792223" cy="619963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고도화 개발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05840" y="4242816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97280" y="4242816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시험·운영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10896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12064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132319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7242047" y="4449470"/>
              <a:ext cx="1792223" cy="619963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단위 시험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9144000" y="4242816"/>
              <a:ext cx="2011679" cy="103327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9253728" y="4449470"/>
              <a:ext cx="1792223" cy="619963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통합·안정화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005840" y="5276088"/>
              <a:ext cx="2103120" cy="1033272"/>
            </a:xfrm>
            <a:prstGeom prst="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097280" y="5276088"/>
              <a:ext cx="1920239" cy="103327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확산·교육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10896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12064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132319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7242047" y="5482742"/>
              <a:ext cx="1792223" cy="619963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매뉴얼 작성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9144000" y="5276088"/>
              <a:ext cx="2011679" cy="10332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9253728" y="5482742"/>
              <a:ext cx="1792223" cy="619963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이관 교육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TML-016</a:t>
            </a:r>
          </a:p>
        </p:txBody>
      </p:sp>
      <p:grpSp>
        <p:nvGrpSpPr>
          <p:cNvPr id="20" name="asset:TML-016"/>
          <p:cNvGrpSpPr/>
          <p:nvPr/>
        </p:nvGrpSpPr>
        <p:grpSpPr>
          <a:xfrm>
            <a:off x="502920" y="475488"/>
            <a:ext cx="11155680" cy="5559551"/>
            <a:chOff x="502920" y="475488"/>
            <a:chExt cx="11155680" cy="555955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Now / Next / Later 3열 로드맵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우선순위 기반 3구간(현재·다음·향후) 로드맵</a:t>
              </a:r>
            </a:p>
          </p:txBody>
        </p:sp>
        <p:sp>
          <p:nvSpPr>
            <p:cNvPr id="5" name="Round Same Side Corner Rectangle 4"/>
            <p:cNvSpPr/>
            <p:nvPr/>
          </p:nvSpPr>
          <p:spPr>
            <a:xfrm>
              <a:off x="1005840" y="1600200"/>
              <a:ext cx="3179064" cy="868680"/>
            </a:xfrm>
            <a:prstGeom prst="round2Same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Now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현재 추진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005840" y="2468880"/>
              <a:ext cx="3179064" cy="35661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170432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개발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170432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이관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170432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파일럿 운영</a:t>
              </a:r>
            </a:p>
          </p:txBody>
        </p:sp>
        <p:sp>
          <p:nvSpPr>
            <p:cNvPr id="10" name="Round Same Side Corner Rectangle 9"/>
            <p:cNvSpPr/>
            <p:nvPr/>
          </p:nvSpPr>
          <p:spPr>
            <a:xfrm>
              <a:off x="4504944" y="1600200"/>
              <a:ext cx="3179064" cy="86868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Next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다음 단계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04944" y="2468880"/>
              <a:ext cx="3179064" cy="35661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669536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기능 고도화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669536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시스템 확대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669536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성능 최적화</a:t>
              </a:r>
            </a:p>
          </p:txBody>
        </p:sp>
        <p:sp>
          <p:nvSpPr>
            <p:cNvPr id="15" name="Round Same Side Corner Rectangle 14"/>
            <p:cNvSpPr/>
            <p:nvPr/>
          </p:nvSpPr>
          <p:spPr>
            <a:xfrm>
              <a:off x="8004048" y="1600200"/>
              <a:ext cx="3179064" cy="868680"/>
            </a:xfrm>
            <a:prstGeom prst="round2Same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Later</a:t>
              </a:r>
            </a:p>
            <a:p>
              <a:pPr algn="ctr"/>
              <a:r>
                <a:rPr sz="9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향후 과제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8004048" y="2468880"/>
              <a:ext cx="3179064" cy="35661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168640" y="2651760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전면 확산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68640" y="3493008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자동화·지능화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68640" y="4334256"/>
              <a:ext cx="2849880" cy="67665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지속 운영 체계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