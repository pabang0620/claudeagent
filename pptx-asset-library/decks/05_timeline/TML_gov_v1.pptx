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90536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26" name="asset:TML-201"/>
          <p:cNvGrpSpPr/>
          <p:nvPr/>
        </p:nvGrpSpPr>
        <p:grpSpPr>
          <a:xfrm>
            <a:off x="457200" y="320040"/>
            <a:ext cx="10082400" cy="7178039"/>
            <a:chOff x="457200" y="320040"/>
            <a:chExt cx="10082400" cy="7178039"/>
          </a:xfrm>
        </p:grpSpPr>
        <p:sp>
          <p:nvSpPr>
            <p:cNvPr id="2" name="TextBox 1"/>
            <p:cNvSpPr txBox="1"/>
            <p:nvPr/>
          </p:nvSpPr>
          <p:spPr>
            <a:xfrm>
              <a:off x="457200" y="320040"/>
              <a:ext cx="99909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2E4692"/>
                  </a:solidFill>
                  <a:latin typeface="Pretendard GOV Black"/>
                  <a:ea typeface="Pretendard GOV Black"/>
                  <a:cs typeface="Pretendard GOV Black"/>
                </a:rPr>
                <a:t>gov 대형 실행 스케줄 그리드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57200" y="777240"/>
              <a:ext cx="999096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697591"/>
                  </a:solidFill>
                  <a:latin typeface="Pretendard GOV Light"/>
                  <a:ea typeface="Pretendard GOV Light"/>
                  <a:cs typeface="Pretendard GOV Light"/>
                </a:rPr>
                <a:t>2단 헤더(월 카테고리 1/5/4/4/5/4/4 비균등 gridSpan × 27리프 컬럼, slide4 실측 구조) · 리프=ISO 주차 26~52 · 좌측 구분 + 우측 비고 컬럼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234440"/>
              <a:ext cx="1737360" cy="731520"/>
            </a:xfrm>
            <a:prstGeom prst="rect">
              <a:avLst/>
            </a:prstGeom>
            <a:solidFill>
              <a:srgbClr val="8F99A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7200" y="1234440"/>
              <a:ext cx="1737360" cy="7315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구분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194560" y="1234440"/>
              <a:ext cx="285368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194560" y="123444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6월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479928" y="1234440"/>
              <a:ext cx="1426844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479928" y="1234440"/>
              <a:ext cx="142684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7월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06773" y="1234440"/>
              <a:ext cx="1141475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06773" y="1234440"/>
              <a:ext cx="1141475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8월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048248" y="1234440"/>
              <a:ext cx="1141475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48248" y="1234440"/>
              <a:ext cx="1141475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9월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189724" y="1234440"/>
              <a:ext cx="1426844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189724" y="1234440"/>
              <a:ext cx="1426844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10월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616568" y="1234440"/>
              <a:ext cx="1141475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616568" y="1234440"/>
              <a:ext cx="1141475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11월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758044" y="1234440"/>
              <a:ext cx="1141475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758044" y="1234440"/>
              <a:ext cx="1141475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12월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194560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194560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26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479928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479928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27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765297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765297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28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050666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050666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29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336035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336035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621404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621404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31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906773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906773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32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192142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192142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33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477511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477511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34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762879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762879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35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048248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048248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36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333617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333617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37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618986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618986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38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904355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904355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39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189724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189724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40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475093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475093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41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760462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760462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42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045831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045831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43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331200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331200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44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616568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616568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45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901937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901937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46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8187306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187306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47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8472675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472675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48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8758044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758044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49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9043413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043413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50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9328782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9328782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51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9614151" y="1600200"/>
              <a:ext cx="285368" cy="36576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9614151" y="1600200"/>
              <a:ext cx="2853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52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9899520" y="1234440"/>
              <a:ext cx="640080" cy="731520"/>
            </a:xfrm>
            <a:prstGeom prst="rect">
              <a:avLst/>
            </a:prstGeom>
            <a:solidFill>
              <a:srgbClr val="8F99A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9899520" y="1234440"/>
              <a:ext cx="640080" cy="7315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비고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457200" y="1965960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530352" y="1965960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주요 마일스톤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2194560" y="1965960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9899520" y="1965960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2211682" y="2016671"/>
              <a:ext cx="821862" cy="129082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457200" y="2196465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30352" y="2196465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사전 자문 결과 및 전략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2194560" y="2196465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9899520" y="2196465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2497051" y="2247176"/>
              <a:ext cx="821862" cy="1290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457200" y="2426969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530352" y="2426969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분야별 학계 전문가 자문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2194560" y="2426969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9899520" y="2426969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Rounded Rectangle 89"/>
            <p:cNvSpPr/>
            <p:nvPr/>
          </p:nvSpPr>
          <p:spPr>
            <a:xfrm>
              <a:off x="2782419" y="2477681"/>
              <a:ext cx="821862" cy="1290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457200" y="2657475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530352" y="2657475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분야별 업계 전문가 자문</a:t>
              </a: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194560" y="2657475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9899520" y="2657475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Rounded Rectangle 94"/>
            <p:cNvSpPr/>
            <p:nvPr/>
          </p:nvSpPr>
          <p:spPr>
            <a:xfrm>
              <a:off x="3067788" y="2708186"/>
              <a:ext cx="821862" cy="1290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457200" y="2887980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530352" y="2887980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자문위원회 개최(오프라인)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2194560" y="2887980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9899520" y="2887980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Rounded Rectangle 99"/>
            <p:cNvSpPr/>
            <p:nvPr/>
          </p:nvSpPr>
          <p:spPr>
            <a:xfrm>
              <a:off x="3353157" y="2938691"/>
              <a:ext cx="821862" cy="1290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457200" y="3118485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530352" y="3118485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적합성 검토(온라인)</a:t>
              </a: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2194560" y="3118485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9899520" y="3118485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Rounded Rectangle 104"/>
            <p:cNvSpPr/>
            <p:nvPr/>
          </p:nvSpPr>
          <p:spPr>
            <a:xfrm>
              <a:off x="3638526" y="3169196"/>
              <a:ext cx="821862" cy="1290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457200" y="3348989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530352" y="3348989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정량 검증 방안 수립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2194560" y="3348989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9899520" y="3348989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Rounded Rectangle 109"/>
            <p:cNvSpPr/>
            <p:nvPr/>
          </p:nvSpPr>
          <p:spPr>
            <a:xfrm>
              <a:off x="3923895" y="3399701"/>
              <a:ext cx="821862" cy="129082"/>
            </a:xfrm>
            <a:prstGeom prst="roundRect">
              <a:avLst/>
            </a:prstGeom>
            <a:solidFill>
              <a:srgbClr val="8F99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457200" y="3579494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530352" y="3579494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대상 정보 취합</a:t>
              </a: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2194560" y="3579494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9899520" y="3579494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Rounded Rectangle 114"/>
            <p:cNvSpPr/>
            <p:nvPr/>
          </p:nvSpPr>
          <p:spPr>
            <a:xfrm>
              <a:off x="4209264" y="3630206"/>
              <a:ext cx="821862" cy="129082"/>
            </a:xfrm>
            <a:prstGeom prst="roundRect">
              <a:avLst/>
            </a:prstGeom>
            <a:solidFill>
              <a:srgbClr val="8F99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457200" y="3809999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30352" y="3809999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1차 정량 검증 결과</a:t>
              </a: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2194560" y="3809999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9899520" y="3809999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Rounded Rectangle 119"/>
            <p:cNvSpPr/>
            <p:nvPr/>
          </p:nvSpPr>
          <p:spPr>
            <a:xfrm>
              <a:off x="4494633" y="3860711"/>
              <a:ext cx="821862" cy="129082"/>
            </a:xfrm>
            <a:prstGeom prst="roundRect">
              <a:avLst/>
            </a:prstGeom>
            <a:solidFill>
              <a:srgbClr val="8F99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457200" y="4040504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530352" y="4040504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신용도 조회</a:t>
              </a: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2194560" y="4040504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9899520" y="4040504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Rounded Rectangle 124"/>
            <p:cNvSpPr/>
            <p:nvPr/>
          </p:nvSpPr>
          <p:spPr>
            <a:xfrm>
              <a:off x="4780002" y="4091216"/>
              <a:ext cx="821862" cy="129082"/>
            </a:xfrm>
            <a:prstGeom prst="roundRect">
              <a:avLst/>
            </a:prstGeom>
            <a:solidFill>
              <a:srgbClr val="8F99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457200" y="4271009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530352" y="4271009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2차 검증 체크리스트</a:t>
              </a:r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2194560" y="4271009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9899520" y="4271009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Rounded Rectangle 129"/>
            <p:cNvSpPr/>
            <p:nvPr/>
          </p:nvSpPr>
          <p:spPr>
            <a:xfrm>
              <a:off x="5065371" y="4321721"/>
              <a:ext cx="821862" cy="129082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457200" y="4501514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530352" y="4501514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체크리스트 수집 결과</a:t>
              </a:r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2194560" y="4501514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9899520" y="4501514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Rounded Rectangle 134"/>
            <p:cNvSpPr/>
            <p:nvPr/>
          </p:nvSpPr>
          <p:spPr>
            <a:xfrm>
              <a:off x="5350739" y="4552226"/>
              <a:ext cx="821862" cy="129082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457200" y="4732019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530352" y="4732019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분류 기준 수립</a:t>
              </a:r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2194560" y="4732019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9899520" y="4732019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Rounded Rectangle 139"/>
            <p:cNvSpPr/>
            <p:nvPr/>
          </p:nvSpPr>
          <p:spPr>
            <a:xfrm>
              <a:off x="5636108" y="4782731"/>
              <a:ext cx="821862" cy="129082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457200" y="4962524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530352" y="4962524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분류 체계 개편</a:t>
              </a:r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2194560" y="4962524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9899520" y="4962524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Rounded Rectangle 144"/>
            <p:cNvSpPr/>
            <p:nvPr/>
          </p:nvSpPr>
          <p:spPr>
            <a:xfrm>
              <a:off x="5921477" y="5013236"/>
              <a:ext cx="821862" cy="129082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457200" y="5193029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530352" y="5193029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분류 체계 완성</a:t>
              </a:r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2194560" y="5193029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9899520" y="5193029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Rounded Rectangle 149"/>
            <p:cNvSpPr/>
            <p:nvPr/>
          </p:nvSpPr>
          <p:spPr>
            <a:xfrm>
              <a:off x="6206846" y="5243741"/>
              <a:ext cx="821862" cy="1290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457200" y="5423534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530352" y="5423534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활용 방안 마련</a:t>
              </a:r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2194560" y="5423534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9899520" y="5423534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Rounded Rectangle 154"/>
            <p:cNvSpPr/>
            <p:nvPr/>
          </p:nvSpPr>
          <p:spPr>
            <a:xfrm>
              <a:off x="6492215" y="5474246"/>
              <a:ext cx="821862" cy="1290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457200" y="5654039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530352" y="5654039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신규 항목 반영</a:t>
              </a:r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2194560" y="5654039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9899520" y="5654039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Rounded Rectangle 159"/>
            <p:cNvSpPr/>
            <p:nvPr/>
          </p:nvSpPr>
          <p:spPr>
            <a:xfrm>
              <a:off x="6777584" y="5704751"/>
              <a:ext cx="821862" cy="1290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457200" y="5884544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530352" y="5884544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활성화 방안 수립</a:t>
              </a:r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2194560" y="5884544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9899520" y="5884544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Rounded Rectangle 164"/>
            <p:cNvSpPr/>
            <p:nvPr/>
          </p:nvSpPr>
          <p:spPr>
            <a:xfrm>
              <a:off x="7062953" y="5935256"/>
              <a:ext cx="821862" cy="1290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457200" y="6115049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530352" y="6115049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개편 카테고리 반영</a:t>
              </a:r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2194560" y="6115049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9899520" y="6115049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Rounded Rectangle 169"/>
            <p:cNvSpPr/>
            <p:nvPr/>
          </p:nvSpPr>
          <p:spPr>
            <a:xfrm>
              <a:off x="7348322" y="6165761"/>
              <a:ext cx="821862" cy="12908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457200" y="6345554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530352" y="6345554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데이터베이스 반영</a:t>
              </a:r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2194560" y="6345554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9899520" y="6345554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Rounded Rectangle 174"/>
            <p:cNvSpPr/>
            <p:nvPr/>
          </p:nvSpPr>
          <p:spPr>
            <a:xfrm>
              <a:off x="7633691" y="6396266"/>
              <a:ext cx="821862" cy="129082"/>
            </a:xfrm>
            <a:prstGeom prst="roundRect">
              <a:avLst/>
            </a:prstGeom>
            <a:solidFill>
              <a:srgbClr val="8F99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457200" y="6576059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530352" y="6576059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운영 정책 기획(1)</a:t>
              </a:r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2194560" y="6576059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9899520" y="6576059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Rounded Rectangle 179"/>
            <p:cNvSpPr/>
            <p:nvPr/>
          </p:nvSpPr>
          <p:spPr>
            <a:xfrm>
              <a:off x="7919059" y="6626771"/>
              <a:ext cx="821862" cy="129082"/>
            </a:xfrm>
            <a:prstGeom prst="roundRect">
              <a:avLst/>
            </a:prstGeom>
            <a:solidFill>
              <a:srgbClr val="8F99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457200" y="6806564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530352" y="6806564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운영 정책 기획(2)</a:t>
              </a:r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2194560" y="6806564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9899520" y="6806564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Rounded Rectangle 184"/>
            <p:cNvSpPr/>
            <p:nvPr/>
          </p:nvSpPr>
          <p:spPr>
            <a:xfrm>
              <a:off x="8204428" y="6857276"/>
              <a:ext cx="821862" cy="129082"/>
            </a:xfrm>
            <a:prstGeom prst="roundRect">
              <a:avLst/>
            </a:prstGeom>
            <a:solidFill>
              <a:srgbClr val="8F99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457200" y="7037069"/>
              <a:ext cx="173736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530352" y="7037069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등급 제도 기획</a:t>
              </a: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2194560" y="7037069"/>
              <a:ext cx="7704960" cy="230504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9899520" y="7037069"/>
              <a:ext cx="640080" cy="230504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Rounded Rectangle 189"/>
            <p:cNvSpPr/>
            <p:nvPr/>
          </p:nvSpPr>
          <p:spPr>
            <a:xfrm>
              <a:off x="8489797" y="7087781"/>
              <a:ext cx="821862" cy="129082"/>
            </a:xfrm>
            <a:prstGeom prst="roundRect">
              <a:avLst/>
            </a:prstGeom>
            <a:solidFill>
              <a:srgbClr val="8F99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457200" y="7267574"/>
              <a:ext cx="173736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530352" y="7267574"/>
              <a:ext cx="1609343" cy="230504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인증마크 도입 기획</a:t>
              </a:r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2194560" y="7267574"/>
              <a:ext cx="7704960" cy="2305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9899520" y="7267574"/>
              <a:ext cx="640080" cy="230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Rounded Rectangle 194"/>
            <p:cNvSpPr/>
            <p:nvPr/>
          </p:nvSpPr>
          <p:spPr>
            <a:xfrm>
              <a:off x="8775166" y="7318286"/>
              <a:ext cx="821862" cy="129082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6" name="Connector 195"/>
            <p:cNvCxnSpPr/>
            <p:nvPr/>
          </p:nvCxnSpPr>
          <p:spPr>
            <a:xfrm>
              <a:off x="2194560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ctor 196"/>
            <p:cNvCxnSpPr/>
            <p:nvPr/>
          </p:nvCxnSpPr>
          <p:spPr>
            <a:xfrm>
              <a:off x="2479928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ctor 197"/>
            <p:cNvCxnSpPr/>
            <p:nvPr/>
          </p:nvCxnSpPr>
          <p:spPr>
            <a:xfrm>
              <a:off x="2765297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ctor 198"/>
            <p:cNvCxnSpPr/>
            <p:nvPr/>
          </p:nvCxnSpPr>
          <p:spPr>
            <a:xfrm>
              <a:off x="3050666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ctor 199"/>
            <p:cNvCxnSpPr/>
            <p:nvPr/>
          </p:nvCxnSpPr>
          <p:spPr>
            <a:xfrm>
              <a:off x="3336035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ctor 200"/>
            <p:cNvCxnSpPr/>
            <p:nvPr/>
          </p:nvCxnSpPr>
          <p:spPr>
            <a:xfrm>
              <a:off x="3621404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ctor 201"/>
            <p:cNvCxnSpPr/>
            <p:nvPr/>
          </p:nvCxnSpPr>
          <p:spPr>
            <a:xfrm>
              <a:off x="3906773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ctor 202"/>
            <p:cNvCxnSpPr/>
            <p:nvPr/>
          </p:nvCxnSpPr>
          <p:spPr>
            <a:xfrm>
              <a:off x="4192142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ctor 203"/>
            <p:cNvCxnSpPr/>
            <p:nvPr/>
          </p:nvCxnSpPr>
          <p:spPr>
            <a:xfrm>
              <a:off x="4477511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ctor 204"/>
            <p:cNvCxnSpPr/>
            <p:nvPr/>
          </p:nvCxnSpPr>
          <p:spPr>
            <a:xfrm>
              <a:off x="4762879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ctor 205"/>
            <p:cNvCxnSpPr/>
            <p:nvPr/>
          </p:nvCxnSpPr>
          <p:spPr>
            <a:xfrm>
              <a:off x="5048248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ctor 206"/>
            <p:cNvCxnSpPr/>
            <p:nvPr/>
          </p:nvCxnSpPr>
          <p:spPr>
            <a:xfrm>
              <a:off x="5333617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ctor 207"/>
            <p:cNvCxnSpPr/>
            <p:nvPr/>
          </p:nvCxnSpPr>
          <p:spPr>
            <a:xfrm>
              <a:off x="5618986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ctor 208"/>
            <p:cNvCxnSpPr/>
            <p:nvPr/>
          </p:nvCxnSpPr>
          <p:spPr>
            <a:xfrm>
              <a:off x="5904355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ctor 209"/>
            <p:cNvCxnSpPr/>
            <p:nvPr/>
          </p:nvCxnSpPr>
          <p:spPr>
            <a:xfrm>
              <a:off x="6189724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ctor 210"/>
            <p:cNvCxnSpPr/>
            <p:nvPr/>
          </p:nvCxnSpPr>
          <p:spPr>
            <a:xfrm>
              <a:off x="6475093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ctor 211"/>
            <p:cNvCxnSpPr/>
            <p:nvPr/>
          </p:nvCxnSpPr>
          <p:spPr>
            <a:xfrm>
              <a:off x="6760462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ctor 212"/>
            <p:cNvCxnSpPr/>
            <p:nvPr/>
          </p:nvCxnSpPr>
          <p:spPr>
            <a:xfrm>
              <a:off x="7045831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ctor 213"/>
            <p:cNvCxnSpPr/>
            <p:nvPr/>
          </p:nvCxnSpPr>
          <p:spPr>
            <a:xfrm>
              <a:off x="7331200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ctor 214"/>
            <p:cNvCxnSpPr/>
            <p:nvPr/>
          </p:nvCxnSpPr>
          <p:spPr>
            <a:xfrm>
              <a:off x="7616568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ctor 215"/>
            <p:cNvCxnSpPr/>
            <p:nvPr/>
          </p:nvCxnSpPr>
          <p:spPr>
            <a:xfrm>
              <a:off x="7901937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ctor 216"/>
            <p:cNvCxnSpPr/>
            <p:nvPr/>
          </p:nvCxnSpPr>
          <p:spPr>
            <a:xfrm>
              <a:off x="8187306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ctor 217"/>
            <p:cNvCxnSpPr/>
            <p:nvPr/>
          </p:nvCxnSpPr>
          <p:spPr>
            <a:xfrm>
              <a:off x="8472675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ctor 218"/>
            <p:cNvCxnSpPr/>
            <p:nvPr/>
          </p:nvCxnSpPr>
          <p:spPr>
            <a:xfrm>
              <a:off x="8758044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ctor 219"/>
            <p:cNvCxnSpPr/>
            <p:nvPr/>
          </p:nvCxnSpPr>
          <p:spPr>
            <a:xfrm>
              <a:off x="9043413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ctor 220"/>
            <p:cNvCxnSpPr/>
            <p:nvPr/>
          </p:nvCxnSpPr>
          <p:spPr>
            <a:xfrm>
              <a:off x="9328782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ctor 221"/>
            <p:cNvCxnSpPr/>
            <p:nvPr/>
          </p:nvCxnSpPr>
          <p:spPr>
            <a:xfrm>
              <a:off x="9614151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ctor 222"/>
            <p:cNvCxnSpPr/>
            <p:nvPr/>
          </p:nvCxnSpPr>
          <p:spPr>
            <a:xfrm>
              <a:off x="9899520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ctor 223"/>
            <p:cNvCxnSpPr/>
            <p:nvPr/>
          </p:nvCxnSpPr>
          <p:spPr>
            <a:xfrm>
              <a:off x="457200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ctor 224"/>
            <p:cNvCxnSpPr/>
            <p:nvPr/>
          </p:nvCxnSpPr>
          <p:spPr>
            <a:xfrm>
              <a:off x="10539600" y="1234440"/>
              <a:ext cx="0" cy="6263639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7" name="TextBox 226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TML-201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88" name="asset:TML-202"/>
          <p:cNvGrpSpPr/>
          <p:nvPr/>
        </p:nvGrpSpPr>
        <p:grpSpPr>
          <a:xfrm>
            <a:off x="457200" y="320040"/>
            <a:ext cx="10082400" cy="4297680"/>
            <a:chOff x="457200" y="320040"/>
            <a:chExt cx="10082400" cy="4297680"/>
          </a:xfrm>
        </p:grpSpPr>
        <p:sp>
          <p:nvSpPr>
            <p:cNvPr id="2" name="TextBox 1"/>
            <p:cNvSpPr txBox="1"/>
            <p:nvPr/>
          </p:nvSpPr>
          <p:spPr>
            <a:xfrm>
              <a:off x="457200" y="320040"/>
              <a:ext cx="99909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2E4692"/>
                  </a:solidFill>
                  <a:latin typeface="Pretendard GOV Black"/>
                  <a:ea typeface="Pretendard GOV Black"/>
                  <a:cs typeface="Pretendard GOV Black"/>
                </a:rPr>
                <a:t>gov 초대형 열 스케줄 그리드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57200" y="777240"/>
              <a:ext cx="999096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697591"/>
                  </a:solidFill>
                  <a:latin typeface="Pretendard GOV Light"/>
                  <a:ea typeface="Pretendard GOV Light"/>
                  <a:cs typeface="Pretendard GOV Light"/>
                </a:rPr>
                <a:t>2단 헤더(월 카테고리 7/23/21 비균등 gridSpan × 51리프 컬럼, slide6 실측 구조) · 리프=영업일 날짜(주말 스킵) · 세로회전(과밀 방지)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234440"/>
              <a:ext cx="1463040" cy="868680"/>
            </a:xfrm>
            <a:prstGeom prst="rect">
              <a:avLst/>
            </a:prstGeom>
            <a:solidFill>
              <a:srgbClr val="8F99AF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7200" y="1234440"/>
              <a:ext cx="146304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구분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20240" y="1234440"/>
              <a:ext cx="1183049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920240" y="1234440"/>
              <a:ext cx="1183049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6월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103289" y="1234440"/>
              <a:ext cx="3887162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03289" y="1234440"/>
              <a:ext cx="3887162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7월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990451" y="1234440"/>
              <a:ext cx="3549148" cy="365760"/>
            </a:xfrm>
            <a:prstGeom prst="rect">
              <a:avLst/>
            </a:prstGeom>
            <a:solidFill>
              <a:srgbClr val="76829E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990451" y="1234440"/>
              <a:ext cx="354914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 GOV ExtraBold"/>
                  <a:ea typeface="Pretendard GOV ExtraBold"/>
                  <a:cs typeface="Pretendard GOV ExtraBold"/>
                </a:rPr>
                <a:t>8월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20240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920240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22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089247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089247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23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258254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258254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24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427261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427261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25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596268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96268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26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765275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765275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29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934282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934282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30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103289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103289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72296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272296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441303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441303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610310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610310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6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779317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779317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7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948324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948324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8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117331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117331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9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286338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286338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10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455345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455345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13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624352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624352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14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793360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793360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15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962367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962367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16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131374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131374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17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300381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300381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20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5469388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469388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21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5638395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638395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22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807402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807402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23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976409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976409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24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145416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6145416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27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314423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314423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28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6483430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483430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29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6652437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652437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30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6821444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821444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31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6990451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990451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7159458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159458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4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7328465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328465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5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7497472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497472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6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7666480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666480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7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7835487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7835487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10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8004494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8004494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11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8173501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8173501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12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8342508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8342508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13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8511515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8511515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14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8680522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8680522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17</a:t>
              </a: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8849529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8849529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18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9018536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9018536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19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9187543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9187543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20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9356550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9356550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21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9525557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9525557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24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9694564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9694564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25</a:t>
              </a: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9863571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9863571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26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10032578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10032578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27</a:t>
              </a: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10201585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10201585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28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10370592" y="1600200"/>
              <a:ext cx="169007" cy="502920"/>
            </a:xfrm>
            <a:prstGeom prst="rect">
              <a:avLst/>
            </a:prstGeom>
            <a:solidFill>
              <a:srgbClr val="8F99AF"/>
            </a:solidFill>
            <a:ln w="63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10370592" y="1600200"/>
              <a:ext cx="169007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 vert="vert270">
              <a:spAutoFit/>
            </a:bodyPr>
            <a:lstStyle/>
            <a:p>
              <a:pPr algn="ctr"/>
              <a:r>
                <a:rPr sz="700" b="0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31</a:t>
              </a: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457200" y="2103120"/>
              <a:ext cx="1463040" cy="502920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530352" y="2103120"/>
              <a:ext cx="133502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사전 검토 및 실행 전략 수립</a:t>
              </a: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1920240" y="2103120"/>
              <a:ext cx="8619360" cy="50292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1930380" y="2213762"/>
              <a:ext cx="993761" cy="281635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457200" y="2606039"/>
              <a:ext cx="146304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30352" y="2606039"/>
              <a:ext cx="133502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1차 전문가 자문 실시</a:t>
              </a: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1920240" y="2606039"/>
              <a:ext cx="8619360" cy="502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Rounded Rectangle 120"/>
            <p:cNvSpPr/>
            <p:nvPr/>
          </p:nvSpPr>
          <p:spPr>
            <a:xfrm>
              <a:off x="2775415" y="2716682"/>
              <a:ext cx="993761" cy="281635"/>
            </a:xfrm>
            <a:prstGeom prst="round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457200" y="3108960"/>
              <a:ext cx="1463040" cy="502920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530352" y="3108960"/>
              <a:ext cx="133502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2차 전문가 자문 실시</a:t>
              </a:r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920240" y="3108960"/>
              <a:ext cx="8619360" cy="50292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Rounded Rectangle 124"/>
            <p:cNvSpPr/>
            <p:nvPr/>
          </p:nvSpPr>
          <p:spPr>
            <a:xfrm>
              <a:off x="3620451" y="3219602"/>
              <a:ext cx="993761" cy="281635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457200" y="3611880"/>
              <a:ext cx="1463040" cy="5029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530352" y="3611880"/>
              <a:ext cx="133502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자문위원회 개최(오프라인)</a:t>
              </a:r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1920240" y="3611880"/>
              <a:ext cx="8619360" cy="502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Rounded Rectangle 128"/>
            <p:cNvSpPr/>
            <p:nvPr/>
          </p:nvSpPr>
          <p:spPr>
            <a:xfrm>
              <a:off x="4465486" y="3722522"/>
              <a:ext cx="993761" cy="281635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457200" y="4114800"/>
              <a:ext cx="1463040" cy="502920"/>
            </a:xfrm>
            <a:prstGeom prst="rect">
              <a:avLst/>
            </a:prstGeom>
            <a:solidFill>
              <a:srgbClr val="E9EAF1"/>
            </a:solidFill>
            <a:ln w="9525">
              <a:solidFill>
                <a:srgbClr val="E9EA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530352" y="4114800"/>
              <a:ext cx="1335024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000000"/>
                  </a:solidFill>
                  <a:latin typeface="Pretendard GOV SemiBold"/>
                  <a:ea typeface="Pretendard GOV SemiBold"/>
                  <a:cs typeface="Pretendard GOV SemiBold"/>
                </a:rPr>
                <a:t>적합성 검토(온라인)</a:t>
              </a:r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1920240" y="4114800"/>
              <a:ext cx="8619360" cy="50292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Rounded Rectangle 132"/>
            <p:cNvSpPr/>
            <p:nvPr/>
          </p:nvSpPr>
          <p:spPr>
            <a:xfrm>
              <a:off x="5310521" y="4225442"/>
              <a:ext cx="993761" cy="281635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4" name="Connector 133"/>
            <p:cNvCxnSpPr/>
            <p:nvPr/>
          </p:nvCxnSpPr>
          <p:spPr>
            <a:xfrm>
              <a:off x="1920240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ctor 134"/>
            <p:cNvCxnSpPr/>
            <p:nvPr/>
          </p:nvCxnSpPr>
          <p:spPr>
            <a:xfrm>
              <a:off x="2089247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or 135"/>
            <p:cNvCxnSpPr/>
            <p:nvPr/>
          </p:nvCxnSpPr>
          <p:spPr>
            <a:xfrm>
              <a:off x="2258254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ctor 136"/>
            <p:cNvCxnSpPr/>
            <p:nvPr/>
          </p:nvCxnSpPr>
          <p:spPr>
            <a:xfrm>
              <a:off x="2427261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ctor 137"/>
            <p:cNvCxnSpPr/>
            <p:nvPr/>
          </p:nvCxnSpPr>
          <p:spPr>
            <a:xfrm>
              <a:off x="2596268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ctor 138"/>
            <p:cNvCxnSpPr/>
            <p:nvPr/>
          </p:nvCxnSpPr>
          <p:spPr>
            <a:xfrm>
              <a:off x="2765275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ctor 139"/>
            <p:cNvCxnSpPr/>
            <p:nvPr/>
          </p:nvCxnSpPr>
          <p:spPr>
            <a:xfrm>
              <a:off x="2934282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ctor 140"/>
            <p:cNvCxnSpPr/>
            <p:nvPr/>
          </p:nvCxnSpPr>
          <p:spPr>
            <a:xfrm>
              <a:off x="3103289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ctor 141"/>
            <p:cNvCxnSpPr/>
            <p:nvPr/>
          </p:nvCxnSpPr>
          <p:spPr>
            <a:xfrm>
              <a:off x="3272296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ctor 142"/>
            <p:cNvCxnSpPr/>
            <p:nvPr/>
          </p:nvCxnSpPr>
          <p:spPr>
            <a:xfrm>
              <a:off x="3441303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ctor 143"/>
            <p:cNvCxnSpPr/>
            <p:nvPr/>
          </p:nvCxnSpPr>
          <p:spPr>
            <a:xfrm>
              <a:off x="3610310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ctor 144"/>
            <p:cNvCxnSpPr/>
            <p:nvPr/>
          </p:nvCxnSpPr>
          <p:spPr>
            <a:xfrm>
              <a:off x="3779317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ctor 145"/>
            <p:cNvCxnSpPr/>
            <p:nvPr/>
          </p:nvCxnSpPr>
          <p:spPr>
            <a:xfrm>
              <a:off x="3948324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or 146"/>
            <p:cNvCxnSpPr/>
            <p:nvPr/>
          </p:nvCxnSpPr>
          <p:spPr>
            <a:xfrm>
              <a:off x="4117331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or 147"/>
            <p:cNvCxnSpPr/>
            <p:nvPr/>
          </p:nvCxnSpPr>
          <p:spPr>
            <a:xfrm>
              <a:off x="4286338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ctor 148"/>
            <p:cNvCxnSpPr/>
            <p:nvPr/>
          </p:nvCxnSpPr>
          <p:spPr>
            <a:xfrm>
              <a:off x="4455345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ctor 149"/>
            <p:cNvCxnSpPr/>
            <p:nvPr/>
          </p:nvCxnSpPr>
          <p:spPr>
            <a:xfrm>
              <a:off x="4624352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ctor 150"/>
            <p:cNvCxnSpPr/>
            <p:nvPr/>
          </p:nvCxnSpPr>
          <p:spPr>
            <a:xfrm>
              <a:off x="4793360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ctor 151"/>
            <p:cNvCxnSpPr/>
            <p:nvPr/>
          </p:nvCxnSpPr>
          <p:spPr>
            <a:xfrm>
              <a:off x="4962367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or 152"/>
            <p:cNvCxnSpPr/>
            <p:nvPr/>
          </p:nvCxnSpPr>
          <p:spPr>
            <a:xfrm>
              <a:off x="5131374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ctor 153"/>
            <p:cNvCxnSpPr/>
            <p:nvPr/>
          </p:nvCxnSpPr>
          <p:spPr>
            <a:xfrm>
              <a:off x="5300381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ctor 154"/>
            <p:cNvCxnSpPr/>
            <p:nvPr/>
          </p:nvCxnSpPr>
          <p:spPr>
            <a:xfrm>
              <a:off x="5469388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or 155"/>
            <p:cNvCxnSpPr/>
            <p:nvPr/>
          </p:nvCxnSpPr>
          <p:spPr>
            <a:xfrm>
              <a:off x="5638395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or 156"/>
            <p:cNvCxnSpPr/>
            <p:nvPr/>
          </p:nvCxnSpPr>
          <p:spPr>
            <a:xfrm>
              <a:off x="5807402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or 157"/>
            <p:cNvCxnSpPr/>
            <p:nvPr/>
          </p:nvCxnSpPr>
          <p:spPr>
            <a:xfrm>
              <a:off x="5976409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ctor 158"/>
            <p:cNvCxnSpPr/>
            <p:nvPr/>
          </p:nvCxnSpPr>
          <p:spPr>
            <a:xfrm>
              <a:off x="6145416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or 159"/>
            <p:cNvCxnSpPr/>
            <p:nvPr/>
          </p:nvCxnSpPr>
          <p:spPr>
            <a:xfrm>
              <a:off x="6314423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ctor 160"/>
            <p:cNvCxnSpPr/>
            <p:nvPr/>
          </p:nvCxnSpPr>
          <p:spPr>
            <a:xfrm>
              <a:off x="6483430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ctor 161"/>
            <p:cNvCxnSpPr/>
            <p:nvPr/>
          </p:nvCxnSpPr>
          <p:spPr>
            <a:xfrm>
              <a:off x="6652437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ctor 162"/>
            <p:cNvCxnSpPr/>
            <p:nvPr/>
          </p:nvCxnSpPr>
          <p:spPr>
            <a:xfrm>
              <a:off x="6821444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ctor 163"/>
            <p:cNvCxnSpPr/>
            <p:nvPr/>
          </p:nvCxnSpPr>
          <p:spPr>
            <a:xfrm>
              <a:off x="6990451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ctor 164"/>
            <p:cNvCxnSpPr/>
            <p:nvPr/>
          </p:nvCxnSpPr>
          <p:spPr>
            <a:xfrm>
              <a:off x="7159458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ctor 165"/>
            <p:cNvCxnSpPr/>
            <p:nvPr/>
          </p:nvCxnSpPr>
          <p:spPr>
            <a:xfrm>
              <a:off x="7328465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ctor 166"/>
            <p:cNvCxnSpPr/>
            <p:nvPr/>
          </p:nvCxnSpPr>
          <p:spPr>
            <a:xfrm>
              <a:off x="7497472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ctor 167"/>
            <p:cNvCxnSpPr/>
            <p:nvPr/>
          </p:nvCxnSpPr>
          <p:spPr>
            <a:xfrm>
              <a:off x="7666480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ctor 168"/>
            <p:cNvCxnSpPr/>
            <p:nvPr/>
          </p:nvCxnSpPr>
          <p:spPr>
            <a:xfrm>
              <a:off x="7835487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ctor 169"/>
            <p:cNvCxnSpPr/>
            <p:nvPr/>
          </p:nvCxnSpPr>
          <p:spPr>
            <a:xfrm>
              <a:off x="8004494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ctor 170"/>
            <p:cNvCxnSpPr/>
            <p:nvPr/>
          </p:nvCxnSpPr>
          <p:spPr>
            <a:xfrm>
              <a:off x="8173501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ctor 171"/>
            <p:cNvCxnSpPr/>
            <p:nvPr/>
          </p:nvCxnSpPr>
          <p:spPr>
            <a:xfrm>
              <a:off x="8342508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ctor 172"/>
            <p:cNvCxnSpPr/>
            <p:nvPr/>
          </p:nvCxnSpPr>
          <p:spPr>
            <a:xfrm>
              <a:off x="8511515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ctor 173"/>
            <p:cNvCxnSpPr/>
            <p:nvPr/>
          </p:nvCxnSpPr>
          <p:spPr>
            <a:xfrm>
              <a:off x="8680522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ctor 174"/>
            <p:cNvCxnSpPr/>
            <p:nvPr/>
          </p:nvCxnSpPr>
          <p:spPr>
            <a:xfrm>
              <a:off x="8849529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ctor 175"/>
            <p:cNvCxnSpPr/>
            <p:nvPr/>
          </p:nvCxnSpPr>
          <p:spPr>
            <a:xfrm>
              <a:off x="9018536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ctor 176"/>
            <p:cNvCxnSpPr/>
            <p:nvPr/>
          </p:nvCxnSpPr>
          <p:spPr>
            <a:xfrm>
              <a:off x="9187543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ctor 177"/>
            <p:cNvCxnSpPr/>
            <p:nvPr/>
          </p:nvCxnSpPr>
          <p:spPr>
            <a:xfrm>
              <a:off x="9356550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ctor 178"/>
            <p:cNvCxnSpPr/>
            <p:nvPr/>
          </p:nvCxnSpPr>
          <p:spPr>
            <a:xfrm>
              <a:off x="9525557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ctor 179"/>
            <p:cNvCxnSpPr/>
            <p:nvPr/>
          </p:nvCxnSpPr>
          <p:spPr>
            <a:xfrm>
              <a:off x="9694564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ctor 180"/>
            <p:cNvCxnSpPr/>
            <p:nvPr/>
          </p:nvCxnSpPr>
          <p:spPr>
            <a:xfrm>
              <a:off x="9863571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ctor 181"/>
            <p:cNvCxnSpPr/>
            <p:nvPr/>
          </p:nvCxnSpPr>
          <p:spPr>
            <a:xfrm>
              <a:off x="10032578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ctor 182"/>
            <p:cNvCxnSpPr/>
            <p:nvPr/>
          </p:nvCxnSpPr>
          <p:spPr>
            <a:xfrm>
              <a:off x="10201585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ctor 183"/>
            <p:cNvCxnSpPr/>
            <p:nvPr/>
          </p:nvCxnSpPr>
          <p:spPr>
            <a:xfrm>
              <a:off x="10370592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ctor 184"/>
            <p:cNvCxnSpPr/>
            <p:nvPr/>
          </p:nvCxnSpPr>
          <p:spPr>
            <a:xfrm>
              <a:off x="10539600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ctor 185"/>
            <p:cNvCxnSpPr/>
            <p:nvPr/>
          </p:nvCxnSpPr>
          <p:spPr>
            <a:xfrm>
              <a:off x="457200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ctor 186"/>
            <p:cNvCxnSpPr/>
            <p:nvPr/>
          </p:nvCxnSpPr>
          <p:spPr>
            <a:xfrm>
              <a:off x="10539600" y="1234440"/>
              <a:ext cx="0" cy="3383280"/>
            </a:xfrm>
            <a:prstGeom prst="line">
              <a:avLst/>
            </a:prstGeom>
            <a:ln w="6350">
              <a:solidFill>
                <a:srgbClr val="E9EA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9" name="TextBox 188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TML-202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