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TML-003</a:t>
            </a:r>
          </a:p>
        </p:txBody>
      </p:sp>
      <p:grpSp>
        <p:nvGrpSpPr>
          <p:cNvPr id="43" name="asset:TML-003"/>
          <p:cNvGrpSpPr/>
          <p:nvPr/>
        </p:nvGrpSpPr>
        <p:grpSpPr>
          <a:xfrm>
            <a:off x="502920" y="475488"/>
            <a:ext cx="11155680" cy="5330952"/>
            <a:chOff x="502920" y="475488"/>
            <a:chExt cx="11155680" cy="533095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단계별 로드맵 (4단계 화살표)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1~4단계 화살표 밴드와 단계별 산출물 불릿</a:t>
              </a:r>
            </a:p>
          </p:txBody>
        </p:sp>
        <p:sp>
          <p:nvSpPr>
            <p:cNvPr id="5" name="TML-003_bg"/>
            <p:cNvSpPr/>
            <p:nvPr/>
          </p:nvSpPr>
          <p:spPr>
            <a:xfrm>
              <a:off x="960120" y="1508760"/>
              <a:ext cx="10241280" cy="42976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005840" y="2651760"/>
              <a:ext cx="10149840" cy="0"/>
            </a:xfrm>
            <a:prstGeom prst="line">
              <a:avLst/>
            </a:prstGeom>
            <a:ln w="190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hevron 6"/>
            <p:cNvSpPr/>
            <p:nvPr/>
          </p:nvSpPr>
          <p:spPr>
            <a:xfrm>
              <a:off x="1005840" y="1554480"/>
              <a:ext cx="2455164" cy="10058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05840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170432" y="3337560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53312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170432" y="384962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353312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170432" y="4361688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353312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요구사항 정의서</a:t>
              </a:r>
            </a:p>
          </p:txBody>
        </p:sp>
        <p:sp>
          <p:nvSpPr>
            <p:cNvPr id="16" name="Chevron 15"/>
            <p:cNvSpPr/>
            <p:nvPr/>
          </p:nvSpPr>
          <p:spPr>
            <a:xfrm>
              <a:off x="3570732" y="1554480"/>
              <a:ext cx="2455164" cy="10058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570732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643884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735324" y="3337560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18204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35324" y="384962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18204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 설계서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3735324" y="4361688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918204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화면 정의서</a:t>
              </a:r>
            </a:p>
          </p:txBody>
        </p:sp>
        <p:sp>
          <p:nvSpPr>
            <p:cNvPr id="25" name="Chevron 24"/>
            <p:cNvSpPr/>
            <p:nvPr/>
          </p:nvSpPr>
          <p:spPr>
            <a:xfrm>
              <a:off x="6135624" y="1554480"/>
              <a:ext cx="2455164" cy="10058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135624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208776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300216" y="3337560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83096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 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300216" y="384962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83096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단위 시험 결과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6300216" y="4361688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83096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</a:t>
              </a:r>
            </a:p>
          </p:txBody>
        </p:sp>
        <p:sp>
          <p:nvSpPr>
            <p:cNvPr id="34" name="Pentagon 33"/>
            <p:cNvSpPr/>
            <p:nvPr/>
          </p:nvSpPr>
          <p:spPr>
            <a:xfrm>
              <a:off x="8700516" y="1554480"/>
              <a:ext cx="2455164" cy="1005840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시험·안정화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8700516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773668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8865108" y="3337560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047988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시험서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8865108" y="384962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047988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안정화 보고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8865108" y="4361688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9047988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TML-004</a:t>
            </a:r>
          </a:p>
        </p:txBody>
      </p:sp>
      <p:grpSp>
        <p:nvGrpSpPr>
          <p:cNvPr id="27" name="asset:TML-004"/>
          <p:cNvGrpSpPr/>
          <p:nvPr/>
        </p:nvGrpSpPr>
        <p:grpSpPr>
          <a:xfrm>
            <a:off x="502920" y="475488"/>
            <a:ext cx="11155680" cy="5468112"/>
            <a:chOff x="502920" y="475488"/>
            <a:chExt cx="11155680" cy="54681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분기별 로드맵 (Q1~Q4)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분기 컬럼별 주제와 활동 카드 스택</a:t>
              </a:r>
            </a:p>
          </p:txBody>
        </p:sp>
        <p:sp>
          <p:nvSpPr>
            <p:cNvPr id="5" name="TML-004_bg"/>
            <p:cNvSpPr/>
            <p:nvPr/>
          </p:nvSpPr>
          <p:spPr>
            <a:xfrm>
              <a:off x="960120" y="1508760"/>
              <a:ext cx="10241280" cy="44348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005840" y="5943600"/>
              <a:ext cx="10149840" cy="0"/>
            </a:xfrm>
            <a:prstGeom prst="line">
              <a:avLst/>
            </a:prstGeom>
            <a:ln w="190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ound Same Side Corner Rectangle 6"/>
            <p:cNvSpPr/>
            <p:nvPr/>
          </p:nvSpPr>
          <p:spPr>
            <a:xfrm>
              <a:off x="1005840" y="1554480"/>
              <a:ext cx="2366010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05840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착수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170432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170432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 정의</a:t>
              </a:r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600450" y="1554480"/>
              <a:ext cx="2366010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600450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65041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설계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65041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 설계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765041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프로토타입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195060" y="1554480"/>
              <a:ext cx="2366010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95060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59652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개발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359652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단위 시험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359652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</a:t>
              </a:r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8789669" y="1554480"/>
              <a:ext cx="2366010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789669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954261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시험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54261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안정화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54261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TML-007</a:t>
            </a:r>
          </a:p>
        </p:txBody>
      </p:sp>
      <p:grpSp>
        <p:nvGrpSpPr>
          <p:cNvPr id="25" name="asset:TML-007"/>
          <p:cNvGrpSpPr/>
          <p:nvPr/>
        </p:nvGrpSpPr>
        <p:grpSpPr>
          <a:xfrm>
            <a:off x="502920" y="475488"/>
            <a:ext cx="11155680" cy="5376671"/>
            <a:chOff x="502920" y="475488"/>
            <a:chExt cx="11155680" cy="537667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연차별 발전 로드맵 (계단 상승형)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연차가 오를수록 계단이 상승하는 성장 로드맵</a:t>
              </a:r>
            </a:p>
          </p:txBody>
        </p:sp>
        <p:sp>
          <p:nvSpPr>
            <p:cNvPr id="5" name="TML-007_bg"/>
            <p:cNvSpPr/>
            <p:nvPr/>
          </p:nvSpPr>
          <p:spPr>
            <a:xfrm>
              <a:off x="1005839" y="1554480"/>
              <a:ext cx="10287000" cy="4297679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51560" y="4526279"/>
              <a:ext cx="3264408" cy="1280160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1051560" y="4526279"/>
              <a:ext cx="3264408" cy="62179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1년차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43000" y="5202936"/>
              <a:ext cx="3081528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기반 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17136" y="3063239"/>
              <a:ext cx="3264408" cy="2743200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17136" y="3063239"/>
              <a:ext cx="3264408" cy="62179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2년차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608576" y="3739896"/>
              <a:ext cx="3081528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확산·고도화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700016" y="4206240"/>
              <a:ext cx="82296" cy="822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864608" y="407822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확대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700016" y="4663440"/>
              <a:ext cx="82296" cy="822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64608" y="453542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고도화 개발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4206240" y="3063239"/>
              <a:ext cx="420624" cy="1463040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7982712" y="1600200"/>
              <a:ext cx="3264408" cy="4206240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7982712" y="1600200"/>
              <a:ext cx="3264408" cy="62179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3년차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74152" y="2276856"/>
              <a:ext cx="3081528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고도화·성과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8165592" y="2743200"/>
              <a:ext cx="82296" cy="822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330184" y="261518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전면 확산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165592" y="3200400"/>
              <a:ext cx="82296" cy="822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330184" y="307238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 창출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7671816" y="1600200"/>
              <a:ext cx="420624" cy="1463039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추진일정 요약 (단계·활동·산출물)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추진 단계별 주요 활동과 산출물을 3열로 매핑</a:t>
            </a:r>
          </a:p>
        </p:txBody>
      </p:sp>
      <p:graphicFrame>
        <p:nvGraphicFramePr>
          <p:cNvPr id="5" name="asset:TML-008"/>
          <p:cNvGraphicFramePr>
            <a:graphicFrameLocks noGrp="1"/>
          </p:cNvGraphicFramePr>
          <p:nvPr/>
        </p:nvGraphicFramePr>
        <p:xfrm>
          <a:off x="1005840" y="1554480"/>
          <a:ext cx="10149840" cy="4498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4663440"/>
                <a:gridCol w="2834640"/>
              </a:tblGrid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단계</a:t>
                      </a:r>
                    </a:p>
                  </a:txBody>
                  <a:tcPr anchor="ctr" marL="76200" marR="762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76200" marR="762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76200" marR="76200" marT="38100" marB="38100">
                    <a:solidFill>
                      <a:srgbClr val="1F3864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 착수·분석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착수보고 · 현황 분석 · 요구사항 정의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정의서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 설계</a:t>
                      </a:r>
                    </a:p>
                  </a:txBody>
                  <a:tcPr anchor="ctr" marL="76200" marR="762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기본·상세 설계 · 화면 정의</a:t>
                      </a:r>
                    </a:p>
                  </a:txBody>
                  <a:tcPr anchor="ctr" marL="76200" marR="762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설계서 일체</a:t>
                      </a:r>
                    </a:p>
                  </a:txBody>
                  <a:tcPr anchor="ctr" marL="76200" marR="76200" marT="38100" marB="38100">
                    <a:solidFill>
                      <a:srgbClr val="F2F2F2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 구축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개발 · 단위 시험 · 중간보고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 산출물 · 중간보고서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 시험·안정화</a:t>
                      </a:r>
                    </a:p>
                  </a:txBody>
                  <a:tcPr anchor="ctr" marL="76200" marR="762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시험 · 안정화 · 이관 교육</a:t>
                      </a:r>
                    </a:p>
                  </a:txBody>
                  <a:tcPr anchor="ctr" marL="76200" marR="762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시험 결과서 · 안정화 보고</a:t>
                      </a:r>
                    </a:p>
                  </a:txBody>
                  <a:tcPr anchor="ctr" marL="76200" marR="76200" marT="38100" marB="38100">
                    <a:solidFill>
                      <a:srgbClr val="F2F2F2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 최종납품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최종 검수 · 완료보고 · 산출물 이관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완료보고서 · 최종산출물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1005840" y="1554480"/>
            <a:ext cx="0" cy="4498848"/>
          </a:xfrm>
          <a:prstGeom prst="line">
            <a:avLst/>
          </a:prstGeom>
          <a:ln w="31750">
            <a:solidFill>
              <a:srgbClr val="2E75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