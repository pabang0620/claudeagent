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TML-009</a:t>
            </a:r>
          </a:p>
        </p:txBody>
      </p:sp>
      <p:grpSp>
        <p:nvGrpSpPr>
          <p:cNvPr id="40" name="asset:TML-009"/>
          <p:cNvGrpSpPr/>
          <p:nvPr/>
        </p:nvGrpSpPr>
        <p:grpSpPr>
          <a:xfrm>
            <a:off x="502920" y="475488"/>
            <a:ext cx="11155680" cy="5742432"/>
            <a:chOff x="502920" y="475488"/>
            <a:chExt cx="11155680" cy="57424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스윔레인 타임라인 (3 레인 × 기간)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레인별 가로 트랙에 기간을 걸친 활동 막대를 배치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60020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레인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32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4528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4736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5152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53600" y="1600200"/>
              <a:ext cx="14020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145280" y="2148840"/>
              <a:ext cx="0" cy="40690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5547360" y="2148840"/>
              <a:ext cx="0" cy="40690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949440" y="2148840"/>
              <a:ext cx="0" cy="40690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8351520" y="2148840"/>
              <a:ext cx="0" cy="40690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9753600" y="2148840"/>
              <a:ext cx="0" cy="4069080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/>
            <p:cNvSpPr/>
            <p:nvPr/>
          </p:nvSpPr>
          <p:spPr>
            <a:xfrm>
              <a:off x="1005840" y="2148840"/>
              <a:ext cx="1737360" cy="12344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7280" y="2148840"/>
              <a:ext cx="1554480" cy="12344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43200" y="2148840"/>
              <a:ext cx="8412480" cy="12344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6352" y="2445105"/>
              <a:ext cx="2657855" cy="641908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 분석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5620512" y="2445105"/>
              <a:ext cx="1255776" cy="641908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과제 정의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05840" y="3566160"/>
              <a:ext cx="1737360" cy="12344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97280" y="3566160"/>
              <a:ext cx="1554480" cy="12344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구축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743200" y="3566160"/>
              <a:ext cx="8412480" cy="12344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218432" y="3862425"/>
              <a:ext cx="2657855" cy="64190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아키텍처 설계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022592" y="3862425"/>
              <a:ext cx="2657855" cy="64190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시스템 개발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9826752" y="3862425"/>
              <a:ext cx="1255776" cy="641908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시험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005840" y="4983480"/>
              <a:ext cx="1737360" cy="12344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97280" y="4983480"/>
              <a:ext cx="1554480" cy="12344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운영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743200" y="4983480"/>
              <a:ext cx="8412480" cy="12344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8424672" y="5279745"/>
              <a:ext cx="1255776" cy="641908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시범 운영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9826752" y="5279745"/>
              <a:ext cx="1255776" cy="641908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정식 운영·이관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TML-010</a:t>
            </a:r>
          </a:p>
        </p:txBody>
      </p:sp>
      <p:grpSp>
        <p:nvGrpSpPr>
          <p:cNvPr id="30" name="asset:TML-010"/>
          <p:cNvGrpSpPr/>
          <p:nvPr/>
        </p:nvGrpSpPr>
        <p:grpSpPr>
          <a:xfrm>
            <a:off x="502920" y="475488"/>
            <a:ext cx="11155680" cy="5285232"/>
            <a:chOff x="502920" y="475488"/>
            <a:chExt cx="11155680" cy="528523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마일스톤 카드 로우 (상단 점 연결)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상단 연결선과 마일스톤 점에 카드 4개를 매다는 형태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140839" y="1828800"/>
              <a:ext cx="7907274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2021967" y="1709928"/>
              <a:ext cx="237744" cy="237744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140839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1005840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660779" y="2514600"/>
              <a:ext cx="960120" cy="36576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33856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착수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52144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착수보고 · 추진체계 확정 · 킥오프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657725" y="1709928"/>
              <a:ext cx="237744" cy="237744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776597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3641598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296537" y="2514600"/>
              <a:ext cx="960120" cy="365760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69613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완료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787902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기본·상세 설계 확정 · 화면 정의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293482" y="1709928"/>
              <a:ext cx="237744" cy="237744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412354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6277356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932295" y="2514600"/>
              <a:ext cx="960120" cy="36576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05372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중간보고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23660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개발 · 단위 시험 완료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9929240" y="1709928"/>
              <a:ext cx="237744" cy="237744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10048113" y="1947672"/>
              <a:ext cx="0" cy="384048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8913113" y="2331720"/>
              <a:ext cx="2269998" cy="342900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568053" y="2514600"/>
              <a:ext cx="960120" cy="36576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M6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41130" y="2990087"/>
              <a:ext cx="2013965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최종납품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59417" y="3502152"/>
              <a:ext cx="1977390" cy="21031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ctr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통합 시험 · 안정화 · 산출물 이관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TML-013</a:t>
            </a:r>
          </a:p>
        </p:txBody>
      </p:sp>
      <p:grpSp>
        <p:nvGrpSpPr>
          <p:cNvPr id="30" name="asset:TML-013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(좌 시간축 + 우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1999106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2053970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20027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72021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75079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140839"/>
              <a:ext cx="758952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 · 요구사항 정의 · 착수보고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3199257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3254121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340042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292036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2975229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340989"/>
              <a:ext cx="758952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기본·상세 설계 · 화면/데이터 정의서 작성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4399407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4454271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460057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4120514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417537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4541139"/>
              <a:ext cx="758952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시스템 개발 · 단위 시험 · 중간보고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88719" y="5599557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642615" y="5654421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935224" y="580072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3291839" y="532066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74720" y="537552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시험·안정화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74720" y="5741289"/>
              <a:ext cx="7589520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통합 시험 · 안정화 · 이관 교육 · 최종납품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TML-014</a:t>
            </a:r>
          </a:p>
        </p:txBody>
      </p:sp>
      <p:grpSp>
        <p:nvGrpSpPr>
          <p:cNvPr id="54" name="asset:TML-014"/>
          <p:cNvGrpSpPr/>
          <p:nvPr/>
        </p:nvGrpSpPr>
        <p:grpSpPr>
          <a:xfrm>
            <a:off x="502920" y="475488"/>
            <a:ext cx="11155680" cy="4590288"/>
            <a:chOff x="502920" y="475488"/>
            <a:chExt cx="11155680" cy="459028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간트 v2 (색 구분 다중 트랙)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트랙별 다색 세그먼트로 병행 작업을 구분하고 범례 제공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54480"/>
              <a:ext cx="228600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트랙 / 기간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918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1분기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248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2분기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91312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3분기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2376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4분기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3440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5분기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solidFill>
              <a:srgbClr val="2A4A7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845040" y="1554480"/>
              <a:ext cx="1310640" cy="43891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6분기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29184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60248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591312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22376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853440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984504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11155680" y="1993391"/>
              <a:ext cx="0" cy="2560321"/>
            </a:xfrm>
            <a:prstGeom prst="line">
              <a:avLst/>
            </a:prstGeom>
            <a:ln w="9525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1005840" y="199339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" y="199339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기획·분석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91840" y="199339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46704" y="2147011"/>
              <a:ext cx="251155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요구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967984" y="2147011"/>
              <a:ext cx="1200912" cy="332841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정의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05840" y="2633472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15568" y="2633472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291840" y="2633472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4657344" y="2787091"/>
              <a:ext cx="120091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기본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967984" y="2787091"/>
              <a:ext cx="2511552" cy="332841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상세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5840" y="3273551"/>
              <a:ext cx="2286000" cy="6400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115568" y="327355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91840" y="3273551"/>
              <a:ext cx="7863840" cy="6400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967984" y="3427171"/>
              <a:ext cx="251155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코어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8589264" y="3427171"/>
              <a:ext cx="1200912" cy="332841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확장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05840" y="3913631"/>
              <a:ext cx="2286000" cy="6400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15568" y="3913631"/>
              <a:ext cx="2103120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시험·이관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291840" y="3913631"/>
              <a:ext cx="7863840" cy="6400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589264" y="4067251"/>
              <a:ext cx="120091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99904" y="4067251"/>
              <a:ext cx="1200912" cy="332841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안정화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1005840" y="4754879"/>
              <a:ext cx="256032" cy="256032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335024" y="4700016"/>
              <a:ext cx="21945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기획·분석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2770632" y="4754879"/>
              <a:ext cx="256032" cy="25603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099816" y="4700016"/>
              <a:ext cx="21945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4096512" y="4754879"/>
              <a:ext cx="256032" cy="256032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425696" y="4700016"/>
              <a:ext cx="21945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개발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5422392" y="4754879"/>
              <a:ext cx="256032" cy="256032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751576" y="4700016"/>
              <a:ext cx="219456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시험·이관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