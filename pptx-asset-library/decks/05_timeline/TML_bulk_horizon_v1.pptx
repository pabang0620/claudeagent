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TML-026</a:t>
            </a:r>
          </a:p>
        </p:txBody>
      </p:sp>
      <p:grpSp>
        <p:nvGrpSpPr>
          <p:cNvPr id="20" name="asset:TML-026"/>
          <p:cNvGrpSpPr/>
          <p:nvPr/>
        </p:nvGrpSpPr>
        <p:grpSpPr>
          <a:xfrm>
            <a:off x="502920" y="475488"/>
            <a:ext cx="11155680" cy="5650992"/>
            <a:chOff x="502920" y="475488"/>
            <a:chExt cx="11155680" cy="56509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우선순위 호라이즌 로드맵 (3 구간)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우선순위 기반 구간(Now/Next/Later…) 로드맵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1005840" y="1600200"/>
              <a:ext cx="3179064" cy="86868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Now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추진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2468880"/>
              <a:ext cx="3179064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70432" y="2651760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432" y="3493008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170432" y="4334256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4504944" y="1600200"/>
              <a:ext cx="3179064" cy="86868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Next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다음 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504944" y="2468880"/>
              <a:ext cx="3179064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669536" y="2651760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669536" y="3493008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669536" y="4334256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5" name="Round Same Side Corner Rectangle 14"/>
            <p:cNvSpPr/>
            <p:nvPr/>
          </p:nvSpPr>
          <p:spPr>
            <a:xfrm>
              <a:off x="8004048" y="1600200"/>
              <a:ext cx="3179064" cy="86868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Later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향후 과제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004048" y="2468880"/>
              <a:ext cx="3179064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168640" y="2651760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168640" y="3493008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168640" y="4334256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TML-038</a:t>
            </a:r>
          </a:p>
        </p:txBody>
      </p:sp>
      <p:grpSp>
        <p:nvGrpSpPr>
          <p:cNvPr id="25" name="asset:TML-038"/>
          <p:cNvGrpSpPr/>
          <p:nvPr/>
        </p:nvGrpSpPr>
        <p:grpSpPr>
          <a:xfrm>
            <a:off x="502920" y="475488"/>
            <a:ext cx="11155680" cy="5650992"/>
            <a:chOff x="502920" y="475488"/>
            <a:chExt cx="11155680" cy="56509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우선순위 호라이즌 로드맵 (4 구간)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우선순위 기반 구간(Now/Next/Later…) 로드맵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1005840" y="1600200"/>
              <a:ext cx="2304288" cy="86868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Now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추진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2468880"/>
              <a:ext cx="2304288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70432" y="2651760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432" y="3493008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170432" y="4334256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3630168" y="1600200"/>
              <a:ext cx="2304288" cy="86868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Next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다음 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630168" y="2468880"/>
              <a:ext cx="2304288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794760" y="2651760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94760" y="3493008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94760" y="4334256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5" name="Round Same Side Corner Rectangle 14"/>
            <p:cNvSpPr/>
            <p:nvPr/>
          </p:nvSpPr>
          <p:spPr>
            <a:xfrm>
              <a:off x="6254496" y="1600200"/>
              <a:ext cx="2304288" cy="86868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Later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향후 과제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254496" y="2468880"/>
              <a:ext cx="2304288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419088" y="2651760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419088" y="3493008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419088" y="4334256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0" name="Round Same Side Corner Rectangle 19"/>
            <p:cNvSpPr/>
            <p:nvPr/>
          </p:nvSpPr>
          <p:spPr>
            <a:xfrm>
              <a:off x="8878824" y="1600200"/>
              <a:ext cx="2304288" cy="8686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Future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 과제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878824" y="2468880"/>
              <a:ext cx="2304288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043416" y="2651760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043416" y="3493008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043416" y="4334256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최적화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TML-050</a:t>
            </a:r>
          </a:p>
        </p:txBody>
      </p:sp>
      <p:grpSp>
        <p:nvGrpSpPr>
          <p:cNvPr id="25" name="asset:TML-050"/>
          <p:cNvGrpSpPr/>
          <p:nvPr/>
        </p:nvGrpSpPr>
        <p:grpSpPr>
          <a:xfrm>
            <a:off x="502920" y="475488"/>
            <a:ext cx="11155680" cy="5650992"/>
            <a:chOff x="502920" y="475488"/>
            <a:chExt cx="11155680" cy="56509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우선순위 호라이즌 로드맵 (5 구간)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우선순위 기반 구간(Now/Next/Later…) 로드맵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1005840" y="1600200"/>
              <a:ext cx="1859889" cy="86868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Now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추진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70432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432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9" name="Round Same Side Corner Rectangle 8"/>
            <p:cNvSpPr/>
            <p:nvPr/>
          </p:nvSpPr>
          <p:spPr>
            <a:xfrm>
              <a:off x="3085185" y="1600200"/>
              <a:ext cx="1859889" cy="86868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Next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다음 단계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85185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249777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249777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3" name="Round Same Side Corner Rectangle 12"/>
            <p:cNvSpPr/>
            <p:nvPr/>
          </p:nvSpPr>
          <p:spPr>
            <a:xfrm>
              <a:off x="5164531" y="1600200"/>
              <a:ext cx="1859889" cy="86868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Later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향후 과제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164531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329123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329123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7" name="Round Same Side Corner Rectangle 16"/>
            <p:cNvSpPr/>
            <p:nvPr/>
          </p:nvSpPr>
          <p:spPr>
            <a:xfrm>
              <a:off x="7243876" y="1600200"/>
              <a:ext cx="1859889" cy="8686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Future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 과제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243876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408468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408468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1" name="Round Same Side Corner Rectangle 20"/>
            <p:cNvSpPr/>
            <p:nvPr/>
          </p:nvSpPr>
          <p:spPr>
            <a:xfrm>
              <a:off x="9323222" y="1600200"/>
              <a:ext cx="1859889" cy="86868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Vision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비전 과제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323222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487814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487814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최적화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TML-062</a:t>
            </a:r>
          </a:p>
        </p:txBody>
      </p:sp>
      <p:grpSp>
        <p:nvGrpSpPr>
          <p:cNvPr id="29" name="asset:TML-062"/>
          <p:cNvGrpSpPr/>
          <p:nvPr/>
        </p:nvGrpSpPr>
        <p:grpSpPr>
          <a:xfrm>
            <a:off x="502920" y="475488"/>
            <a:ext cx="11155680" cy="5650992"/>
            <a:chOff x="502920" y="475488"/>
            <a:chExt cx="11155680" cy="56509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우선순위 호라이즌 로드맵 (6 구간)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우선순위 기반 구간(Now/Next/Later…) 로드맵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1005840" y="1600200"/>
              <a:ext cx="1513332" cy="86868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Now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추진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70432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432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9" name="Round Same Side Corner Rectangle 8"/>
            <p:cNvSpPr/>
            <p:nvPr/>
          </p:nvSpPr>
          <p:spPr>
            <a:xfrm>
              <a:off x="2738628" y="1600200"/>
              <a:ext cx="1513332" cy="86868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Next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다음 단계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738628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03220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903220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3" name="Round Same Side Corner Rectangle 12"/>
            <p:cNvSpPr/>
            <p:nvPr/>
          </p:nvSpPr>
          <p:spPr>
            <a:xfrm>
              <a:off x="4471416" y="1600200"/>
              <a:ext cx="1513332" cy="86868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Later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향후 과제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471416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636008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636008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7" name="Round Same Side Corner Rectangle 16"/>
            <p:cNvSpPr/>
            <p:nvPr/>
          </p:nvSpPr>
          <p:spPr>
            <a:xfrm>
              <a:off x="6204204" y="1600200"/>
              <a:ext cx="1513332" cy="8686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Future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 과제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204204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68796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368796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1" name="Round Same Side Corner Rectangle 20"/>
            <p:cNvSpPr/>
            <p:nvPr/>
          </p:nvSpPr>
          <p:spPr>
            <a:xfrm>
              <a:off x="7936992" y="1600200"/>
              <a:ext cx="1513332" cy="86868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Vision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비전 과제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936992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101584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8101584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최적화</a:t>
              </a:r>
            </a:p>
          </p:txBody>
        </p:sp>
        <p:sp>
          <p:nvSpPr>
            <p:cNvPr id="25" name="Round Same Side Corner Rectangle 24"/>
            <p:cNvSpPr/>
            <p:nvPr/>
          </p:nvSpPr>
          <p:spPr>
            <a:xfrm>
              <a:off x="9669780" y="1600200"/>
              <a:ext cx="1513332" cy="86868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Beyond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장기 과제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69780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834372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최적화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834372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전면 확산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TML-074</a:t>
            </a:r>
          </a:p>
        </p:txBody>
      </p:sp>
      <p:grpSp>
        <p:nvGrpSpPr>
          <p:cNvPr id="20" name="asset:TML-074"/>
          <p:cNvGrpSpPr/>
          <p:nvPr/>
        </p:nvGrpSpPr>
        <p:grpSpPr>
          <a:xfrm>
            <a:off x="502920" y="475488"/>
            <a:ext cx="11155680" cy="5650992"/>
            <a:chOff x="502920" y="475488"/>
            <a:chExt cx="11155680" cy="56509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우선순위 호라이즌 로드맵 (3 구간)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우선순위 기반 구간(Now/Next/Later…) 로드맵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1005840" y="1600200"/>
              <a:ext cx="3179064" cy="86868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Now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추진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2468880"/>
              <a:ext cx="3179064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70432" y="2651760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432" y="3493008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170432" y="4334256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4504944" y="1600200"/>
              <a:ext cx="3179064" cy="86868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Next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다음 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504944" y="2468880"/>
              <a:ext cx="3179064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669536" y="2651760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669536" y="3493008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669536" y="4334256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5" name="Round Same Side Corner Rectangle 14"/>
            <p:cNvSpPr/>
            <p:nvPr/>
          </p:nvSpPr>
          <p:spPr>
            <a:xfrm>
              <a:off x="8004048" y="1600200"/>
              <a:ext cx="3179064" cy="8686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Later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향후 과제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004048" y="2468880"/>
              <a:ext cx="3179064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168640" y="2651760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168640" y="3493008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168640" y="4334256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TML-086</a:t>
            </a:r>
          </a:p>
        </p:txBody>
      </p:sp>
      <p:grpSp>
        <p:nvGrpSpPr>
          <p:cNvPr id="25" name="asset:TML-086"/>
          <p:cNvGrpSpPr/>
          <p:nvPr/>
        </p:nvGrpSpPr>
        <p:grpSpPr>
          <a:xfrm>
            <a:off x="502920" y="475488"/>
            <a:ext cx="11155680" cy="5650992"/>
            <a:chOff x="502920" y="475488"/>
            <a:chExt cx="11155680" cy="56509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우선순위 호라이즌 로드맵 (4 구간)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우선순위 기반 구간(Now/Next/Later…) 로드맵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1005840" y="1600200"/>
              <a:ext cx="2304288" cy="86868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Now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추진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2468880"/>
              <a:ext cx="2304288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70432" y="2651760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432" y="3493008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170432" y="4334256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3630168" y="1600200"/>
              <a:ext cx="2304288" cy="86868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Next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다음 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630168" y="2468880"/>
              <a:ext cx="2304288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794760" y="2651760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94760" y="3493008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94760" y="4334256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5" name="Round Same Side Corner Rectangle 14"/>
            <p:cNvSpPr/>
            <p:nvPr/>
          </p:nvSpPr>
          <p:spPr>
            <a:xfrm>
              <a:off x="6254496" y="1600200"/>
              <a:ext cx="2304288" cy="8686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Later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향후 과제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254496" y="2468880"/>
              <a:ext cx="2304288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419088" y="2651760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419088" y="3493008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419088" y="4334256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0" name="Round Same Side Corner Rectangle 19"/>
            <p:cNvSpPr/>
            <p:nvPr/>
          </p:nvSpPr>
          <p:spPr>
            <a:xfrm>
              <a:off x="8878824" y="1600200"/>
              <a:ext cx="2304288" cy="86868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Future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 과제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878824" y="2468880"/>
              <a:ext cx="2304288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043416" y="2651760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043416" y="3493008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043416" y="4334256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최적화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TML-098</a:t>
            </a:r>
          </a:p>
        </p:txBody>
      </p:sp>
      <p:grpSp>
        <p:nvGrpSpPr>
          <p:cNvPr id="25" name="asset:TML-098"/>
          <p:cNvGrpSpPr/>
          <p:nvPr/>
        </p:nvGrpSpPr>
        <p:grpSpPr>
          <a:xfrm>
            <a:off x="502920" y="475488"/>
            <a:ext cx="11155680" cy="5650992"/>
            <a:chOff x="502920" y="475488"/>
            <a:chExt cx="11155680" cy="56509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우선순위 호라이즌 로드맵 (5 구간)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우선순위 기반 구간(Now/Next/Later…) 로드맵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1005840" y="1600200"/>
              <a:ext cx="1859889" cy="86868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Now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추진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70432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432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9" name="Round Same Side Corner Rectangle 8"/>
            <p:cNvSpPr/>
            <p:nvPr/>
          </p:nvSpPr>
          <p:spPr>
            <a:xfrm>
              <a:off x="3085185" y="1600200"/>
              <a:ext cx="1859889" cy="86868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Next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다음 단계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85185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249777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249777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3" name="Round Same Side Corner Rectangle 12"/>
            <p:cNvSpPr/>
            <p:nvPr/>
          </p:nvSpPr>
          <p:spPr>
            <a:xfrm>
              <a:off x="5164531" y="1600200"/>
              <a:ext cx="1859889" cy="8686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Later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향후 과제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164531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329123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329123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7" name="Round Same Side Corner Rectangle 16"/>
            <p:cNvSpPr/>
            <p:nvPr/>
          </p:nvSpPr>
          <p:spPr>
            <a:xfrm>
              <a:off x="7243876" y="1600200"/>
              <a:ext cx="1859889" cy="86868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Future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 과제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243876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408468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408468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1" name="Round Same Side Corner Rectangle 20"/>
            <p:cNvSpPr/>
            <p:nvPr/>
          </p:nvSpPr>
          <p:spPr>
            <a:xfrm>
              <a:off x="9323222" y="1600200"/>
              <a:ext cx="1859889" cy="86868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Vision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비전 과제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323222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487814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487814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최적화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TML-110</a:t>
            </a:r>
          </a:p>
        </p:txBody>
      </p:sp>
      <p:grpSp>
        <p:nvGrpSpPr>
          <p:cNvPr id="29" name="asset:TML-110"/>
          <p:cNvGrpSpPr/>
          <p:nvPr/>
        </p:nvGrpSpPr>
        <p:grpSpPr>
          <a:xfrm>
            <a:off x="502920" y="475488"/>
            <a:ext cx="11155680" cy="5650992"/>
            <a:chOff x="502920" y="475488"/>
            <a:chExt cx="11155680" cy="56509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우선순위 호라이즌 로드맵 (6 구간)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우선순위 기반 구간(Now/Next/Later…) 로드맵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1005840" y="1600200"/>
              <a:ext cx="1513332" cy="86868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Now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추진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70432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432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9" name="Round Same Side Corner Rectangle 8"/>
            <p:cNvSpPr/>
            <p:nvPr/>
          </p:nvSpPr>
          <p:spPr>
            <a:xfrm>
              <a:off x="2738628" y="1600200"/>
              <a:ext cx="1513332" cy="86868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Next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다음 단계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738628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03220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903220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3" name="Round Same Side Corner Rectangle 12"/>
            <p:cNvSpPr/>
            <p:nvPr/>
          </p:nvSpPr>
          <p:spPr>
            <a:xfrm>
              <a:off x="4471416" y="1600200"/>
              <a:ext cx="1513332" cy="8686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Later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향후 과제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471416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636008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636008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7" name="Round Same Side Corner Rectangle 16"/>
            <p:cNvSpPr/>
            <p:nvPr/>
          </p:nvSpPr>
          <p:spPr>
            <a:xfrm>
              <a:off x="6204204" y="1600200"/>
              <a:ext cx="1513332" cy="86868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Future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 과제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204204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68796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368796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1" name="Round Same Side Corner Rectangle 20"/>
            <p:cNvSpPr/>
            <p:nvPr/>
          </p:nvSpPr>
          <p:spPr>
            <a:xfrm>
              <a:off x="7936992" y="1600200"/>
              <a:ext cx="1513332" cy="86868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Vision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비전 과제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936992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101584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8101584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최적화</a:t>
              </a:r>
            </a:p>
          </p:txBody>
        </p:sp>
        <p:sp>
          <p:nvSpPr>
            <p:cNvPr id="25" name="Round Same Side Corner Rectangle 24"/>
            <p:cNvSpPr/>
            <p:nvPr/>
          </p:nvSpPr>
          <p:spPr>
            <a:xfrm>
              <a:off x="9669780" y="1600200"/>
              <a:ext cx="1513332" cy="86868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Beyond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장기 과제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69780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834372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최적화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834372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전면 확산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TML-122</a:t>
            </a:r>
          </a:p>
        </p:txBody>
      </p:sp>
      <p:grpSp>
        <p:nvGrpSpPr>
          <p:cNvPr id="20" name="asset:TML-122"/>
          <p:cNvGrpSpPr/>
          <p:nvPr/>
        </p:nvGrpSpPr>
        <p:grpSpPr>
          <a:xfrm>
            <a:off x="502920" y="475488"/>
            <a:ext cx="11155680" cy="5650992"/>
            <a:chOff x="502920" y="475488"/>
            <a:chExt cx="11155680" cy="56509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우선순위 호라이즌 로드맵 (3 구간)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우선순위 기반 구간(Now/Next/Later…) 로드맵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1005840" y="1600200"/>
              <a:ext cx="3179064" cy="86868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Now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추진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2468880"/>
              <a:ext cx="3179064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70432" y="2651760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432" y="3493008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170432" y="4334256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4504944" y="1600200"/>
              <a:ext cx="3179064" cy="8686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Next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다음 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504944" y="2468880"/>
              <a:ext cx="3179064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669536" y="2651760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669536" y="3493008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669536" y="4334256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5" name="Round Same Side Corner Rectangle 14"/>
            <p:cNvSpPr/>
            <p:nvPr/>
          </p:nvSpPr>
          <p:spPr>
            <a:xfrm>
              <a:off x="8004048" y="1600200"/>
              <a:ext cx="3179064" cy="86868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Later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향후 과제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004048" y="2468880"/>
              <a:ext cx="3179064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168640" y="2651760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168640" y="3493008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168640" y="4334256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TML-134</a:t>
            </a:r>
          </a:p>
        </p:txBody>
      </p:sp>
      <p:grpSp>
        <p:nvGrpSpPr>
          <p:cNvPr id="25" name="asset:TML-134"/>
          <p:cNvGrpSpPr/>
          <p:nvPr/>
        </p:nvGrpSpPr>
        <p:grpSpPr>
          <a:xfrm>
            <a:off x="502920" y="475488"/>
            <a:ext cx="11155680" cy="5650992"/>
            <a:chOff x="502920" y="475488"/>
            <a:chExt cx="11155680" cy="56509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우선순위 호라이즌 로드맵 (4 구간)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우선순위 기반 구간(Now/Next/Later…) 로드맵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1005840" y="1600200"/>
              <a:ext cx="2304288" cy="86868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Now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추진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2468880"/>
              <a:ext cx="2304288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70432" y="2651760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432" y="3493008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170432" y="4334256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3630168" y="1600200"/>
              <a:ext cx="2304288" cy="8686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Next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다음 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630168" y="2468880"/>
              <a:ext cx="2304288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794760" y="2651760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94760" y="3493008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94760" y="4334256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5" name="Round Same Side Corner Rectangle 14"/>
            <p:cNvSpPr/>
            <p:nvPr/>
          </p:nvSpPr>
          <p:spPr>
            <a:xfrm>
              <a:off x="6254496" y="1600200"/>
              <a:ext cx="2304288" cy="86868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Later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향후 과제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254496" y="2468880"/>
              <a:ext cx="2304288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419088" y="2651760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419088" y="3493008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419088" y="4334256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0" name="Round Same Side Corner Rectangle 19"/>
            <p:cNvSpPr/>
            <p:nvPr/>
          </p:nvSpPr>
          <p:spPr>
            <a:xfrm>
              <a:off x="8878824" y="1600200"/>
              <a:ext cx="2304288" cy="86868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Future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 과제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878824" y="2468880"/>
              <a:ext cx="2304288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043416" y="2651760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043416" y="3493008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043416" y="4334256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최적화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TML-146</a:t>
            </a:r>
          </a:p>
        </p:txBody>
      </p:sp>
      <p:grpSp>
        <p:nvGrpSpPr>
          <p:cNvPr id="25" name="asset:TML-146"/>
          <p:cNvGrpSpPr/>
          <p:nvPr/>
        </p:nvGrpSpPr>
        <p:grpSpPr>
          <a:xfrm>
            <a:off x="502920" y="475488"/>
            <a:ext cx="11155680" cy="5650992"/>
            <a:chOff x="502920" y="475488"/>
            <a:chExt cx="11155680" cy="56509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우선순위 호라이즌 로드맵 (5 구간)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우선순위 기반 구간(Now/Next/Later…) 로드맵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1005840" y="1600200"/>
              <a:ext cx="1859889" cy="86868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Now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추진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70432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432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9" name="Round Same Side Corner Rectangle 8"/>
            <p:cNvSpPr/>
            <p:nvPr/>
          </p:nvSpPr>
          <p:spPr>
            <a:xfrm>
              <a:off x="3085185" y="1600200"/>
              <a:ext cx="1859889" cy="8686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Next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다음 단계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85185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249777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249777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3" name="Round Same Side Corner Rectangle 12"/>
            <p:cNvSpPr/>
            <p:nvPr/>
          </p:nvSpPr>
          <p:spPr>
            <a:xfrm>
              <a:off x="5164531" y="1600200"/>
              <a:ext cx="1859889" cy="86868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Later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향후 과제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164531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329123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329123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7" name="Round Same Side Corner Rectangle 16"/>
            <p:cNvSpPr/>
            <p:nvPr/>
          </p:nvSpPr>
          <p:spPr>
            <a:xfrm>
              <a:off x="7243876" y="1600200"/>
              <a:ext cx="1859889" cy="86868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Future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 과제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243876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408468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408468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1" name="Round Same Side Corner Rectangle 20"/>
            <p:cNvSpPr/>
            <p:nvPr/>
          </p:nvSpPr>
          <p:spPr>
            <a:xfrm>
              <a:off x="9323222" y="1600200"/>
              <a:ext cx="1859889" cy="86868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Vision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비전 과제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323222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487814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487814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최적화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TML-158</a:t>
            </a:r>
          </a:p>
        </p:txBody>
      </p:sp>
      <p:grpSp>
        <p:nvGrpSpPr>
          <p:cNvPr id="29" name="asset:TML-158"/>
          <p:cNvGrpSpPr/>
          <p:nvPr/>
        </p:nvGrpSpPr>
        <p:grpSpPr>
          <a:xfrm>
            <a:off x="502920" y="475488"/>
            <a:ext cx="11155680" cy="5650992"/>
            <a:chOff x="502920" y="475488"/>
            <a:chExt cx="11155680" cy="56509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우선순위 호라이즌 로드맵 (6 구간)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우선순위 기반 구간(Now/Next/Later…) 로드맵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1005840" y="1600200"/>
              <a:ext cx="1513332" cy="86868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Now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추진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70432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432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9" name="Round Same Side Corner Rectangle 8"/>
            <p:cNvSpPr/>
            <p:nvPr/>
          </p:nvSpPr>
          <p:spPr>
            <a:xfrm>
              <a:off x="2738628" y="1600200"/>
              <a:ext cx="1513332" cy="8686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Next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다음 단계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738628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03220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903220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3" name="Round Same Side Corner Rectangle 12"/>
            <p:cNvSpPr/>
            <p:nvPr/>
          </p:nvSpPr>
          <p:spPr>
            <a:xfrm>
              <a:off x="4471416" y="1600200"/>
              <a:ext cx="1513332" cy="86868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Later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향후 과제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471416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636008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636008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7" name="Round Same Side Corner Rectangle 16"/>
            <p:cNvSpPr/>
            <p:nvPr/>
          </p:nvSpPr>
          <p:spPr>
            <a:xfrm>
              <a:off x="6204204" y="1600200"/>
              <a:ext cx="1513332" cy="86868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Future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 과제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204204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68796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368796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1" name="Round Same Side Corner Rectangle 20"/>
            <p:cNvSpPr/>
            <p:nvPr/>
          </p:nvSpPr>
          <p:spPr>
            <a:xfrm>
              <a:off x="7936992" y="1600200"/>
              <a:ext cx="1513332" cy="86868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Vision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비전 과제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936992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101584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8101584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최적화</a:t>
              </a:r>
            </a:p>
          </p:txBody>
        </p:sp>
        <p:sp>
          <p:nvSpPr>
            <p:cNvPr id="25" name="Round Same Side Corner Rectangle 24"/>
            <p:cNvSpPr/>
            <p:nvPr/>
          </p:nvSpPr>
          <p:spPr>
            <a:xfrm>
              <a:off x="9669780" y="1600200"/>
              <a:ext cx="1513332" cy="86868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Beyond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장기 과제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69780" y="2468880"/>
              <a:ext cx="1513332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834372" y="2651760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최적화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834372" y="3493008"/>
              <a:ext cx="1184148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전면 확산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TML-170</a:t>
            </a:r>
          </a:p>
        </p:txBody>
      </p:sp>
      <p:grpSp>
        <p:nvGrpSpPr>
          <p:cNvPr id="20" name="asset:TML-170"/>
          <p:cNvGrpSpPr/>
          <p:nvPr/>
        </p:nvGrpSpPr>
        <p:grpSpPr>
          <a:xfrm>
            <a:off x="502920" y="475488"/>
            <a:ext cx="11155680" cy="5650992"/>
            <a:chOff x="502920" y="475488"/>
            <a:chExt cx="11155680" cy="56509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우선순위 호라이즌 로드맵 (3 구간)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우선순위 기반 구간(Now/Next/Later…) 로드맵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1005840" y="1600200"/>
              <a:ext cx="3179064" cy="8686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Now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추진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2468880"/>
              <a:ext cx="3179064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70432" y="2651760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432" y="3493008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170432" y="4334256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4504944" y="1600200"/>
              <a:ext cx="3179064" cy="86868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Next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다음 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504944" y="2468880"/>
              <a:ext cx="3179064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669536" y="2651760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669536" y="3493008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669536" y="4334256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5" name="Round Same Side Corner Rectangle 14"/>
            <p:cNvSpPr/>
            <p:nvPr/>
          </p:nvSpPr>
          <p:spPr>
            <a:xfrm>
              <a:off x="8004048" y="1600200"/>
              <a:ext cx="3179064" cy="86868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Later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향후 과제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004048" y="2468880"/>
              <a:ext cx="3179064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168640" y="2651760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168640" y="3493008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168640" y="4334256"/>
              <a:ext cx="2849880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TML-182</a:t>
            </a:r>
          </a:p>
        </p:txBody>
      </p:sp>
      <p:grpSp>
        <p:nvGrpSpPr>
          <p:cNvPr id="25" name="asset:TML-182"/>
          <p:cNvGrpSpPr/>
          <p:nvPr/>
        </p:nvGrpSpPr>
        <p:grpSpPr>
          <a:xfrm>
            <a:off x="502920" y="475488"/>
            <a:ext cx="11155680" cy="5650992"/>
            <a:chOff x="502920" y="475488"/>
            <a:chExt cx="11155680" cy="56509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우선순위 호라이즌 로드맵 (4 구간)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우선순위 기반 구간(Now/Next/Later…) 로드맵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1005840" y="1600200"/>
              <a:ext cx="2304288" cy="8686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Now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추진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2468880"/>
              <a:ext cx="2304288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70432" y="2651760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432" y="3493008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170432" y="4334256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3630168" y="1600200"/>
              <a:ext cx="2304288" cy="86868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Next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다음 단계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630168" y="2468880"/>
              <a:ext cx="2304288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794760" y="2651760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94760" y="3493008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94760" y="4334256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5" name="Round Same Side Corner Rectangle 14"/>
            <p:cNvSpPr/>
            <p:nvPr/>
          </p:nvSpPr>
          <p:spPr>
            <a:xfrm>
              <a:off x="6254496" y="1600200"/>
              <a:ext cx="2304288" cy="86868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Later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향후 과제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254496" y="2468880"/>
              <a:ext cx="2304288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419088" y="2651760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419088" y="3493008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419088" y="4334256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0" name="Round Same Side Corner Rectangle 19"/>
            <p:cNvSpPr/>
            <p:nvPr/>
          </p:nvSpPr>
          <p:spPr>
            <a:xfrm>
              <a:off x="8878824" y="1600200"/>
              <a:ext cx="2304288" cy="86868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Future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 과제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878824" y="2468880"/>
              <a:ext cx="2304288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043416" y="2651760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043416" y="3493008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043416" y="4334256"/>
              <a:ext cx="1975104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최적화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TML-194</a:t>
            </a:r>
          </a:p>
        </p:txBody>
      </p:sp>
      <p:grpSp>
        <p:nvGrpSpPr>
          <p:cNvPr id="25" name="asset:TML-194"/>
          <p:cNvGrpSpPr/>
          <p:nvPr/>
        </p:nvGrpSpPr>
        <p:grpSpPr>
          <a:xfrm>
            <a:off x="502920" y="475488"/>
            <a:ext cx="11155680" cy="5650992"/>
            <a:chOff x="502920" y="475488"/>
            <a:chExt cx="11155680" cy="56509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우선순위 호라이즌 로드맵 (5 구간)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우선순위 기반 구간(Now/Next/Later…) 로드맵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1005840" y="1600200"/>
              <a:ext cx="1859889" cy="8686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Now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추진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5840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70432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개발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70432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9" name="Round Same Side Corner Rectangle 8"/>
            <p:cNvSpPr/>
            <p:nvPr/>
          </p:nvSpPr>
          <p:spPr>
            <a:xfrm>
              <a:off x="3085185" y="1600200"/>
              <a:ext cx="1859889" cy="86868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Next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다음 단계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85185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249777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이관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249777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3" name="Round Same Side Corner Rectangle 12"/>
            <p:cNvSpPr/>
            <p:nvPr/>
          </p:nvSpPr>
          <p:spPr>
            <a:xfrm>
              <a:off x="5164531" y="1600200"/>
              <a:ext cx="1859889" cy="86868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Later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향후 과제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164531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329123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파일럿 운영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329123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17" name="Round Same Side Corner Rectangle 16"/>
            <p:cNvSpPr/>
            <p:nvPr/>
          </p:nvSpPr>
          <p:spPr>
            <a:xfrm>
              <a:off x="7243876" y="1600200"/>
              <a:ext cx="1859889" cy="86868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Future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 과제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243876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408468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고도화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408468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1" name="Round Same Side Corner Rectangle 20"/>
            <p:cNvSpPr/>
            <p:nvPr/>
          </p:nvSpPr>
          <p:spPr>
            <a:xfrm>
              <a:off x="9323222" y="1600200"/>
              <a:ext cx="1859889" cy="86868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Vision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비전 과제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323222" y="2468880"/>
              <a:ext cx="1859889" cy="36576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487814" y="2651760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연계 확대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487814" y="3493008"/>
              <a:ext cx="1530705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최적화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