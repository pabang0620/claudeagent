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TML-023</a:t>
            </a:r>
          </a:p>
        </p:txBody>
      </p:sp>
      <p:grpSp>
        <p:nvGrpSpPr>
          <p:cNvPr id="21" name="asset:TML-023"/>
          <p:cNvGrpSpPr/>
          <p:nvPr/>
        </p:nvGrpSpPr>
        <p:grpSpPr>
          <a:xfrm>
            <a:off x="502920" y="475488"/>
            <a:ext cx="11155680" cy="5152644"/>
            <a:chOff x="502920" y="475488"/>
            <a:chExt cx="11155680" cy="5152644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원형 연차 로드맵 (3 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중심 허브를 둘러싼 원 둘레에 단계를 등간격 배치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5166359" y="3154679"/>
              <a:ext cx="1645920" cy="1645920"/>
            </a:xfrm>
            <a:prstGeom prst="ellipse">
              <a:avLst/>
            </a:prstGeom>
            <a:solidFill>
              <a:srgbClr val="1F3864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추진</a:t>
              </a:r>
            </a:p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로드맵</a:t>
              </a:r>
            </a:p>
          </p:txBody>
        </p:sp>
        <p:cxnSp>
          <p:nvCxnSpPr>
            <p:cNvPr id="6" name="Connector 5"/>
            <p:cNvCxnSpPr/>
            <p:nvPr/>
          </p:nvCxnSpPr>
          <p:spPr>
            <a:xfrm flipV="1">
              <a:off x="5989320" y="2560320"/>
              <a:ext cx="0" cy="1417319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Oval 6"/>
            <p:cNvSpPr/>
            <p:nvPr/>
          </p:nvSpPr>
          <p:spPr>
            <a:xfrm>
              <a:off x="5568696" y="2139696"/>
              <a:ext cx="841248" cy="841248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029200" y="1069847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084064" y="1124711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1년차 기반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084064" y="1453895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체계 수립·기반 구축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5989320" y="3977639"/>
              <a:ext cx="1227435" cy="708661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Oval 11"/>
            <p:cNvSpPr/>
            <p:nvPr/>
          </p:nvSpPr>
          <p:spPr>
            <a:xfrm>
              <a:off x="6796131" y="4265676"/>
              <a:ext cx="841248" cy="841248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7206907" y="4841748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261771" y="4896612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2년차 확산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261771" y="5225796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기능 확대·고도화</a:t>
              </a:r>
            </a:p>
          </p:txBody>
        </p:sp>
        <p:cxnSp>
          <p:nvCxnSpPr>
            <p:cNvPr id="16" name="Connector 15"/>
            <p:cNvCxnSpPr/>
            <p:nvPr/>
          </p:nvCxnSpPr>
          <p:spPr>
            <a:xfrm flipH="1">
              <a:off x="4761884" y="3977639"/>
              <a:ext cx="1227436" cy="708661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Oval 16"/>
            <p:cNvSpPr/>
            <p:nvPr/>
          </p:nvSpPr>
          <p:spPr>
            <a:xfrm>
              <a:off x="4341260" y="4265676"/>
              <a:ext cx="841248" cy="841248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2851492" y="4841748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2906356" y="4896612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3년차 성과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2906356" y="5225796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전면 확산·성과 창출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TML-035</a:t>
            </a:r>
          </a:p>
        </p:txBody>
      </p:sp>
      <p:grpSp>
        <p:nvGrpSpPr>
          <p:cNvPr id="26" name="asset:TML-035"/>
          <p:cNvGrpSpPr/>
          <p:nvPr/>
        </p:nvGrpSpPr>
        <p:grpSpPr>
          <a:xfrm>
            <a:off x="502920" y="475488"/>
            <a:ext cx="11155680" cy="6409944"/>
            <a:chOff x="502920" y="475488"/>
            <a:chExt cx="11155680" cy="6409944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원형 연차 로드맵 (4 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중심 허브를 둘러싼 원 둘레에 단계를 등간격 배치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5166359" y="3154679"/>
              <a:ext cx="1645920" cy="1645920"/>
            </a:xfrm>
            <a:prstGeom prst="ellipse">
              <a:avLst/>
            </a:prstGeom>
            <a:solidFill>
              <a:srgbClr val="1F3864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추진</a:t>
              </a:r>
            </a:p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로드맵</a:t>
              </a:r>
            </a:p>
          </p:txBody>
        </p:sp>
        <p:cxnSp>
          <p:nvCxnSpPr>
            <p:cNvPr id="6" name="Connector 5"/>
            <p:cNvCxnSpPr/>
            <p:nvPr/>
          </p:nvCxnSpPr>
          <p:spPr>
            <a:xfrm flipV="1">
              <a:off x="5989320" y="2560320"/>
              <a:ext cx="0" cy="1417319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Oval 6"/>
            <p:cNvSpPr/>
            <p:nvPr/>
          </p:nvSpPr>
          <p:spPr>
            <a:xfrm>
              <a:off x="5568696" y="2139696"/>
              <a:ext cx="841248" cy="841248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029200" y="1069847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084064" y="1124711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1년차 기반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084064" y="1453895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체계 수립·기반 구축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5989320" y="3977639"/>
              <a:ext cx="1417320" cy="0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Oval 11"/>
            <p:cNvSpPr/>
            <p:nvPr/>
          </p:nvSpPr>
          <p:spPr>
            <a:xfrm>
              <a:off x="6986016" y="3557015"/>
              <a:ext cx="841248" cy="841248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7543800" y="3584447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598664" y="3639311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2년차 확산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598664" y="3968496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기능 확대·고도화</a:t>
              </a:r>
            </a:p>
          </p:txBody>
        </p:sp>
        <p:cxnSp>
          <p:nvCxnSpPr>
            <p:cNvPr id="16" name="Connector 15"/>
            <p:cNvCxnSpPr/>
            <p:nvPr/>
          </p:nvCxnSpPr>
          <p:spPr>
            <a:xfrm>
              <a:off x="5989320" y="3977639"/>
              <a:ext cx="0" cy="1417320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Oval 16"/>
            <p:cNvSpPr/>
            <p:nvPr/>
          </p:nvSpPr>
          <p:spPr>
            <a:xfrm>
              <a:off x="5568696" y="4974336"/>
              <a:ext cx="841248" cy="841248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5029200" y="6099048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084064" y="6153912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3년차 성과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5084064" y="6483096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전면 확산·성과 창출</a:t>
              </a:r>
            </a:p>
          </p:txBody>
        </p:sp>
        <p:cxnSp>
          <p:nvCxnSpPr>
            <p:cNvPr id="21" name="Connector 20"/>
            <p:cNvCxnSpPr/>
            <p:nvPr/>
          </p:nvCxnSpPr>
          <p:spPr>
            <a:xfrm flipH="1">
              <a:off x="4572000" y="3977639"/>
              <a:ext cx="1417320" cy="0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Oval 21"/>
            <p:cNvSpPr/>
            <p:nvPr/>
          </p:nvSpPr>
          <p:spPr>
            <a:xfrm>
              <a:off x="4151376" y="3557015"/>
              <a:ext cx="841248" cy="841248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2514600" y="3584447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2569464" y="3639311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4년차 정착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2569464" y="3968496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자립 운영·지속 확산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TML-047</a:t>
            </a:r>
          </a:p>
        </p:txBody>
      </p:sp>
      <p:grpSp>
        <p:nvGrpSpPr>
          <p:cNvPr id="31" name="asset:TML-047"/>
          <p:cNvGrpSpPr/>
          <p:nvPr/>
        </p:nvGrpSpPr>
        <p:grpSpPr>
          <a:xfrm>
            <a:off x="502920" y="475488"/>
            <a:ext cx="11155680" cy="5929698"/>
            <a:chOff x="502920" y="475488"/>
            <a:chExt cx="11155680" cy="5929698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원형 연차 로드맵 (5 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중심 허브를 둘러싼 원 둘레에 단계를 등간격 배치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5166359" y="3154679"/>
              <a:ext cx="1645920" cy="1645920"/>
            </a:xfrm>
            <a:prstGeom prst="ellipse">
              <a:avLst/>
            </a:prstGeom>
            <a:solidFill>
              <a:srgbClr val="1F3864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추진</a:t>
              </a:r>
            </a:p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로드맵</a:t>
              </a:r>
            </a:p>
          </p:txBody>
        </p:sp>
        <p:cxnSp>
          <p:nvCxnSpPr>
            <p:cNvPr id="6" name="Connector 5"/>
            <p:cNvCxnSpPr/>
            <p:nvPr/>
          </p:nvCxnSpPr>
          <p:spPr>
            <a:xfrm flipV="1">
              <a:off x="5989320" y="2560320"/>
              <a:ext cx="0" cy="1417319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Oval 6"/>
            <p:cNvSpPr/>
            <p:nvPr/>
          </p:nvSpPr>
          <p:spPr>
            <a:xfrm>
              <a:off x="5568696" y="2139696"/>
              <a:ext cx="841248" cy="841248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029200" y="1069847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084064" y="1124711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1년차 기반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084064" y="1453895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체계 수립·기반 구축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 flipV="1">
              <a:off x="5989320" y="3539664"/>
              <a:ext cx="1347951" cy="437975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Oval 11"/>
            <p:cNvSpPr/>
            <p:nvPr/>
          </p:nvSpPr>
          <p:spPr>
            <a:xfrm>
              <a:off x="6916647" y="3119040"/>
              <a:ext cx="841248" cy="841248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7420726" y="2807393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475590" y="2862257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2년차 확산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475590" y="3191441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기능 확대·고도화</a:t>
              </a:r>
            </a:p>
          </p:txBody>
        </p:sp>
        <p:cxnSp>
          <p:nvCxnSpPr>
            <p:cNvPr id="16" name="Connector 15"/>
            <p:cNvCxnSpPr/>
            <p:nvPr/>
          </p:nvCxnSpPr>
          <p:spPr>
            <a:xfrm>
              <a:off x="5989320" y="3977639"/>
              <a:ext cx="833079" cy="1146636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Oval 16"/>
            <p:cNvSpPr/>
            <p:nvPr/>
          </p:nvSpPr>
          <p:spPr>
            <a:xfrm>
              <a:off x="6401775" y="4703651"/>
              <a:ext cx="841248" cy="841248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6507244" y="5618802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562108" y="5673666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3년차 성과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562108" y="6002850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전면 확산·성과 창출</a:t>
              </a:r>
            </a:p>
          </p:txBody>
        </p:sp>
        <p:cxnSp>
          <p:nvCxnSpPr>
            <p:cNvPr id="21" name="Connector 20"/>
            <p:cNvCxnSpPr/>
            <p:nvPr/>
          </p:nvCxnSpPr>
          <p:spPr>
            <a:xfrm flipH="1">
              <a:off x="5156240" y="3977639"/>
              <a:ext cx="833080" cy="1146636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Oval 21"/>
            <p:cNvSpPr/>
            <p:nvPr/>
          </p:nvSpPr>
          <p:spPr>
            <a:xfrm>
              <a:off x="4735616" y="4703651"/>
              <a:ext cx="841248" cy="841248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3551155" y="5618802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3606019" y="5673666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4년차 정착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3606019" y="6002850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자립 운영·지속 확산</a:t>
              </a:r>
            </a:p>
          </p:txBody>
        </p:sp>
        <p:cxnSp>
          <p:nvCxnSpPr>
            <p:cNvPr id="26" name="Connector 25"/>
            <p:cNvCxnSpPr/>
            <p:nvPr/>
          </p:nvCxnSpPr>
          <p:spPr>
            <a:xfrm flipH="1" flipV="1">
              <a:off x="4641368" y="3539664"/>
              <a:ext cx="1347952" cy="437975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Oval 26"/>
            <p:cNvSpPr/>
            <p:nvPr/>
          </p:nvSpPr>
          <p:spPr>
            <a:xfrm>
              <a:off x="4220744" y="3119040"/>
              <a:ext cx="841248" cy="841248"/>
            </a:xfrm>
            <a:prstGeom prst="ellipse">
              <a:avLst/>
            </a:prstGeom>
            <a:solidFill>
              <a:srgbClr val="7B2D8E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2637673" y="2807393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2692537" y="2862257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5년차 도약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2692537" y="3191441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고도화·지능화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TML-059</a:t>
            </a:r>
          </a:p>
        </p:txBody>
      </p:sp>
      <p:grpSp>
        <p:nvGrpSpPr>
          <p:cNvPr id="36" name="asset:TML-059"/>
          <p:cNvGrpSpPr/>
          <p:nvPr/>
        </p:nvGrpSpPr>
        <p:grpSpPr>
          <a:xfrm>
            <a:off x="502920" y="475488"/>
            <a:ext cx="11155680" cy="6409944"/>
            <a:chOff x="502920" y="475488"/>
            <a:chExt cx="11155680" cy="6409944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원형 연차 로드맵 (6 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중심 허브를 둘러싼 원 둘레에 단계를 등간격 배치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5166359" y="3154679"/>
              <a:ext cx="1645920" cy="1645920"/>
            </a:xfrm>
            <a:prstGeom prst="ellipse">
              <a:avLst/>
            </a:prstGeom>
            <a:solidFill>
              <a:srgbClr val="1F3864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추진</a:t>
              </a:r>
            </a:p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로드맵</a:t>
              </a:r>
            </a:p>
          </p:txBody>
        </p:sp>
        <p:cxnSp>
          <p:nvCxnSpPr>
            <p:cNvPr id="6" name="Connector 5"/>
            <p:cNvCxnSpPr/>
            <p:nvPr/>
          </p:nvCxnSpPr>
          <p:spPr>
            <a:xfrm flipV="1">
              <a:off x="5989320" y="2560320"/>
              <a:ext cx="0" cy="1417319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Oval 6"/>
            <p:cNvSpPr/>
            <p:nvPr/>
          </p:nvSpPr>
          <p:spPr>
            <a:xfrm>
              <a:off x="5568696" y="2139696"/>
              <a:ext cx="841248" cy="841248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029200" y="1069847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084064" y="1124711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1년차 기반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084064" y="1453895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체계 수립·기반 구축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 flipV="1">
              <a:off x="5989320" y="3268979"/>
              <a:ext cx="1227435" cy="708660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Oval 11"/>
            <p:cNvSpPr/>
            <p:nvPr/>
          </p:nvSpPr>
          <p:spPr>
            <a:xfrm>
              <a:off x="6796131" y="2848356"/>
              <a:ext cx="841248" cy="841248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7206907" y="2327147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261771" y="2382011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2년차 확산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261771" y="2711195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기능 확대·고도화</a:t>
              </a:r>
            </a:p>
          </p:txBody>
        </p:sp>
        <p:cxnSp>
          <p:nvCxnSpPr>
            <p:cNvPr id="16" name="Connector 15"/>
            <p:cNvCxnSpPr/>
            <p:nvPr/>
          </p:nvCxnSpPr>
          <p:spPr>
            <a:xfrm>
              <a:off x="5989320" y="3977639"/>
              <a:ext cx="1227435" cy="708661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Oval 16"/>
            <p:cNvSpPr/>
            <p:nvPr/>
          </p:nvSpPr>
          <p:spPr>
            <a:xfrm>
              <a:off x="6796131" y="4265676"/>
              <a:ext cx="841248" cy="841248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7206907" y="4841748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7261771" y="4896612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3년차 성과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7261771" y="5225796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전면 확산·성과 창출</a:t>
              </a:r>
            </a:p>
          </p:txBody>
        </p:sp>
        <p:cxnSp>
          <p:nvCxnSpPr>
            <p:cNvPr id="21" name="Connector 20"/>
            <p:cNvCxnSpPr/>
            <p:nvPr/>
          </p:nvCxnSpPr>
          <p:spPr>
            <a:xfrm>
              <a:off x="5989320" y="3977639"/>
              <a:ext cx="0" cy="1417320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Oval 21"/>
            <p:cNvSpPr/>
            <p:nvPr/>
          </p:nvSpPr>
          <p:spPr>
            <a:xfrm>
              <a:off x="5568696" y="4974336"/>
              <a:ext cx="841248" cy="841248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5029200" y="6099048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5084064" y="6153912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4년차 정착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5084064" y="6483096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자립 운영·지속 확산</a:t>
              </a:r>
            </a:p>
          </p:txBody>
        </p:sp>
        <p:cxnSp>
          <p:nvCxnSpPr>
            <p:cNvPr id="26" name="Connector 25"/>
            <p:cNvCxnSpPr/>
            <p:nvPr/>
          </p:nvCxnSpPr>
          <p:spPr>
            <a:xfrm flipH="1">
              <a:off x="4761884" y="3977639"/>
              <a:ext cx="1227436" cy="708661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Oval 26"/>
            <p:cNvSpPr/>
            <p:nvPr/>
          </p:nvSpPr>
          <p:spPr>
            <a:xfrm>
              <a:off x="4341260" y="4265676"/>
              <a:ext cx="841248" cy="841248"/>
            </a:xfrm>
            <a:prstGeom prst="ellipse">
              <a:avLst/>
            </a:prstGeom>
            <a:solidFill>
              <a:srgbClr val="7B2D8E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2851492" y="4841748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2906356" y="4896612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5년차 도약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2906356" y="5225796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고도화·지능화</a:t>
              </a:r>
            </a:p>
          </p:txBody>
        </p:sp>
        <p:cxnSp>
          <p:nvCxnSpPr>
            <p:cNvPr id="31" name="Connector 30"/>
            <p:cNvCxnSpPr/>
            <p:nvPr/>
          </p:nvCxnSpPr>
          <p:spPr>
            <a:xfrm flipH="1" flipV="1">
              <a:off x="4761884" y="3268979"/>
              <a:ext cx="1227436" cy="708660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Oval 31"/>
            <p:cNvSpPr/>
            <p:nvPr/>
          </p:nvSpPr>
          <p:spPr>
            <a:xfrm>
              <a:off x="4341260" y="2848355"/>
              <a:ext cx="841248" cy="841248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2851492" y="2327147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2906356" y="2382011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6년차 성숙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2906356" y="2711195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지속 성장·확대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TML-071</a:t>
            </a:r>
          </a:p>
        </p:txBody>
      </p:sp>
      <p:grpSp>
        <p:nvGrpSpPr>
          <p:cNvPr id="21" name="asset:TML-071"/>
          <p:cNvGrpSpPr/>
          <p:nvPr/>
        </p:nvGrpSpPr>
        <p:grpSpPr>
          <a:xfrm>
            <a:off x="502920" y="475488"/>
            <a:ext cx="11155680" cy="5152644"/>
            <a:chOff x="502920" y="475488"/>
            <a:chExt cx="11155680" cy="5152644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원형 연차 로드맵 (3 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중심 허브를 둘러싼 원 둘레에 단계를 등간격 배치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5166359" y="3154679"/>
              <a:ext cx="1645920" cy="1645920"/>
            </a:xfrm>
            <a:prstGeom prst="ellipse">
              <a:avLst/>
            </a:prstGeom>
            <a:solidFill>
              <a:srgbClr val="1F3864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추진</a:t>
              </a:r>
            </a:p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로드맵</a:t>
              </a:r>
            </a:p>
          </p:txBody>
        </p:sp>
        <p:cxnSp>
          <p:nvCxnSpPr>
            <p:cNvPr id="6" name="Connector 5"/>
            <p:cNvCxnSpPr/>
            <p:nvPr/>
          </p:nvCxnSpPr>
          <p:spPr>
            <a:xfrm flipV="1">
              <a:off x="5989320" y="2560320"/>
              <a:ext cx="0" cy="1417319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Oval 6"/>
            <p:cNvSpPr/>
            <p:nvPr/>
          </p:nvSpPr>
          <p:spPr>
            <a:xfrm>
              <a:off x="5568696" y="2139696"/>
              <a:ext cx="841248" cy="841248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029200" y="1069847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084064" y="1124711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1년차 기반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084064" y="1453895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체계 수립·기반 구축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5989320" y="3977639"/>
              <a:ext cx="1227435" cy="708661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Oval 11"/>
            <p:cNvSpPr/>
            <p:nvPr/>
          </p:nvSpPr>
          <p:spPr>
            <a:xfrm>
              <a:off x="6796131" y="4265676"/>
              <a:ext cx="841248" cy="841248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7206907" y="4841748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261771" y="4896612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2년차 확산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261771" y="5225796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기능 확대·고도화</a:t>
              </a:r>
            </a:p>
          </p:txBody>
        </p:sp>
        <p:cxnSp>
          <p:nvCxnSpPr>
            <p:cNvPr id="16" name="Connector 15"/>
            <p:cNvCxnSpPr/>
            <p:nvPr/>
          </p:nvCxnSpPr>
          <p:spPr>
            <a:xfrm flipH="1">
              <a:off x="4761884" y="3977639"/>
              <a:ext cx="1227436" cy="708661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Oval 16"/>
            <p:cNvSpPr/>
            <p:nvPr/>
          </p:nvSpPr>
          <p:spPr>
            <a:xfrm>
              <a:off x="4341260" y="4265676"/>
              <a:ext cx="841248" cy="841248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2851492" y="4841748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2906356" y="4896612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3년차 성과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2906356" y="5225796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전면 확산·성과 창출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TML-083</a:t>
            </a:r>
          </a:p>
        </p:txBody>
      </p:sp>
      <p:grpSp>
        <p:nvGrpSpPr>
          <p:cNvPr id="26" name="asset:TML-083"/>
          <p:cNvGrpSpPr/>
          <p:nvPr/>
        </p:nvGrpSpPr>
        <p:grpSpPr>
          <a:xfrm>
            <a:off x="502920" y="475488"/>
            <a:ext cx="11155680" cy="6409944"/>
            <a:chOff x="502920" y="475488"/>
            <a:chExt cx="11155680" cy="6409944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원형 연차 로드맵 (4 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중심 허브를 둘러싼 원 둘레에 단계를 등간격 배치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5166359" y="3154679"/>
              <a:ext cx="1645920" cy="1645920"/>
            </a:xfrm>
            <a:prstGeom prst="ellipse">
              <a:avLst/>
            </a:prstGeom>
            <a:solidFill>
              <a:srgbClr val="1F3864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추진</a:t>
              </a:r>
            </a:p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로드맵</a:t>
              </a:r>
            </a:p>
          </p:txBody>
        </p:sp>
        <p:cxnSp>
          <p:nvCxnSpPr>
            <p:cNvPr id="6" name="Connector 5"/>
            <p:cNvCxnSpPr/>
            <p:nvPr/>
          </p:nvCxnSpPr>
          <p:spPr>
            <a:xfrm flipV="1">
              <a:off x="5989320" y="2560320"/>
              <a:ext cx="0" cy="1417319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Oval 6"/>
            <p:cNvSpPr/>
            <p:nvPr/>
          </p:nvSpPr>
          <p:spPr>
            <a:xfrm>
              <a:off x="5568696" y="2139696"/>
              <a:ext cx="841248" cy="841248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029200" y="1069847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084064" y="1124711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1년차 기반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084064" y="1453895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체계 수립·기반 구축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5989320" y="3977639"/>
              <a:ext cx="1417320" cy="0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Oval 11"/>
            <p:cNvSpPr/>
            <p:nvPr/>
          </p:nvSpPr>
          <p:spPr>
            <a:xfrm>
              <a:off x="6986016" y="3557015"/>
              <a:ext cx="841248" cy="841248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7543800" y="3584447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598664" y="3639311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2년차 확산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598664" y="3968496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기능 확대·고도화</a:t>
              </a:r>
            </a:p>
          </p:txBody>
        </p:sp>
        <p:cxnSp>
          <p:nvCxnSpPr>
            <p:cNvPr id="16" name="Connector 15"/>
            <p:cNvCxnSpPr/>
            <p:nvPr/>
          </p:nvCxnSpPr>
          <p:spPr>
            <a:xfrm>
              <a:off x="5989320" y="3977639"/>
              <a:ext cx="0" cy="1417320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Oval 16"/>
            <p:cNvSpPr/>
            <p:nvPr/>
          </p:nvSpPr>
          <p:spPr>
            <a:xfrm>
              <a:off x="5568696" y="4974336"/>
              <a:ext cx="841248" cy="841248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5029200" y="6099048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084064" y="6153912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3년차 성과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5084064" y="6483096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전면 확산·성과 창출</a:t>
              </a:r>
            </a:p>
          </p:txBody>
        </p:sp>
        <p:cxnSp>
          <p:nvCxnSpPr>
            <p:cNvPr id="21" name="Connector 20"/>
            <p:cNvCxnSpPr/>
            <p:nvPr/>
          </p:nvCxnSpPr>
          <p:spPr>
            <a:xfrm flipH="1">
              <a:off x="4572000" y="3977639"/>
              <a:ext cx="1417320" cy="0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Oval 21"/>
            <p:cNvSpPr/>
            <p:nvPr/>
          </p:nvSpPr>
          <p:spPr>
            <a:xfrm>
              <a:off x="4151376" y="3557015"/>
              <a:ext cx="841248" cy="841248"/>
            </a:xfrm>
            <a:prstGeom prst="ellipse">
              <a:avLst/>
            </a:prstGeom>
            <a:solidFill>
              <a:srgbClr val="7B2D8E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2514600" y="3584447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2569464" y="3639311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4년차 정착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2569464" y="3968496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자립 운영·지속 확산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TML-095</a:t>
            </a:r>
          </a:p>
        </p:txBody>
      </p:sp>
      <p:grpSp>
        <p:nvGrpSpPr>
          <p:cNvPr id="31" name="asset:TML-095"/>
          <p:cNvGrpSpPr/>
          <p:nvPr/>
        </p:nvGrpSpPr>
        <p:grpSpPr>
          <a:xfrm>
            <a:off x="502920" y="475488"/>
            <a:ext cx="11155680" cy="5929698"/>
            <a:chOff x="502920" y="475488"/>
            <a:chExt cx="11155680" cy="5929698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원형 연차 로드맵 (5 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중심 허브를 둘러싼 원 둘레에 단계를 등간격 배치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5166359" y="3154679"/>
              <a:ext cx="1645920" cy="1645920"/>
            </a:xfrm>
            <a:prstGeom prst="ellipse">
              <a:avLst/>
            </a:prstGeom>
            <a:solidFill>
              <a:srgbClr val="1F3864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추진</a:t>
              </a:r>
            </a:p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로드맵</a:t>
              </a:r>
            </a:p>
          </p:txBody>
        </p:sp>
        <p:cxnSp>
          <p:nvCxnSpPr>
            <p:cNvPr id="6" name="Connector 5"/>
            <p:cNvCxnSpPr/>
            <p:nvPr/>
          </p:nvCxnSpPr>
          <p:spPr>
            <a:xfrm flipV="1">
              <a:off x="5989320" y="2560320"/>
              <a:ext cx="0" cy="1417319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Oval 6"/>
            <p:cNvSpPr/>
            <p:nvPr/>
          </p:nvSpPr>
          <p:spPr>
            <a:xfrm>
              <a:off x="5568696" y="2139696"/>
              <a:ext cx="841248" cy="841248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029200" y="1069847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084064" y="1124711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1년차 기반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084064" y="1453895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체계 수립·기반 구축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 flipV="1">
              <a:off x="5989320" y="3539664"/>
              <a:ext cx="1347951" cy="437975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Oval 11"/>
            <p:cNvSpPr/>
            <p:nvPr/>
          </p:nvSpPr>
          <p:spPr>
            <a:xfrm>
              <a:off x="6916647" y="3119040"/>
              <a:ext cx="841248" cy="841248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7420726" y="2807393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475590" y="2862257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2년차 확산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475590" y="3191441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기능 확대·고도화</a:t>
              </a:r>
            </a:p>
          </p:txBody>
        </p:sp>
        <p:cxnSp>
          <p:nvCxnSpPr>
            <p:cNvPr id="16" name="Connector 15"/>
            <p:cNvCxnSpPr/>
            <p:nvPr/>
          </p:nvCxnSpPr>
          <p:spPr>
            <a:xfrm>
              <a:off x="5989320" y="3977639"/>
              <a:ext cx="833079" cy="1146636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Oval 16"/>
            <p:cNvSpPr/>
            <p:nvPr/>
          </p:nvSpPr>
          <p:spPr>
            <a:xfrm>
              <a:off x="6401775" y="4703651"/>
              <a:ext cx="841248" cy="841248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6507244" y="5618802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562108" y="5673666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3년차 성과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562108" y="6002850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전면 확산·성과 창출</a:t>
              </a:r>
            </a:p>
          </p:txBody>
        </p:sp>
        <p:cxnSp>
          <p:nvCxnSpPr>
            <p:cNvPr id="21" name="Connector 20"/>
            <p:cNvCxnSpPr/>
            <p:nvPr/>
          </p:nvCxnSpPr>
          <p:spPr>
            <a:xfrm flipH="1">
              <a:off x="5156240" y="3977639"/>
              <a:ext cx="833080" cy="1146636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Oval 21"/>
            <p:cNvSpPr/>
            <p:nvPr/>
          </p:nvSpPr>
          <p:spPr>
            <a:xfrm>
              <a:off x="4735616" y="4703651"/>
              <a:ext cx="841248" cy="841248"/>
            </a:xfrm>
            <a:prstGeom prst="ellipse">
              <a:avLst/>
            </a:prstGeom>
            <a:solidFill>
              <a:srgbClr val="7B2D8E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3551155" y="5618802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3606019" y="5673666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4년차 정착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3606019" y="6002850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자립 운영·지속 확산</a:t>
              </a:r>
            </a:p>
          </p:txBody>
        </p:sp>
        <p:cxnSp>
          <p:nvCxnSpPr>
            <p:cNvPr id="26" name="Connector 25"/>
            <p:cNvCxnSpPr/>
            <p:nvPr/>
          </p:nvCxnSpPr>
          <p:spPr>
            <a:xfrm flipH="1" flipV="1">
              <a:off x="4641368" y="3539664"/>
              <a:ext cx="1347952" cy="437975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Oval 26"/>
            <p:cNvSpPr/>
            <p:nvPr/>
          </p:nvSpPr>
          <p:spPr>
            <a:xfrm>
              <a:off x="4220744" y="3119040"/>
              <a:ext cx="841248" cy="841248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2637673" y="2807393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2692537" y="2862257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5년차 도약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2692537" y="3191441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고도화·지능화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TML-107</a:t>
            </a:r>
          </a:p>
        </p:txBody>
      </p:sp>
      <p:grpSp>
        <p:nvGrpSpPr>
          <p:cNvPr id="36" name="asset:TML-107"/>
          <p:cNvGrpSpPr/>
          <p:nvPr/>
        </p:nvGrpSpPr>
        <p:grpSpPr>
          <a:xfrm>
            <a:off x="502920" y="475488"/>
            <a:ext cx="11155680" cy="6409944"/>
            <a:chOff x="502920" y="475488"/>
            <a:chExt cx="11155680" cy="6409944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원형 연차 로드맵 (6 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중심 허브를 둘러싼 원 둘레에 단계를 등간격 배치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5166359" y="3154679"/>
              <a:ext cx="1645920" cy="1645920"/>
            </a:xfrm>
            <a:prstGeom prst="ellipse">
              <a:avLst/>
            </a:prstGeom>
            <a:solidFill>
              <a:srgbClr val="1F3864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추진</a:t>
              </a:r>
            </a:p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로드맵</a:t>
              </a:r>
            </a:p>
          </p:txBody>
        </p:sp>
        <p:cxnSp>
          <p:nvCxnSpPr>
            <p:cNvPr id="6" name="Connector 5"/>
            <p:cNvCxnSpPr/>
            <p:nvPr/>
          </p:nvCxnSpPr>
          <p:spPr>
            <a:xfrm flipV="1">
              <a:off x="5989320" y="2560320"/>
              <a:ext cx="0" cy="1417319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Oval 6"/>
            <p:cNvSpPr/>
            <p:nvPr/>
          </p:nvSpPr>
          <p:spPr>
            <a:xfrm>
              <a:off x="5568696" y="2139696"/>
              <a:ext cx="841248" cy="841248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029200" y="1069847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084064" y="1124711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1년차 기반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084064" y="1453895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체계 수립·기반 구축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 flipV="1">
              <a:off x="5989320" y="3268979"/>
              <a:ext cx="1227435" cy="708660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Oval 11"/>
            <p:cNvSpPr/>
            <p:nvPr/>
          </p:nvSpPr>
          <p:spPr>
            <a:xfrm>
              <a:off x="6796131" y="2848356"/>
              <a:ext cx="841248" cy="841248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7206907" y="2327147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261771" y="2382011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2년차 확산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261771" y="2711195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기능 확대·고도화</a:t>
              </a:r>
            </a:p>
          </p:txBody>
        </p:sp>
        <p:cxnSp>
          <p:nvCxnSpPr>
            <p:cNvPr id="16" name="Connector 15"/>
            <p:cNvCxnSpPr/>
            <p:nvPr/>
          </p:nvCxnSpPr>
          <p:spPr>
            <a:xfrm>
              <a:off x="5989320" y="3977639"/>
              <a:ext cx="1227435" cy="708661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Oval 16"/>
            <p:cNvSpPr/>
            <p:nvPr/>
          </p:nvSpPr>
          <p:spPr>
            <a:xfrm>
              <a:off x="6796131" y="4265676"/>
              <a:ext cx="841248" cy="841248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7206907" y="4841748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7261771" y="4896612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3년차 성과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7261771" y="5225796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전면 확산·성과 창출</a:t>
              </a:r>
            </a:p>
          </p:txBody>
        </p:sp>
        <p:cxnSp>
          <p:nvCxnSpPr>
            <p:cNvPr id="21" name="Connector 20"/>
            <p:cNvCxnSpPr/>
            <p:nvPr/>
          </p:nvCxnSpPr>
          <p:spPr>
            <a:xfrm>
              <a:off x="5989320" y="3977639"/>
              <a:ext cx="0" cy="1417320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Oval 21"/>
            <p:cNvSpPr/>
            <p:nvPr/>
          </p:nvSpPr>
          <p:spPr>
            <a:xfrm>
              <a:off x="5568696" y="4974336"/>
              <a:ext cx="841248" cy="841248"/>
            </a:xfrm>
            <a:prstGeom prst="ellipse">
              <a:avLst/>
            </a:prstGeom>
            <a:solidFill>
              <a:srgbClr val="7B2D8E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5029200" y="6099048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5084064" y="6153912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4년차 정착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5084064" y="6483096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자립 운영·지속 확산</a:t>
              </a:r>
            </a:p>
          </p:txBody>
        </p:sp>
        <p:cxnSp>
          <p:nvCxnSpPr>
            <p:cNvPr id="26" name="Connector 25"/>
            <p:cNvCxnSpPr/>
            <p:nvPr/>
          </p:nvCxnSpPr>
          <p:spPr>
            <a:xfrm flipH="1">
              <a:off x="4761884" y="3977639"/>
              <a:ext cx="1227436" cy="708661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Oval 26"/>
            <p:cNvSpPr/>
            <p:nvPr/>
          </p:nvSpPr>
          <p:spPr>
            <a:xfrm>
              <a:off x="4341260" y="4265676"/>
              <a:ext cx="841248" cy="841248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2851492" y="4841748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2906356" y="4896612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5년차 도약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2906356" y="5225796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고도화·지능화</a:t>
              </a:r>
            </a:p>
          </p:txBody>
        </p:sp>
        <p:cxnSp>
          <p:nvCxnSpPr>
            <p:cNvPr id="31" name="Connector 30"/>
            <p:cNvCxnSpPr/>
            <p:nvPr/>
          </p:nvCxnSpPr>
          <p:spPr>
            <a:xfrm flipH="1" flipV="1">
              <a:off x="4761884" y="3268979"/>
              <a:ext cx="1227436" cy="708660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Oval 31"/>
            <p:cNvSpPr/>
            <p:nvPr/>
          </p:nvSpPr>
          <p:spPr>
            <a:xfrm>
              <a:off x="4341260" y="2848355"/>
              <a:ext cx="841248" cy="841248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2851492" y="2327147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2906356" y="2382011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6년차 성숙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2906356" y="2711195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지속 성장·확대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TML-119</a:t>
            </a:r>
          </a:p>
        </p:txBody>
      </p:sp>
      <p:grpSp>
        <p:nvGrpSpPr>
          <p:cNvPr id="21" name="asset:TML-119"/>
          <p:cNvGrpSpPr/>
          <p:nvPr/>
        </p:nvGrpSpPr>
        <p:grpSpPr>
          <a:xfrm>
            <a:off x="502920" y="475488"/>
            <a:ext cx="11155680" cy="5152644"/>
            <a:chOff x="502920" y="475488"/>
            <a:chExt cx="11155680" cy="5152644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원형 연차 로드맵 (3 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중심 허브를 둘러싼 원 둘레에 단계를 등간격 배치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5166359" y="3154679"/>
              <a:ext cx="1645920" cy="1645920"/>
            </a:xfrm>
            <a:prstGeom prst="ellipse">
              <a:avLst/>
            </a:prstGeom>
            <a:solidFill>
              <a:srgbClr val="1F3864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추진</a:t>
              </a:r>
            </a:p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로드맵</a:t>
              </a:r>
            </a:p>
          </p:txBody>
        </p:sp>
        <p:cxnSp>
          <p:nvCxnSpPr>
            <p:cNvPr id="6" name="Connector 5"/>
            <p:cNvCxnSpPr/>
            <p:nvPr/>
          </p:nvCxnSpPr>
          <p:spPr>
            <a:xfrm flipV="1">
              <a:off x="5989320" y="2560320"/>
              <a:ext cx="0" cy="1417319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Oval 6"/>
            <p:cNvSpPr/>
            <p:nvPr/>
          </p:nvSpPr>
          <p:spPr>
            <a:xfrm>
              <a:off x="5568696" y="2139696"/>
              <a:ext cx="841248" cy="841248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029200" y="1069847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084064" y="1124711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1년차 기반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084064" y="1453895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체계 수립·기반 구축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5989320" y="3977639"/>
              <a:ext cx="1227435" cy="708661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Oval 11"/>
            <p:cNvSpPr/>
            <p:nvPr/>
          </p:nvSpPr>
          <p:spPr>
            <a:xfrm>
              <a:off x="6796131" y="4265676"/>
              <a:ext cx="841248" cy="841248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7206907" y="4841748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261771" y="4896612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2년차 확산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261771" y="5225796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기능 확대·고도화</a:t>
              </a:r>
            </a:p>
          </p:txBody>
        </p:sp>
        <p:cxnSp>
          <p:nvCxnSpPr>
            <p:cNvPr id="16" name="Connector 15"/>
            <p:cNvCxnSpPr/>
            <p:nvPr/>
          </p:nvCxnSpPr>
          <p:spPr>
            <a:xfrm flipH="1">
              <a:off x="4761884" y="3977639"/>
              <a:ext cx="1227436" cy="708661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Oval 16"/>
            <p:cNvSpPr/>
            <p:nvPr/>
          </p:nvSpPr>
          <p:spPr>
            <a:xfrm>
              <a:off x="4341260" y="4265676"/>
              <a:ext cx="841248" cy="841248"/>
            </a:xfrm>
            <a:prstGeom prst="ellipse">
              <a:avLst/>
            </a:prstGeom>
            <a:solidFill>
              <a:srgbClr val="7B2D8E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2851492" y="4841748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2906356" y="4896612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3년차 성과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2906356" y="5225796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전면 확산·성과 창출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TML-131</a:t>
            </a:r>
          </a:p>
        </p:txBody>
      </p:sp>
      <p:grpSp>
        <p:nvGrpSpPr>
          <p:cNvPr id="26" name="asset:TML-131"/>
          <p:cNvGrpSpPr/>
          <p:nvPr/>
        </p:nvGrpSpPr>
        <p:grpSpPr>
          <a:xfrm>
            <a:off x="502920" y="475488"/>
            <a:ext cx="11155680" cy="6409944"/>
            <a:chOff x="502920" y="475488"/>
            <a:chExt cx="11155680" cy="6409944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원형 연차 로드맵 (4 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중심 허브를 둘러싼 원 둘레에 단계를 등간격 배치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5166359" y="3154679"/>
              <a:ext cx="1645920" cy="1645920"/>
            </a:xfrm>
            <a:prstGeom prst="ellipse">
              <a:avLst/>
            </a:prstGeom>
            <a:solidFill>
              <a:srgbClr val="1F3864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추진</a:t>
              </a:r>
            </a:p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로드맵</a:t>
              </a:r>
            </a:p>
          </p:txBody>
        </p:sp>
        <p:cxnSp>
          <p:nvCxnSpPr>
            <p:cNvPr id="6" name="Connector 5"/>
            <p:cNvCxnSpPr/>
            <p:nvPr/>
          </p:nvCxnSpPr>
          <p:spPr>
            <a:xfrm flipV="1">
              <a:off x="5989320" y="2560320"/>
              <a:ext cx="0" cy="1417319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Oval 6"/>
            <p:cNvSpPr/>
            <p:nvPr/>
          </p:nvSpPr>
          <p:spPr>
            <a:xfrm>
              <a:off x="5568696" y="2139696"/>
              <a:ext cx="841248" cy="841248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029200" y="1069847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084064" y="1124711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1년차 기반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084064" y="1453895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체계 수립·기반 구축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5989320" y="3977639"/>
              <a:ext cx="1417320" cy="0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Oval 11"/>
            <p:cNvSpPr/>
            <p:nvPr/>
          </p:nvSpPr>
          <p:spPr>
            <a:xfrm>
              <a:off x="6986016" y="3557015"/>
              <a:ext cx="841248" cy="841248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7543800" y="3584447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598664" y="3639311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2년차 확산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598664" y="3968496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기능 확대·고도화</a:t>
              </a:r>
            </a:p>
          </p:txBody>
        </p:sp>
        <p:cxnSp>
          <p:nvCxnSpPr>
            <p:cNvPr id="16" name="Connector 15"/>
            <p:cNvCxnSpPr/>
            <p:nvPr/>
          </p:nvCxnSpPr>
          <p:spPr>
            <a:xfrm>
              <a:off x="5989320" y="3977639"/>
              <a:ext cx="0" cy="1417320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Oval 16"/>
            <p:cNvSpPr/>
            <p:nvPr/>
          </p:nvSpPr>
          <p:spPr>
            <a:xfrm>
              <a:off x="5568696" y="4974336"/>
              <a:ext cx="841248" cy="841248"/>
            </a:xfrm>
            <a:prstGeom prst="ellipse">
              <a:avLst/>
            </a:prstGeom>
            <a:solidFill>
              <a:srgbClr val="7B2D8E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5029200" y="6099048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084064" y="6153912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3년차 성과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5084064" y="6483096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전면 확산·성과 창출</a:t>
              </a:r>
            </a:p>
          </p:txBody>
        </p:sp>
        <p:cxnSp>
          <p:nvCxnSpPr>
            <p:cNvPr id="21" name="Connector 20"/>
            <p:cNvCxnSpPr/>
            <p:nvPr/>
          </p:nvCxnSpPr>
          <p:spPr>
            <a:xfrm flipH="1">
              <a:off x="4572000" y="3977639"/>
              <a:ext cx="1417320" cy="0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Oval 21"/>
            <p:cNvSpPr/>
            <p:nvPr/>
          </p:nvSpPr>
          <p:spPr>
            <a:xfrm>
              <a:off x="4151376" y="3557015"/>
              <a:ext cx="841248" cy="841248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2514600" y="3584447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2569464" y="3639311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4년차 정착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2569464" y="3968496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자립 운영·지속 확산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TML-143</a:t>
            </a:r>
          </a:p>
        </p:txBody>
      </p:sp>
      <p:grpSp>
        <p:nvGrpSpPr>
          <p:cNvPr id="31" name="asset:TML-143"/>
          <p:cNvGrpSpPr/>
          <p:nvPr/>
        </p:nvGrpSpPr>
        <p:grpSpPr>
          <a:xfrm>
            <a:off x="502920" y="475488"/>
            <a:ext cx="11155680" cy="5929698"/>
            <a:chOff x="502920" y="475488"/>
            <a:chExt cx="11155680" cy="5929698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원형 연차 로드맵 (5 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중심 허브를 둘러싼 원 둘레에 단계를 등간격 배치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5166359" y="3154679"/>
              <a:ext cx="1645920" cy="1645920"/>
            </a:xfrm>
            <a:prstGeom prst="ellipse">
              <a:avLst/>
            </a:prstGeom>
            <a:solidFill>
              <a:srgbClr val="1F3864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추진</a:t>
              </a:r>
            </a:p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로드맵</a:t>
              </a:r>
            </a:p>
          </p:txBody>
        </p:sp>
        <p:cxnSp>
          <p:nvCxnSpPr>
            <p:cNvPr id="6" name="Connector 5"/>
            <p:cNvCxnSpPr/>
            <p:nvPr/>
          </p:nvCxnSpPr>
          <p:spPr>
            <a:xfrm flipV="1">
              <a:off x="5989320" y="2560320"/>
              <a:ext cx="0" cy="1417319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Oval 6"/>
            <p:cNvSpPr/>
            <p:nvPr/>
          </p:nvSpPr>
          <p:spPr>
            <a:xfrm>
              <a:off x="5568696" y="2139696"/>
              <a:ext cx="841248" cy="841248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029200" y="1069847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084064" y="1124711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1년차 기반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084064" y="1453895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체계 수립·기반 구축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 flipV="1">
              <a:off x="5989320" y="3539664"/>
              <a:ext cx="1347951" cy="437975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Oval 11"/>
            <p:cNvSpPr/>
            <p:nvPr/>
          </p:nvSpPr>
          <p:spPr>
            <a:xfrm>
              <a:off x="6916647" y="3119040"/>
              <a:ext cx="841248" cy="841248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7420726" y="2807393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475590" y="2862257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2년차 확산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475590" y="3191441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기능 확대·고도화</a:t>
              </a:r>
            </a:p>
          </p:txBody>
        </p:sp>
        <p:cxnSp>
          <p:nvCxnSpPr>
            <p:cNvPr id="16" name="Connector 15"/>
            <p:cNvCxnSpPr/>
            <p:nvPr/>
          </p:nvCxnSpPr>
          <p:spPr>
            <a:xfrm>
              <a:off x="5989320" y="3977639"/>
              <a:ext cx="833079" cy="1146636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Oval 16"/>
            <p:cNvSpPr/>
            <p:nvPr/>
          </p:nvSpPr>
          <p:spPr>
            <a:xfrm>
              <a:off x="6401775" y="4703651"/>
              <a:ext cx="841248" cy="841248"/>
            </a:xfrm>
            <a:prstGeom prst="ellipse">
              <a:avLst/>
            </a:prstGeom>
            <a:solidFill>
              <a:srgbClr val="7B2D8E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6507244" y="5618802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562108" y="5673666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3년차 성과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562108" y="6002850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전면 확산·성과 창출</a:t>
              </a:r>
            </a:p>
          </p:txBody>
        </p:sp>
        <p:cxnSp>
          <p:nvCxnSpPr>
            <p:cNvPr id="21" name="Connector 20"/>
            <p:cNvCxnSpPr/>
            <p:nvPr/>
          </p:nvCxnSpPr>
          <p:spPr>
            <a:xfrm flipH="1">
              <a:off x="5156240" y="3977639"/>
              <a:ext cx="833080" cy="1146636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Oval 21"/>
            <p:cNvSpPr/>
            <p:nvPr/>
          </p:nvSpPr>
          <p:spPr>
            <a:xfrm>
              <a:off x="4735616" y="4703651"/>
              <a:ext cx="841248" cy="841248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3551155" y="5618802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3606019" y="5673666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4년차 정착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3606019" y="6002850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자립 운영·지속 확산</a:t>
              </a:r>
            </a:p>
          </p:txBody>
        </p:sp>
        <p:cxnSp>
          <p:nvCxnSpPr>
            <p:cNvPr id="26" name="Connector 25"/>
            <p:cNvCxnSpPr/>
            <p:nvPr/>
          </p:nvCxnSpPr>
          <p:spPr>
            <a:xfrm flipH="1" flipV="1">
              <a:off x="4641368" y="3539664"/>
              <a:ext cx="1347952" cy="437975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Oval 26"/>
            <p:cNvSpPr/>
            <p:nvPr/>
          </p:nvSpPr>
          <p:spPr>
            <a:xfrm>
              <a:off x="4220744" y="3119040"/>
              <a:ext cx="841248" cy="841248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2637673" y="2807393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2692537" y="2862257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5년차 도약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2692537" y="3191441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고도화·지능화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TML-155</a:t>
            </a:r>
          </a:p>
        </p:txBody>
      </p:sp>
      <p:grpSp>
        <p:nvGrpSpPr>
          <p:cNvPr id="36" name="asset:TML-155"/>
          <p:cNvGrpSpPr/>
          <p:nvPr/>
        </p:nvGrpSpPr>
        <p:grpSpPr>
          <a:xfrm>
            <a:off x="502920" y="475488"/>
            <a:ext cx="11155680" cy="6409944"/>
            <a:chOff x="502920" y="475488"/>
            <a:chExt cx="11155680" cy="6409944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원형 연차 로드맵 (6 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중심 허브를 둘러싼 원 둘레에 단계를 등간격 배치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5166359" y="3154679"/>
              <a:ext cx="1645920" cy="1645920"/>
            </a:xfrm>
            <a:prstGeom prst="ellipse">
              <a:avLst/>
            </a:prstGeom>
            <a:solidFill>
              <a:srgbClr val="1F3864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추진</a:t>
              </a:r>
            </a:p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로드맵</a:t>
              </a:r>
            </a:p>
          </p:txBody>
        </p:sp>
        <p:cxnSp>
          <p:nvCxnSpPr>
            <p:cNvPr id="6" name="Connector 5"/>
            <p:cNvCxnSpPr/>
            <p:nvPr/>
          </p:nvCxnSpPr>
          <p:spPr>
            <a:xfrm flipV="1">
              <a:off x="5989320" y="2560320"/>
              <a:ext cx="0" cy="1417319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Oval 6"/>
            <p:cNvSpPr/>
            <p:nvPr/>
          </p:nvSpPr>
          <p:spPr>
            <a:xfrm>
              <a:off x="5568696" y="2139696"/>
              <a:ext cx="841248" cy="841248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029200" y="1069847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084064" y="1124711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1년차 기반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084064" y="1453895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체계 수립·기반 구축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 flipV="1">
              <a:off x="5989320" y="3268979"/>
              <a:ext cx="1227435" cy="708660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Oval 11"/>
            <p:cNvSpPr/>
            <p:nvPr/>
          </p:nvSpPr>
          <p:spPr>
            <a:xfrm>
              <a:off x="6796131" y="2848356"/>
              <a:ext cx="841248" cy="841248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7206907" y="2327147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261771" y="2382011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2년차 확산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261771" y="2711195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기능 확대·고도화</a:t>
              </a:r>
            </a:p>
          </p:txBody>
        </p:sp>
        <p:cxnSp>
          <p:nvCxnSpPr>
            <p:cNvPr id="16" name="Connector 15"/>
            <p:cNvCxnSpPr/>
            <p:nvPr/>
          </p:nvCxnSpPr>
          <p:spPr>
            <a:xfrm>
              <a:off x="5989320" y="3977639"/>
              <a:ext cx="1227435" cy="708661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Oval 16"/>
            <p:cNvSpPr/>
            <p:nvPr/>
          </p:nvSpPr>
          <p:spPr>
            <a:xfrm>
              <a:off x="6796131" y="4265676"/>
              <a:ext cx="841248" cy="841248"/>
            </a:xfrm>
            <a:prstGeom prst="ellipse">
              <a:avLst/>
            </a:prstGeom>
            <a:solidFill>
              <a:srgbClr val="7B2D8E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7206907" y="4841748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7261771" y="4896612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3년차 성과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7261771" y="5225796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전면 확산·성과 창출</a:t>
              </a:r>
            </a:p>
          </p:txBody>
        </p:sp>
        <p:cxnSp>
          <p:nvCxnSpPr>
            <p:cNvPr id="21" name="Connector 20"/>
            <p:cNvCxnSpPr/>
            <p:nvPr/>
          </p:nvCxnSpPr>
          <p:spPr>
            <a:xfrm>
              <a:off x="5989320" y="3977639"/>
              <a:ext cx="0" cy="1417320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Oval 21"/>
            <p:cNvSpPr/>
            <p:nvPr/>
          </p:nvSpPr>
          <p:spPr>
            <a:xfrm>
              <a:off x="5568696" y="4974336"/>
              <a:ext cx="841248" cy="841248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5029200" y="6099048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5084064" y="6153912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4년차 정착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5084064" y="6483096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자립 운영·지속 확산</a:t>
              </a:r>
            </a:p>
          </p:txBody>
        </p:sp>
        <p:cxnSp>
          <p:nvCxnSpPr>
            <p:cNvPr id="26" name="Connector 25"/>
            <p:cNvCxnSpPr/>
            <p:nvPr/>
          </p:nvCxnSpPr>
          <p:spPr>
            <a:xfrm flipH="1">
              <a:off x="4761884" y="3977639"/>
              <a:ext cx="1227436" cy="708661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Oval 26"/>
            <p:cNvSpPr/>
            <p:nvPr/>
          </p:nvSpPr>
          <p:spPr>
            <a:xfrm>
              <a:off x="4341260" y="4265676"/>
              <a:ext cx="841248" cy="841248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2851492" y="4841748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2906356" y="4896612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5년차 도약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2906356" y="5225796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고도화·지능화</a:t>
              </a:r>
            </a:p>
          </p:txBody>
        </p:sp>
        <p:cxnSp>
          <p:nvCxnSpPr>
            <p:cNvPr id="31" name="Connector 30"/>
            <p:cNvCxnSpPr/>
            <p:nvPr/>
          </p:nvCxnSpPr>
          <p:spPr>
            <a:xfrm flipH="1" flipV="1">
              <a:off x="4761884" y="3268979"/>
              <a:ext cx="1227436" cy="708660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Oval 31"/>
            <p:cNvSpPr/>
            <p:nvPr/>
          </p:nvSpPr>
          <p:spPr>
            <a:xfrm>
              <a:off x="4341260" y="2848355"/>
              <a:ext cx="841248" cy="841248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2851492" y="2327147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2906356" y="2382011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6년차 성숙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2906356" y="2711195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지속 성장·확대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TML-167</a:t>
            </a:r>
          </a:p>
        </p:txBody>
      </p:sp>
      <p:grpSp>
        <p:nvGrpSpPr>
          <p:cNvPr id="21" name="asset:TML-167"/>
          <p:cNvGrpSpPr/>
          <p:nvPr/>
        </p:nvGrpSpPr>
        <p:grpSpPr>
          <a:xfrm>
            <a:off x="502920" y="475488"/>
            <a:ext cx="11155680" cy="5152644"/>
            <a:chOff x="502920" y="475488"/>
            <a:chExt cx="11155680" cy="5152644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원형 연차 로드맵 (3 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중심 허브를 둘러싼 원 둘레에 단계를 등간격 배치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5166359" y="3154679"/>
              <a:ext cx="1645920" cy="1645920"/>
            </a:xfrm>
            <a:prstGeom prst="ellipse">
              <a:avLst/>
            </a:prstGeom>
            <a:solidFill>
              <a:srgbClr val="1F3864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추진</a:t>
              </a:r>
            </a:p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로드맵</a:t>
              </a:r>
            </a:p>
          </p:txBody>
        </p:sp>
        <p:cxnSp>
          <p:nvCxnSpPr>
            <p:cNvPr id="6" name="Connector 5"/>
            <p:cNvCxnSpPr/>
            <p:nvPr/>
          </p:nvCxnSpPr>
          <p:spPr>
            <a:xfrm flipV="1">
              <a:off x="5989320" y="2560320"/>
              <a:ext cx="0" cy="1417319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Oval 6"/>
            <p:cNvSpPr/>
            <p:nvPr/>
          </p:nvSpPr>
          <p:spPr>
            <a:xfrm>
              <a:off x="5568696" y="2139696"/>
              <a:ext cx="841248" cy="841248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029200" y="1069847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084064" y="1124711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1년차 기반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084064" y="1453895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체계 수립·기반 구축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5989320" y="3977639"/>
              <a:ext cx="1227435" cy="708661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Oval 11"/>
            <p:cNvSpPr/>
            <p:nvPr/>
          </p:nvSpPr>
          <p:spPr>
            <a:xfrm>
              <a:off x="6796131" y="4265676"/>
              <a:ext cx="841248" cy="841248"/>
            </a:xfrm>
            <a:prstGeom prst="ellipse">
              <a:avLst/>
            </a:prstGeom>
            <a:solidFill>
              <a:srgbClr val="7B2D8E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7206907" y="4841748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261771" y="4896612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2년차 확산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261771" y="5225796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기능 확대·고도화</a:t>
              </a:r>
            </a:p>
          </p:txBody>
        </p:sp>
        <p:cxnSp>
          <p:nvCxnSpPr>
            <p:cNvPr id="16" name="Connector 15"/>
            <p:cNvCxnSpPr/>
            <p:nvPr/>
          </p:nvCxnSpPr>
          <p:spPr>
            <a:xfrm flipH="1">
              <a:off x="4761884" y="3977639"/>
              <a:ext cx="1227436" cy="708661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Oval 16"/>
            <p:cNvSpPr/>
            <p:nvPr/>
          </p:nvSpPr>
          <p:spPr>
            <a:xfrm>
              <a:off x="4341260" y="4265676"/>
              <a:ext cx="841248" cy="841248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2851492" y="4841748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2906356" y="4896612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3년차 성과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2906356" y="5225796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전면 확산·성과 창출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TML-179</a:t>
            </a:r>
          </a:p>
        </p:txBody>
      </p:sp>
      <p:grpSp>
        <p:nvGrpSpPr>
          <p:cNvPr id="26" name="asset:TML-179"/>
          <p:cNvGrpSpPr/>
          <p:nvPr/>
        </p:nvGrpSpPr>
        <p:grpSpPr>
          <a:xfrm>
            <a:off x="502920" y="475488"/>
            <a:ext cx="11155680" cy="6409944"/>
            <a:chOff x="502920" y="475488"/>
            <a:chExt cx="11155680" cy="6409944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원형 연차 로드맵 (4 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중심 허브를 둘러싼 원 둘레에 단계를 등간격 배치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5166359" y="3154679"/>
              <a:ext cx="1645920" cy="1645920"/>
            </a:xfrm>
            <a:prstGeom prst="ellipse">
              <a:avLst/>
            </a:prstGeom>
            <a:solidFill>
              <a:srgbClr val="1F3864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추진</a:t>
              </a:r>
            </a:p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로드맵</a:t>
              </a:r>
            </a:p>
          </p:txBody>
        </p:sp>
        <p:cxnSp>
          <p:nvCxnSpPr>
            <p:cNvPr id="6" name="Connector 5"/>
            <p:cNvCxnSpPr/>
            <p:nvPr/>
          </p:nvCxnSpPr>
          <p:spPr>
            <a:xfrm flipV="1">
              <a:off x="5989320" y="2560320"/>
              <a:ext cx="0" cy="1417319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Oval 6"/>
            <p:cNvSpPr/>
            <p:nvPr/>
          </p:nvSpPr>
          <p:spPr>
            <a:xfrm>
              <a:off x="5568696" y="2139696"/>
              <a:ext cx="841248" cy="841248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029200" y="1069847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084064" y="1124711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1년차 기반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084064" y="1453895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체계 수립·기반 구축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5989320" y="3977639"/>
              <a:ext cx="1417320" cy="0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Oval 11"/>
            <p:cNvSpPr/>
            <p:nvPr/>
          </p:nvSpPr>
          <p:spPr>
            <a:xfrm>
              <a:off x="6986016" y="3557015"/>
              <a:ext cx="841248" cy="841248"/>
            </a:xfrm>
            <a:prstGeom prst="ellipse">
              <a:avLst/>
            </a:prstGeom>
            <a:solidFill>
              <a:srgbClr val="7B2D8E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7543800" y="3584447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598664" y="3639311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2년차 확산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598664" y="3968496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기능 확대·고도화</a:t>
              </a:r>
            </a:p>
          </p:txBody>
        </p:sp>
        <p:cxnSp>
          <p:nvCxnSpPr>
            <p:cNvPr id="16" name="Connector 15"/>
            <p:cNvCxnSpPr/>
            <p:nvPr/>
          </p:nvCxnSpPr>
          <p:spPr>
            <a:xfrm>
              <a:off x="5989320" y="3977639"/>
              <a:ext cx="0" cy="1417320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Oval 16"/>
            <p:cNvSpPr/>
            <p:nvPr/>
          </p:nvSpPr>
          <p:spPr>
            <a:xfrm>
              <a:off x="5568696" y="4974336"/>
              <a:ext cx="841248" cy="841248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5029200" y="6099048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084064" y="6153912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3년차 성과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5084064" y="6483096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전면 확산·성과 창출</a:t>
              </a:r>
            </a:p>
          </p:txBody>
        </p:sp>
        <p:cxnSp>
          <p:nvCxnSpPr>
            <p:cNvPr id="21" name="Connector 20"/>
            <p:cNvCxnSpPr/>
            <p:nvPr/>
          </p:nvCxnSpPr>
          <p:spPr>
            <a:xfrm flipH="1">
              <a:off x="4572000" y="3977639"/>
              <a:ext cx="1417320" cy="0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Oval 21"/>
            <p:cNvSpPr/>
            <p:nvPr/>
          </p:nvSpPr>
          <p:spPr>
            <a:xfrm>
              <a:off x="4151376" y="3557015"/>
              <a:ext cx="841248" cy="841248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2514600" y="3584447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2569464" y="3639311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4년차 정착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2569464" y="3968496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자립 운영·지속 확산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TML-191</a:t>
            </a:r>
          </a:p>
        </p:txBody>
      </p:sp>
      <p:grpSp>
        <p:nvGrpSpPr>
          <p:cNvPr id="31" name="asset:TML-191"/>
          <p:cNvGrpSpPr/>
          <p:nvPr/>
        </p:nvGrpSpPr>
        <p:grpSpPr>
          <a:xfrm>
            <a:off x="502920" y="475488"/>
            <a:ext cx="11155680" cy="5929698"/>
            <a:chOff x="502920" y="475488"/>
            <a:chExt cx="11155680" cy="5929698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원형 연차 로드맵 (5 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중심 허브를 둘러싼 원 둘레에 단계를 등간격 배치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5166359" y="3154679"/>
              <a:ext cx="1645920" cy="1645920"/>
            </a:xfrm>
            <a:prstGeom prst="ellipse">
              <a:avLst/>
            </a:prstGeom>
            <a:solidFill>
              <a:srgbClr val="1F3864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추진</a:t>
              </a:r>
            </a:p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로드맵</a:t>
              </a:r>
            </a:p>
          </p:txBody>
        </p:sp>
        <p:cxnSp>
          <p:nvCxnSpPr>
            <p:cNvPr id="6" name="Connector 5"/>
            <p:cNvCxnSpPr/>
            <p:nvPr/>
          </p:nvCxnSpPr>
          <p:spPr>
            <a:xfrm flipV="1">
              <a:off x="5989320" y="2560320"/>
              <a:ext cx="0" cy="1417319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Oval 6"/>
            <p:cNvSpPr/>
            <p:nvPr/>
          </p:nvSpPr>
          <p:spPr>
            <a:xfrm>
              <a:off x="5568696" y="2139696"/>
              <a:ext cx="841248" cy="841248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029200" y="1069847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084064" y="1124711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1년차 기반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084064" y="1453895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체계 수립·기반 구축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 flipV="1">
              <a:off x="5989320" y="3539664"/>
              <a:ext cx="1347951" cy="437975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Oval 11"/>
            <p:cNvSpPr/>
            <p:nvPr/>
          </p:nvSpPr>
          <p:spPr>
            <a:xfrm>
              <a:off x="6916647" y="3119040"/>
              <a:ext cx="841248" cy="841248"/>
            </a:xfrm>
            <a:prstGeom prst="ellipse">
              <a:avLst/>
            </a:prstGeom>
            <a:solidFill>
              <a:srgbClr val="7B2D8E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7420726" y="2807393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475590" y="2862257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2년차 확산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475590" y="3191441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기능 확대·고도화</a:t>
              </a:r>
            </a:p>
          </p:txBody>
        </p:sp>
        <p:cxnSp>
          <p:nvCxnSpPr>
            <p:cNvPr id="16" name="Connector 15"/>
            <p:cNvCxnSpPr/>
            <p:nvPr/>
          </p:nvCxnSpPr>
          <p:spPr>
            <a:xfrm>
              <a:off x="5989320" y="3977639"/>
              <a:ext cx="833079" cy="1146636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Oval 16"/>
            <p:cNvSpPr/>
            <p:nvPr/>
          </p:nvSpPr>
          <p:spPr>
            <a:xfrm>
              <a:off x="6401775" y="4703651"/>
              <a:ext cx="841248" cy="841248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6507244" y="5618802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562108" y="5673666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3년차 성과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562108" y="6002850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전면 확산·성과 창출</a:t>
              </a:r>
            </a:p>
          </p:txBody>
        </p:sp>
        <p:cxnSp>
          <p:nvCxnSpPr>
            <p:cNvPr id="21" name="Connector 20"/>
            <p:cNvCxnSpPr/>
            <p:nvPr/>
          </p:nvCxnSpPr>
          <p:spPr>
            <a:xfrm flipH="1">
              <a:off x="5156240" y="3977639"/>
              <a:ext cx="833080" cy="1146636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Oval 21"/>
            <p:cNvSpPr/>
            <p:nvPr/>
          </p:nvSpPr>
          <p:spPr>
            <a:xfrm>
              <a:off x="4735616" y="4703651"/>
              <a:ext cx="841248" cy="841248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3551155" y="5618802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3606019" y="5673666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4년차 정착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3606019" y="6002850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자립 운영·지속 확산</a:t>
              </a:r>
            </a:p>
          </p:txBody>
        </p:sp>
        <p:cxnSp>
          <p:nvCxnSpPr>
            <p:cNvPr id="26" name="Connector 25"/>
            <p:cNvCxnSpPr/>
            <p:nvPr/>
          </p:nvCxnSpPr>
          <p:spPr>
            <a:xfrm flipH="1" flipV="1">
              <a:off x="4641368" y="3539664"/>
              <a:ext cx="1347952" cy="437975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Oval 26"/>
            <p:cNvSpPr/>
            <p:nvPr/>
          </p:nvSpPr>
          <p:spPr>
            <a:xfrm>
              <a:off x="4220744" y="3119040"/>
              <a:ext cx="841248" cy="841248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2637673" y="2807393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2692537" y="2862257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5년차 도약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2692537" y="3191441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고도화·지능화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