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6" name="asset:HDR-079"/>
          <p:cNvGrpSpPr/>
          <p:nvPr/>
        </p:nvGrpSpPr>
        <p:grpSpPr>
          <a:xfrm>
            <a:off x="548640" y="914400"/>
            <a:ext cx="4389120" cy="1005840"/>
            <a:chOff x="548640" y="914400"/>
            <a:chExt cx="4389120" cy="1005840"/>
          </a:xfrm>
        </p:grpSpPr>
        <p:sp>
          <p:nvSpPr>
            <p:cNvPr id="2" name="Rectangle 1"/>
            <p:cNvSpPr/>
            <p:nvPr/>
          </p:nvSpPr>
          <p:spPr>
            <a:xfrm>
              <a:off x="548640" y="914400"/>
              <a:ext cx="4389120" cy="1005840"/>
            </a:xfrm>
            <a:prstGeom prst="rect">
              <a:avLst/>
            </a:prstGeom>
            <a:solidFill>
              <a:srgbClr val="F7F9FC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Rectangle 2"/>
            <p:cNvSpPr/>
            <p:nvPr/>
          </p:nvSpPr>
          <p:spPr>
            <a:xfrm>
              <a:off x="548640" y="914400"/>
              <a:ext cx="82296" cy="100584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804672" y="1005840"/>
              <a:ext cx="4023359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핵심 제안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04672" y="1325880"/>
              <a:ext cx="4023359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현지화 콘텐츠 재가공 및 채널별 최적 배급 전략으로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해외 시장 진입 장벽을 최소화합니다.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HDR-079~ · 강조 콜아웃 박스</a:t>
            </a:r>
          </a:p>
        </p:txBody>
      </p:sp>
      <p:grpSp>
        <p:nvGrpSpPr>
          <p:cNvPr id="12" name="asset:HDR-080"/>
          <p:cNvGrpSpPr/>
          <p:nvPr/>
        </p:nvGrpSpPr>
        <p:grpSpPr>
          <a:xfrm>
            <a:off x="6400800" y="914400"/>
            <a:ext cx="4389120" cy="1005840"/>
            <a:chOff x="6400800" y="914400"/>
            <a:chExt cx="4389120" cy="1005840"/>
          </a:xfrm>
        </p:grpSpPr>
        <p:sp>
          <p:nvSpPr>
            <p:cNvPr id="8" name="Rectangle 7"/>
            <p:cNvSpPr/>
            <p:nvPr/>
          </p:nvSpPr>
          <p:spPr>
            <a:xfrm>
              <a:off x="6400800" y="914400"/>
              <a:ext cx="4389120" cy="1005840"/>
            </a:xfrm>
            <a:prstGeom prst="rect">
              <a:avLst/>
            </a:prstGeom>
            <a:solidFill>
              <a:srgbClr val="F7F9FC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6400800" y="914400"/>
              <a:ext cx="82296" cy="100584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656832" y="1005840"/>
              <a:ext cx="4023359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핵심 제안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656832" y="1325880"/>
              <a:ext cx="4023359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현지화 콘텐츠 재가공 및 채널별 최적 배급 전략으로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해외 시장 진입 장벽을 최소화합니다.</a:t>
              </a:r>
            </a:p>
          </p:txBody>
        </p:sp>
      </p:grpSp>
      <p:grpSp>
        <p:nvGrpSpPr>
          <p:cNvPr id="17" name="asset:HDR-081"/>
          <p:cNvGrpSpPr/>
          <p:nvPr/>
        </p:nvGrpSpPr>
        <p:grpSpPr>
          <a:xfrm>
            <a:off x="548640" y="2331720"/>
            <a:ext cx="4389120" cy="1005840"/>
            <a:chOff x="548640" y="2331720"/>
            <a:chExt cx="4389120" cy="1005840"/>
          </a:xfrm>
        </p:grpSpPr>
        <p:sp>
          <p:nvSpPr>
            <p:cNvPr id="13" name="Rectangle 12"/>
            <p:cNvSpPr/>
            <p:nvPr/>
          </p:nvSpPr>
          <p:spPr>
            <a:xfrm>
              <a:off x="548640" y="2331720"/>
              <a:ext cx="4389120" cy="1005840"/>
            </a:xfrm>
            <a:prstGeom prst="rect">
              <a:avLst/>
            </a:prstGeom>
            <a:solidFill>
              <a:srgbClr val="F7F9FC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48640" y="2331720"/>
              <a:ext cx="82296" cy="1005840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04672" y="2423160"/>
              <a:ext cx="4023359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핵심 제안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04672" y="2743200"/>
              <a:ext cx="4023359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현지화 콘텐츠 재가공 및 채널별 최적 배급 전략으로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해외 시장 진입 장벽을 최소화합니다.</a:t>
              </a:r>
            </a:p>
          </p:txBody>
        </p:sp>
      </p:grpSp>
      <p:grpSp>
        <p:nvGrpSpPr>
          <p:cNvPr id="22" name="asset:HDR-082"/>
          <p:cNvGrpSpPr/>
          <p:nvPr/>
        </p:nvGrpSpPr>
        <p:grpSpPr>
          <a:xfrm>
            <a:off x="6400800" y="2331720"/>
            <a:ext cx="4389120" cy="1005840"/>
            <a:chOff x="6400800" y="2331720"/>
            <a:chExt cx="4389120" cy="1005840"/>
          </a:xfrm>
        </p:grpSpPr>
        <p:sp>
          <p:nvSpPr>
            <p:cNvPr id="18" name="Rectangle 17"/>
            <p:cNvSpPr/>
            <p:nvPr/>
          </p:nvSpPr>
          <p:spPr>
            <a:xfrm>
              <a:off x="6400800" y="2331720"/>
              <a:ext cx="4389120" cy="1005840"/>
            </a:xfrm>
            <a:prstGeom prst="rect">
              <a:avLst/>
            </a:prstGeom>
            <a:solidFill>
              <a:srgbClr val="F7F9FC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6400800" y="2331720"/>
              <a:ext cx="82296" cy="1005840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656832" y="2423160"/>
              <a:ext cx="4023359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핵심 제안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656832" y="2743200"/>
              <a:ext cx="4023359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현지화 콘텐츠 재가공 및 채널별 최적 배급 전략으로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해외 시장 진입 장벽을 최소화합니다.</a:t>
              </a:r>
            </a:p>
          </p:txBody>
        </p:sp>
      </p:grpSp>
      <p:grpSp>
        <p:nvGrpSpPr>
          <p:cNvPr id="27" name="asset:HDR-083"/>
          <p:cNvGrpSpPr/>
          <p:nvPr/>
        </p:nvGrpSpPr>
        <p:grpSpPr>
          <a:xfrm>
            <a:off x="548640" y="3749039"/>
            <a:ext cx="4389120" cy="1005840"/>
            <a:chOff x="548640" y="3749039"/>
            <a:chExt cx="4389120" cy="1005840"/>
          </a:xfrm>
        </p:grpSpPr>
        <p:sp>
          <p:nvSpPr>
            <p:cNvPr id="23" name="Rectangle 22"/>
            <p:cNvSpPr/>
            <p:nvPr/>
          </p:nvSpPr>
          <p:spPr>
            <a:xfrm>
              <a:off x="548640" y="3749039"/>
              <a:ext cx="4389120" cy="1005840"/>
            </a:xfrm>
            <a:prstGeom prst="rect">
              <a:avLst/>
            </a:prstGeom>
            <a:solidFill>
              <a:srgbClr val="F7F9FC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48640" y="3749039"/>
              <a:ext cx="82296" cy="1005840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04672" y="3840479"/>
              <a:ext cx="4023359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핵심 제안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804672" y="4160520"/>
              <a:ext cx="4023359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현지화 콘텐츠 재가공 및 채널별 최적 배급 전략으로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해외 시장 진입 장벽을 최소화합니다.</a:t>
              </a:r>
            </a:p>
          </p:txBody>
        </p:sp>
      </p:grpSp>
      <p:grpSp>
        <p:nvGrpSpPr>
          <p:cNvPr id="32" name="asset:HDR-084"/>
          <p:cNvGrpSpPr/>
          <p:nvPr/>
        </p:nvGrpSpPr>
        <p:grpSpPr>
          <a:xfrm>
            <a:off x="6400800" y="3749039"/>
            <a:ext cx="4389120" cy="1005840"/>
            <a:chOff x="6400800" y="3749039"/>
            <a:chExt cx="4389120" cy="1005840"/>
          </a:xfrm>
        </p:grpSpPr>
        <p:sp>
          <p:nvSpPr>
            <p:cNvPr id="28" name="Rectangle 27"/>
            <p:cNvSpPr/>
            <p:nvPr/>
          </p:nvSpPr>
          <p:spPr>
            <a:xfrm>
              <a:off x="6400800" y="3749039"/>
              <a:ext cx="4389120" cy="1005840"/>
            </a:xfrm>
            <a:prstGeom prst="rect">
              <a:avLst/>
            </a:prstGeom>
            <a:solidFill>
              <a:srgbClr val="F7F9FC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6400800" y="3749039"/>
              <a:ext cx="82296" cy="1005840"/>
            </a:xfrm>
            <a:prstGeom prst="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656832" y="3840479"/>
              <a:ext cx="4023359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핵심 제안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656832" y="4160520"/>
              <a:ext cx="4023359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현지화 콘텐츠 재가공 및 채널별 최적 배급 전략으로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해외 시장 진입 장벽을 최소화합니다.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6" name="asset:HDR-085"/>
          <p:cNvGrpSpPr/>
          <p:nvPr/>
        </p:nvGrpSpPr>
        <p:grpSpPr>
          <a:xfrm>
            <a:off x="548640" y="914400"/>
            <a:ext cx="4389120" cy="1005840"/>
            <a:chOff x="548640" y="914400"/>
            <a:chExt cx="4389120" cy="1005840"/>
          </a:xfrm>
        </p:grpSpPr>
        <p:sp>
          <p:nvSpPr>
            <p:cNvPr id="2" name="Rectangle 1"/>
            <p:cNvSpPr/>
            <p:nvPr/>
          </p:nvSpPr>
          <p:spPr>
            <a:xfrm>
              <a:off x="548640" y="914400"/>
              <a:ext cx="4389120" cy="1005840"/>
            </a:xfrm>
            <a:prstGeom prst="rect">
              <a:avLst/>
            </a:prstGeom>
            <a:solidFill>
              <a:srgbClr val="F7F9FC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Rectangle 2"/>
            <p:cNvSpPr/>
            <p:nvPr/>
          </p:nvSpPr>
          <p:spPr>
            <a:xfrm>
              <a:off x="548640" y="914400"/>
              <a:ext cx="82296" cy="100584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804672" y="1005840"/>
              <a:ext cx="4023359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기대효과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04672" y="1325880"/>
              <a:ext cx="4023359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K-콘텐츠 IP의 글로벌 인지도 제고와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신규 해외 매출 파이프라인을 확보합니다.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HDR-085~ · 강조 콜아웃 박스</a:t>
            </a:r>
          </a:p>
        </p:txBody>
      </p:sp>
      <p:grpSp>
        <p:nvGrpSpPr>
          <p:cNvPr id="12" name="asset:HDR-086"/>
          <p:cNvGrpSpPr/>
          <p:nvPr/>
        </p:nvGrpSpPr>
        <p:grpSpPr>
          <a:xfrm>
            <a:off x="6400800" y="914400"/>
            <a:ext cx="4389120" cy="1005840"/>
            <a:chOff x="6400800" y="914400"/>
            <a:chExt cx="4389120" cy="1005840"/>
          </a:xfrm>
        </p:grpSpPr>
        <p:sp>
          <p:nvSpPr>
            <p:cNvPr id="8" name="Rectangle 7"/>
            <p:cNvSpPr/>
            <p:nvPr/>
          </p:nvSpPr>
          <p:spPr>
            <a:xfrm>
              <a:off x="6400800" y="914400"/>
              <a:ext cx="4389120" cy="1005840"/>
            </a:xfrm>
            <a:prstGeom prst="rect">
              <a:avLst/>
            </a:prstGeom>
            <a:solidFill>
              <a:srgbClr val="F7F9FC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6400800" y="914400"/>
              <a:ext cx="82296" cy="100584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656832" y="1005840"/>
              <a:ext cx="4023359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기대효과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656832" y="1325880"/>
              <a:ext cx="4023359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K-콘텐츠 IP의 글로벌 인지도 제고와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신규 해외 매출 파이프라인을 확보합니다.</a:t>
              </a:r>
            </a:p>
          </p:txBody>
        </p:sp>
      </p:grpSp>
      <p:grpSp>
        <p:nvGrpSpPr>
          <p:cNvPr id="17" name="asset:HDR-087"/>
          <p:cNvGrpSpPr/>
          <p:nvPr/>
        </p:nvGrpSpPr>
        <p:grpSpPr>
          <a:xfrm>
            <a:off x="548640" y="2331720"/>
            <a:ext cx="4389120" cy="1005840"/>
            <a:chOff x="548640" y="2331720"/>
            <a:chExt cx="4389120" cy="1005840"/>
          </a:xfrm>
        </p:grpSpPr>
        <p:sp>
          <p:nvSpPr>
            <p:cNvPr id="13" name="Rectangle 12"/>
            <p:cNvSpPr/>
            <p:nvPr/>
          </p:nvSpPr>
          <p:spPr>
            <a:xfrm>
              <a:off x="548640" y="2331720"/>
              <a:ext cx="4389120" cy="1005840"/>
            </a:xfrm>
            <a:prstGeom prst="rect">
              <a:avLst/>
            </a:prstGeom>
            <a:solidFill>
              <a:srgbClr val="F7F9FC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48640" y="2331720"/>
              <a:ext cx="82296" cy="1005840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04672" y="2423160"/>
              <a:ext cx="4023359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기대효과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04672" y="2743200"/>
              <a:ext cx="4023359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K-콘텐츠 IP의 글로벌 인지도 제고와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신규 해외 매출 파이프라인을 확보합니다.</a:t>
              </a:r>
            </a:p>
          </p:txBody>
        </p:sp>
      </p:grpSp>
      <p:grpSp>
        <p:nvGrpSpPr>
          <p:cNvPr id="22" name="asset:HDR-088"/>
          <p:cNvGrpSpPr/>
          <p:nvPr/>
        </p:nvGrpSpPr>
        <p:grpSpPr>
          <a:xfrm>
            <a:off x="6400800" y="2331720"/>
            <a:ext cx="4389120" cy="1005840"/>
            <a:chOff x="6400800" y="2331720"/>
            <a:chExt cx="4389120" cy="1005840"/>
          </a:xfrm>
        </p:grpSpPr>
        <p:sp>
          <p:nvSpPr>
            <p:cNvPr id="18" name="Rectangle 17"/>
            <p:cNvSpPr/>
            <p:nvPr/>
          </p:nvSpPr>
          <p:spPr>
            <a:xfrm>
              <a:off x="6400800" y="2331720"/>
              <a:ext cx="4389120" cy="1005840"/>
            </a:xfrm>
            <a:prstGeom prst="rect">
              <a:avLst/>
            </a:prstGeom>
            <a:solidFill>
              <a:srgbClr val="F7F9FC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6400800" y="2331720"/>
              <a:ext cx="82296" cy="1005840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656832" y="2423160"/>
              <a:ext cx="4023359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기대효과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656832" y="2743200"/>
              <a:ext cx="4023359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K-콘텐츠 IP의 글로벌 인지도 제고와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신규 해외 매출 파이프라인을 확보합니다.</a:t>
              </a:r>
            </a:p>
          </p:txBody>
        </p:sp>
      </p:grpSp>
      <p:grpSp>
        <p:nvGrpSpPr>
          <p:cNvPr id="27" name="asset:HDR-089"/>
          <p:cNvGrpSpPr/>
          <p:nvPr/>
        </p:nvGrpSpPr>
        <p:grpSpPr>
          <a:xfrm>
            <a:off x="548640" y="3749039"/>
            <a:ext cx="4389120" cy="1005840"/>
            <a:chOff x="548640" y="3749039"/>
            <a:chExt cx="4389120" cy="1005840"/>
          </a:xfrm>
        </p:grpSpPr>
        <p:sp>
          <p:nvSpPr>
            <p:cNvPr id="23" name="Rectangle 22"/>
            <p:cNvSpPr/>
            <p:nvPr/>
          </p:nvSpPr>
          <p:spPr>
            <a:xfrm>
              <a:off x="548640" y="3749039"/>
              <a:ext cx="4389120" cy="1005840"/>
            </a:xfrm>
            <a:prstGeom prst="rect">
              <a:avLst/>
            </a:prstGeom>
            <a:solidFill>
              <a:srgbClr val="F7F9FC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48640" y="3749039"/>
              <a:ext cx="82296" cy="1005840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04672" y="3840479"/>
              <a:ext cx="4023359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기대효과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804672" y="4160520"/>
              <a:ext cx="4023359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K-콘텐츠 IP의 글로벌 인지도 제고와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신규 해외 매출 파이프라인을 확보합니다.</a:t>
              </a:r>
            </a:p>
          </p:txBody>
        </p:sp>
      </p:grpSp>
      <p:grpSp>
        <p:nvGrpSpPr>
          <p:cNvPr id="32" name="asset:HDR-090"/>
          <p:cNvGrpSpPr/>
          <p:nvPr/>
        </p:nvGrpSpPr>
        <p:grpSpPr>
          <a:xfrm>
            <a:off x="6400800" y="3749039"/>
            <a:ext cx="4389120" cy="1005840"/>
            <a:chOff x="6400800" y="3749039"/>
            <a:chExt cx="4389120" cy="1005840"/>
          </a:xfrm>
        </p:grpSpPr>
        <p:sp>
          <p:nvSpPr>
            <p:cNvPr id="28" name="Rectangle 27"/>
            <p:cNvSpPr/>
            <p:nvPr/>
          </p:nvSpPr>
          <p:spPr>
            <a:xfrm>
              <a:off x="6400800" y="3749039"/>
              <a:ext cx="4389120" cy="1005840"/>
            </a:xfrm>
            <a:prstGeom prst="rect">
              <a:avLst/>
            </a:prstGeom>
            <a:solidFill>
              <a:srgbClr val="F7F9FC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6400800" y="3749039"/>
              <a:ext cx="82296" cy="1005840"/>
            </a:xfrm>
            <a:prstGeom prst="rect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656832" y="3840479"/>
              <a:ext cx="4023359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30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기대효과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656832" y="4160520"/>
              <a:ext cx="4023359" cy="50292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K-콘텐츠 IP의 글로벌 인지도 제고와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신규 해외 매출 파이프라인을 확보합니다.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