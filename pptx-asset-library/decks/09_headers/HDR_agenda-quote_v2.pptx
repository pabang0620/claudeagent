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HDR-017 · 아젠다 항목 행 세트</a:t>
            </a:r>
          </a:p>
        </p:txBody>
      </p:sp>
      <p:grpSp>
        <p:nvGrpSpPr>
          <p:cNvPr id="14" name="asset:HDR-017"/>
          <p:cNvGrpSpPr/>
          <p:nvPr/>
        </p:nvGrpSpPr>
        <p:grpSpPr>
          <a:xfrm>
            <a:off x="1097280" y="1188720"/>
            <a:ext cx="7680960" cy="2596896"/>
            <a:chOff x="1097280" y="1188720"/>
            <a:chExt cx="7680960" cy="2596896"/>
          </a:xfrm>
        </p:grpSpPr>
        <p:sp>
          <p:nvSpPr>
            <p:cNvPr id="3" name="Oval 2"/>
            <p:cNvSpPr/>
            <p:nvPr/>
          </p:nvSpPr>
          <p:spPr>
            <a:xfrm>
              <a:off x="1097280" y="1243584"/>
              <a:ext cx="566928" cy="5669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847088" y="1188720"/>
              <a:ext cx="6931152" cy="38404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 추진 배경 및 필요성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847088" y="1591056"/>
              <a:ext cx="6931152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글로벌 콘텐츠 시장 환경 변화와 진출 기회 분석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847088" y="2048255"/>
              <a:ext cx="6931152" cy="1097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097280" y="2157984"/>
              <a:ext cx="566928" cy="5669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47088" y="2103120"/>
              <a:ext cx="6931152" cy="38404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추진 전략 및 실행 방안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47088" y="2505456"/>
              <a:ext cx="6931152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권역별 현지화·배급 파트너십 기반 단계별 실행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47088" y="2962656"/>
              <a:ext cx="6931152" cy="1097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097280" y="3072384"/>
              <a:ext cx="566928" cy="5669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47088" y="3017520"/>
              <a:ext cx="6931152" cy="38404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기대효과 및 성과 활용 계획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847088" y="3419856"/>
              <a:ext cx="6931152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신규 해외 매출 파이프라인 확보와 IP 가치 제고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HDR-018 · 인용 블록</a:t>
            </a:r>
          </a:p>
        </p:txBody>
      </p:sp>
      <p:grpSp>
        <p:nvGrpSpPr>
          <p:cNvPr id="8" name="asset:HDR-018"/>
          <p:cNvGrpSpPr/>
          <p:nvPr/>
        </p:nvGrpSpPr>
        <p:grpSpPr>
          <a:xfrm>
            <a:off x="1097280" y="1463040"/>
            <a:ext cx="6035040" cy="1737360"/>
            <a:chOff x="1097280" y="1463040"/>
            <a:chExt cx="6035040" cy="1737360"/>
          </a:xfrm>
        </p:grpSpPr>
        <p:sp>
          <p:nvSpPr>
            <p:cNvPr id="3" name="Rounded Rectangle 2"/>
            <p:cNvSpPr/>
            <p:nvPr/>
          </p:nvSpPr>
          <p:spPr>
            <a:xfrm>
              <a:off x="1097280" y="1463040"/>
              <a:ext cx="6035040" cy="1737360"/>
            </a:xfrm>
            <a:prstGeom prst="roundRect">
              <a:avLst>
                <a:gd name="adj" fmla="val 4500"/>
              </a:avLst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097280" y="1572768"/>
              <a:ext cx="91440" cy="1517904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316736" y="1481328"/>
              <a:ext cx="914400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54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“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965960" y="1682496"/>
              <a:ext cx="4892040" cy="960119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시청자의 문화적 맥락을 재해석한 콘텐츠만이</a:t>
              </a:r>
            </a:p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OTT에서 지속 가능한 경쟁력을 갖는다.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965960" y="2743200"/>
              <a:ext cx="489204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— 한국콘텐츠진흥원, 2025 해외 콘텐츠시장 분석보고서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