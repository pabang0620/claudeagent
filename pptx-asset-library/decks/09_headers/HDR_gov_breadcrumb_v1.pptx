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090536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HDR-201 · gov 브레드크럼A(알약형+셰브론, 현재=추진전략)</a:t>
            </a:r>
          </a:p>
        </p:txBody>
      </p:sp>
      <p:grpSp>
        <p:nvGrpSpPr>
          <p:cNvPr id="12" name="asset:HDR-201"/>
          <p:cNvGrpSpPr/>
          <p:nvPr/>
        </p:nvGrpSpPr>
        <p:grpSpPr>
          <a:xfrm>
            <a:off x="546923" y="3566160"/>
            <a:ext cx="9811512" cy="457200"/>
            <a:chOff x="546923" y="3566160"/>
            <a:chExt cx="9811512" cy="457200"/>
          </a:xfrm>
        </p:grpSpPr>
        <p:sp>
          <p:nvSpPr>
            <p:cNvPr id="3" name="Rounded Rectangle 2"/>
            <p:cNvSpPr/>
            <p:nvPr/>
          </p:nvSpPr>
          <p:spPr>
            <a:xfrm>
              <a:off x="546923" y="3566160"/>
              <a:ext cx="1874519" cy="457200"/>
            </a:xfrm>
            <a:prstGeom prst="roundRect">
              <a:avLst>
                <a:gd name="adj" fmla="val 50000"/>
              </a:avLst>
            </a:prstGeom>
            <a:solidFill>
              <a:srgbClr val="E9EAF1"/>
            </a:solidFill>
            <a:ln w="9525">
              <a:solidFill>
                <a:srgbClr val="D055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사업 개요</a:t>
              </a:r>
            </a:p>
          </p:txBody>
        </p:sp>
        <p:sp>
          <p:nvSpPr>
            <p:cNvPr id="4" name="Chevron 3"/>
            <p:cNvSpPr/>
            <p:nvPr/>
          </p:nvSpPr>
          <p:spPr>
            <a:xfrm>
              <a:off x="2421443" y="3739896"/>
              <a:ext cx="109728" cy="109728"/>
            </a:xfrm>
            <a:prstGeom prst="chevron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531171" y="3566160"/>
              <a:ext cx="1874519" cy="457200"/>
            </a:xfrm>
            <a:prstGeom prst="roundRect">
              <a:avLst>
                <a:gd name="adj" fmla="val 50000"/>
              </a:avLst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추진 전략</a:t>
              </a:r>
            </a:p>
          </p:txBody>
        </p:sp>
        <p:sp>
          <p:nvSpPr>
            <p:cNvPr id="6" name="Chevron 5"/>
            <p:cNvSpPr/>
            <p:nvPr/>
          </p:nvSpPr>
          <p:spPr>
            <a:xfrm>
              <a:off x="4405691" y="3739896"/>
              <a:ext cx="109728" cy="109728"/>
            </a:xfrm>
            <a:prstGeom prst="chevron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515420" y="3566160"/>
              <a:ext cx="1874519" cy="457200"/>
            </a:xfrm>
            <a:prstGeom prst="roundRect">
              <a:avLst>
                <a:gd name="adj" fmla="val 50000"/>
              </a:avLst>
            </a:prstGeom>
            <a:solidFill>
              <a:srgbClr val="E9EAF1"/>
            </a:solidFill>
            <a:ln w="9525">
              <a:solidFill>
                <a:srgbClr val="D055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추진 체계</a:t>
              </a:r>
            </a:p>
          </p:txBody>
        </p:sp>
        <p:sp>
          <p:nvSpPr>
            <p:cNvPr id="8" name="Chevron 7"/>
            <p:cNvSpPr/>
            <p:nvPr/>
          </p:nvSpPr>
          <p:spPr>
            <a:xfrm>
              <a:off x="6389939" y="3739896"/>
              <a:ext cx="109728" cy="109728"/>
            </a:xfrm>
            <a:prstGeom prst="chevron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499667" y="3566160"/>
              <a:ext cx="1874519" cy="457200"/>
            </a:xfrm>
            <a:prstGeom prst="roundRect">
              <a:avLst>
                <a:gd name="adj" fmla="val 50000"/>
              </a:avLst>
            </a:prstGeom>
            <a:solidFill>
              <a:srgbClr val="E9EAF1"/>
            </a:solidFill>
            <a:ln w="9525">
              <a:solidFill>
                <a:srgbClr val="D055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세부 추진계획</a:t>
              </a:r>
            </a:p>
          </p:txBody>
        </p:sp>
        <p:sp>
          <p:nvSpPr>
            <p:cNvPr id="10" name="Chevron 9"/>
            <p:cNvSpPr/>
            <p:nvPr/>
          </p:nvSpPr>
          <p:spPr>
            <a:xfrm>
              <a:off x="8374188" y="3739896"/>
              <a:ext cx="109728" cy="109728"/>
            </a:xfrm>
            <a:prstGeom prst="chevron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483916" y="3566160"/>
              <a:ext cx="1874519" cy="457200"/>
            </a:xfrm>
            <a:prstGeom prst="roundRect">
              <a:avLst>
                <a:gd name="adj" fmla="val 50000"/>
              </a:avLst>
            </a:prstGeom>
            <a:solidFill>
              <a:srgbClr val="E9EAF1"/>
            </a:solidFill>
            <a:ln w="9525">
              <a:solidFill>
                <a:srgbClr val="D055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기대효과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HDR-202 · gov 브레드크럼B(번호원+연결선, 현재=추진체계)</a:t>
            </a:r>
          </a:p>
        </p:txBody>
      </p:sp>
      <p:grpSp>
        <p:nvGrpSpPr>
          <p:cNvPr id="14" name="asset:HDR-202"/>
          <p:cNvGrpSpPr/>
          <p:nvPr/>
        </p:nvGrpSpPr>
        <p:grpSpPr>
          <a:xfrm>
            <a:off x="560640" y="3108960"/>
            <a:ext cx="10351008" cy="1005839"/>
            <a:chOff x="560640" y="3108960"/>
            <a:chExt cx="10351008" cy="1005839"/>
          </a:xfrm>
        </p:grpSpPr>
        <p:sp>
          <p:nvSpPr>
            <p:cNvPr id="3" name="Rectangle 2"/>
            <p:cNvSpPr/>
            <p:nvPr/>
          </p:nvSpPr>
          <p:spPr>
            <a:xfrm>
              <a:off x="1347024" y="3374136"/>
              <a:ext cx="8211312" cy="36576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63560" y="3108960"/>
              <a:ext cx="566928" cy="566928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 GOV Black"/>
                  <a:ea typeface="Pretendard GOV Black"/>
                  <a:cs typeface="Pretendard GOV Black"/>
                </a:rPr>
                <a:t>1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60640" y="3749039"/>
              <a:ext cx="15727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사업 개요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3258120" y="3108960"/>
              <a:ext cx="566928" cy="566928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 GOV Black"/>
                  <a:ea typeface="Pretendard GOV Black"/>
                  <a:cs typeface="Pretendard GOV Black"/>
                </a:rPr>
                <a:t>2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755199" y="3749039"/>
              <a:ext cx="15727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추진 전략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5452680" y="3108960"/>
              <a:ext cx="566928" cy="566928"/>
            </a:xfrm>
            <a:prstGeom prst="ellipse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 GOV Black"/>
                  <a:ea typeface="Pretendard GOV Black"/>
                  <a:cs typeface="Pretendard GOV Black"/>
                </a:rPr>
                <a:t>3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949760" y="3749039"/>
              <a:ext cx="15727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2E4692"/>
                  </a:solidFill>
                  <a:latin typeface="Pretendard GOV Medium"/>
                  <a:ea typeface="Pretendard GOV Medium"/>
                  <a:cs typeface="Pretendard GOV Medium"/>
                </a:rPr>
                <a:t>추진 체계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647239" y="3108960"/>
              <a:ext cx="566928" cy="56692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D055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000000"/>
                  </a:solidFill>
                  <a:latin typeface="Pretendard GOV Black"/>
                  <a:ea typeface="Pretendard GOV Black"/>
                  <a:cs typeface="Pretendard GOV Black"/>
                </a:rPr>
                <a:t>4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144319" y="3749039"/>
              <a:ext cx="15727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세부 추진계획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9841800" y="3108960"/>
              <a:ext cx="566928" cy="56692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D055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000000"/>
                  </a:solidFill>
                  <a:latin typeface="Pretendard GOV Black"/>
                  <a:ea typeface="Pretendard GOV Black"/>
                  <a:cs typeface="Pretendard GOV Black"/>
                </a:rPr>
                <a:t>5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338880" y="3749039"/>
              <a:ext cx="15727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기대효과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HDR-203 · gov 브레드크럼C(상단 컴팩트 스트립, 현재=세부추진계획)</a:t>
            </a:r>
          </a:p>
        </p:txBody>
      </p:sp>
      <p:grpSp>
        <p:nvGrpSpPr>
          <p:cNvPr id="14" name="asset:HDR-203"/>
          <p:cNvGrpSpPr/>
          <p:nvPr/>
        </p:nvGrpSpPr>
        <p:grpSpPr>
          <a:xfrm>
            <a:off x="560640" y="457200"/>
            <a:ext cx="9784080" cy="457200"/>
            <a:chOff x="560640" y="457200"/>
            <a:chExt cx="9784080" cy="457200"/>
          </a:xfrm>
        </p:grpSpPr>
        <p:sp>
          <p:nvSpPr>
            <p:cNvPr id="3" name="Rectangle 2"/>
            <p:cNvSpPr/>
            <p:nvPr/>
          </p:nvSpPr>
          <p:spPr>
            <a:xfrm>
              <a:off x="560640" y="457200"/>
              <a:ext cx="9784080" cy="457200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633792" y="457200"/>
              <a:ext cx="1810511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1. 사업 개요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590608" y="457200"/>
              <a:ext cx="1810511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2. 추진 전략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2517456" y="530352"/>
              <a:ext cx="10972" cy="310896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547424" y="457200"/>
              <a:ext cx="1810511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3. 추진 체계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4474272" y="530352"/>
              <a:ext cx="10972" cy="310896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504239" y="457200"/>
              <a:ext cx="1810511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2E4692"/>
                  </a:solidFill>
                  <a:latin typeface="Pretendard GOV Medium"/>
                  <a:ea typeface="Pretendard GOV Medium"/>
                  <a:cs typeface="Pretendard GOV Medium"/>
                </a:rPr>
                <a:t>4. 세부 추진계획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431087" y="859536"/>
              <a:ext cx="1956815" cy="54864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431087" y="530352"/>
              <a:ext cx="10972" cy="310896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61056" y="457200"/>
              <a:ext cx="1810511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5. 기대효과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8387903" y="530352"/>
              <a:ext cx="10972" cy="310896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