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" name="asset:HDR-139"/>
          <p:cNvGrpSpPr/>
          <p:nvPr/>
        </p:nvGrpSpPr>
        <p:grpSpPr>
          <a:xfrm>
            <a:off x="822960" y="914400"/>
            <a:ext cx="6583680" cy="1051560"/>
            <a:chOff x="822960" y="914400"/>
            <a:chExt cx="6583680" cy="1051560"/>
          </a:xfrm>
        </p:grpSpPr>
        <p:sp>
          <p:nvSpPr>
            <p:cNvPr id="2" name="Rounded Rectangle 1"/>
            <p:cNvSpPr/>
            <p:nvPr/>
          </p:nvSpPr>
          <p:spPr>
            <a:xfrm>
              <a:off x="822960" y="914400"/>
              <a:ext cx="6583680" cy="1051560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ectangle 2"/>
            <p:cNvSpPr/>
            <p:nvPr/>
          </p:nvSpPr>
          <p:spPr>
            <a:xfrm>
              <a:off x="841248" y="932688"/>
              <a:ext cx="109728" cy="101498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115568" y="914400"/>
              <a:ext cx="246888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127%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115568" y="1581912"/>
              <a:ext cx="2468880" cy="310896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전년 대비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657600" y="914400"/>
              <a:ext cx="356616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해외 콘텐츠 수출액 성장률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HDR-139~ · 통계 콜아웃 밴드</a:t>
            </a:r>
          </a:p>
        </p:txBody>
      </p:sp>
      <p:grpSp>
        <p:nvGrpSpPr>
          <p:cNvPr id="14" name="asset:HDR-140"/>
          <p:cNvGrpSpPr/>
          <p:nvPr/>
        </p:nvGrpSpPr>
        <p:grpSpPr>
          <a:xfrm>
            <a:off x="822960" y="2286000"/>
            <a:ext cx="6583680" cy="1051560"/>
            <a:chOff x="822960" y="2286000"/>
            <a:chExt cx="6583680" cy="1051560"/>
          </a:xfrm>
        </p:grpSpPr>
        <p:sp>
          <p:nvSpPr>
            <p:cNvPr id="9" name="Rounded Rectangle 8"/>
            <p:cNvSpPr/>
            <p:nvPr/>
          </p:nvSpPr>
          <p:spPr>
            <a:xfrm>
              <a:off x="822960" y="2286000"/>
              <a:ext cx="6583680" cy="1051560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41248" y="2304288"/>
              <a:ext cx="109728" cy="101498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15568" y="2286000"/>
              <a:ext cx="246888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127%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15568" y="2953512"/>
              <a:ext cx="2468880" cy="310896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전년 대비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657600" y="2286000"/>
              <a:ext cx="356616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해외 콘텐츠 수출액 성장률</a:t>
              </a:r>
            </a:p>
          </p:txBody>
        </p:sp>
      </p:grpSp>
      <p:grpSp>
        <p:nvGrpSpPr>
          <p:cNvPr id="20" name="asset:HDR-141"/>
          <p:cNvGrpSpPr/>
          <p:nvPr/>
        </p:nvGrpSpPr>
        <p:grpSpPr>
          <a:xfrm>
            <a:off x="822960" y="3657600"/>
            <a:ext cx="6583680" cy="1051560"/>
            <a:chOff x="822960" y="3657600"/>
            <a:chExt cx="6583680" cy="1051560"/>
          </a:xfrm>
        </p:grpSpPr>
        <p:sp>
          <p:nvSpPr>
            <p:cNvPr id="15" name="Rounded Rectangle 14"/>
            <p:cNvSpPr/>
            <p:nvPr/>
          </p:nvSpPr>
          <p:spPr>
            <a:xfrm>
              <a:off x="822960" y="3657600"/>
              <a:ext cx="6583680" cy="1051560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41248" y="3675887"/>
              <a:ext cx="109728" cy="101498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15568" y="3657600"/>
              <a:ext cx="246888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127%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15568" y="4325112"/>
              <a:ext cx="2468880" cy="310896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전년 대비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657600" y="3657600"/>
              <a:ext cx="356616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해외 콘텐츠 수출액 성장률</a:t>
              </a:r>
            </a:p>
          </p:txBody>
        </p:sp>
      </p:grpSp>
      <p:grpSp>
        <p:nvGrpSpPr>
          <p:cNvPr id="26" name="asset:HDR-142"/>
          <p:cNvGrpSpPr/>
          <p:nvPr/>
        </p:nvGrpSpPr>
        <p:grpSpPr>
          <a:xfrm>
            <a:off x="822960" y="5029200"/>
            <a:ext cx="6583680" cy="1051560"/>
            <a:chOff x="822960" y="5029200"/>
            <a:chExt cx="6583680" cy="1051560"/>
          </a:xfrm>
        </p:grpSpPr>
        <p:sp>
          <p:nvSpPr>
            <p:cNvPr id="21" name="Rounded Rectangle 20"/>
            <p:cNvSpPr/>
            <p:nvPr/>
          </p:nvSpPr>
          <p:spPr>
            <a:xfrm>
              <a:off x="822960" y="5029200"/>
              <a:ext cx="6583680" cy="1051560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41248" y="5047488"/>
              <a:ext cx="109728" cy="101498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15568" y="5029200"/>
              <a:ext cx="246888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127%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15568" y="5696712"/>
              <a:ext cx="2468880" cy="310896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전년 대비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57600" y="5029200"/>
              <a:ext cx="356616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해외 콘텐츠 수출액 성장률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" name="asset:HDR-143"/>
          <p:cNvGrpSpPr/>
          <p:nvPr/>
        </p:nvGrpSpPr>
        <p:grpSpPr>
          <a:xfrm>
            <a:off x="822960" y="914400"/>
            <a:ext cx="6583680" cy="1051560"/>
            <a:chOff x="822960" y="914400"/>
            <a:chExt cx="6583680" cy="1051560"/>
          </a:xfrm>
        </p:grpSpPr>
        <p:sp>
          <p:nvSpPr>
            <p:cNvPr id="2" name="Rounded Rectangle 1"/>
            <p:cNvSpPr/>
            <p:nvPr/>
          </p:nvSpPr>
          <p:spPr>
            <a:xfrm>
              <a:off x="822960" y="914400"/>
              <a:ext cx="6583680" cy="1051560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ectangle 2"/>
            <p:cNvSpPr/>
            <p:nvPr/>
          </p:nvSpPr>
          <p:spPr>
            <a:xfrm>
              <a:off x="841248" y="932688"/>
              <a:ext cx="109728" cy="101498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115568" y="914400"/>
              <a:ext cx="246888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127%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115568" y="1581912"/>
              <a:ext cx="2468880" cy="310896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전년 대비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657600" y="914400"/>
              <a:ext cx="356616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해외 콘텐츠 수출액 성장률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HDR-143~ · 통계 콜아웃 밴드</a:t>
            </a:r>
          </a:p>
        </p:txBody>
      </p:sp>
      <p:grpSp>
        <p:nvGrpSpPr>
          <p:cNvPr id="14" name="asset:HDR-144"/>
          <p:cNvGrpSpPr/>
          <p:nvPr/>
        </p:nvGrpSpPr>
        <p:grpSpPr>
          <a:xfrm>
            <a:off x="822960" y="2286000"/>
            <a:ext cx="6583680" cy="1051560"/>
            <a:chOff x="822960" y="2286000"/>
            <a:chExt cx="6583680" cy="1051560"/>
          </a:xfrm>
        </p:grpSpPr>
        <p:sp>
          <p:nvSpPr>
            <p:cNvPr id="9" name="Rounded Rectangle 8"/>
            <p:cNvSpPr/>
            <p:nvPr/>
          </p:nvSpPr>
          <p:spPr>
            <a:xfrm>
              <a:off x="822960" y="2286000"/>
              <a:ext cx="6583680" cy="1051560"/>
            </a:xfrm>
            <a:prstGeom prst="roundRect">
              <a:avLst>
                <a:gd name="adj" fmla="val 8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41248" y="2304288"/>
              <a:ext cx="109728" cy="101498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15568" y="2286000"/>
              <a:ext cx="246888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127%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15568" y="2953512"/>
              <a:ext cx="2468880" cy="310896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전년 대비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657600" y="2286000"/>
              <a:ext cx="356616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해외 콘텐츠 수출액 성장률</a:t>
              </a:r>
            </a:p>
          </p:txBody>
        </p:sp>
      </p:grpSp>
      <p:grpSp>
        <p:nvGrpSpPr>
          <p:cNvPr id="20" name="asset:HDR-145"/>
          <p:cNvGrpSpPr/>
          <p:nvPr/>
        </p:nvGrpSpPr>
        <p:grpSpPr>
          <a:xfrm>
            <a:off x="822960" y="3657600"/>
            <a:ext cx="6583680" cy="1051560"/>
            <a:chOff x="822960" y="3657600"/>
            <a:chExt cx="6583680" cy="1051560"/>
          </a:xfrm>
        </p:grpSpPr>
        <p:sp>
          <p:nvSpPr>
            <p:cNvPr id="15" name="Rounded Rectangle 14"/>
            <p:cNvSpPr/>
            <p:nvPr/>
          </p:nvSpPr>
          <p:spPr>
            <a:xfrm>
              <a:off x="822960" y="3657600"/>
              <a:ext cx="6583680" cy="1051560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41248" y="3675887"/>
              <a:ext cx="109728" cy="101498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15568" y="3657600"/>
              <a:ext cx="246888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84.2억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15568" y="4325112"/>
              <a:ext cx="2468880" cy="310896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누적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657600" y="3657600"/>
              <a:ext cx="356616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해외 라이선싱 매출 규모</a:t>
              </a:r>
            </a:p>
          </p:txBody>
        </p:sp>
      </p:grpSp>
      <p:grpSp>
        <p:nvGrpSpPr>
          <p:cNvPr id="26" name="asset:HDR-146"/>
          <p:cNvGrpSpPr/>
          <p:nvPr/>
        </p:nvGrpSpPr>
        <p:grpSpPr>
          <a:xfrm>
            <a:off x="822960" y="5029200"/>
            <a:ext cx="6583680" cy="1051560"/>
            <a:chOff x="822960" y="5029200"/>
            <a:chExt cx="6583680" cy="1051560"/>
          </a:xfrm>
        </p:grpSpPr>
        <p:sp>
          <p:nvSpPr>
            <p:cNvPr id="21" name="Rounded Rectangle 20"/>
            <p:cNvSpPr/>
            <p:nvPr/>
          </p:nvSpPr>
          <p:spPr>
            <a:xfrm>
              <a:off x="822960" y="5029200"/>
              <a:ext cx="6583680" cy="1051560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41248" y="5047488"/>
              <a:ext cx="109728" cy="101498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15568" y="5029200"/>
              <a:ext cx="246888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84.2억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15568" y="5696712"/>
              <a:ext cx="2468880" cy="310896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누적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57600" y="5029200"/>
              <a:ext cx="356616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해외 라이선싱 매출 규모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7" name="asset:HDR-147"/>
          <p:cNvGrpSpPr/>
          <p:nvPr/>
        </p:nvGrpSpPr>
        <p:grpSpPr>
          <a:xfrm>
            <a:off x="822960" y="914400"/>
            <a:ext cx="6583680" cy="1051560"/>
            <a:chOff x="822960" y="914400"/>
            <a:chExt cx="6583680" cy="1051560"/>
          </a:xfrm>
        </p:grpSpPr>
        <p:sp>
          <p:nvSpPr>
            <p:cNvPr id="2" name="Rounded Rectangle 1"/>
            <p:cNvSpPr/>
            <p:nvPr/>
          </p:nvSpPr>
          <p:spPr>
            <a:xfrm>
              <a:off x="822960" y="914400"/>
              <a:ext cx="6583680" cy="1051560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ectangle 2"/>
            <p:cNvSpPr/>
            <p:nvPr/>
          </p:nvSpPr>
          <p:spPr>
            <a:xfrm>
              <a:off x="841248" y="932688"/>
              <a:ext cx="109728" cy="101498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115568" y="914400"/>
              <a:ext cx="246888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84.2억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115568" y="1581912"/>
              <a:ext cx="2468880" cy="310896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누적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657600" y="914400"/>
              <a:ext cx="356616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해외 라이선싱 매출 규모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HDR-147~ · 통계 콜아웃 밴드</a:t>
            </a:r>
          </a:p>
        </p:txBody>
      </p:sp>
      <p:grpSp>
        <p:nvGrpSpPr>
          <p:cNvPr id="14" name="asset:HDR-148"/>
          <p:cNvGrpSpPr/>
          <p:nvPr/>
        </p:nvGrpSpPr>
        <p:grpSpPr>
          <a:xfrm>
            <a:off x="822960" y="2286000"/>
            <a:ext cx="6583680" cy="1051560"/>
            <a:chOff x="822960" y="2286000"/>
            <a:chExt cx="6583680" cy="1051560"/>
          </a:xfrm>
        </p:grpSpPr>
        <p:sp>
          <p:nvSpPr>
            <p:cNvPr id="9" name="Rounded Rectangle 8"/>
            <p:cNvSpPr/>
            <p:nvPr/>
          </p:nvSpPr>
          <p:spPr>
            <a:xfrm>
              <a:off x="822960" y="2286000"/>
              <a:ext cx="6583680" cy="1051560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41248" y="2304288"/>
              <a:ext cx="109728" cy="101498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15568" y="2286000"/>
              <a:ext cx="246888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84.2억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15568" y="2953512"/>
              <a:ext cx="2468880" cy="310896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누적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657600" y="2286000"/>
              <a:ext cx="356616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해외 라이선싱 매출 규모</a:t>
              </a:r>
            </a:p>
          </p:txBody>
        </p:sp>
      </p:grpSp>
      <p:grpSp>
        <p:nvGrpSpPr>
          <p:cNvPr id="20" name="asset:HDR-149"/>
          <p:cNvGrpSpPr/>
          <p:nvPr/>
        </p:nvGrpSpPr>
        <p:grpSpPr>
          <a:xfrm>
            <a:off x="822960" y="3657600"/>
            <a:ext cx="6583680" cy="1051560"/>
            <a:chOff x="822960" y="3657600"/>
            <a:chExt cx="6583680" cy="1051560"/>
          </a:xfrm>
        </p:grpSpPr>
        <p:sp>
          <p:nvSpPr>
            <p:cNvPr id="15" name="Rounded Rectangle 14"/>
            <p:cNvSpPr/>
            <p:nvPr/>
          </p:nvSpPr>
          <p:spPr>
            <a:xfrm>
              <a:off x="822960" y="3657600"/>
              <a:ext cx="6583680" cy="1051560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41248" y="3675887"/>
              <a:ext cx="109728" cy="101498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15568" y="3657600"/>
              <a:ext cx="246888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84.2억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15568" y="4325112"/>
              <a:ext cx="2468880" cy="310896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누적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657600" y="3657600"/>
              <a:ext cx="356616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해외 라이선싱 매출 규모</a:t>
              </a:r>
            </a:p>
          </p:txBody>
        </p:sp>
      </p:grpSp>
      <p:grpSp>
        <p:nvGrpSpPr>
          <p:cNvPr id="26" name="asset:HDR-150"/>
          <p:cNvGrpSpPr/>
          <p:nvPr/>
        </p:nvGrpSpPr>
        <p:grpSpPr>
          <a:xfrm>
            <a:off x="822960" y="5029200"/>
            <a:ext cx="6583680" cy="1051560"/>
            <a:chOff x="822960" y="5029200"/>
            <a:chExt cx="6583680" cy="1051560"/>
          </a:xfrm>
        </p:grpSpPr>
        <p:sp>
          <p:nvSpPr>
            <p:cNvPr id="21" name="Rounded Rectangle 20"/>
            <p:cNvSpPr/>
            <p:nvPr/>
          </p:nvSpPr>
          <p:spPr>
            <a:xfrm>
              <a:off x="822960" y="5029200"/>
              <a:ext cx="6583680" cy="1051560"/>
            </a:xfrm>
            <a:prstGeom prst="roundRect">
              <a:avLst>
                <a:gd name="adj" fmla="val 8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41248" y="5047488"/>
              <a:ext cx="109728" cy="101498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15568" y="5029200"/>
              <a:ext cx="246888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4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84.2억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15568" y="5696712"/>
              <a:ext cx="2468880" cy="310896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누적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57600" y="5029200"/>
              <a:ext cx="3566160" cy="10515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해외 라이선싱 매출 규모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