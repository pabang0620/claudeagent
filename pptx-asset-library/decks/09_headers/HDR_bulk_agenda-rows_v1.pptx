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" name="asset:HDR-151"/>
          <p:cNvGrpSpPr/>
          <p:nvPr/>
        </p:nvGrpSpPr>
        <p:grpSpPr>
          <a:xfrm>
            <a:off x="457200" y="1005840"/>
            <a:ext cx="5303519" cy="2596896"/>
            <a:chOff x="457200" y="1005840"/>
            <a:chExt cx="5303519" cy="2596896"/>
          </a:xfrm>
        </p:grpSpPr>
        <p:sp>
          <p:nvSpPr>
            <p:cNvPr id="2" name="Oval 1"/>
            <p:cNvSpPr/>
            <p:nvPr/>
          </p:nvSpPr>
          <p:spPr>
            <a:xfrm>
              <a:off x="457200" y="1060704"/>
              <a:ext cx="566928" cy="5669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07007" y="10058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 및 필요성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207007" y="14081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글로벌 콘텐츠 시장 환경 변화와 진출 기회 분석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7007" y="18653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457200" y="1975104"/>
              <a:ext cx="566928" cy="5669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7007" y="19202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 및 실행 방안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7007" y="23225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권역별 현지화·배급 파트너십 기반 단계별 실행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207007" y="27797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57200" y="2889504"/>
              <a:ext cx="566928" cy="5669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07007" y="28346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성과 활용 계획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7007" y="32369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신규 해외 매출 파이프라인 확보와 IP 가치 제고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HDR-151~ · 아젠다 항목 행 세트</a:t>
            </a:r>
          </a:p>
        </p:txBody>
      </p:sp>
      <p:grpSp>
        <p:nvGrpSpPr>
          <p:cNvPr id="26" name="asset:HDR-152"/>
          <p:cNvGrpSpPr/>
          <p:nvPr/>
        </p:nvGrpSpPr>
        <p:grpSpPr>
          <a:xfrm>
            <a:off x="6309360" y="1005840"/>
            <a:ext cx="5303520" cy="2596896"/>
            <a:chOff x="6309360" y="1005840"/>
            <a:chExt cx="5303520" cy="2596896"/>
          </a:xfrm>
        </p:grpSpPr>
        <p:sp>
          <p:nvSpPr>
            <p:cNvPr id="15" name="Oval 14"/>
            <p:cNvSpPr/>
            <p:nvPr/>
          </p:nvSpPr>
          <p:spPr>
            <a:xfrm>
              <a:off x="6309360" y="1060704"/>
              <a:ext cx="566928" cy="5669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59168" y="10058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 및 필요성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59168" y="14081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글로벌 콘텐츠 시장 환경 변화와 진출 기회 분석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059168" y="18653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6309360" y="1975104"/>
              <a:ext cx="566928" cy="5669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59168" y="19202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 및 실행 방안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59168" y="23225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권역별 현지화·배급 파트너십 기반 단계별 실행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59168" y="27797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309360" y="2889504"/>
              <a:ext cx="566928" cy="5669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59168" y="28346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성과 활용 계획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059168" y="32369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신규 해외 매출 파이프라인 확보와 IP 가치 제고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" name="asset:HDR-153"/>
          <p:cNvGrpSpPr/>
          <p:nvPr/>
        </p:nvGrpSpPr>
        <p:grpSpPr>
          <a:xfrm>
            <a:off x="457200" y="1005840"/>
            <a:ext cx="5303519" cy="2596896"/>
            <a:chOff x="457200" y="1005840"/>
            <a:chExt cx="5303519" cy="2596896"/>
          </a:xfrm>
        </p:grpSpPr>
        <p:sp>
          <p:nvSpPr>
            <p:cNvPr id="2" name="Oval 1"/>
            <p:cNvSpPr/>
            <p:nvPr/>
          </p:nvSpPr>
          <p:spPr>
            <a:xfrm>
              <a:off x="457200" y="1060704"/>
              <a:ext cx="566928" cy="5669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07007" y="10058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 및 필요성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207007" y="14081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글로벌 콘텐츠 시장 환경 변화와 진출 기회 분석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7007" y="18653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457200" y="1975104"/>
              <a:ext cx="566928" cy="5669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7007" y="19202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 및 실행 방안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7007" y="23225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권역별 현지화·배급 파트너십 기반 단계별 실행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207007" y="27797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57200" y="2889504"/>
              <a:ext cx="566928" cy="5669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07007" y="28346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성과 활용 계획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7007" y="32369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신규 해외 매출 파이프라인 확보와 IP 가치 제고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HDR-153~ · 아젠다 항목 행 세트</a:t>
            </a:r>
          </a:p>
        </p:txBody>
      </p:sp>
      <p:grpSp>
        <p:nvGrpSpPr>
          <p:cNvPr id="26" name="asset:HDR-154"/>
          <p:cNvGrpSpPr/>
          <p:nvPr/>
        </p:nvGrpSpPr>
        <p:grpSpPr>
          <a:xfrm>
            <a:off x="6309360" y="1005840"/>
            <a:ext cx="5303520" cy="2596896"/>
            <a:chOff x="6309360" y="1005840"/>
            <a:chExt cx="5303520" cy="2596896"/>
          </a:xfrm>
        </p:grpSpPr>
        <p:sp>
          <p:nvSpPr>
            <p:cNvPr id="15" name="Oval 14"/>
            <p:cNvSpPr/>
            <p:nvPr/>
          </p:nvSpPr>
          <p:spPr>
            <a:xfrm>
              <a:off x="6309360" y="1060704"/>
              <a:ext cx="566928" cy="5669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59168" y="10058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 및 필요성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59168" y="14081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글로벌 콘텐츠 시장 환경 변화와 진출 기회 분석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059168" y="18653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6309360" y="1975104"/>
              <a:ext cx="566928" cy="5669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59168" y="19202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 및 실행 방안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59168" y="23225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권역별 현지화·배급 파트너십 기반 단계별 실행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59168" y="27797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309360" y="2889504"/>
              <a:ext cx="566928" cy="5669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59168" y="28346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성과 활용 계획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059168" y="32369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신규 해외 매출 파이프라인 확보와 IP 가치 제고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" name="asset:HDR-155"/>
          <p:cNvGrpSpPr/>
          <p:nvPr/>
        </p:nvGrpSpPr>
        <p:grpSpPr>
          <a:xfrm>
            <a:off x="457200" y="1005840"/>
            <a:ext cx="5303519" cy="2596896"/>
            <a:chOff x="457200" y="1005840"/>
            <a:chExt cx="5303519" cy="2596896"/>
          </a:xfrm>
        </p:grpSpPr>
        <p:sp>
          <p:nvSpPr>
            <p:cNvPr id="2" name="Oval 1"/>
            <p:cNvSpPr/>
            <p:nvPr/>
          </p:nvSpPr>
          <p:spPr>
            <a:xfrm>
              <a:off x="457200" y="1060704"/>
              <a:ext cx="566928" cy="5669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07007" y="10058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 및 필요성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207007" y="14081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글로벌 콘텐츠 시장 환경 변화와 진출 기회 분석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7007" y="18653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457200" y="1975104"/>
              <a:ext cx="566928" cy="5669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7007" y="19202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 및 실행 방안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7007" y="23225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권역별 현지화·배급 파트너십 기반 단계별 실행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207007" y="27797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57200" y="2889504"/>
              <a:ext cx="566928" cy="5669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07007" y="28346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성과 활용 계획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7007" y="32369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신규 해외 매출 파이프라인 확보와 IP 가치 제고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HDR-155~ · 아젠다 항목 행 세트</a:t>
            </a:r>
          </a:p>
        </p:txBody>
      </p:sp>
      <p:grpSp>
        <p:nvGrpSpPr>
          <p:cNvPr id="26" name="asset:HDR-156"/>
          <p:cNvGrpSpPr/>
          <p:nvPr/>
        </p:nvGrpSpPr>
        <p:grpSpPr>
          <a:xfrm>
            <a:off x="6309360" y="1005840"/>
            <a:ext cx="5303520" cy="2596896"/>
            <a:chOff x="6309360" y="1005840"/>
            <a:chExt cx="5303520" cy="2596896"/>
          </a:xfrm>
        </p:grpSpPr>
        <p:sp>
          <p:nvSpPr>
            <p:cNvPr id="15" name="Oval 14"/>
            <p:cNvSpPr/>
            <p:nvPr/>
          </p:nvSpPr>
          <p:spPr>
            <a:xfrm>
              <a:off x="6309360" y="1060704"/>
              <a:ext cx="566928" cy="5669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59168" y="10058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 및 필요성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59168" y="14081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글로벌 콘텐츠 시장 환경 변화와 진출 기회 분석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059168" y="18653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6309360" y="1975104"/>
              <a:ext cx="566928" cy="5669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59168" y="19202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 및 실행 방안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59168" y="23225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권역별 현지화·배급 파트너십 기반 단계별 실행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59168" y="2779776"/>
              <a:ext cx="4553712" cy="109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309360" y="2889504"/>
              <a:ext cx="566928" cy="5669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59168" y="2834640"/>
              <a:ext cx="4553712" cy="38404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성과 활용 계획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059168" y="3236976"/>
              <a:ext cx="4553712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신규 해외 매출 파이프라인 확보와 IP 가치 제고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