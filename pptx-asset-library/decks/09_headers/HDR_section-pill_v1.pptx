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HDR-001~003 · 섹션 번호 pill</a:t>
            </a:r>
          </a:p>
        </p:txBody>
      </p:sp>
      <p:grpSp>
        <p:nvGrpSpPr>
          <p:cNvPr id="5" name="asset:HDR-001"/>
          <p:cNvGrpSpPr/>
          <p:nvPr/>
        </p:nvGrpSpPr>
        <p:grpSpPr>
          <a:xfrm>
            <a:off x="822960" y="1188720"/>
            <a:ext cx="4206239" cy="548640"/>
            <a:chOff x="822960" y="1188720"/>
            <a:chExt cx="4206239" cy="548640"/>
          </a:xfrm>
        </p:grpSpPr>
        <p:sp>
          <p:nvSpPr>
            <p:cNvPr id="3" name="Rectangle 2"/>
            <p:cNvSpPr/>
            <p:nvPr/>
          </p:nvSpPr>
          <p:spPr>
            <a:xfrm>
              <a:off x="822960" y="1188720"/>
              <a:ext cx="548640" cy="54864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1</a:t>
              </a:r>
            </a:p>
          </p:txBody>
        </p:sp>
        <p:sp>
          <p:nvSpPr>
            <p:cNvPr id="4" name="Rectangle 3"/>
            <p:cNvSpPr/>
            <p:nvPr/>
          </p:nvSpPr>
          <p:spPr>
            <a:xfrm>
              <a:off x="1371600" y="118872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사업추진 전략</a:t>
              </a:r>
            </a:p>
          </p:txBody>
        </p:sp>
      </p:grpSp>
      <p:grpSp>
        <p:nvGrpSpPr>
          <p:cNvPr id="8" name="asset:HDR-002"/>
          <p:cNvGrpSpPr/>
          <p:nvPr/>
        </p:nvGrpSpPr>
        <p:grpSpPr>
          <a:xfrm>
            <a:off x="822960" y="2286000"/>
            <a:ext cx="4206239" cy="548640"/>
            <a:chOff x="822960" y="2286000"/>
            <a:chExt cx="4206239" cy="548640"/>
          </a:xfrm>
        </p:grpSpPr>
        <p:sp>
          <p:nvSpPr>
            <p:cNvPr id="6" name="Rectangle 5"/>
            <p:cNvSpPr/>
            <p:nvPr/>
          </p:nvSpPr>
          <p:spPr>
            <a:xfrm>
              <a:off x="822960" y="2286000"/>
              <a:ext cx="548640" cy="54864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2</a:t>
              </a:r>
            </a:p>
          </p:txBody>
        </p:sp>
        <p:sp>
          <p:nvSpPr>
            <p:cNvPr id="7" name="Rectangle 6"/>
            <p:cNvSpPr/>
            <p:nvPr/>
          </p:nvSpPr>
          <p:spPr>
            <a:xfrm>
              <a:off x="1371600" y="228600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추진 체계 및 조직</a:t>
              </a:r>
            </a:p>
          </p:txBody>
        </p:sp>
      </p:grpSp>
      <p:grpSp>
        <p:nvGrpSpPr>
          <p:cNvPr id="11" name="asset:HDR-003"/>
          <p:cNvGrpSpPr/>
          <p:nvPr/>
        </p:nvGrpSpPr>
        <p:grpSpPr>
          <a:xfrm>
            <a:off x="822960" y="3383280"/>
            <a:ext cx="4206239" cy="548640"/>
            <a:chOff x="822960" y="3383280"/>
            <a:chExt cx="4206239" cy="548640"/>
          </a:xfrm>
        </p:grpSpPr>
        <p:sp>
          <p:nvSpPr>
            <p:cNvPr id="9" name="Rectangle 8"/>
            <p:cNvSpPr/>
            <p:nvPr/>
          </p:nvSpPr>
          <p:spPr>
            <a:xfrm>
              <a:off x="822960" y="3383280"/>
              <a:ext cx="548640" cy="548640"/>
            </a:xfrm>
            <a:prstGeom prst="rect">
              <a:avLst/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20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3</a:t>
              </a:r>
            </a:p>
          </p:txBody>
        </p:sp>
        <p:sp>
          <p:nvSpPr>
            <p:cNvPr id="10" name="Rectangle 9"/>
            <p:cNvSpPr/>
            <p:nvPr/>
          </p:nvSpPr>
          <p:spPr>
            <a:xfrm>
              <a:off x="1371600" y="3383280"/>
              <a:ext cx="3657599" cy="548640"/>
            </a:xfrm>
            <a:prstGeom prst="rect">
              <a:avLst/>
            </a:prstGeom>
            <a:solidFill>
              <a:srgbClr val="F2F2F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 lIns="127000"/>
            <a:lstStyle/>
            <a:p>
              <a:pPr algn="l"/>
              <a:r>
                <a:rPr sz="15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기대효과 및 활용방안</a:t>
              </a: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HDR-004~005 소제목바 · HDR-016 탭</a:t>
            </a:r>
          </a:p>
        </p:txBody>
      </p:sp>
      <p:grpSp>
        <p:nvGrpSpPr>
          <p:cNvPr id="6" name="asset:HDR-004"/>
          <p:cNvGrpSpPr/>
          <p:nvPr/>
        </p:nvGrpSpPr>
        <p:grpSpPr>
          <a:xfrm>
            <a:off x="822960" y="1280160"/>
            <a:ext cx="4206240" cy="402335"/>
            <a:chOff x="822960" y="1280160"/>
            <a:chExt cx="4206240" cy="402335"/>
          </a:xfrm>
        </p:grpSpPr>
        <p:sp>
          <p:nvSpPr>
            <p:cNvPr id="3" name="TextBox 2"/>
            <p:cNvSpPr txBox="1"/>
            <p:nvPr/>
          </p:nvSpPr>
          <p:spPr>
            <a:xfrm>
              <a:off x="822960" y="128016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E75D6"/>
                  </a:solidFill>
                  <a:latin typeface="Pretendard"/>
                  <a:ea typeface="Pretendard"/>
                  <a:cs typeface="Pretendard"/>
                </a:rPr>
                <a:t>가.</a:t>
              </a:r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1280160" y="128016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사업 추진 배경</a:t>
              </a:r>
            </a:p>
          </p:txBody>
        </p:sp>
        <p:sp>
          <p:nvSpPr>
            <p:cNvPr id="5" name="Rectangle 4"/>
            <p:cNvSpPr/>
            <p:nvPr/>
          </p:nvSpPr>
          <p:spPr>
            <a:xfrm>
              <a:off x="822960" y="1636775"/>
              <a:ext cx="4206240" cy="45720"/>
            </a:xfrm>
            <a:prstGeom prst="rect">
              <a:avLst/>
            </a:prstGeom>
            <a:solidFill>
              <a:srgbClr val="2E75D6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0" name="asset:HDR-005"/>
          <p:cNvGrpSpPr/>
          <p:nvPr/>
        </p:nvGrpSpPr>
        <p:grpSpPr>
          <a:xfrm>
            <a:off x="822960" y="2377440"/>
            <a:ext cx="4206240" cy="402336"/>
            <a:chOff x="822960" y="2377440"/>
            <a:chExt cx="4206240" cy="402336"/>
          </a:xfrm>
        </p:grpSpPr>
        <p:sp>
          <p:nvSpPr>
            <p:cNvPr id="7" name="TextBox 6"/>
            <p:cNvSpPr txBox="1"/>
            <p:nvPr/>
          </p:nvSpPr>
          <p:spPr>
            <a:xfrm>
              <a:off x="822960" y="2377440"/>
              <a:ext cx="457200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7B2D8E"/>
                  </a:solidFill>
                  <a:latin typeface="Pretendard"/>
                  <a:ea typeface="Pretendard"/>
                  <a:cs typeface="Pretendard"/>
                </a:rPr>
                <a:t>나.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1280160" y="2377440"/>
              <a:ext cx="3749039" cy="384048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222222"/>
                  </a:solidFill>
                  <a:latin typeface="Pretendard"/>
                  <a:ea typeface="Pretendard"/>
                  <a:cs typeface="Pretendard"/>
                </a:rPr>
                <a:t>핵심 추진 전략</a:t>
              </a:r>
            </a:p>
          </p:txBody>
        </p:sp>
        <p:sp>
          <p:nvSpPr>
            <p:cNvPr id="9" name="Rectangle 8"/>
            <p:cNvSpPr/>
            <p:nvPr/>
          </p:nvSpPr>
          <p:spPr>
            <a:xfrm>
              <a:off x="822960" y="2734056"/>
              <a:ext cx="4206240" cy="45720"/>
            </a:xfrm>
            <a:prstGeom prst="rect">
              <a:avLst/>
            </a:prstGeom>
            <a:solidFill>
              <a:srgbClr val="7B2D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3" name="asset:HDR-016"/>
          <p:cNvGrpSpPr/>
          <p:nvPr/>
        </p:nvGrpSpPr>
        <p:grpSpPr>
          <a:xfrm>
            <a:off x="822960" y="3657600"/>
            <a:ext cx="1828800" cy="502920"/>
            <a:chOff x="822960" y="3657600"/>
            <a:chExt cx="1828800" cy="502920"/>
          </a:xfrm>
        </p:grpSpPr>
        <p:sp>
          <p:nvSpPr>
            <p:cNvPr id="11" name="Round Same Side Corner Rectangle 10"/>
            <p:cNvSpPr/>
            <p:nvPr/>
          </p:nvSpPr>
          <p:spPr>
            <a:xfrm>
              <a:off x="822960" y="3657600"/>
              <a:ext cx="1828800" cy="457200"/>
            </a:xfrm>
            <a:prstGeom prst="round2SameRect">
              <a:avLst>
                <a:gd name="adj1" fmla="val 35000"/>
                <a:gd name="adj2" fmla="val 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핵심 제안</a:t>
              </a:r>
            </a:p>
          </p:txBody>
        </p:sp>
        <p:sp>
          <p:nvSpPr>
            <p:cNvPr id="12" name="Rectangle 11"/>
            <p:cNvSpPr/>
            <p:nvPr/>
          </p:nvSpPr>
          <p:spPr>
            <a:xfrm>
              <a:off x="822960" y="4114800"/>
              <a:ext cx="1828800" cy="45720"/>
            </a:xfrm>
            <a:prstGeom prst="rect">
              <a:avLst/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4" name="Round Same Side Corner Rectangle 13"/>
          <p:cNvSpPr/>
          <p:nvPr/>
        </p:nvSpPr>
        <p:spPr>
          <a:xfrm>
            <a:off x="2834640" y="3657600"/>
            <a:ext cx="1828800" cy="457200"/>
          </a:xfrm>
          <a:prstGeom prst="round2SameRect">
            <a:avLst>
              <a:gd name="adj1" fmla="val 35000"/>
              <a:gd name="adj2" fmla="val 0"/>
            </a:avLst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추진 방향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834640" y="4114800"/>
            <a:ext cx="1828800" cy="45720"/>
          </a:xfrm>
          <a:prstGeom prst="rect">
            <a:avLst/>
          </a:prstGeom>
          <a:solidFill>
            <a:srgbClr val="2E75D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" y="73152"/>
            <a:ext cx="3657600" cy="274320"/>
          </a:xfrm>
          <a:prstGeom prst="rect">
            <a:avLst/>
          </a:prstGeom>
          <a:noFill/>
        </p:spPr>
        <p:txBody>
          <a:bodyPr wrap="square" anchor="ctr" lIns="38100" rIns="38100" tIns="25400" bIns="25400">
            <a:spAutoFit/>
          </a:bodyPr>
          <a:lstStyle/>
          <a:p>
            <a:pPr algn="l"/>
            <a:r>
              <a:rPr sz="900" b="1">
                <a:solidFill>
                  <a:srgbClr val="808080"/>
                </a:solidFill>
                <a:latin typeface="Pretendard"/>
                <a:ea typeface="Pretendard"/>
                <a:cs typeface="Pretendard"/>
              </a:rPr>
              <a:t>HDR-006~007 · 체크 헤드라인 바</a:t>
            </a:r>
          </a:p>
        </p:txBody>
      </p:sp>
      <p:grpSp>
        <p:nvGrpSpPr>
          <p:cNvPr id="6" name="asset:HDR-006"/>
          <p:cNvGrpSpPr/>
          <p:nvPr/>
        </p:nvGrpSpPr>
        <p:grpSpPr>
          <a:xfrm>
            <a:off x="822960" y="1371600"/>
            <a:ext cx="4572000" cy="502920"/>
            <a:chOff x="822960" y="1371600"/>
            <a:chExt cx="4572000" cy="502920"/>
          </a:xfrm>
        </p:grpSpPr>
        <p:sp>
          <p:nvSpPr>
            <p:cNvPr id="3" name="Rounded Rectangle 2"/>
            <p:cNvSpPr/>
            <p:nvPr/>
          </p:nvSpPr>
          <p:spPr>
            <a:xfrm>
              <a:off x="822960" y="137160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1F386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" name="Oval 3"/>
            <p:cNvSpPr/>
            <p:nvPr/>
          </p:nvSpPr>
          <p:spPr>
            <a:xfrm>
              <a:off x="950976" y="147675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1F3864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5" name="TextBox 4"/>
            <p:cNvSpPr txBox="1"/>
            <p:nvPr/>
          </p:nvSpPr>
          <p:spPr>
            <a:xfrm>
              <a:off x="1353312" y="137160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차별화된 해외 진출 전략 수립</a:t>
              </a:r>
            </a:p>
          </p:txBody>
        </p:sp>
      </p:grpSp>
      <p:grpSp>
        <p:nvGrpSpPr>
          <p:cNvPr id="10" name="asset:HDR-007"/>
          <p:cNvGrpSpPr/>
          <p:nvPr/>
        </p:nvGrpSpPr>
        <p:grpSpPr>
          <a:xfrm>
            <a:off x="822960" y="2468880"/>
            <a:ext cx="4572000" cy="502920"/>
            <a:chOff x="822960" y="2468880"/>
            <a:chExt cx="4572000" cy="502920"/>
          </a:xfrm>
        </p:grpSpPr>
        <p:sp>
          <p:nvSpPr>
            <p:cNvPr id="7" name="Rounded Rectangle 6"/>
            <p:cNvSpPr/>
            <p:nvPr/>
          </p:nvSpPr>
          <p:spPr>
            <a:xfrm>
              <a:off x="822960" y="2468880"/>
              <a:ext cx="4572000" cy="502920"/>
            </a:xfrm>
            <a:prstGeom prst="roundRect">
              <a:avLst>
                <a:gd name="adj" fmla="val 50000"/>
              </a:avLst>
            </a:prstGeom>
            <a:solidFill>
              <a:srgbClr val="1F9E8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Oval 7"/>
            <p:cNvSpPr/>
            <p:nvPr/>
          </p:nvSpPr>
          <p:spPr>
            <a:xfrm>
              <a:off x="950976" y="2574036"/>
              <a:ext cx="292608" cy="292608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 wrap="square"/>
            <a:lstStyle/>
            <a:p>
              <a:pPr algn="ctr"/>
              <a:r>
                <a:rPr sz="1300" b="1">
                  <a:solidFill>
                    <a:srgbClr val="1F9E8F"/>
                  </a:solidFill>
                  <a:latin typeface="Pretendard"/>
                  <a:ea typeface="Pretendard"/>
                  <a:cs typeface="Pretendard"/>
                </a:rPr>
                <a:t>✓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353312" y="2468880"/>
              <a:ext cx="3931920" cy="502920"/>
            </a:xfrm>
            <a:prstGeom prst="rect">
              <a:avLst/>
            </a:prstGeom>
            <a:noFill/>
          </p:spPr>
          <p:txBody>
            <a:bodyPr wrap="square" anchor="ctr" lIns="38100" rIns="38100" tIns="25400" bIns="25400">
              <a:spAutoFit/>
            </a:bodyPr>
            <a:lstStyle/>
            <a:p>
              <a:pPr algn="l"/>
              <a:r>
                <a:rPr sz="1400" b="1">
                  <a:solidFill>
                    <a:srgbClr val="FFFFFF"/>
                  </a:solidFill>
                  <a:latin typeface="Pretendard"/>
                  <a:ea typeface="Pretendard"/>
                  <a:cs typeface="Pretendard"/>
                </a:rPr>
                <a:t>현지 파트너십 기반 실행력 확보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