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HDR-019 · 통계 콜아웃 밴드</a:t>
            </a:r>
          </a:p>
        </p:txBody>
      </p:sp>
      <p:grpSp>
        <p:nvGrpSpPr>
          <p:cNvPr id="8" name="asset:HDR-019"/>
          <p:cNvGrpSpPr/>
          <p:nvPr/>
        </p:nvGrpSpPr>
        <p:grpSpPr>
          <a:xfrm>
            <a:off x="1097280" y="1463040"/>
            <a:ext cx="6583680" cy="1051560"/>
            <a:chOff x="1097280" y="1463040"/>
            <a:chExt cx="6583680" cy="105156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46304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115568" y="1481328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89888" y="146304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89888" y="213055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전년 대비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31920" y="146304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콘텐츠 수출액 성장률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HDR-020 · 구분선 2종 (그라데이션/도트)</a:t>
            </a:r>
          </a:p>
        </p:txBody>
      </p:sp>
      <p:grpSp>
        <p:nvGrpSpPr>
          <p:cNvPr id="29" name="asset:HDR-020"/>
          <p:cNvGrpSpPr/>
          <p:nvPr/>
        </p:nvGrpSpPr>
        <p:grpSpPr>
          <a:xfrm>
            <a:off x="1065276" y="2148840"/>
            <a:ext cx="8110728" cy="612648"/>
            <a:chOff x="1065276" y="2148840"/>
            <a:chExt cx="8110728" cy="612648"/>
          </a:xfrm>
        </p:grpSpPr>
        <p:sp>
          <p:nvSpPr>
            <p:cNvPr id="3" name="Rectangle 2"/>
            <p:cNvSpPr/>
            <p:nvPr/>
          </p:nvSpPr>
          <p:spPr>
            <a:xfrm>
              <a:off x="1097280" y="2194560"/>
              <a:ext cx="8046720" cy="54864"/>
            </a:xfrm>
            <a:prstGeom prst="rect">
              <a:avLst/>
            </a:prstGeom>
            <a:gradFill rotWithShape="1">
              <a:gsLst>
                <a:gs pos="0">
                  <a:srgbClr val="2E75D6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047488" y="2148840"/>
              <a:ext cx="146304" cy="146304"/>
            </a:xfrm>
            <a:prstGeom prst="diamon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065276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415133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64990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114848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464705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814562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164420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514277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864135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4213992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4563849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4913707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5263564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613422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5963279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6313136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6662994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012851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7362709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712566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8062423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8412281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8762138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9111996" y="2697480"/>
              <a:ext cx="64008" cy="64008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