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HDR-010 · 베이지 분석 요약 박스</a:t>
            </a:r>
          </a:p>
        </p:txBody>
      </p:sp>
      <p:grpSp>
        <p:nvGrpSpPr>
          <p:cNvPr id="11" name="asset:HDR-010"/>
          <p:cNvGrpSpPr/>
          <p:nvPr/>
        </p:nvGrpSpPr>
        <p:grpSpPr>
          <a:xfrm>
            <a:off x="822960" y="1097280"/>
            <a:ext cx="4937760" cy="2011680"/>
            <a:chOff x="822960" y="1097280"/>
            <a:chExt cx="4937760" cy="201168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0972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BF0E1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87552" y="1243584"/>
              <a:ext cx="4608576" cy="38404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시장 환경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78992" y="17556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98448" y="17556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OTT 수요 확대로 K-콘텐츠 진출 기회 증가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78992" y="20848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98448" y="20848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언어·문화 장벽이 핵심 리스크로 상존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8992" y="24140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98448" y="24140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권역별 배급 파트너 확보가 성패 좌우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HDR-011 · 그레이 분석 요약 박스</a:t>
            </a:r>
          </a:p>
        </p:txBody>
      </p:sp>
      <p:grpSp>
        <p:nvGrpSpPr>
          <p:cNvPr id="11" name="asset:HDR-011"/>
          <p:cNvGrpSpPr/>
          <p:nvPr/>
        </p:nvGrpSpPr>
        <p:grpSpPr>
          <a:xfrm>
            <a:off x="822960" y="1097280"/>
            <a:ext cx="4937760" cy="2011680"/>
            <a:chOff x="822960" y="1097280"/>
            <a:chExt cx="4937760" cy="201168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097280"/>
              <a:ext cx="4937760" cy="2011680"/>
            </a:xfrm>
            <a:prstGeom prst="roundRect">
              <a:avLst>
                <a:gd name="adj" fmla="val 400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87552" y="1243584"/>
              <a:ext cx="4608576" cy="38404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1600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SWOT 요약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78992" y="1755648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98448" y="1755648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강점: 검증된 IP·제작 역량 보유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78992" y="2084831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98448" y="2084831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약점: 해외 유통망·현지 네트워크 부족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8992" y="2414015"/>
              <a:ext cx="27432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98448" y="2414015"/>
              <a:ext cx="4297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기회: 한류 확산 및 정책 지원 확대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HDR-015 · 인용/노트(출처) 박스</a:t>
            </a:r>
          </a:p>
        </p:txBody>
      </p:sp>
      <p:grpSp>
        <p:nvGrpSpPr>
          <p:cNvPr id="7" name="asset:HDR-015"/>
          <p:cNvGrpSpPr/>
          <p:nvPr/>
        </p:nvGrpSpPr>
        <p:grpSpPr>
          <a:xfrm>
            <a:off x="822960" y="1371600"/>
            <a:ext cx="5120640" cy="777240"/>
            <a:chOff x="822960" y="1371600"/>
            <a:chExt cx="5120640" cy="777240"/>
          </a:xfrm>
        </p:grpSpPr>
        <p:sp>
          <p:nvSpPr>
            <p:cNvPr id="3" name="Rectangle 2"/>
            <p:cNvSpPr/>
            <p:nvPr/>
          </p:nvSpPr>
          <p:spPr>
            <a:xfrm>
              <a:off x="822960" y="1371600"/>
              <a:ext cx="5120640" cy="77724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371600"/>
              <a:ext cx="82296" cy="77724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42416" y="1426464"/>
              <a:ext cx="365760" cy="667512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※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35024" y="1426464"/>
              <a:ext cx="4480559" cy="667512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출처: 한국콘텐츠진흥원, 「2025 해외 콘텐츠시장 분석보고서」, 2025.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