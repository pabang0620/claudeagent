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" name="asset:HDR-127"/>
          <p:cNvGrpSpPr/>
          <p:nvPr/>
        </p:nvGrpSpPr>
        <p:grpSpPr>
          <a:xfrm>
            <a:off x="365760" y="868680"/>
            <a:ext cx="5486400" cy="1737360"/>
            <a:chOff x="365760" y="868680"/>
            <a:chExt cx="5486400" cy="1737360"/>
          </a:xfrm>
        </p:grpSpPr>
        <p:sp>
          <p:nvSpPr>
            <p:cNvPr id="2" name="Rounded Rectangle 1"/>
            <p:cNvSpPr/>
            <p:nvPr/>
          </p:nvSpPr>
          <p:spPr>
            <a:xfrm>
              <a:off x="365760" y="868680"/>
              <a:ext cx="5486400" cy="1737360"/>
            </a:xfrm>
            <a:prstGeom prst="roundRect">
              <a:avLst>
                <a:gd name="adj" fmla="val 45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ectangle 2"/>
            <p:cNvSpPr/>
            <p:nvPr/>
          </p:nvSpPr>
          <p:spPr>
            <a:xfrm>
              <a:off x="365760" y="978407"/>
              <a:ext cx="91440" cy="1517904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85216" y="886968"/>
              <a:ext cx="91440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5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“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34440" y="1088136"/>
              <a:ext cx="4343400" cy="9601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시청자의 문화적 맥락을 재해석한 콘텐츠만이</a:t>
              </a:r>
            </a:p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OTT에서 지속 가능한 경쟁력을 갖는다.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34440" y="2148839"/>
              <a:ext cx="434340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— 한국콘텐츠진흥원, 2025 해외 콘텐츠시장 분석보고서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HDR-127~ · 인용 블록</a:t>
            </a:r>
          </a:p>
        </p:txBody>
      </p:sp>
      <p:grpSp>
        <p:nvGrpSpPr>
          <p:cNvPr id="14" name="asset:HDR-128"/>
          <p:cNvGrpSpPr/>
          <p:nvPr/>
        </p:nvGrpSpPr>
        <p:grpSpPr>
          <a:xfrm>
            <a:off x="6309360" y="868680"/>
            <a:ext cx="5486400" cy="1737360"/>
            <a:chOff x="6309360" y="868680"/>
            <a:chExt cx="5486400" cy="1737360"/>
          </a:xfrm>
        </p:grpSpPr>
        <p:sp>
          <p:nvSpPr>
            <p:cNvPr id="9" name="Rounded Rectangle 8"/>
            <p:cNvSpPr/>
            <p:nvPr/>
          </p:nvSpPr>
          <p:spPr>
            <a:xfrm>
              <a:off x="6309360" y="868680"/>
              <a:ext cx="5486400" cy="1737360"/>
            </a:xfrm>
            <a:prstGeom prst="roundRect">
              <a:avLst>
                <a:gd name="adj" fmla="val 45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309360" y="978407"/>
              <a:ext cx="91440" cy="1517904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28816" y="886968"/>
              <a:ext cx="91440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5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“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78040" y="1088136"/>
              <a:ext cx="4343400" cy="9601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시청자의 문화적 맥락을 재해석한 콘텐츠만이</a:t>
              </a:r>
            </a:p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OTT에서 지속 가능한 경쟁력을 갖는다.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78040" y="2148839"/>
              <a:ext cx="434340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— 한국콘텐츠진흥원, 2025 해외 콘텐츠시장 분석보고서</a:t>
              </a:r>
            </a:p>
          </p:txBody>
        </p:sp>
      </p:grpSp>
      <p:grpSp>
        <p:nvGrpSpPr>
          <p:cNvPr id="20" name="asset:HDR-129"/>
          <p:cNvGrpSpPr/>
          <p:nvPr/>
        </p:nvGrpSpPr>
        <p:grpSpPr>
          <a:xfrm>
            <a:off x="365760" y="2880360"/>
            <a:ext cx="5486400" cy="1737360"/>
            <a:chOff x="365760" y="2880360"/>
            <a:chExt cx="5486400" cy="1737360"/>
          </a:xfrm>
        </p:grpSpPr>
        <p:sp>
          <p:nvSpPr>
            <p:cNvPr id="15" name="Rounded Rectangle 14"/>
            <p:cNvSpPr/>
            <p:nvPr/>
          </p:nvSpPr>
          <p:spPr>
            <a:xfrm>
              <a:off x="365760" y="2880360"/>
              <a:ext cx="5486400" cy="1737360"/>
            </a:xfrm>
            <a:prstGeom prst="roundRect">
              <a:avLst>
                <a:gd name="adj" fmla="val 45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65760" y="2990088"/>
              <a:ext cx="91440" cy="1517904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6" y="2898648"/>
              <a:ext cx="91440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5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“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234440" y="3099816"/>
              <a:ext cx="4343400" cy="9601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시청자의 문화적 맥락을 재해석한 콘텐츠만이</a:t>
              </a:r>
            </a:p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OTT에서 지속 가능한 경쟁력을 갖는다.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34440" y="4160520"/>
              <a:ext cx="434340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— 한국콘텐츠진흥원, 2025 해외 콘텐츠시장 분석보고서</a:t>
              </a:r>
            </a:p>
          </p:txBody>
        </p:sp>
      </p:grpSp>
      <p:grpSp>
        <p:nvGrpSpPr>
          <p:cNvPr id="26" name="asset:HDR-130"/>
          <p:cNvGrpSpPr/>
          <p:nvPr/>
        </p:nvGrpSpPr>
        <p:grpSpPr>
          <a:xfrm>
            <a:off x="6309360" y="2880360"/>
            <a:ext cx="5486400" cy="1737360"/>
            <a:chOff x="6309360" y="2880360"/>
            <a:chExt cx="5486400" cy="1737360"/>
          </a:xfrm>
        </p:grpSpPr>
        <p:sp>
          <p:nvSpPr>
            <p:cNvPr id="21" name="Rounded Rectangle 20"/>
            <p:cNvSpPr/>
            <p:nvPr/>
          </p:nvSpPr>
          <p:spPr>
            <a:xfrm>
              <a:off x="6309360" y="2880360"/>
              <a:ext cx="5486400" cy="1737360"/>
            </a:xfrm>
            <a:prstGeom prst="roundRect">
              <a:avLst>
                <a:gd name="adj" fmla="val 45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309360" y="2990088"/>
              <a:ext cx="91440" cy="1517904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28816" y="2898648"/>
              <a:ext cx="91440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5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“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178040" y="3099816"/>
              <a:ext cx="4343400" cy="9601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시청자의 문화적 맥락을 재해석한 콘텐츠만이</a:t>
              </a:r>
            </a:p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OTT에서 지속 가능한 경쟁력을 갖는다.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78040" y="4160520"/>
              <a:ext cx="434340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— 한국콘텐츠진흥원, 2025 해외 콘텐츠시장 분석보고서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" name="asset:HDR-131"/>
          <p:cNvGrpSpPr/>
          <p:nvPr/>
        </p:nvGrpSpPr>
        <p:grpSpPr>
          <a:xfrm>
            <a:off x="365760" y="868680"/>
            <a:ext cx="5486400" cy="1737360"/>
            <a:chOff x="365760" y="868680"/>
            <a:chExt cx="5486400" cy="1737360"/>
          </a:xfrm>
        </p:grpSpPr>
        <p:sp>
          <p:nvSpPr>
            <p:cNvPr id="2" name="Rounded Rectangle 1"/>
            <p:cNvSpPr/>
            <p:nvPr/>
          </p:nvSpPr>
          <p:spPr>
            <a:xfrm>
              <a:off x="365760" y="868680"/>
              <a:ext cx="5486400" cy="1737360"/>
            </a:xfrm>
            <a:prstGeom prst="roundRect">
              <a:avLst>
                <a:gd name="adj" fmla="val 45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ectangle 2"/>
            <p:cNvSpPr/>
            <p:nvPr/>
          </p:nvSpPr>
          <p:spPr>
            <a:xfrm>
              <a:off x="365760" y="978407"/>
              <a:ext cx="91440" cy="1517904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85216" y="886968"/>
              <a:ext cx="91440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5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“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34440" y="1088136"/>
              <a:ext cx="4343400" cy="9601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시청자의 문화적 맥락을 재해석한 콘텐츠만이</a:t>
              </a:r>
            </a:p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OTT에서 지속 가능한 경쟁력을 갖는다.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34440" y="2148839"/>
              <a:ext cx="434340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— 한국콘텐츠진흥원, 2025 해외 콘텐츠시장 분석보고서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HDR-131~ · 인용 블록</a:t>
            </a:r>
          </a:p>
        </p:txBody>
      </p:sp>
      <p:grpSp>
        <p:nvGrpSpPr>
          <p:cNvPr id="14" name="asset:HDR-132"/>
          <p:cNvGrpSpPr/>
          <p:nvPr/>
        </p:nvGrpSpPr>
        <p:grpSpPr>
          <a:xfrm>
            <a:off x="6309360" y="868680"/>
            <a:ext cx="5486400" cy="1737360"/>
            <a:chOff x="6309360" y="868680"/>
            <a:chExt cx="5486400" cy="1737360"/>
          </a:xfrm>
        </p:grpSpPr>
        <p:sp>
          <p:nvSpPr>
            <p:cNvPr id="9" name="Rounded Rectangle 8"/>
            <p:cNvSpPr/>
            <p:nvPr/>
          </p:nvSpPr>
          <p:spPr>
            <a:xfrm>
              <a:off x="6309360" y="868680"/>
              <a:ext cx="5486400" cy="1737360"/>
            </a:xfrm>
            <a:prstGeom prst="roundRect">
              <a:avLst>
                <a:gd name="adj" fmla="val 45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309360" y="978407"/>
              <a:ext cx="91440" cy="1517904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28816" y="886968"/>
              <a:ext cx="91440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5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“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78040" y="1088136"/>
              <a:ext cx="4343400" cy="9601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시청자의 문화적 맥락을 재해석한 콘텐츠만이</a:t>
              </a:r>
            </a:p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OTT에서 지속 가능한 경쟁력을 갖는다.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78040" y="2148839"/>
              <a:ext cx="434340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— 한국콘텐츠진흥원, 2025 해외 콘텐츠시장 분석보고서</a:t>
              </a:r>
            </a:p>
          </p:txBody>
        </p:sp>
      </p:grpSp>
      <p:grpSp>
        <p:nvGrpSpPr>
          <p:cNvPr id="20" name="asset:HDR-133"/>
          <p:cNvGrpSpPr/>
          <p:nvPr/>
        </p:nvGrpSpPr>
        <p:grpSpPr>
          <a:xfrm>
            <a:off x="365760" y="2880360"/>
            <a:ext cx="5486400" cy="1737360"/>
            <a:chOff x="365760" y="2880360"/>
            <a:chExt cx="5486400" cy="1737360"/>
          </a:xfrm>
        </p:grpSpPr>
        <p:sp>
          <p:nvSpPr>
            <p:cNvPr id="15" name="Rounded Rectangle 14"/>
            <p:cNvSpPr/>
            <p:nvPr/>
          </p:nvSpPr>
          <p:spPr>
            <a:xfrm>
              <a:off x="365760" y="2880360"/>
              <a:ext cx="5486400" cy="1737360"/>
            </a:xfrm>
            <a:prstGeom prst="roundRect">
              <a:avLst>
                <a:gd name="adj" fmla="val 45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65760" y="2990088"/>
              <a:ext cx="91440" cy="1517904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6" y="2898648"/>
              <a:ext cx="91440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5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“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234440" y="3099816"/>
              <a:ext cx="4343400" cy="9601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IP와 현지 배급 네트워크의 결합이</a:t>
              </a:r>
            </a:p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진출 성패를 가르는 핵심 요인이다.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34440" y="4160520"/>
              <a:ext cx="434340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— 글로벌 콘텐츠 진출 전략 세미나, 2025</a:t>
              </a:r>
            </a:p>
          </p:txBody>
        </p:sp>
      </p:grpSp>
      <p:grpSp>
        <p:nvGrpSpPr>
          <p:cNvPr id="26" name="asset:HDR-134"/>
          <p:cNvGrpSpPr/>
          <p:nvPr/>
        </p:nvGrpSpPr>
        <p:grpSpPr>
          <a:xfrm>
            <a:off x="6309360" y="2880360"/>
            <a:ext cx="5486400" cy="1737360"/>
            <a:chOff x="6309360" y="2880360"/>
            <a:chExt cx="5486400" cy="1737360"/>
          </a:xfrm>
        </p:grpSpPr>
        <p:sp>
          <p:nvSpPr>
            <p:cNvPr id="21" name="Rounded Rectangle 20"/>
            <p:cNvSpPr/>
            <p:nvPr/>
          </p:nvSpPr>
          <p:spPr>
            <a:xfrm>
              <a:off x="6309360" y="2880360"/>
              <a:ext cx="5486400" cy="1737360"/>
            </a:xfrm>
            <a:prstGeom prst="roundRect">
              <a:avLst>
                <a:gd name="adj" fmla="val 45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309360" y="2990088"/>
              <a:ext cx="91440" cy="1517904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28816" y="2898648"/>
              <a:ext cx="91440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5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“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178040" y="3099816"/>
              <a:ext cx="4343400" cy="9601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IP와 현지 배급 네트워크의 결합이</a:t>
              </a:r>
            </a:p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진출 성패를 가르는 핵심 요인이다.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78040" y="4160520"/>
              <a:ext cx="434340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— 글로벌 콘텐츠 진출 전략 세미나, 2025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" name="asset:HDR-135"/>
          <p:cNvGrpSpPr/>
          <p:nvPr/>
        </p:nvGrpSpPr>
        <p:grpSpPr>
          <a:xfrm>
            <a:off x="365760" y="868680"/>
            <a:ext cx="5486400" cy="1737360"/>
            <a:chOff x="365760" y="868680"/>
            <a:chExt cx="5486400" cy="1737360"/>
          </a:xfrm>
        </p:grpSpPr>
        <p:sp>
          <p:nvSpPr>
            <p:cNvPr id="2" name="Rounded Rectangle 1"/>
            <p:cNvSpPr/>
            <p:nvPr/>
          </p:nvSpPr>
          <p:spPr>
            <a:xfrm>
              <a:off x="365760" y="868680"/>
              <a:ext cx="5486400" cy="1737360"/>
            </a:xfrm>
            <a:prstGeom prst="roundRect">
              <a:avLst>
                <a:gd name="adj" fmla="val 45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ectangle 2"/>
            <p:cNvSpPr/>
            <p:nvPr/>
          </p:nvSpPr>
          <p:spPr>
            <a:xfrm>
              <a:off x="365760" y="978407"/>
              <a:ext cx="91440" cy="1517904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85216" y="886968"/>
              <a:ext cx="91440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5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“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34440" y="1088136"/>
              <a:ext cx="4343400" cy="9601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IP와 현지 배급 네트워크의 결합이</a:t>
              </a:r>
            </a:p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진출 성패를 가르는 핵심 요인이다.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34440" y="2148839"/>
              <a:ext cx="434340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— 글로벌 콘텐츠 진출 전략 세미나, 2025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HDR-135~ · 인용 블록</a:t>
            </a:r>
          </a:p>
        </p:txBody>
      </p:sp>
      <p:grpSp>
        <p:nvGrpSpPr>
          <p:cNvPr id="14" name="asset:HDR-136"/>
          <p:cNvGrpSpPr/>
          <p:nvPr/>
        </p:nvGrpSpPr>
        <p:grpSpPr>
          <a:xfrm>
            <a:off x="6309360" y="868680"/>
            <a:ext cx="5486400" cy="1737360"/>
            <a:chOff x="6309360" y="868680"/>
            <a:chExt cx="5486400" cy="1737360"/>
          </a:xfrm>
        </p:grpSpPr>
        <p:sp>
          <p:nvSpPr>
            <p:cNvPr id="9" name="Rounded Rectangle 8"/>
            <p:cNvSpPr/>
            <p:nvPr/>
          </p:nvSpPr>
          <p:spPr>
            <a:xfrm>
              <a:off x="6309360" y="868680"/>
              <a:ext cx="5486400" cy="1737360"/>
            </a:xfrm>
            <a:prstGeom prst="roundRect">
              <a:avLst>
                <a:gd name="adj" fmla="val 45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309360" y="978407"/>
              <a:ext cx="91440" cy="1517904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28816" y="886968"/>
              <a:ext cx="91440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5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“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78040" y="1088136"/>
              <a:ext cx="4343400" cy="9601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IP와 현지 배급 네트워크의 결합이</a:t>
              </a:r>
            </a:p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진출 성패를 가르는 핵심 요인이다.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78040" y="2148839"/>
              <a:ext cx="434340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— 글로벌 콘텐츠 진출 전략 세미나, 2025</a:t>
              </a:r>
            </a:p>
          </p:txBody>
        </p:sp>
      </p:grpSp>
      <p:grpSp>
        <p:nvGrpSpPr>
          <p:cNvPr id="20" name="asset:HDR-137"/>
          <p:cNvGrpSpPr/>
          <p:nvPr/>
        </p:nvGrpSpPr>
        <p:grpSpPr>
          <a:xfrm>
            <a:off x="365760" y="2880360"/>
            <a:ext cx="5486400" cy="1737360"/>
            <a:chOff x="365760" y="2880360"/>
            <a:chExt cx="5486400" cy="1737360"/>
          </a:xfrm>
        </p:grpSpPr>
        <p:sp>
          <p:nvSpPr>
            <p:cNvPr id="15" name="Rounded Rectangle 14"/>
            <p:cNvSpPr/>
            <p:nvPr/>
          </p:nvSpPr>
          <p:spPr>
            <a:xfrm>
              <a:off x="365760" y="2880360"/>
              <a:ext cx="5486400" cy="1737360"/>
            </a:xfrm>
            <a:prstGeom prst="roundRect">
              <a:avLst>
                <a:gd name="adj" fmla="val 45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65760" y="2990088"/>
              <a:ext cx="91440" cy="1517904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6" y="2898648"/>
              <a:ext cx="91440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5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“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234440" y="3099816"/>
              <a:ext cx="4343400" cy="9601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IP와 현지 배급 네트워크의 결합이</a:t>
              </a:r>
            </a:p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진출 성패를 가르는 핵심 요인이다.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34440" y="4160520"/>
              <a:ext cx="434340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— 글로벌 콘텐츠 진출 전략 세미나, 2025</a:t>
              </a:r>
            </a:p>
          </p:txBody>
        </p:sp>
      </p:grpSp>
      <p:grpSp>
        <p:nvGrpSpPr>
          <p:cNvPr id="26" name="asset:HDR-138"/>
          <p:cNvGrpSpPr/>
          <p:nvPr/>
        </p:nvGrpSpPr>
        <p:grpSpPr>
          <a:xfrm>
            <a:off x="6309360" y="2880360"/>
            <a:ext cx="5486400" cy="1737360"/>
            <a:chOff x="6309360" y="2880360"/>
            <a:chExt cx="5486400" cy="1737360"/>
          </a:xfrm>
        </p:grpSpPr>
        <p:sp>
          <p:nvSpPr>
            <p:cNvPr id="21" name="Rounded Rectangle 20"/>
            <p:cNvSpPr/>
            <p:nvPr/>
          </p:nvSpPr>
          <p:spPr>
            <a:xfrm>
              <a:off x="6309360" y="2880360"/>
              <a:ext cx="5486400" cy="1737360"/>
            </a:xfrm>
            <a:prstGeom prst="roundRect">
              <a:avLst>
                <a:gd name="adj" fmla="val 45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309360" y="2990088"/>
              <a:ext cx="91440" cy="1517904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28816" y="2898648"/>
              <a:ext cx="91440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5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“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178040" y="3099816"/>
              <a:ext cx="4343400" cy="9601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IP와 현지 배급 네트워크의 결합이</a:t>
              </a:r>
            </a:p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진출 성패를 가르는 핵심 요인이다.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78040" y="4160520"/>
              <a:ext cx="434340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— 글로벌 콘텐츠 진출 전략 세미나, 2025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