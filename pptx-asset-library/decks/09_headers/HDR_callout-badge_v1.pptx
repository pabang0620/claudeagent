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HDR-008~009 · 강조 콜아웃 박스</a:t>
            </a:r>
          </a:p>
        </p:txBody>
      </p:sp>
      <p:grpSp>
        <p:nvGrpSpPr>
          <p:cNvPr id="7" name="asset:HDR-008"/>
          <p:cNvGrpSpPr/>
          <p:nvPr/>
        </p:nvGrpSpPr>
        <p:grpSpPr>
          <a:xfrm>
            <a:off x="822960" y="1188720"/>
            <a:ext cx="4389120" cy="1005840"/>
            <a:chOff x="822960" y="1188720"/>
            <a:chExt cx="4389120" cy="1005840"/>
          </a:xfrm>
        </p:grpSpPr>
        <p:sp>
          <p:nvSpPr>
            <p:cNvPr id="3" name="Rectangle 2"/>
            <p:cNvSpPr/>
            <p:nvPr/>
          </p:nvSpPr>
          <p:spPr>
            <a:xfrm>
              <a:off x="822960" y="1188720"/>
              <a:ext cx="4389120" cy="100584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1188720"/>
              <a:ext cx="82296" cy="10058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078992" y="1280160"/>
              <a:ext cx="40233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핵심 제안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78992" y="1600200"/>
              <a:ext cx="4023359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현지화 콘텐츠 재가공 및 채널별 최적 배급 전략으로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해외 시장 진입 장벽을 최소화합니다.</a:t>
              </a:r>
            </a:p>
          </p:txBody>
        </p:sp>
      </p:grpSp>
      <p:grpSp>
        <p:nvGrpSpPr>
          <p:cNvPr id="12" name="asset:HDR-009"/>
          <p:cNvGrpSpPr/>
          <p:nvPr/>
        </p:nvGrpSpPr>
        <p:grpSpPr>
          <a:xfrm>
            <a:off x="822960" y="2651760"/>
            <a:ext cx="4389120" cy="1005840"/>
            <a:chOff x="822960" y="2651760"/>
            <a:chExt cx="4389120" cy="1005840"/>
          </a:xfrm>
        </p:grpSpPr>
        <p:sp>
          <p:nvSpPr>
            <p:cNvPr id="8" name="Rectangle 7"/>
            <p:cNvSpPr/>
            <p:nvPr/>
          </p:nvSpPr>
          <p:spPr>
            <a:xfrm>
              <a:off x="822960" y="2651760"/>
              <a:ext cx="4389120" cy="1005840"/>
            </a:xfrm>
            <a:prstGeom prst="rect">
              <a:avLst/>
            </a:prstGeom>
            <a:solidFill>
              <a:srgbClr val="F7F9FC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822960" y="2651760"/>
              <a:ext cx="82296" cy="1005840"/>
            </a:xfrm>
            <a:prstGeom prst="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078992" y="2743200"/>
              <a:ext cx="4023359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기대효과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078992" y="3063240"/>
              <a:ext cx="4023359" cy="50292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K-콘텐츠 IP의 글로벌 인지도 제고와</a:t>
              </a:r>
            </a:p>
            <a:p>
              <a:pPr algn="l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신규 해외 매출 파이프라인 확보가 가능합니다.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HDR-012~013 · 리본/배지</a:t>
            </a:r>
          </a:p>
        </p:txBody>
      </p:sp>
      <p:grpSp>
        <p:nvGrpSpPr>
          <p:cNvPr id="5" name="asset:HDR-012"/>
          <p:cNvGrpSpPr/>
          <p:nvPr/>
        </p:nvGrpSpPr>
        <p:grpSpPr>
          <a:xfrm>
            <a:off x="914400" y="1316736"/>
            <a:ext cx="1554480" cy="713232"/>
            <a:chOff x="914400" y="1316736"/>
            <a:chExt cx="1554480" cy="713232"/>
          </a:xfrm>
        </p:grpSpPr>
        <p:sp>
          <p:nvSpPr>
            <p:cNvPr id="3" name="Rectangle 2"/>
            <p:cNvSpPr/>
            <p:nvPr/>
          </p:nvSpPr>
          <p:spPr>
            <a:xfrm>
              <a:off x="1234440" y="1316736"/>
              <a:ext cx="914400" cy="109728"/>
            </a:xfrm>
            <a:prstGeom prst="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Down Ribbon 3"/>
            <p:cNvSpPr/>
            <p:nvPr/>
          </p:nvSpPr>
          <p:spPr>
            <a:xfrm>
              <a:off x="914400" y="1371600"/>
              <a:ext cx="1554480" cy="658368"/>
            </a:xfrm>
            <a:prstGeom prst="ribbon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추천</a:t>
              </a:r>
            </a:p>
          </p:txBody>
        </p:sp>
      </p:grpSp>
      <p:grpSp>
        <p:nvGrpSpPr>
          <p:cNvPr id="8" name="asset:HDR-013"/>
          <p:cNvGrpSpPr/>
          <p:nvPr/>
        </p:nvGrpSpPr>
        <p:grpSpPr>
          <a:xfrm>
            <a:off x="896112" y="2743200"/>
            <a:ext cx="1353312" cy="402336"/>
            <a:chOff x="896112" y="2743200"/>
            <a:chExt cx="1353312" cy="402336"/>
          </a:xfrm>
        </p:grpSpPr>
        <p:sp>
          <p:nvSpPr>
            <p:cNvPr id="6" name="Oval 5"/>
            <p:cNvSpPr/>
            <p:nvPr/>
          </p:nvSpPr>
          <p:spPr>
            <a:xfrm>
              <a:off x="896112" y="2889504"/>
              <a:ext cx="109728" cy="109728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060704" y="2743200"/>
              <a:ext cx="1188720" cy="402336"/>
            </a:xfrm>
            <a:prstGeom prst="roundRect">
              <a:avLst>
                <a:gd name="adj" fmla="val 5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NEW</a:t>
              </a:r>
            </a:p>
          </p:txBody>
        </p:sp>
      </p:grpSp>
      <p:sp>
        <p:nvSpPr>
          <p:cNvPr id="9" name="Rectangle 8"/>
          <p:cNvSpPr/>
          <p:nvPr/>
        </p:nvSpPr>
        <p:spPr>
          <a:xfrm>
            <a:off x="3063240" y="1316736"/>
            <a:ext cx="914400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Ribbon 9"/>
          <p:cNvSpPr/>
          <p:nvPr/>
        </p:nvSpPr>
        <p:spPr>
          <a:xfrm>
            <a:off x="2743200" y="1371600"/>
            <a:ext cx="1554480" cy="658368"/>
          </a:xfrm>
          <a:prstGeom prst="ribb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11" name="Oval 10"/>
          <p:cNvSpPr/>
          <p:nvPr/>
        </p:nvSpPr>
        <p:spPr>
          <a:xfrm>
            <a:off x="2633472" y="2889504"/>
            <a:ext cx="109728" cy="109728"/>
          </a:xfrm>
          <a:prstGeom prst="ellipse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98064" y="2743200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HDR-014 · 넘버링 라벨 세트</a:t>
            </a:r>
          </a:p>
        </p:txBody>
      </p:sp>
      <p:grpSp>
        <p:nvGrpSpPr>
          <p:cNvPr id="9" name="asset:HDR-014"/>
          <p:cNvGrpSpPr/>
          <p:nvPr/>
        </p:nvGrpSpPr>
        <p:grpSpPr>
          <a:xfrm>
            <a:off x="822960" y="1828800"/>
            <a:ext cx="7278624" cy="548640"/>
            <a:chOff x="822960" y="1828800"/>
            <a:chExt cx="7278624" cy="548640"/>
          </a:xfrm>
        </p:grpSpPr>
        <p:sp>
          <p:nvSpPr>
            <p:cNvPr id="3" name="Oval 2"/>
            <p:cNvSpPr/>
            <p:nvPr/>
          </p:nvSpPr>
          <p:spPr>
            <a:xfrm>
              <a:off x="822960" y="1828800"/>
              <a:ext cx="548640" cy="5486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01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1426464" y="1828800"/>
              <a:ext cx="179832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기획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3261360" y="1828800"/>
              <a:ext cx="548640" cy="5486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02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864864" y="1828800"/>
              <a:ext cx="179832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제작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5699760" y="1828800"/>
              <a:ext cx="548640" cy="5486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03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303264" y="1828800"/>
              <a:ext cx="179832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배급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