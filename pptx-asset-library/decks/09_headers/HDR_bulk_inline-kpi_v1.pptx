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asset:HDR-181"/>
          <p:cNvGrpSpPr/>
          <p:nvPr/>
        </p:nvGrpSpPr>
        <p:grpSpPr>
          <a:xfrm>
            <a:off x="914400" y="896112"/>
            <a:ext cx="7863839" cy="841248"/>
            <a:chOff x="914400" y="896112"/>
            <a:chExt cx="7863839" cy="841248"/>
          </a:xfrm>
        </p:grpSpPr>
        <p:sp>
          <p:nvSpPr>
            <p:cNvPr id="2" name="TextBox 1"/>
            <p:cNvSpPr txBox="1"/>
            <p:nvPr/>
          </p:nvSpPr>
          <p:spPr>
            <a:xfrm>
              <a:off x="914400" y="914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해외사업 성과 요약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32688" y="1609343"/>
              <a:ext cx="2011680" cy="54864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475427" y="896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84.2억 원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475427" y="1426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누적 수출 매출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HDR-181~ · 인라인 KPI 헤더</a:t>
            </a:r>
          </a:p>
        </p:txBody>
      </p:sp>
      <p:grpSp>
        <p:nvGrpSpPr>
          <p:cNvPr id="12" name="asset:HDR-182"/>
          <p:cNvGrpSpPr/>
          <p:nvPr/>
        </p:nvGrpSpPr>
        <p:grpSpPr>
          <a:xfrm>
            <a:off x="914400" y="2039112"/>
            <a:ext cx="7863839" cy="841248"/>
            <a:chOff x="914400" y="2039112"/>
            <a:chExt cx="7863839" cy="841248"/>
          </a:xfrm>
        </p:grpSpPr>
        <p:sp>
          <p:nvSpPr>
            <p:cNvPr id="8" name="TextBox 7"/>
            <p:cNvSpPr txBox="1"/>
            <p:nvPr/>
          </p:nvSpPr>
          <p:spPr>
            <a:xfrm>
              <a:off x="914400" y="2057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해외사업 성과 요약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32688" y="2752344"/>
              <a:ext cx="2011680" cy="54864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75427" y="2039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84.2억 원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75427" y="2569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누적 수출 매출</a:t>
              </a:r>
            </a:p>
          </p:txBody>
        </p:sp>
      </p:grpSp>
      <p:grpSp>
        <p:nvGrpSpPr>
          <p:cNvPr id="17" name="asset:HDR-183"/>
          <p:cNvGrpSpPr/>
          <p:nvPr/>
        </p:nvGrpSpPr>
        <p:grpSpPr>
          <a:xfrm>
            <a:off x="914400" y="3182112"/>
            <a:ext cx="7863839" cy="841248"/>
            <a:chOff x="914400" y="3182112"/>
            <a:chExt cx="7863839" cy="841248"/>
          </a:xfrm>
        </p:grpSpPr>
        <p:sp>
          <p:nvSpPr>
            <p:cNvPr id="13" name="TextBox 12"/>
            <p:cNvSpPr txBox="1"/>
            <p:nvPr/>
          </p:nvSpPr>
          <p:spPr>
            <a:xfrm>
              <a:off x="914400" y="3200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해외사업 성과 요약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32688" y="3895344"/>
              <a:ext cx="2011680" cy="54864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75427" y="3182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84.2억 원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75427" y="3712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누적 수출 매출</a:t>
              </a:r>
            </a:p>
          </p:txBody>
        </p:sp>
      </p:grpSp>
      <p:grpSp>
        <p:nvGrpSpPr>
          <p:cNvPr id="22" name="asset:HDR-184"/>
          <p:cNvGrpSpPr/>
          <p:nvPr/>
        </p:nvGrpSpPr>
        <p:grpSpPr>
          <a:xfrm>
            <a:off x="914400" y="4325112"/>
            <a:ext cx="7863839" cy="841248"/>
            <a:chOff x="914400" y="4325112"/>
            <a:chExt cx="7863839" cy="841248"/>
          </a:xfrm>
        </p:grpSpPr>
        <p:sp>
          <p:nvSpPr>
            <p:cNvPr id="18" name="TextBox 17"/>
            <p:cNvSpPr txBox="1"/>
            <p:nvPr/>
          </p:nvSpPr>
          <p:spPr>
            <a:xfrm>
              <a:off x="914400" y="4343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해외사업 성과 요약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32688" y="5038344"/>
              <a:ext cx="2011680" cy="54864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75427" y="4325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84.2억 원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475427" y="4855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누적 수출 매출</a:t>
              </a:r>
            </a:p>
          </p:txBody>
        </p:sp>
      </p:grpSp>
      <p:grpSp>
        <p:nvGrpSpPr>
          <p:cNvPr id="27" name="asset:HDR-185"/>
          <p:cNvGrpSpPr/>
          <p:nvPr/>
        </p:nvGrpSpPr>
        <p:grpSpPr>
          <a:xfrm>
            <a:off x="914400" y="5468112"/>
            <a:ext cx="7863839" cy="841248"/>
            <a:chOff x="914400" y="5468112"/>
            <a:chExt cx="7863839" cy="841248"/>
          </a:xfrm>
        </p:grpSpPr>
        <p:sp>
          <p:nvSpPr>
            <p:cNvPr id="23" name="TextBox 22"/>
            <p:cNvSpPr txBox="1"/>
            <p:nvPr/>
          </p:nvSpPr>
          <p:spPr>
            <a:xfrm>
              <a:off x="914400" y="5486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해외사업 성과 요약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2688" y="6181344"/>
              <a:ext cx="2011680" cy="54864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475427" y="5468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84.2억 원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75427" y="5998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누적 수출 매출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asset:HDR-186"/>
          <p:cNvGrpSpPr/>
          <p:nvPr/>
        </p:nvGrpSpPr>
        <p:grpSpPr>
          <a:xfrm>
            <a:off x="914400" y="896112"/>
            <a:ext cx="7863839" cy="841248"/>
            <a:chOff x="914400" y="896112"/>
            <a:chExt cx="7863839" cy="841248"/>
          </a:xfrm>
        </p:grpSpPr>
        <p:sp>
          <p:nvSpPr>
            <p:cNvPr id="2" name="TextBox 1"/>
            <p:cNvSpPr txBox="1"/>
            <p:nvPr/>
          </p:nvSpPr>
          <p:spPr>
            <a:xfrm>
              <a:off x="914400" y="914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해외사업 성과 요약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32688" y="1609343"/>
              <a:ext cx="2011680" cy="54864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475427" y="896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84.2억 원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475427" y="1426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누적 수출 매출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HDR-186~ · 인라인 KPI 헤더</a:t>
            </a:r>
          </a:p>
        </p:txBody>
      </p:sp>
      <p:grpSp>
        <p:nvGrpSpPr>
          <p:cNvPr id="12" name="asset:HDR-187"/>
          <p:cNvGrpSpPr/>
          <p:nvPr/>
        </p:nvGrpSpPr>
        <p:grpSpPr>
          <a:xfrm>
            <a:off x="914400" y="2039112"/>
            <a:ext cx="7863839" cy="841248"/>
            <a:chOff x="914400" y="2039112"/>
            <a:chExt cx="7863839" cy="841248"/>
          </a:xfrm>
        </p:grpSpPr>
        <p:sp>
          <p:nvSpPr>
            <p:cNvPr id="8" name="TextBox 7"/>
            <p:cNvSpPr txBox="1"/>
            <p:nvPr/>
          </p:nvSpPr>
          <p:spPr>
            <a:xfrm>
              <a:off x="914400" y="2057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콘텐츠 수출 실적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32688" y="2752344"/>
              <a:ext cx="2011680" cy="54864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75427" y="2039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75427" y="2569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대비 성장</a:t>
              </a:r>
            </a:p>
          </p:txBody>
        </p:sp>
      </p:grpSp>
      <p:grpSp>
        <p:nvGrpSpPr>
          <p:cNvPr id="17" name="asset:HDR-188"/>
          <p:cNvGrpSpPr/>
          <p:nvPr/>
        </p:nvGrpSpPr>
        <p:grpSpPr>
          <a:xfrm>
            <a:off x="914400" y="3182112"/>
            <a:ext cx="7863839" cy="841248"/>
            <a:chOff x="914400" y="3182112"/>
            <a:chExt cx="7863839" cy="841248"/>
          </a:xfrm>
        </p:grpSpPr>
        <p:sp>
          <p:nvSpPr>
            <p:cNvPr id="13" name="TextBox 12"/>
            <p:cNvSpPr txBox="1"/>
            <p:nvPr/>
          </p:nvSpPr>
          <p:spPr>
            <a:xfrm>
              <a:off x="914400" y="3200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콘텐츠 수출 실적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32688" y="3895344"/>
              <a:ext cx="2011680" cy="54864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75427" y="3182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75427" y="3712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대비 성장</a:t>
              </a:r>
            </a:p>
          </p:txBody>
        </p:sp>
      </p:grpSp>
      <p:grpSp>
        <p:nvGrpSpPr>
          <p:cNvPr id="22" name="asset:HDR-189"/>
          <p:cNvGrpSpPr/>
          <p:nvPr/>
        </p:nvGrpSpPr>
        <p:grpSpPr>
          <a:xfrm>
            <a:off x="914400" y="4325112"/>
            <a:ext cx="7863839" cy="841248"/>
            <a:chOff x="914400" y="4325112"/>
            <a:chExt cx="7863839" cy="841248"/>
          </a:xfrm>
        </p:grpSpPr>
        <p:sp>
          <p:nvSpPr>
            <p:cNvPr id="18" name="TextBox 17"/>
            <p:cNvSpPr txBox="1"/>
            <p:nvPr/>
          </p:nvSpPr>
          <p:spPr>
            <a:xfrm>
              <a:off x="914400" y="4343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콘텐츠 수출 실적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32688" y="5038344"/>
              <a:ext cx="2011680" cy="54864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75427" y="4325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475427" y="4855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대비 성장</a:t>
              </a:r>
            </a:p>
          </p:txBody>
        </p:sp>
      </p:grpSp>
      <p:grpSp>
        <p:nvGrpSpPr>
          <p:cNvPr id="27" name="asset:HDR-190"/>
          <p:cNvGrpSpPr/>
          <p:nvPr/>
        </p:nvGrpSpPr>
        <p:grpSpPr>
          <a:xfrm>
            <a:off x="914400" y="5468112"/>
            <a:ext cx="7863839" cy="841248"/>
            <a:chOff x="914400" y="5468112"/>
            <a:chExt cx="7863839" cy="841248"/>
          </a:xfrm>
        </p:grpSpPr>
        <p:sp>
          <p:nvSpPr>
            <p:cNvPr id="23" name="TextBox 22"/>
            <p:cNvSpPr txBox="1"/>
            <p:nvPr/>
          </p:nvSpPr>
          <p:spPr>
            <a:xfrm>
              <a:off x="914400" y="5486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콘텐츠 수출 실적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2688" y="6181344"/>
              <a:ext cx="2011680" cy="54864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475427" y="5468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75427" y="5998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대비 성장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asset:HDR-191"/>
          <p:cNvGrpSpPr/>
          <p:nvPr/>
        </p:nvGrpSpPr>
        <p:grpSpPr>
          <a:xfrm>
            <a:off x="914400" y="896112"/>
            <a:ext cx="7863839" cy="841248"/>
            <a:chOff x="914400" y="896112"/>
            <a:chExt cx="7863839" cy="841248"/>
          </a:xfrm>
        </p:grpSpPr>
        <p:sp>
          <p:nvSpPr>
            <p:cNvPr id="2" name="TextBox 1"/>
            <p:cNvSpPr txBox="1"/>
            <p:nvPr/>
          </p:nvSpPr>
          <p:spPr>
            <a:xfrm>
              <a:off x="914400" y="914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콘텐츠 수출 실적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932688" y="1609343"/>
              <a:ext cx="2011680" cy="54864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475427" y="896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475427" y="1426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대비 성장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HDR-191~ · 인라인 KPI 헤더</a:t>
            </a:r>
          </a:p>
        </p:txBody>
      </p:sp>
      <p:grpSp>
        <p:nvGrpSpPr>
          <p:cNvPr id="12" name="asset:HDR-192"/>
          <p:cNvGrpSpPr/>
          <p:nvPr/>
        </p:nvGrpSpPr>
        <p:grpSpPr>
          <a:xfrm>
            <a:off x="914400" y="2039112"/>
            <a:ext cx="7863839" cy="841248"/>
            <a:chOff x="914400" y="2039112"/>
            <a:chExt cx="7863839" cy="841248"/>
          </a:xfrm>
        </p:grpSpPr>
        <p:sp>
          <p:nvSpPr>
            <p:cNvPr id="8" name="TextBox 7"/>
            <p:cNvSpPr txBox="1"/>
            <p:nvPr/>
          </p:nvSpPr>
          <p:spPr>
            <a:xfrm>
              <a:off x="914400" y="2057400"/>
              <a:ext cx="4561027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콘텐츠 수출 실적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32688" y="2752344"/>
              <a:ext cx="2011680" cy="54864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75427" y="2039112"/>
              <a:ext cx="3302812" cy="530352"/>
            </a:xfrm>
            <a:prstGeom prst="rect">
              <a:avLst/>
            </a:prstGeom>
            <a:noFill/>
          </p:spPr>
          <p:txBody>
            <a:bodyPr wrap="square" anchor="b" lIns="38100" rIns="38100" tIns="25400" bIns="25400">
              <a:spAutoFit/>
            </a:bodyPr>
            <a:lstStyle/>
            <a:p>
              <a:pPr algn="r"/>
              <a:r>
                <a:rPr sz="30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75427" y="2569464"/>
              <a:ext cx="3302812" cy="2743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대비 성장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