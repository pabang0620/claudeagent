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HDR-091"/>
          <p:cNvGrpSpPr/>
          <p:nvPr/>
        </p:nvGrpSpPr>
        <p:grpSpPr>
          <a:xfrm>
            <a:off x="548640" y="868680"/>
            <a:ext cx="4937760" cy="2011680"/>
            <a:chOff x="548640" y="868680"/>
            <a:chExt cx="4937760" cy="2011680"/>
          </a:xfrm>
        </p:grpSpPr>
        <p:sp>
          <p:nvSpPr>
            <p:cNvPr id="2" name="Rounded Rectangle 1"/>
            <p:cNvSpPr/>
            <p:nvPr/>
          </p:nvSpPr>
          <p:spPr>
            <a:xfrm>
              <a:off x="548640" y="86868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BF0E1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ectangle 2"/>
            <p:cNvSpPr/>
            <p:nvPr/>
          </p:nvSpPr>
          <p:spPr>
            <a:xfrm>
              <a:off x="713232" y="1014983"/>
              <a:ext cx="4608576" cy="38404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시장 환경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04672" y="152704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4128" y="152704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 수요 확대로 K-콘텐츠 진출 기회 증가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04672" y="1856231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4128" y="1856231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언어·문화 장벽이 핵심 리스크로 상존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4672" y="2185415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24128" y="2185415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권역별 배급 파트너 확보가 성패 좌우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HDR-091~ · 분석 요약 박스</a:t>
            </a:r>
          </a:p>
        </p:txBody>
      </p:sp>
      <p:grpSp>
        <p:nvGrpSpPr>
          <p:cNvPr id="20" name="asset:HDR-092"/>
          <p:cNvGrpSpPr/>
          <p:nvPr/>
        </p:nvGrpSpPr>
        <p:grpSpPr>
          <a:xfrm>
            <a:off x="6400800" y="868680"/>
            <a:ext cx="4937760" cy="2011680"/>
            <a:chOff x="6400800" y="868680"/>
            <a:chExt cx="4937760" cy="2011680"/>
          </a:xfrm>
        </p:grpSpPr>
        <p:sp>
          <p:nvSpPr>
            <p:cNvPr id="12" name="Rounded Rectangle 11"/>
            <p:cNvSpPr/>
            <p:nvPr/>
          </p:nvSpPr>
          <p:spPr>
            <a:xfrm>
              <a:off x="6400800" y="86868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BF0E1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565392" y="1014983"/>
              <a:ext cx="4608576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시장 환경 분석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56832" y="152704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76288" y="152704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 수요 확대로 K-콘텐츠 진출 기회 증가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56832" y="1856231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76288" y="1856231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언어·문화 장벽이 핵심 리스크로 상존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656832" y="2185415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76288" y="2185415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권역별 배급 파트너 확보가 성패 좌우</a:t>
              </a:r>
            </a:p>
          </p:txBody>
        </p:sp>
      </p:grpSp>
      <p:grpSp>
        <p:nvGrpSpPr>
          <p:cNvPr id="29" name="asset:HDR-093"/>
          <p:cNvGrpSpPr/>
          <p:nvPr/>
        </p:nvGrpSpPr>
        <p:grpSpPr>
          <a:xfrm>
            <a:off x="548640" y="3108960"/>
            <a:ext cx="4937760" cy="2011680"/>
            <a:chOff x="548640" y="3108960"/>
            <a:chExt cx="4937760" cy="2011680"/>
          </a:xfrm>
        </p:grpSpPr>
        <p:sp>
          <p:nvSpPr>
            <p:cNvPr id="21" name="Rounded Rectangle 20"/>
            <p:cNvSpPr/>
            <p:nvPr/>
          </p:nvSpPr>
          <p:spPr>
            <a:xfrm>
              <a:off x="548640" y="310896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BF0E1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13232" y="3255264"/>
              <a:ext cx="4608576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시장 환경 분석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4672" y="376732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24128" y="376732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 수요 확대로 K-콘텐츠 진출 기회 증가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4672" y="4096512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24128" y="4096512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언어·문화 장벽이 핵심 리스크로 상존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04672" y="4425696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24128" y="4425696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권역별 배급 파트너 확보가 성패 좌우</a:t>
              </a:r>
            </a:p>
          </p:txBody>
        </p:sp>
      </p:grpSp>
      <p:grpSp>
        <p:nvGrpSpPr>
          <p:cNvPr id="38" name="asset:HDR-094"/>
          <p:cNvGrpSpPr/>
          <p:nvPr/>
        </p:nvGrpSpPr>
        <p:grpSpPr>
          <a:xfrm>
            <a:off x="6400800" y="3108960"/>
            <a:ext cx="4937760" cy="2011680"/>
            <a:chOff x="6400800" y="3108960"/>
            <a:chExt cx="4937760" cy="2011680"/>
          </a:xfrm>
        </p:grpSpPr>
        <p:sp>
          <p:nvSpPr>
            <p:cNvPr id="30" name="Rounded Rectangle 29"/>
            <p:cNvSpPr/>
            <p:nvPr/>
          </p:nvSpPr>
          <p:spPr>
            <a:xfrm>
              <a:off x="6400800" y="310896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BF0E1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565392" y="3255264"/>
              <a:ext cx="4608576" cy="38404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시장 환경 분석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656832" y="376732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76288" y="376732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 수요 확대로 K-콘텐츠 진출 기회 증가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656832" y="4096512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76288" y="4096512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언어·문화 장벽이 핵심 리스크로 상존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656832" y="4425696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876288" y="4425696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권역별 배급 파트너 확보가 성패 좌우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HDR-095"/>
          <p:cNvGrpSpPr/>
          <p:nvPr/>
        </p:nvGrpSpPr>
        <p:grpSpPr>
          <a:xfrm>
            <a:off x="548640" y="868680"/>
            <a:ext cx="4937760" cy="2011680"/>
            <a:chOff x="548640" y="868680"/>
            <a:chExt cx="4937760" cy="2011680"/>
          </a:xfrm>
        </p:grpSpPr>
        <p:sp>
          <p:nvSpPr>
            <p:cNvPr id="2" name="Rounded Rectangle 1"/>
            <p:cNvSpPr/>
            <p:nvPr/>
          </p:nvSpPr>
          <p:spPr>
            <a:xfrm>
              <a:off x="548640" y="86868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BF0E1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ectangle 2"/>
            <p:cNvSpPr/>
            <p:nvPr/>
          </p:nvSpPr>
          <p:spPr>
            <a:xfrm>
              <a:off x="713232" y="1014983"/>
              <a:ext cx="460857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시장 환경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04672" y="152704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4128" y="152704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 수요 확대로 K-콘텐츠 진출 기회 증가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04672" y="1856231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4128" y="1856231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언어·문화 장벽이 핵심 리스크로 상존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4672" y="2185415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24128" y="2185415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권역별 배급 파트너 확보가 성패 좌우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HDR-095~ · 분석 요약 박스</a:t>
            </a:r>
          </a:p>
        </p:txBody>
      </p:sp>
      <p:grpSp>
        <p:nvGrpSpPr>
          <p:cNvPr id="20" name="asset:HDR-096"/>
          <p:cNvGrpSpPr/>
          <p:nvPr/>
        </p:nvGrpSpPr>
        <p:grpSpPr>
          <a:xfrm>
            <a:off x="6400800" y="868680"/>
            <a:ext cx="4937760" cy="2011680"/>
            <a:chOff x="6400800" y="868680"/>
            <a:chExt cx="4937760" cy="2011680"/>
          </a:xfrm>
        </p:grpSpPr>
        <p:sp>
          <p:nvSpPr>
            <p:cNvPr id="12" name="Rounded Rectangle 11"/>
            <p:cNvSpPr/>
            <p:nvPr/>
          </p:nvSpPr>
          <p:spPr>
            <a:xfrm>
              <a:off x="6400800" y="86868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BF0E1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565392" y="1014983"/>
              <a:ext cx="4608576" cy="384048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시장 환경 분석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56832" y="152704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76288" y="152704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 수요 확대로 K-콘텐츠 진출 기회 증가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56832" y="1856231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76288" y="1856231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언어·문화 장벽이 핵심 리스크로 상존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656832" y="2185415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76288" y="2185415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권역별 배급 파트너 확보가 성패 좌우</a:t>
              </a:r>
            </a:p>
          </p:txBody>
        </p:sp>
      </p:grpSp>
      <p:grpSp>
        <p:nvGrpSpPr>
          <p:cNvPr id="29" name="asset:HDR-097"/>
          <p:cNvGrpSpPr/>
          <p:nvPr/>
        </p:nvGrpSpPr>
        <p:grpSpPr>
          <a:xfrm>
            <a:off x="548640" y="3108960"/>
            <a:ext cx="4937760" cy="2011680"/>
            <a:chOff x="548640" y="3108960"/>
            <a:chExt cx="4937760" cy="2011680"/>
          </a:xfrm>
        </p:grpSpPr>
        <p:sp>
          <p:nvSpPr>
            <p:cNvPr id="21" name="Rounded Rectangle 20"/>
            <p:cNvSpPr/>
            <p:nvPr/>
          </p:nvSpPr>
          <p:spPr>
            <a:xfrm>
              <a:off x="548640" y="310896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13232" y="3255264"/>
              <a:ext cx="4608576" cy="38404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SWOT 요약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4672" y="376732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24128" y="376732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강점: 검증된 IP·제작 역량 보유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4672" y="4096512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24128" y="4096512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약점: 해외 유통망·현지 네트워크 부족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04672" y="4425696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24128" y="4425696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기회: 한류 확산 및 정책 지원 확대</a:t>
              </a:r>
            </a:p>
          </p:txBody>
        </p:sp>
      </p:grpSp>
      <p:grpSp>
        <p:nvGrpSpPr>
          <p:cNvPr id="38" name="asset:HDR-098"/>
          <p:cNvGrpSpPr/>
          <p:nvPr/>
        </p:nvGrpSpPr>
        <p:grpSpPr>
          <a:xfrm>
            <a:off x="6400800" y="3108960"/>
            <a:ext cx="4937760" cy="2011680"/>
            <a:chOff x="6400800" y="3108960"/>
            <a:chExt cx="4937760" cy="2011680"/>
          </a:xfrm>
        </p:grpSpPr>
        <p:sp>
          <p:nvSpPr>
            <p:cNvPr id="30" name="Rounded Rectangle 29"/>
            <p:cNvSpPr/>
            <p:nvPr/>
          </p:nvSpPr>
          <p:spPr>
            <a:xfrm>
              <a:off x="6400800" y="310896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565392" y="3255264"/>
              <a:ext cx="4608576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SWOT 요약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656832" y="376732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76288" y="376732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강점: 검증된 IP·제작 역량 보유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656832" y="4096512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76288" y="4096512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약점: 해외 유통망·현지 네트워크 부족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656832" y="4425696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876288" y="4425696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기회: 한류 확산 및 정책 지원 확대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HDR-099"/>
          <p:cNvGrpSpPr/>
          <p:nvPr/>
        </p:nvGrpSpPr>
        <p:grpSpPr>
          <a:xfrm>
            <a:off x="548640" y="868680"/>
            <a:ext cx="4937760" cy="2011680"/>
            <a:chOff x="548640" y="868680"/>
            <a:chExt cx="4937760" cy="2011680"/>
          </a:xfrm>
        </p:grpSpPr>
        <p:sp>
          <p:nvSpPr>
            <p:cNvPr id="2" name="Rounded Rectangle 1"/>
            <p:cNvSpPr/>
            <p:nvPr/>
          </p:nvSpPr>
          <p:spPr>
            <a:xfrm>
              <a:off x="548640" y="86868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ectangle 2"/>
            <p:cNvSpPr/>
            <p:nvPr/>
          </p:nvSpPr>
          <p:spPr>
            <a:xfrm>
              <a:off x="713232" y="1014983"/>
              <a:ext cx="4608576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SWOT 요약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04672" y="152704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24128" y="152704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강점: 검증된 IP·제작 역량 보유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04672" y="1856231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4128" y="1856231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약점: 해외 유통망·현지 네트워크 부족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4672" y="2185415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24128" y="2185415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기회: 한류 확산 및 정책 지원 확대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HDR-099~ · 분석 요약 박스</a:t>
            </a:r>
          </a:p>
        </p:txBody>
      </p:sp>
      <p:grpSp>
        <p:nvGrpSpPr>
          <p:cNvPr id="20" name="asset:HDR-100"/>
          <p:cNvGrpSpPr/>
          <p:nvPr/>
        </p:nvGrpSpPr>
        <p:grpSpPr>
          <a:xfrm>
            <a:off x="6400800" y="868680"/>
            <a:ext cx="4937760" cy="2011680"/>
            <a:chOff x="6400800" y="868680"/>
            <a:chExt cx="4937760" cy="2011680"/>
          </a:xfrm>
        </p:grpSpPr>
        <p:sp>
          <p:nvSpPr>
            <p:cNvPr id="12" name="Rounded Rectangle 11"/>
            <p:cNvSpPr/>
            <p:nvPr/>
          </p:nvSpPr>
          <p:spPr>
            <a:xfrm>
              <a:off x="6400800" y="86868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565392" y="1014983"/>
              <a:ext cx="4608576" cy="38404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SWOT 요약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56832" y="152704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76288" y="152704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강점: 검증된 IP·제작 역량 보유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56832" y="1856231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76288" y="1856231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약점: 해외 유통망·현지 네트워크 부족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656832" y="2185415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76288" y="2185415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기회: 한류 확산 및 정책 지원 확대</a:t>
              </a:r>
            </a:p>
          </p:txBody>
        </p:sp>
      </p:grpSp>
      <p:grpSp>
        <p:nvGrpSpPr>
          <p:cNvPr id="29" name="asset:HDR-101"/>
          <p:cNvGrpSpPr/>
          <p:nvPr/>
        </p:nvGrpSpPr>
        <p:grpSpPr>
          <a:xfrm>
            <a:off x="548640" y="3108960"/>
            <a:ext cx="4937760" cy="2011680"/>
            <a:chOff x="548640" y="3108960"/>
            <a:chExt cx="4937760" cy="2011680"/>
          </a:xfrm>
        </p:grpSpPr>
        <p:sp>
          <p:nvSpPr>
            <p:cNvPr id="21" name="Rounded Rectangle 20"/>
            <p:cNvSpPr/>
            <p:nvPr/>
          </p:nvSpPr>
          <p:spPr>
            <a:xfrm>
              <a:off x="548640" y="310896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13232" y="3255264"/>
              <a:ext cx="460857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SWOT 요약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4672" y="376732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24128" y="376732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강점: 검증된 IP·제작 역량 보유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4672" y="4096512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24128" y="4096512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약점: 해외 유통망·현지 네트워크 부족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04672" y="4425696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24128" y="4425696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기회: 한류 확산 및 정책 지원 확대</a:t>
              </a:r>
            </a:p>
          </p:txBody>
        </p:sp>
      </p:grpSp>
      <p:grpSp>
        <p:nvGrpSpPr>
          <p:cNvPr id="38" name="asset:HDR-102"/>
          <p:cNvGrpSpPr/>
          <p:nvPr/>
        </p:nvGrpSpPr>
        <p:grpSpPr>
          <a:xfrm>
            <a:off x="6400800" y="3108960"/>
            <a:ext cx="4937760" cy="2011680"/>
            <a:chOff x="6400800" y="3108960"/>
            <a:chExt cx="4937760" cy="2011680"/>
          </a:xfrm>
        </p:grpSpPr>
        <p:sp>
          <p:nvSpPr>
            <p:cNvPr id="30" name="Rounded Rectangle 29"/>
            <p:cNvSpPr/>
            <p:nvPr/>
          </p:nvSpPr>
          <p:spPr>
            <a:xfrm>
              <a:off x="6400800" y="310896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565392" y="3255264"/>
              <a:ext cx="4608576" cy="384048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SWOT 요약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656832" y="376732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76288" y="376732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강점: 검증된 IP·제작 역량 보유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656832" y="4096512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76288" y="4096512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약점: 해외 유통망·현지 네트워크 부족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656832" y="4425696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876288" y="4425696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기회: 한류 확산 및 정책 지원 확대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