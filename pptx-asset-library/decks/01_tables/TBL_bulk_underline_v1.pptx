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지역 관광 활성화 세부 내역표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헤더 밑줄형 · 3열 · navy_800 액센트</a:t>
            </a:r>
          </a:p>
        </p:txBody>
      </p:sp>
      <p:graphicFrame>
        <p:nvGraphicFramePr>
          <p:cNvPr id="4" name="asset:TBL-083"/>
          <p:cNvGraphicFramePr>
            <a:graphicFrameLocks noGrp="1"/>
          </p:cNvGraphicFramePr>
          <p:nvPr/>
        </p:nvGraphicFramePr>
        <p:xfrm>
          <a:off x="914400" y="1554480"/>
          <a:ext cx="10360152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3991356"/>
                <a:gridCol w="399135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과업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1F386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1F386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1F386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4,182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4,235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4,288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4,341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디지털 헬스케어 세부 내역표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헤더 밑줄형 · 4열 · blue_500 액센트</a:t>
            </a:r>
          </a:p>
        </p:txBody>
      </p:sp>
      <p:graphicFrame>
        <p:nvGraphicFramePr>
          <p:cNvPr id="4" name="asset:TBL-084"/>
          <p:cNvGraphicFramePr>
            <a:graphicFrameLocks noGrp="1"/>
          </p:cNvGraphicFramePr>
          <p:nvPr/>
        </p:nvGraphicFramePr>
        <p:xfrm>
          <a:off x="914400" y="1554480"/>
          <a:ext cx="10360152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2660904"/>
                <a:gridCol w="2660904"/>
                <a:gridCol w="26609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4,248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4,301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4,354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4,407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TBL-084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그린 에너지 세부 내역표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헤더 밑줄형 · 5열 · teal_500 액센트</a:t>
            </a:r>
          </a:p>
        </p:txBody>
      </p:sp>
      <p:graphicFrame>
        <p:nvGraphicFramePr>
          <p:cNvPr id="4" name="asset:TBL-085"/>
          <p:cNvGraphicFramePr>
            <a:graphicFrameLocks noGrp="1"/>
          </p:cNvGraphicFramePr>
          <p:nvPr/>
        </p:nvGraphicFramePr>
        <p:xfrm>
          <a:off x="914400" y="1554480"/>
          <a:ext cx="10360148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/>
                <a:gridCol w="2087117"/>
                <a:gridCol w="2087117"/>
                <a:gridCol w="2087117"/>
                <a:gridCol w="208711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부문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4,314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4,367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4,420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4,473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핀테크 서비스 세부 내역표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헤더 밑줄형 · 3열 · purple_600 액센트</a:t>
            </a:r>
          </a:p>
        </p:txBody>
      </p:sp>
      <p:graphicFrame>
        <p:nvGraphicFramePr>
          <p:cNvPr id="4" name="asset:TBL-086"/>
          <p:cNvGraphicFramePr>
            <a:graphicFrameLocks noGrp="1"/>
          </p:cNvGraphicFramePr>
          <p:nvPr/>
        </p:nvGraphicFramePr>
        <p:xfrm>
          <a:off x="914400" y="1554480"/>
          <a:ext cx="10360152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3991356"/>
                <a:gridCol w="399135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7B2D8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7B2D8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7B2D8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4,293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4,346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4,399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4,452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4,505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TBL-086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에듀테크 플랫폼 세부 내역표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헤더 밑줄형 · 4열 · navy_600 액센트</a:t>
            </a:r>
          </a:p>
        </p:txBody>
      </p:sp>
      <p:graphicFrame>
        <p:nvGraphicFramePr>
          <p:cNvPr id="4" name="asset:TBL-087"/>
          <p:cNvGraphicFramePr>
            <a:graphicFrameLocks noGrp="1"/>
          </p:cNvGraphicFramePr>
          <p:nvPr/>
        </p:nvGraphicFramePr>
        <p:xfrm>
          <a:off x="914400" y="1554480"/>
          <a:ext cx="10360152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2660904"/>
                <a:gridCol w="2660904"/>
                <a:gridCol w="26609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2A4A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2A4A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2A4A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2A4A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4,359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4,412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4,465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4,518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4,571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TBL-087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제조 디지털전환 세부 내역표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헤더 밑줄형 · 5열 · red_500 액센트</a:t>
            </a:r>
          </a:p>
        </p:txBody>
      </p:sp>
      <p:graphicFrame>
        <p:nvGraphicFramePr>
          <p:cNvPr id="4" name="asset:TBL-088"/>
          <p:cNvGraphicFramePr>
            <a:graphicFrameLocks noGrp="1"/>
          </p:cNvGraphicFramePr>
          <p:nvPr/>
        </p:nvGraphicFramePr>
        <p:xfrm>
          <a:off x="914400" y="1554480"/>
          <a:ext cx="10360148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/>
                <a:gridCol w="2087117"/>
                <a:gridCol w="2087117"/>
                <a:gridCol w="2087117"/>
                <a:gridCol w="208711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요소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4,425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4,478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4,531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4,584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4,637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TBL-088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공공 데이터 개방 세부 내역표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헤더 밑줄형 · 3열 · navy_800 액센트</a:t>
            </a:r>
          </a:p>
        </p:txBody>
      </p:sp>
      <p:graphicFrame>
        <p:nvGraphicFramePr>
          <p:cNvPr id="4" name="asset:TBL-089"/>
          <p:cNvGraphicFramePr>
            <a:graphicFrameLocks noGrp="1"/>
          </p:cNvGraphicFramePr>
          <p:nvPr/>
        </p:nvGraphicFramePr>
        <p:xfrm>
          <a:off x="914400" y="1554480"/>
          <a:ext cx="10360152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3991356"/>
                <a:gridCol w="399135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1F386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1F386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1F386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4,404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4,457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4,510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4,563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TBL-089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메타버스 전시 세부 내역표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헤더 밑줄형 · 4열 · blue_500 액센트</a:t>
            </a:r>
          </a:p>
        </p:txBody>
      </p:sp>
      <p:graphicFrame>
        <p:nvGraphicFramePr>
          <p:cNvPr id="4" name="asset:TBL-090"/>
          <p:cNvGraphicFramePr>
            <a:graphicFrameLocks noGrp="1"/>
          </p:cNvGraphicFramePr>
          <p:nvPr/>
        </p:nvGraphicFramePr>
        <p:xfrm>
          <a:off x="914400" y="1554480"/>
          <a:ext cx="10360152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2660904"/>
                <a:gridCol w="2660904"/>
                <a:gridCol w="26609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4,470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4,523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4,576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4,629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TBL-090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친환경 모빌리티 세부 내역표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헤더 밑줄형 · 5열 · teal_500 액센트</a:t>
            </a:r>
          </a:p>
        </p:txBody>
      </p:sp>
      <p:graphicFrame>
        <p:nvGraphicFramePr>
          <p:cNvPr id="4" name="asset:TBL-091"/>
          <p:cNvGraphicFramePr>
            <a:graphicFrameLocks noGrp="1"/>
          </p:cNvGraphicFramePr>
          <p:nvPr/>
        </p:nvGraphicFramePr>
        <p:xfrm>
          <a:off x="914400" y="1554480"/>
          <a:ext cx="10360148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/>
                <a:gridCol w="2087117"/>
                <a:gridCol w="2087117"/>
                <a:gridCol w="2087117"/>
                <a:gridCol w="208711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범주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4,536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4,589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4,642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4,695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TBL-091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농식품 수출 세부 내역표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헤더 밑줄형 · 3열 · purple_600 액센트</a:t>
            </a:r>
          </a:p>
        </p:txBody>
      </p:sp>
      <p:graphicFrame>
        <p:nvGraphicFramePr>
          <p:cNvPr id="4" name="asset:TBL-092"/>
          <p:cNvGraphicFramePr>
            <a:graphicFrameLocks noGrp="1"/>
          </p:cNvGraphicFramePr>
          <p:nvPr/>
        </p:nvGraphicFramePr>
        <p:xfrm>
          <a:off x="914400" y="1554480"/>
          <a:ext cx="10360152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3991356"/>
                <a:gridCol w="399135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7B2D8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7B2D8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7B2D8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4,515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4,568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4,621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4,674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4,727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TBL-092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문화예술 지원 세부 내역표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헤더 밑줄형 · 4열 · navy_600 액센트</a:t>
            </a:r>
          </a:p>
        </p:txBody>
      </p:sp>
      <p:graphicFrame>
        <p:nvGraphicFramePr>
          <p:cNvPr id="4" name="asset:TBL-093"/>
          <p:cNvGraphicFramePr>
            <a:graphicFrameLocks noGrp="1"/>
          </p:cNvGraphicFramePr>
          <p:nvPr/>
        </p:nvGraphicFramePr>
        <p:xfrm>
          <a:off x="914400" y="1554480"/>
          <a:ext cx="10360152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2660904"/>
                <a:gridCol w="2660904"/>
                <a:gridCol w="26609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2A4A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2A4A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2A4A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2A4A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4,581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4,634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4,687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4,740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4,793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TBL-093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스마트시티 세부 내역표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헤더 밑줄형 · 5열 · red_500 액센트</a:t>
            </a:r>
          </a:p>
        </p:txBody>
      </p:sp>
      <p:graphicFrame>
        <p:nvGraphicFramePr>
          <p:cNvPr id="4" name="asset:TBL-094"/>
          <p:cNvGraphicFramePr>
            <a:graphicFrameLocks noGrp="1"/>
          </p:cNvGraphicFramePr>
          <p:nvPr/>
        </p:nvGraphicFramePr>
        <p:xfrm>
          <a:off x="914400" y="1554480"/>
          <a:ext cx="10360148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/>
                <a:gridCol w="2087117"/>
                <a:gridCol w="2087117"/>
                <a:gridCol w="2087117"/>
                <a:gridCol w="208711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영역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2225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4,647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4,700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4,753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4,806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4,859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