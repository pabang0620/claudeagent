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지역 관광 활성화 과업 상태 점검표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신호등 상태셀 · 4열 · navy_800</a:t>
            </a:r>
          </a:p>
        </p:txBody>
      </p:sp>
      <p:graphicFrame>
        <p:nvGraphicFramePr>
          <p:cNvPr id="4" name="asset:TBL-131"/>
          <p:cNvGraphicFramePr>
            <a:graphicFrameLocks noGrp="1"/>
          </p:cNvGraphicFramePr>
          <p:nvPr/>
        </p:nvGraphicFramePr>
        <p:xfrm>
          <a:off x="914400" y="1417320"/>
          <a:ext cx="10360152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2356104"/>
                <a:gridCol w="2356104"/>
                <a:gridCol w="2356104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 부서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추진 일정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분석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완료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해외사업팀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기반 성과 측정 및 개선 과제 도출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인프라 구축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진행중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QA팀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이해관계자 협의체 운영으로 리스크 선제 대응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마케팅 홍보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전략기획실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 프로세스 정립과 자동화 도입으로 효율화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교육 훈련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운영지원팀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인지도 제고 및 신규 파트너 발굴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디지털 헬스케어 과업 상태 점검표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신호등 상태셀 · 5열 · blue_500</a:t>
            </a:r>
          </a:p>
        </p:txBody>
      </p:sp>
      <p:graphicFrame>
        <p:nvGraphicFramePr>
          <p:cNvPr id="4" name="asset:TBL-132"/>
          <p:cNvGraphicFramePr>
            <a:graphicFrameLocks noGrp="1"/>
          </p:cNvGraphicFramePr>
          <p:nvPr/>
        </p:nvGraphicFramePr>
        <p:xfrm>
          <a:off x="914400" y="1417320"/>
          <a:ext cx="10360152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1767078"/>
                <a:gridCol w="1767078"/>
                <a:gridCol w="1767078"/>
                <a:gridCol w="1767078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항목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추진 일정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목표치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보안 점검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진행중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QA팀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이해관계자 협의체 운영으로 리스크 선제 대응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 프로세스 정립과 자동화 도입으로 효율화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콘텐츠 제작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전략기획실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 프로세스 정립과 자동화 도입으로 효율화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인지도 제고 및 신규 파트너 발굴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파트너 협력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운영지원팀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인지도 제고 및 신규 파트너 발굴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예산 집행 점검과 정산 체계 투명성 확보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데이터분석팀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예산 집행 점검과 정산 체계 투명성 확보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정의 및 범위 확정 후 단계별 실행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TBL-132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그린 에너지 과업 상태 점검표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신호등 상태셀 · 4열 · teal_500</a:t>
            </a:r>
          </a:p>
        </p:txBody>
      </p:sp>
      <p:graphicFrame>
        <p:nvGraphicFramePr>
          <p:cNvPr id="4" name="asset:TBL-133"/>
          <p:cNvGraphicFramePr>
            <a:graphicFrameLocks noGrp="1"/>
          </p:cNvGraphicFramePr>
          <p:nvPr/>
        </p:nvGraphicFramePr>
        <p:xfrm>
          <a:off x="914400" y="1417320"/>
          <a:ext cx="10360152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2356104"/>
                <a:gridCol w="2356104"/>
                <a:gridCol w="2356104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영역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목표치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인프라 구축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전략기획실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 프로세스 정립과 자동화 도입으로 효율화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마케팅 홍보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운영지원팀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인지도 제고 및 신규 파트너 발굴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교육 훈련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데이터분석팀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예산 집행 점검과 정산 체계 투명성 확보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서비스 고도화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마케팅팀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정의 및 범위 확정 후 단계별 실행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확장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완료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사업기획팀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유통 채널 15개국 확장 및 현지화 대응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TBL-133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핀테크 서비스 과업 상태 점검표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신호등 상태셀 · 5열 · purple_600</a:t>
            </a:r>
          </a:p>
        </p:txBody>
      </p:sp>
      <p:graphicFrame>
        <p:nvGraphicFramePr>
          <p:cNvPr id="4" name="asset:TBL-134"/>
          <p:cNvGraphicFramePr>
            <a:graphicFrameLocks noGrp="1"/>
          </p:cNvGraphicFramePr>
          <p:nvPr/>
        </p:nvGraphicFramePr>
        <p:xfrm>
          <a:off x="914400" y="1417320"/>
          <a:ext cx="10360152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1767078"/>
                <a:gridCol w="1767078"/>
                <a:gridCol w="1767078"/>
                <a:gridCol w="1767078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과업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목표치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추진 실적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가중치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콘텐츠 제작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운영지원팀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인지도 제고 및 신규 파트너 발굴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예산 집행 점검과 정산 체계 투명성 확보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파트너 협력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데이터분석팀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예산 집행 점검과 정산 체계 투명성 확보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정의 및 범위 확정 후 단계별 실행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마케팅팀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정의 및 범위 확정 후 단계별 실행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유통 채널 15개국 확장 및 현지화 대응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표준화 정립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완료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사업기획팀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유통 채널 15개국 확장 및 현지화 대응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기능 개발과 외부 시스템 연동 안정화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채널 다각화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진행중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PMO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기능 개발과 외부 시스템 연동 안정화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기준 수립 및 결함 조치 프로세스 운영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TBL-134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에듀테크 플랫폼 과업 상태 점검표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신호등 상태셀 · 4열 · navy_600</a:t>
            </a:r>
          </a:p>
        </p:txBody>
      </p:sp>
      <p:graphicFrame>
        <p:nvGraphicFramePr>
          <p:cNvPr id="4" name="asset:TBL-135"/>
          <p:cNvGraphicFramePr>
            <a:graphicFrameLocks noGrp="1"/>
          </p:cNvGraphicFramePr>
          <p:nvPr/>
        </p:nvGraphicFramePr>
        <p:xfrm>
          <a:off x="914400" y="1417320"/>
          <a:ext cx="10360152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2356104"/>
                <a:gridCol w="2356104"/>
                <a:gridCol w="2356104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추진 실적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가중치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마케팅 홍보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데이터분석팀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예산 집행 점검과 정산 체계 투명성 확보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교육 훈련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마케팅팀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정의 및 범위 확정 후 단계별 실행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서비스 고도화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완료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사업기획팀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유통 채널 15개국 확장 및 현지화 대응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확장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진행중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PMO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기능 개발과 외부 시스템 연동 안정화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강화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개발팀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기준 수립 및 결함 조치 프로세스 운영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기획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디자인팀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매뉴얼 정비와 담당자 교육 병행 추진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TBL-135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제조 디지털전환 과업 상태 점검표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신호등 상태셀 · 5열 · red_500</a:t>
            </a:r>
          </a:p>
        </p:txBody>
      </p:sp>
      <p:graphicFrame>
        <p:nvGraphicFramePr>
          <p:cNvPr id="4" name="asset:TBL-136"/>
          <p:cNvGraphicFramePr>
            <a:graphicFrameLocks noGrp="1"/>
          </p:cNvGraphicFramePr>
          <p:nvPr/>
        </p:nvGraphicFramePr>
        <p:xfrm>
          <a:off x="914400" y="1417320"/>
          <a:ext cx="10360152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1767078"/>
                <a:gridCol w="1767078"/>
                <a:gridCol w="1767078"/>
                <a:gridCol w="1767078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부문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가중치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우선순위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진행 상태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파트너 협력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마케팅팀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정의 및 범위 확정 후 단계별 실행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유통 채널 15개국 확장 및 현지화 대응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완료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사업기획팀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유통 채널 15개국 확장 및 현지화 대응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기능 개발과 외부 시스템 연동 안정화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표준화 정립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진행중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PMO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기능 개발과 외부 시스템 연동 안정화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기준 수립 및 결함 조치 프로세스 운영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채널 다각화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개발팀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기준 수립 및 결함 조치 프로세스 운영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매뉴얼 정비와 담당자 교육 병행 추진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재무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디자인팀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매뉴얼 정비와 담당자 교육 병행 추진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기반 성과 측정 및 개선 과제 도출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분석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해외사업팀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기반 성과 측정 및 개선 과제 도출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이해관계자 협의체 운영으로 리스크 선제 대응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TBL-136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공공 데이터 개방 과업 상태 점검표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신호등 상태셀 · 4열 · navy_800</a:t>
            </a:r>
          </a:p>
        </p:txBody>
      </p:sp>
      <p:graphicFrame>
        <p:nvGraphicFramePr>
          <p:cNvPr id="4" name="asset:TBL-137"/>
          <p:cNvGraphicFramePr>
            <a:graphicFrameLocks noGrp="1"/>
          </p:cNvGraphicFramePr>
          <p:nvPr/>
        </p:nvGraphicFramePr>
        <p:xfrm>
          <a:off x="914400" y="1417320"/>
          <a:ext cx="10360152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2356104"/>
                <a:gridCol w="2356104"/>
                <a:gridCol w="2356104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단계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우선순위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진행 상태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교육 훈련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완료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사업기획팀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유통 채널 15개국 확장 및 현지화 대응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서비스 고도화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진행중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PMO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기능 개발과 외부 시스템 연동 안정화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확장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개발팀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기준 수립 및 결함 조치 프로세스 운영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강화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디자인팀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매뉴얼 정비와 담당자 교육 병행 추진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TBL-137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메타버스 전시 과업 상태 점검표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신호등 상태셀 · 5열 · blue_500</a:t>
            </a:r>
          </a:p>
        </p:txBody>
      </p:sp>
      <p:graphicFrame>
        <p:nvGraphicFramePr>
          <p:cNvPr id="4" name="asset:TBL-138"/>
          <p:cNvGraphicFramePr>
            <a:graphicFrameLocks noGrp="1"/>
          </p:cNvGraphicFramePr>
          <p:nvPr/>
        </p:nvGraphicFramePr>
        <p:xfrm>
          <a:off x="914400" y="1417320"/>
          <a:ext cx="10360152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1767078"/>
                <a:gridCol w="1767078"/>
                <a:gridCol w="1767078"/>
                <a:gridCol w="1767078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분류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진행 상태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책임자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진행중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PMO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기능 개발과 외부 시스템 연동 안정화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기준 수립 및 결함 조치 프로세스 운영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표준화 정립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개발팀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기준 수립 및 결함 조치 프로세스 운영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매뉴얼 정비와 담당자 교육 병행 추진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채널 다각화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디자인팀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매뉴얼 정비와 담당자 교육 병행 추진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기반 성과 측정 및 개선 과제 도출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재무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해외사업팀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기반 성과 측정 및 개선 과제 도출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이해관계자 협의체 운영으로 리스크 선제 대응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TBL-138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친환경 모빌리티 과업 상태 점검표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신호등 상태셀 · 4열 · teal_500</a:t>
            </a:r>
          </a:p>
        </p:txBody>
      </p:sp>
      <p:graphicFrame>
        <p:nvGraphicFramePr>
          <p:cNvPr id="4" name="asset:TBL-139"/>
          <p:cNvGraphicFramePr>
            <a:graphicFrameLocks noGrp="1"/>
          </p:cNvGraphicFramePr>
          <p:nvPr/>
        </p:nvGraphicFramePr>
        <p:xfrm>
          <a:off x="914400" y="1417320"/>
          <a:ext cx="10360152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2356104"/>
                <a:gridCol w="2356104"/>
                <a:gridCol w="2356104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책임자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서비스 고도화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개발팀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기준 수립 및 결함 조치 프로세스 운영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확장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디자인팀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매뉴얼 정비와 담당자 교육 병행 추진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강화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해외사업팀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기반 성과 측정 및 개선 과제 도출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기획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QA팀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이해관계자 협의체 운영으로 리스크 선제 대응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정보구조 설계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완료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전략기획실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 프로세스 정립과 자동화 도입으로 효율화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TBL-139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농식품 수출 과업 상태 점검표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신호등 상태셀 · 5열 · purple_600</a:t>
            </a:r>
          </a:p>
        </p:txBody>
      </p:sp>
      <p:graphicFrame>
        <p:nvGraphicFramePr>
          <p:cNvPr id="4" name="asset:TBL-140"/>
          <p:cNvGraphicFramePr>
            <a:graphicFrameLocks noGrp="1"/>
          </p:cNvGraphicFramePr>
          <p:nvPr/>
        </p:nvGraphicFramePr>
        <p:xfrm>
          <a:off x="914400" y="1417320"/>
          <a:ext cx="10360152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1767078"/>
                <a:gridCol w="1767078"/>
                <a:gridCol w="1767078"/>
                <a:gridCol w="1767078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책임자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기대 효과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지표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표준화 정립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디자인팀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매뉴얼 정비와 담당자 교육 병행 추진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기반 성과 측정 및 개선 과제 도출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채널 다각화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해외사업팀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기반 성과 측정 및 개선 과제 도출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이해관계자 협의체 운영으로 리스크 선제 대응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재무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QA팀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이해관계자 협의체 운영으로 리스크 선제 대응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 프로세스 정립과 자동화 도입으로 효율화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분석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완료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전략기획실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 프로세스 정립과 자동화 도입으로 효율화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인지도 제고 및 신규 파트너 발굴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기능 개발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진행중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운영지원팀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인지도 제고 및 신규 파트너 발굴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예산 집행 점검과 정산 체계 투명성 확보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TBL-140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문화예술 지원 과업 상태 점검표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신호등 상태셀 · 4열 · navy_600</a:t>
            </a:r>
          </a:p>
        </p:txBody>
      </p:sp>
      <p:graphicFrame>
        <p:nvGraphicFramePr>
          <p:cNvPr id="4" name="asset:TBL-141"/>
          <p:cNvGraphicFramePr>
            <a:graphicFrameLocks noGrp="1"/>
          </p:cNvGraphicFramePr>
          <p:nvPr/>
        </p:nvGraphicFramePr>
        <p:xfrm>
          <a:off x="914400" y="1417320"/>
          <a:ext cx="10360152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2356104"/>
                <a:gridCol w="2356104"/>
                <a:gridCol w="2356104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기대 효과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지표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확장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해외사업팀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기반 성과 측정 및 개선 과제 도출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강화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QA팀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이해관계자 협의체 운영으로 리스크 선제 대응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기획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완료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전략기획실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 프로세스 정립과 자동화 도입으로 효율화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정보구조 설계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진행중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운영지원팀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인지도 제고 및 신규 파트너 발굴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 지원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데이터분석팀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예산 집행 점검과 정산 체계 투명성 확보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검증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마케팅팀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정의 및 범위 확정 후 단계별 실행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TBL-141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스마트시티 과업 상태 점검표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신호등 상태셀 · 5열 · red_500</a:t>
            </a:r>
          </a:p>
        </p:txBody>
      </p:sp>
      <p:graphicFrame>
        <p:nvGraphicFramePr>
          <p:cNvPr id="4" name="asset:TBL-142"/>
          <p:cNvGraphicFramePr>
            <a:graphicFrameLocks noGrp="1"/>
          </p:cNvGraphicFramePr>
          <p:nvPr/>
        </p:nvGraphicFramePr>
        <p:xfrm>
          <a:off x="914400" y="1417320"/>
          <a:ext cx="10360152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1767078"/>
                <a:gridCol w="1767078"/>
                <a:gridCol w="1767078"/>
                <a:gridCol w="1767078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범주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지표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리스크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대응 방안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채널 다각화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QA팀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이해관계자 협의체 운영으로 리스크 선제 대응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 프로세스 정립과 자동화 도입으로 효율화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재무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완료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전략기획실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 프로세스 정립과 자동화 도입으로 효율화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인지도 제고 및 신규 파트너 발굴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분석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진행중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운영지원팀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인지도 제고 및 신규 파트너 발굴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예산 집행 점검과 정산 체계 투명성 확보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기능 개발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데이터분석팀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예산 집행 점검과 정산 체계 투명성 확보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정의 및 범위 확정 후 단계별 실행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통합 테스트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마케팅팀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정의 및 범위 확정 후 단계별 실행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유통 채널 15개국 확장 및 현지화 대응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이관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사업기획팀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유통 채널 15개국 확장 및 현지화 대응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기능 개발과 외부 시스템 연동 안정화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TBL-142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