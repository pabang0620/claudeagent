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TBL-014</a:t>
            </a:r>
          </a:p>
        </p:txBody>
      </p:sp>
      <p:grpSp>
        <p:nvGrpSpPr>
          <p:cNvPr id="6" name="asset:TBL-014"/>
          <p:cNvGrpSpPr/>
          <p:nvPr/>
        </p:nvGrpSpPr>
        <p:grpSpPr>
          <a:xfrm>
            <a:off x="502920" y="457200"/>
            <a:ext cx="11155680" cy="4937760"/>
            <a:chOff x="502920" y="457200"/>
            <a:chExt cx="11155680" cy="4937760"/>
          </a:xfrm>
        </p:grpSpPr>
        <p:sp>
          <p:nvSpPr>
            <p:cNvPr id="2" name="TextBox 1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사업 개요 요약표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보더리스 · 헤더 하단 밑줄만 표기</a:t>
              </a:r>
            </a:p>
          </p:txBody>
        </p:sp>
        <p:graphicFrame>
          <p:nvGraphicFramePr>
            <p:cNvPr id="4" name="TBL-014_bg"/>
            <p:cNvGraphicFramePr>
              <a:graphicFrameLocks noGrp="1"/>
            </p:cNvGraphicFramePr>
            <p:nvPr/>
          </p:nvGraphicFramePr>
          <p:xfrm>
            <a:off x="914400" y="1554480"/>
            <a:ext cx="10360152" cy="3840480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2194560"/>
                  <a:gridCol w="5971032"/>
                  <a:gridCol w="2194560"/>
                </a:tblGrid>
                <a:tr h="64008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3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구분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25400" cap="flat">
                        <a:solidFill>
                          <a:srgbClr val="2E75D6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3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주요 내용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25400" cap="flat">
                        <a:solidFill>
                          <a:srgbClr val="2E75D6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3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담당 부서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25400" cap="flat">
                        <a:solidFill>
                          <a:srgbClr val="2E75D6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4008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사업명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콘텐츠 해외진출 통합 플랫폼 구축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사업기획팀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4008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사업 기간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착수 후 12개월 (단계별 마일스톤 운영)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PMO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4008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추진 목표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글로벌 유통 채널 15개국 확장 및 현지화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해외사업팀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4008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핵심 산출물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플랫폼 v1.0 · 현지화 가이드 · 운영 매뉴얼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개발팀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4008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기대 효과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noFill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해외 매출 비중 35% 달성, 신규 파트너 40개사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noFill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전략기획실</a:t>
                        </a:r>
                      </a:p>
                    </a:txBody>
                    <a:tcPr anchor="ctr" marL="63500" marR="63500" marT="25400" marB="25400">
                      <a:lnL w="6350" cap="flat">
                        <a:noFill/>
                      </a:lnL>
                      <a:lnR w="6350" cap="flat">
                        <a:noFill/>
                      </a:lnR>
                      <a:lnT w="6350" cap="flat">
                        <a:noFill/>
                      </a:lnT>
                      <a:lnB w="6350" cap="flat">
                        <a:noFill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TBL-017</a:t>
            </a:r>
          </a:p>
        </p:txBody>
      </p:sp>
      <p:grpSp>
        <p:nvGrpSpPr>
          <p:cNvPr id="6" name="asset:TBL-017"/>
          <p:cNvGrpSpPr/>
          <p:nvPr/>
        </p:nvGrpSpPr>
        <p:grpSpPr>
          <a:xfrm>
            <a:off x="502920" y="457200"/>
            <a:ext cx="11155680" cy="4544568"/>
            <a:chOff x="502920" y="457200"/>
            <a:chExt cx="11155680" cy="4544568"/>
          </a:xfrm>
        </p:grpSpPr>
        <p:sp>
          <p:nvSpPr>
            <p:cNvPr id="2" name="TextBox 1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과업 진행 상태 점검표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상태 셀 신호등 색상 (완료·진행·지연)</a:t>
              </a:r>
            </a:p>
          </p:txBody>
        </p:sp>
        <p:graphicFrame>
          <p:nvGraphicFramePr>
            <p:cNvPr id="4" name="TBL-017_bg"/>
            <p:cNvGraphicFramePr>
              <a:graphicFrameLocks noGrp="1"/>
            </p:cNvGraphicFramePr>
            <p:nvPr/>
          </p:nvGraphicFramePr>
          <p:xfrm>
            <a:off x="914400" y="1417320"/>
            <a:ext cx="10360152" cy="3584448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3593592"/>
                  <a:gridCol w="1645920"/>
                  <a:gridCol w="2011680"/>
                  <a:gridCol w="3108960"/>
                </a:tblGrid>
                <a:tr h="51206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과업 항목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상태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담당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비고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</a:tr>
                <a:tr h="51206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요구사항 정의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완료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9E8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기획팀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확정본 배포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51206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UI/UX 설계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완료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9E8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디자인팀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시안 승인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51206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백엔드 개발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진행중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개발팀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68% 진척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51206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현지화 번역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진행중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해외팀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3개국 완료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51206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통합 테스트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지연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C0392B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QA팀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일정 재조정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51206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오픈 준비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대기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595959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PMO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선행과업 대기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TBL-018</a:t>
            </a:r>
          </a:p>
        </p:txBody>
      </p:sp>
      <p:grpSp>
        <p:nvGrpSpPr>
          <p:cNvPr id="6" name="asset:TBL-018"/>
          <p:cNvGrpSpPr/>
          <p:nvPr/>
        </p:nvGrpSpPr>
        <p:grpSpPr>
          <a:xfrm>
            <a:off x="502920" y="457200"/>
            <a:ext cx="11155680" cy="4910328"/>
            <a:chOff x="502920" y="457200"/>
            <a:chExt cx="11155680" cy="4910328"/>
          </a:xfrm>
        </p:grpSpPr>
        <p:sp>
          <p:nvSpPr>
            <p:cNvPr id="2" name="TextBox 1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단계별 추진 일정표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단계 · 주요 활동 · 산출물 · 일정</a:t>
              </a:r>
            </a:p>
          </p:txBody>
        </p:sp>
        <p:graphicFrame>
          <p:nvGraphicFramePr>
            <p:cNvPr id="4" name="TBL-018_bg"/>
            <p:cNvGraphicFramePr>
              <a:graphicFrameLocks noGrp="1"/>
            </p:cNvGraphicFramePr>
            <p:nvPr/>
          </p:nvGraphicFramePr>
          <p:xfrm>
            <a:off x="914400" y="1417320"/>
            <a:ext cx="10360152" cy="3950208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1554480"/>
                  <a:gridCol w="4690872"/>
                  <a:gridCol w="2468880"/>
                  <a:gridCol w="1645920"/>
                </a:tblGrid>
                <a:tr h="65836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단계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주요 활동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산출물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일정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</a:tr>
                <a:tr h="65836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1단계</a:t>
                        </a:r>
                      </a:p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기획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요구사항 분석 · 벤치마킹 · 범위 확정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요구정의서 / WBS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M1~M2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5836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2단계</a:t>
                        </a:r>
                      </a:p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설계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정보구조 · 화면 · DB 스키마 설계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설계서 / 프로토타입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M3~M4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5836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3단계</a:t>
                        </a:r>
                      </a:p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구축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9E8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핵심 기능 개발 · 현지화 · 연동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플랫폼 v0.9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M5~M9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5836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4단계</a:t>
                        </a:r>
                      </a:p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검증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9ABE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통합·부하 테스트 · 결함 조치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테스트 결과서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M10~M11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5836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5단계</a:t>
                        </a:r>
                      </a:p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안정화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7B2D8E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오픈 · 운영 이관 · 교육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운영 매뉴얼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M12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오픈 전 점검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✓ 도형 오버레이 · 완료 여부 표기</a:t>
            </a:r>
          </a:p>
        </p:txBody>
      </p:sp>
      <p:grpSp>
        <p:nvGrpSpPr>
          <p:cNvPr id="10" name="asset:TBL-020"/>
          <p:cNvGrpSpPr/>
          <p:nvPr/>
        </p:nvGrpSpPr>
        <p:grpSpPr>
          <a:xfrm>
            <a:off x="914400" y="1463040"/>
            <a:ext cx="10360152" cy="3621024"/>
            <a:chOff x="914400" y="1463040"/>
            <a:chExt cx="10360152" cy="3621024"/>
          </a:xfrm>
        </p:grpSpPr>
        <p:graphicFrame>
          <p:nvGraphicFramePr>
            <p:cNvPr id="4" name="Table 3"/>
            <p:cNvGraphicFramePr>
              <a:graphicFrameLocks noGrp="1"/>
            </p:cNvGraphicFramePr>
            <p:nvPr/>
          </p:nvGraphicFramePr>
          <p:xfrm>
            <a:off x="914400" y="1463040"/>
            <a:ext cx="10360152" cy="3621024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1188720"/>
                  <a:gridCol w="6885432"/>
                  <a:gridCol w="2286000"/>
                </a:tblGrid>
                <a:tr h="603504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확인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점검 항목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상태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보안 취약점 점검 및 조치 완료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완료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부하 테스트 (동시접속 5,000) 통과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완료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현지화 콘텐츠 3개국 검수 완료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완료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결제 모듈 실거래 검증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진행중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운영 매뉴얼 · 장애 대응 체계 수립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예정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" name="Rounded Rectangle 4"/>
            <p:cNvSpPr/>
            <p:nvPr/>
          </p:nvSpPr>
          <p:spPr>
            <a:xfrm>
              <a:off x="1353312" y="2212848"/>
              <a:ext cx="310896" cy="310896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53312" y="2816352"/>
              <a:ext cx="310896" cy="310896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53312" y="3419856"/>
              <a:ext cx="310896" cy="310896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53312" y="4023360"/>
              <a:ext cx="310896" cy="310896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53312" y="4626864"/>
              <a:ext cx="310896" cy="310896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핵심 성과 하이라이트 (카드형 표)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행이 카드 · 좌측 라벨/우측 내용 2톤</a:t>
            </a:r>
          </a:p>
        </p:txBody>
      </p:sp>
      <p:grpSp>
        <p:nvGrpSpPr>
          <p:cNvPr id="20" name="asset:TBL-021"/>
          <p:cNvGrpSpPr/>
          <p:nvPr/>
        </p:nvGrpSpPr>
        <p:grpSpPr>
          <a:xfrm>
            <a:off x="914400" y="1508760"/>
            <a:ext cx="10360152" cy="3584448"/>
            <a:chOff x="914400" y="1508760"/>
            <a:chExt cx="10360152" cy="3584448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1508760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508760"/>
              <a:ext cx="2743200" cy="786384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진출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40480" y="1563624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15개국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37960" y="1563624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누적 해외 매출 240억 · 현지 파트너 38개사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14400" y="2441448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441448"/>
              <a:ext cx="2743200" cy="78638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성장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40480" y="2496312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MAU 18.1만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37960" y="2496312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전년 대비 +64% · 리텐션 91%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74136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74136"/>
              <a:ext cx="2743200" cy="78638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유통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40480" y="3429000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2,400편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37960" y="3429000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12개 언어 현지화 · 월 신규 180편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14400" y="4306824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14400" y="4306824"/>
              <a:ext cx="2743200" cy="78638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효율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840480" y="4361688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-32% 비용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37960" y="4361688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자동화로 처리시간 절감 · SLA 99.9%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