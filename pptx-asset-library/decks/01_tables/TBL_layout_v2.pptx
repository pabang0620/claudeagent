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사업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· 헤더 하단 밑줄만 표기</a:t>
            </a:r>
          </a:p>
        </p:txBody>
      </p:sp>
      <p:graphicFrame>
        <p:nvGraphicFramePr>
          <p:cNvPr id="4" name="asset:TBL-014"/>
          <p:cNvGraphicFramePr>
            <a:graphicFrameLocks noGrp="1"/>
          </p:cNvGraphicFramePr>
          <p:nvPr/>
        </p:nvGraphicFramePr>
        <p:xfrm>
          <a:off x="914400" y="155448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5971032"/>
                <a:gridCol w="219456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사업명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해외진출 통합 플랫폼 구축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착수 후 12개월 (단계별 마일스톤 운영)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목표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v1.0 · 현지화 가이드 · 운영 매뉴얼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 매출 비중 35% 달성, 신규 파트너 40개사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TBL-017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과업 진행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상태 셀 신호등 색상 (완료·진행·지연)</a:t>
            </a:r>
          </a:p>
        </p:txBody>
      </p:sp>
      <p:graphicFrame>
        <p:nvGraphicFramePr>
          <p:cNvPr id="4" name="asset:TBL-017"/>
          <p:cNvGraphicFramePr>
            <a:graphicFrameLocks noGrp="1"/>
          </p:cNvGraphicFramePr>
          <p:nvPr/>
        </p:nvGraphicFramePr>
        <p:xfrm>
          <a:off x="914400" y="1417320"/>
          <a:ext cx="10360152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93592"/>
                <a:gridCol w="1645920"/>
                <a:gridCol w="2011680"/>
                <a:gridCol w="310896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확정본 배포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UI/UX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시안 승인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백엔드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68% 진척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번역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3개국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 재조정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오픈 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선행과업 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TBL-018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단계별 추진 일정표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단계 · 주요 활동 · 산출물 · 일정</a:t>
            </a:r>
          </a:p>
        </p:txBody>
      </p:sp>
      <p:graphicFrame>
        <p:nvGraphicFramePr>
          <p:cNvPr id="4" name="asset:TBL-018"/>
          <p:cNvGraphicFramePr>
            <a:graphicFrameLocks noGrp="1"/>
          </p:cNvGraphicFramePr>
          <p:nvPr/>
        </p:nvGraphicFramePr>
        <p:xfrm>
          <a:off x="914400" y="1417320"/>
          <a:ext cx="10360152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90872"/>
                <a:gridCol w="2468880"/>
                <a:gridCol w="164592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 · 벤치마킹 · 범위 확정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요구정의서 / WBS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· 화면 · DB 스키마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설계서 / 프로토타입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M3~M4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 · 현지화 · 연동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v0.9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M5~M9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통합·부하 테스트 · 결함 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테스트 결과서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M10~M11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오픈 · 운영 이관 · 교육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오픈 전 점검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✓ 도형 오버레이 · 완료 여부 표기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TBL-020</a:t>
            </a:r>
          </a:p>
        </p:txBody>
      </p:sp>
      <p:graphicFrame>
        <p:nvGraphicFramePr>
          <p:cNvPr id="4" name="asset:TBL-020"/>
          <p:cNvGraphicFramePr>
            <a:graphicFrameLocks noGrp="1"/>
          </p:cNvGraphicFramePr>
          <p:nvPr/>
        </p:nvGraphicFramePr>
        <p:xfrm>
          <a:off x="914400" y="1463040"/>
          <a:ext cx="10360152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6885432"/>
                <a:gridCol w="2286000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취약점 점검 및 조치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부하 테스트 (동시접속 5,000) 통과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콘텐츠 3개국 검수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결제 모듈 실거래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· 장애 대응 체계 수립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53312" y="2212848"/>
            <a:ext cx="310896" cy="310896"/>
          </a:xfrm>
          <a:prstGeom prst="roundRect">
            <a:avLst/>
          </a:prstGeom>
          <a:solidFill>
            <a:srgbClr val="1F9E8F"/>
          </a:solidFill>
          <a:ln w="19050">
            <a:solidFill>
              <a:srgbClr val="1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53312" y="2816352"/>
            <a:ext cx="310896" cy="310896"/>
          </a:xfrm>
          <a:prstGeom prst="roundRect">
            <a:avLst/>
          </a:prstGeom>
          <a:solidFill>
            <a:srgbClr val="1F9E8F"/>
          </a:solidFill>
          <a:ln w="19050">
            <a:solidFill>
              <a:srgbClr val="1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" y="3419856"/>
            <a:ext cx="310896" cy="310896"/>
          </a:xfrm>
          <a:prstGeom prst="roundRect">
            <a:avLst/>
          </a:prstGeom>
          <a:solidFill>
            <a:srgbClr val="1F9E8F"/>
          </a:solidFill>
          <a:ln w="19050">
            <a:solidFill>
              <a:srgbClr val="1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3312" y="4023360"/>
            <a:ext cx="310896" cy="3108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3312" y="4626864"/>
            <a:ext cx="310896" cy="3108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핵심 성과 하이라이트 (카드형 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행이 카드 · 좌측 라벨/우측 내용 2톤</a:t>
            </a:r>
          </a:p>
        </p:txBody>
      </p:sp>
      <p:grpSp>
        <p:nvGrpSpPr>
          <p:cNvPr id="20" name="asset:TBL-021"/>
          <p:cNvGrpSpPr/>
          <p:nvPr/>
        </p:nvGrpSpPr>
        <p:grpSpPr>
          <a:xfrm>
            <a:off x="914400" y="1508760"/>
            <a:ext cx="10360152" cy="3584448"/>
            <a:chOff x="914400" y="1508760"/>
            <a:chExt cx="10360152" cy="3584448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508760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508760"/>
              <a:ext cx="2743200" cy="786384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진출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40480" y="1563624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15개국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37960" y="1563624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누적 해외 매출 240억 · 현지 파트너 38개사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4400" y="2441448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441448"/>
              <a:ext cx="2743200" cy="78638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성장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40480" y="2496312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MAU 18.1만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2496312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전년 대비 +64% · 리텐션 91%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74136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74136"/>
              <a:ext cx="2743200" cy="78638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유통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40480" y="3429000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2,400편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7960" y="3429000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12개 언어 현지화 · 월 신규 180편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06824"/>
              <a:ext cx="10360152" cy="786384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4306824"/>
              <a:ext cx="274320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효율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40480" y="4361688"/>
              <a:ext cx="2651760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-32% 비용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37960" y="4361688"/>
              <a:ext cx="4553712" cy="6766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자동화로 처리시간 절감 · SLA 99.9%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