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에듀테크 플랫폼 집계 요약표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합계행 강조 · 4열 · navy_800</a:t>
            </a:r>
          </a:p>
        </p:txBody>
      </p:sp>
      <p:graphicFrame>
        <p:nvGraphicFramePr>
          <p:cNvPr id="4" name="asset:TBL-119"/>
          <p:cNvGraphicFramePr>
            <a:graphicFrameLocks noGrp="1"/>
          </p:cNvGraphicFramePr>
          <p:nvPr/>
        </p:nvGraphicFramePr>
        <p:xfrm>
          <a:off x="914400" y="1417320"/>
          <a:ext cx="10360152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2569464"/>
                <a:gridCol w="2569464"/>
                <a:gridCol w="256946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5,485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5,514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5,543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5,538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5,567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5,596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5,591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5,620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5,649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5,644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5,673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5,702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1,679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1,708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1,737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제조 디지털전환 집계 요약표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합계행 강조 · 5열 · blue_500</a:t>
            </a:r>
          </a:p>
        </p:txBody>
      </p:sp>
      <p:graphicFrame>
        <p:nvGraphicFramePr>
          <p:cNvPr id="4" name="asset:TBL-120"/>
          <p:cNvGraphicFramePr>
            <a:graphicFrameLocks noGrp="1"/>
          </p:cNvGraphicFramePr>
          <p:nvPr/>
        </p:nvGraphicFramePr>
        <p:xfrm>
          <a:off x="914400" y="1417320"/>
          <a:ext cx="10360152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1927098"/>
                <a:gridCol w="1927098"/>
                <a:gridCol w="1927098"/>
                <a:gridCol w="192709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상반기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5,522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5,551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5,580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5,609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5,575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5,604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5,633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5,662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5,628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5,657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5,686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5,715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테스트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5,681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5,710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5,739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5,768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1,716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1,745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1,774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1,803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공공 데이터 개방 집계 요약표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합계행 강조 · 6열 · teal_500</a:t>
            </a:r>
          </a:p>
        </p:txBody>
      </p:sp>
      <p:graphicFrame>
        <p:nvGraphicFramePr>
          <p:cNvPr id="4" name="asset:TBL-121"/>
          <p:cNvGraphicFramePr>
            <a:graphicFrameLocks noGrp="1"/>
          </p:cNvGraphicFramePr>
          <p:nvPr/>
        </p:nvGraphicFramePr>
        <p:xfrm>
          <a:off x="914400" y="1417320"/>
          <a:ext cx="1036015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1541678"/>
                <a:gridCol w="1541678"/>
                <a:gridCol w="1541678"/>
                <a:gridCol w="1541678"/>
                <a:gridCol w="154167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상반기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하반기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누적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5,559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5,588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5,617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5,646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5,675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5,612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5,641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5,670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5,699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5,728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5,665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5,694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5,723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5,752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5,781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5,718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5,747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5,776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5,805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5,834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1,753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1,782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1,811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1,840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1,869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메타버스 전시 집계 요약표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합계행 강조 · 4열 · purple_600</a:t>
            </a:r>
          </a:p>
        </p:txBody>
      </p:sp>
      <p:graphicFrame>
        <p:nvGraphicFramePr>
          <p:cNvPr id="4" name="asset:TBL-122"/>
          <p:cNvGraphicFramePr>
            <a:graphicFrameLocks noGrp="1"/>
          </p:cNvGraphicFramePr>
          <p:nvPr/>
        </p:nvGraphicFramePr>
        <p:xfrm>
          <a:off x="914400" y="1417320"/>
          <a:ext cx="10360152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2569464"/>
                <a:gridCol w="2569464"/>
                <a:gridCol w="256946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범주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상반기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하반기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5,596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5,625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5,654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5,649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5,678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5,707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테스트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5,702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5,731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5,760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5,755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5,784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5,813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5,808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5,837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5,866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1,790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1,819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1,848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친환경 모빌리티 집계 요약표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합계행 강조 · 5열 · navy_600</a:t>
            </a:r>
          </a:p>
        </p:txBody>
      </p:sp>
      <p:graphicFrame>
        <p:nvGraphicFramePr>
          <p:cNvPr id="4" name="asset:TBL-123"/>
          <p:cNvGraphicFramePr>
            <a:graphicFrameLocks noGrp="1"/>
          </p:cNvGraphicFramePr>
          <p:nvPr/>
        </p:nvGraphicFramePr>
        <p:xfrm>
          <a:off x="914400" y="1417320"/>
          <a:ext cx="10360152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1927098"/>
                <a:gridCol w="1927098"/>
                <a:gridCol w="1927098"/>
                <a:gridCol w="192709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상반기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하반기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누적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5,633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5,662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5,691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5,720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5,686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5,715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5,744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5,773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5,739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5,768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5,797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5,826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5,792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5,821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5,850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5,879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5,845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5,874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5,903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5,932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1,827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1,856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1,885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1,914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농식품 수출 집계 요약표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합계행 강조 · 6열 · red_500</a:t>
            </a:r>
          </a:p>
        </p:txBody>
      </p:sp>
      <p:graphicFrame>
        <p:nvGraphicFramePr>
          <p:cNvPr id="4" name="asset:TBL-124"/>
          <p:cNvGraphicFramePr>
            <a:graphicFrameLocks noGrp="1"/>
          </p:cNvGraphicFramePr>
          <p:nvPr/>
        </p:nvGraphicFramePr>
        <p:xfrm>
          <a:off x="914400" y="1417320"/>
          <a:ext cx="10360150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1541678"/>
                <a:gridCol w="1541678"/>
                <a:gridCol w="1541678"/>
                <a:gridCol w="1541678"/>
                <a:gridCol w="154167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항목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하반기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누적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증감률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5,670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5,699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5,728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5,757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5,786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테스트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5,723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5,752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5,781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5,810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5,839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5,776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5,805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5,834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5,863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5,892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5,829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5,858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5,887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5,916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5,945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5,882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5,911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5,940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5,969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5,998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1,864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1,893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1,922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1,951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1,980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문화예술 지원 집계 요약표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합계행 강조 · 4열 · navy_800</a:t>
            </a:r>
          </a:p>
        </p:txBody>
      </p:sp>
      <p:graphicFrame>
        <p:nvGraphicFramePr>
          <p:cNvPr id="4" name="asset:TBL-125"/>
          <p:cNvGraphicFramePr>
            <a:graphicFrameLocks noGrp="1"/>
          </p:cNvGraphicFramePr>
          <p:nvPr/>
        </p:nvGraphicFramePr>
        <p:xfrm>
          <a:off x="914400" y="1417320"/>
          <a:ext cx="10360152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2569464"/>
                <a:gridCol w="2569464"/>
                <a:gridCol w="256946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영역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누적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5,707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5,736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5,765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5,760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5,789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5,818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5,813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5,842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5,871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5,866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5,895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5,924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1,901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1,930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1,959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스마트시티 집계 요약표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합계행 강조 · 5열 · blue_500</a:t>
            </a:r>
          </a:p>
        </p:txBody>
      </p:sp>
      <p:graphicFrame>
        <p:nvGraphicFramePr>
          <p:cNvPr id="4" name="asset:TBL-126"/>
          <p:cNvGraphicFramePr>
            <a:graphicFrameLocks noGrp="1"/>
          </p:cNvGraphicFramePr>
          <p:nvPr/>
        </p:nvGraphicFramePr>
        <p:xfrm>
          <a:off x="914400" y="1417320"/>
          <a:ext cx="10360152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1927098"/>
                <a:gridCol w="1927098"/>
                <a:gridCol w="1927098"/>
                <a:gridCol w="192709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과업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증감률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2024년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테스트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5,744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5,773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5,802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5,831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5,797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5,826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5,855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5,884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5,850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5,879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5,908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5,937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5,903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5,932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5,961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5,990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1,938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1,967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1,996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2,025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바이오 소재 집계 요약표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합계행 강조 · 6열 · teal_500</a:t>
            </a:r>
          </a:p>
        </p:txBody>
      </p:sp>
      <p:graphicFrame>
        <p:nvGraphicFramePr>
          <p:cNvPr id="4" name="asset:TBL-127"/>
          <p:cNvGraphicFramePr>
            <a:graphicFrameLocks noGrp="1"/>
          </p:cNvGraphicFramePr>
          <p:nvPr/>
        </p:nvGraphicFramePr>
        <p:xfrm>
          <a:off x="914400" y="1417320"/>
          <a:ext cx="1036015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1541678"/>
                <a:gridCol w="1541678"/>
                <a:gridCol w="1541678"/>
                <a:gridCol w="1541678"/>
                <a:gridCol w="154167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증감률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2024년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2025년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2026년(E)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5,781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5,810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5,839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5,868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5,897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5,834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5,863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5,892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5,921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5,950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5,887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5,916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5,945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5,974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6,003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5,940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5,969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5,998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6,027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6,056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1,975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2,004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2,033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2,062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2,091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콘텐츠 해외진출 집계 요약표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합계행 강조 · 4열 · purple_600</a:t>
            </a:r>
          </a:p>
        </p:txBody>
      </p:sp>
      <p:graphicFrame>
        <p:nvGraphicFramePr>
          <p:cNvPr id="4" name="asset:TBL-128"/>
          <p:cNvGraphicFramePr>
            <a:graphicFrameLocks noGrp="1"/>
          </p:cNvGraphicFramePr>
          <p:nvPr/>
        </p:nvGraphicFramePr>
        <p:xfrm>
          <a:off x="914400" y="1417320"/>
          <a:ext cx="10360152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2569464"/>
                <a:gridCol w="2569464"/>
                <a:gridCol w="256946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부문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증감률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2024년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2025년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5,818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5,847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5,876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5,871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5,929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5,924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5,953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5,982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5,977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6,006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6,035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6,030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6,059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6,088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2,012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2,041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2,070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스마트 물류 집계 요약표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합계행 강조 · 5열 · navy_600</a:t>
            </a:r>
          </a:p>
        </p:txBody>
      </p:sp>
      <p:graphicFrame>
        <p:nvGraphicFramePr>
          <p:cNvPr id="4" name="asset:TBL-129"/>
          <p:cNvGraphicFramePr>
            <a:graphicFrameLocks noGrp="1"/>
          </p:cNvGraphicFramePr>
          <p:nvPr/>
        </p:nvGraphicFramePr>
        <p:xfrm>
          <a:off x="914400" y="1417320"/>
          <a:ext cx="10360152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1927098"/>
                <a:gridCol w="1927098"/>
                <a:gridCol w="1927098"/>
                <a:gridCol w="192709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2024년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2025년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2026년(E)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5,855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5,884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5,913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5,942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5,908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5,937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5,966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5,995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5,961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5,990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6,019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6,048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6,014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6,043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6,072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6,101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6,067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6,096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6,125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6,154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2,049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2,078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2,107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2,136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AI 통합 플랫폼 집계 요약표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합계행 강조 · 6열 · red_500</a:t>
            </a:r>
          </a:p>
        </p:txBody>
      </p:sp>
      <p:graphicFrame>
        <p:nvGraphicFramePr>
          <p:cNvPr id="4" name="asset:TBL-130"/>
          <p:cNvGraphicFramePr>
            <a:graphicFrameLocks noGrp="1"/>
          </p:cNvGraphicFramePr>
          <p:nvPr/>
        </p:nvGraphicFramePr>
        <p:xfrm>
          <a:off x="914400" y="1417320"/>
          <a:ext cx="10360150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1541678"/>
                <a:gridCol w="1541678"/>
                <a:gridCol w="1541678"/>
                <a:gridCol w="1541678"/>
                <a:gridCol w="154167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분류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2025년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2026년(E)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5,892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5,921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5,950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5,979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6,008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5,945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5,974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6,003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6,032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6,061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5,998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6,027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6,056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6,085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6,114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6,051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6,080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6,109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6,138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6,167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6,104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6,133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6,162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6,191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6,220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2,086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2,115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2,144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2,173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2,202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