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TBL-001</a:t>
            </a:r>
          </a:p>
        </p:txBody>
      </p:sp>
      <p:grpSp>
        <p:nvGrpSpPr>
          <p:cNvPr id="5" name="asset:TBL-001"/>
          <p:cNvGrpSpPr/>
          <p:nvPr/>
        </p:nvGrpSpPr>
        <p:grpSpPr>
          <a:xfrm>
            <a:off x="548640" y="566928"/>
            <a:ext cx="11064240" cy="3593592"/>
            <a:chOff x="548640" y="566928"/>
            <a:chExt cx="11064240" cy="3593592"/>
          </a:xfrm>
        </p:grpSpPr>
        <p:sp>
          <p:nvSpPr>
            <p:cNvPr id="3" name="TextBox 2"/>
            <p:cNvSpPr txBox="1"/>
            <p:nvPr/>
          </p:nvSpPr>
          <p:spPr>
            <a:xfrm>
              <a:off x="548640" y="566928"/>
              <a:ext cx="11064240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네이비 헤더 · 줄무늬 본문 (3열)</a:t>
              </a:r>
            </a:p>
          </p:txBody>
        </p:sp>
        <p:graphicFrame>
          <p:nvGraphicFramePr>
            <p:cNvPr id="4" name="TBL-001_bg"/>
            <p:cNvGraphicFramePr>
              <a:graphicFrameLocks noGrp="1"/>
            </p:cNvGraphicFramePr>
            <p:nvPr/>
          </p:nvGraphicFramePr>
          <p:xfrm>
            <a:off x="548640" y="1143000"/>
            <a:ext cx="11064240" cy="3017520"/>
          </p:xfrm>
          <a:graphic>
            <a:graphicData uri="http://schemas.openxmlformats.org/drawingml/2006/table">
              <a:tbl>
                <a:tblPr firstRow="0" bandRow="0" lastRow="0" firstCol="0" bandCol="0">
                  <a:tableStyleId>{2D5ABB26-0587-4C30-8999-92F81FD0307C}</a:tableStyleId>
                </a:tblPr>
                <a:tblGrid>
                  <a:gridCol w="4663440"/>
                  <a:gridCol w="3200400"/>
                  <a:gridCol w="3200400"/>
                </a:tblGrid>
                <a:tr h="603504"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항목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2023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2024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1F3864"/>
                      </a:solidFill>
                    </a:tcPr>
                  </a:tc>
                </a:tr>
                <a:tr h="603504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콘텐츠 수출액 (백만$)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1,240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1,580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해외 진출 기업 수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86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112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</a:tr>
                <a:tr h="603504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신규 계약 건수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203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271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참가 마켓 수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14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19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</a:tr>
              </a:tbl>
            </a:graphicData>
          </a:graphic>
        </p:graphicFrame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TBL-002</a:t>
            </a:r>
          </a:p>
        </p:txBody>
      </p:sp>
      <p:grpSp>
        <p:nvGrpSpPr>
          <p:cNvPr id="5" name="asset:TBL-002"/>
          <p:cNvGrpSpPr/>
          <p:nvPr/>
        </p:nvGrpSpPr>
        <p:grpSpPr>
          <a:xfrm>
            <a:off x="548640" y="566928"/>
            <a:ext cx="11064240" cy="3593592"/>
            <a:chOff x="548640" y="566928"/>
            <a:chExt cx="11064240" cy="3593592"/>
          </a:xfrm>
        </p:grpSpPr>
        <p:sp>
          <p:nvSpPr>
            <p:cNvPr id="3" name="TextBox 2"/>
            <p:cNvSpPr txBox="1"/>
            <p:nvPr/>
          </p:nvSpPr>
          <p:spPr>
            <a:xfrm>
              <a:off x="548640" y="566928"/>
              <a:ext cx="11064240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네이비 헤더 · 줄무늬 본문 (4열)</a:t>
              </a:r>
            </a:p>
          </p:txBody>
        </p:sp>
        <p:graphicFrame>
          <p:nvGraphicFramePr>
            <p:cNvPr id="4" name="TBL-002_bg"/>
            <p:cNvGraphicFramePr>
              <a:graphicFrameLocks noGrp="1"/>
            </p:cNvGraphicFramePr>
            <p:nvPr/>
          </p:nvGraphicFramePr>
          <p:xfrm>
            <a:off x="548640" y="1143000"/>
            <a:ext cx="11064240" cy="3017520"/>
          </p:xfrm>
          <a:graphic>
            <a:graphicData uri="http://schemas.openxmlformats.org/drawingml/2006/table">
              <a:tbl>
                <a:tblPr firstRow="0" bandRow="0" lastRow="0" firstCol="0" bandCol="0">
                  <a:tableStyleId>{2D5ABB26-0587-4C30-8999-92F81FD0307C}</a:tableStyleId>
                </a:tblPr>
                <a:tblGrid>
                  <a:gridCol w="3931920"/>
                  <a:gridCol w="2377440"/>
                  <a:gridCol w="2377440"/>
                  <a:gridCol w="2377440"/>
                </a:tblGrid>
                <a:tr h="603504"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구분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목표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실적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달성률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1F3864"/>
                      </a:solidFill>
                    </a:tcPr>
                  </a:tc>
                </a:tr>
                <a:tr h="603504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해외 마케팅 지원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30건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34건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113%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현지화 제작 지원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20건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18건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90%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</a:tr>
                <a:tr h="603504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바이어 매칭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150건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167건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111%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입점 지원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40건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40건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100%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</a:tr>
              </a:tbl>
            </a:graphicData>
          </a:graphic>
        </p:graphicFrame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TBL-003</a:t>
            </a:r>
          </a:p>
        </p:txBody>
      </p:sp>
      <p:grpSp>
        <p:nvGrpSpPr>
          <p:cNvPr id="5" name="asset:TBL-003"/>
          <p:cNvGrpSpPr/>
          <p:nvPr/>
        </p:nvGrpSpPr>
        <p:grpSpPr>
          <a:xfrm>
            <a:off x="548640" y="566928"/>
            <a:ext cx="11064240" cy="3867912"/>
            <a:chOff x="548640" y="566928"/>
            <a:chExt cx="11064240" cy="3867912"/>
          </a:xfrm>
        </p:grpSpPr>
        <p:sp>
          <p:nvSpPr>
            <p:cNvPr id="3" name="TextBox 2"/>
            <p:cNvSpPr txBox="1"/>
            <p:nvPr/>
          </p:nvSpPr>
          <p:spPr>
            <a:xfrm>
              <a:off x="548640" y="566928"/>
              <a:ext cx="11064240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네이비 헤더 · 줄무늬 본문 (5열)</a:t>
              </a:r>
            </a:p>
          </p:txBody>
        </p:sp>
        <p:graphicFrame>
          <p:nvGraphicFramePr>
            <p:cNvPr id="4" name="TBL-003_bg"/>
            <p:cNvGraphicFramePr>
              <a:graphicFrameLocks noGrp="1"/>
            </p:cNvGraphicFramePr>
            <p:nvPr/>
          </p:nvGraphicFramePr>
          <p:xfrm>
            <a:off x="548640" y="1143000"/>
            <a:ext cx="11064240" cy="3291840"/>
          </p:xfrm>
          <a:graphic>
            <a:graphicData uri="http://schemas.openxmlformats.org/drawingml/2006/table">
              <a:tbl>
                <a:tblPr firstRow="0" bandRow="0" lastRow="0" firstCol="0" bandCol="0">
                  <a:tableStyleId>{2D5ABB26-0587-4C30-8999-92F81FD0307C}</a:tableStyleId>
                </a:tblPr>
                <a:tblGrid>
                  <a:gridCol w="2377440"/>
                  <a:gridCol w="2834640"/>
                  <a:gridCol w="2834640"/>
                  <a:gridCol w="1645920"/>
                  <a:gridCol w="1371600"/>
                </a:tblGrid>
                <a:tr h="658368"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사업목표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추진전략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산출물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담당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비고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1F3864"/>
                      </a:solidFill>
                    </a:tcPr>
                  </a:tc>
                </a:tr>
                <a:tr h="658368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수출 판로 확대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온라인 마켓 입점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입점 실적 보고서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A팀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-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</a:tr>
                <a:tr h="658368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현지 인지도 제고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해외 홍보 캠페인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홍보 결과 리포트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B팀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분기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</a:tr>
                <a:tr h="658368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파트너십 구축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바이어 매칭 상담회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MOU·상담일지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C팀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연 2회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</a:tr>
                <a:tr h="658368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역량 강화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수출 실무 교육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교육 이수 명단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D팀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-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</a:tr>
              </a:tbl>
            </a:graphicData>
          </a:graphic>
        </p:graphicFrame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TBL-004</a:t>
            </a:r>
          </a:p>
        </p:txBody>
      </p:sp>
      <p:grpSp>
        <p:nvGrpSpPr>
          <p:cNvPr id="5" name="asset:TBL-004"/>
          <p:cNvGrpSpPr/>
          <p:nvPr/>
        </p:nvGrpSpPr>
        <p:grpSpPr>
          <a:xfrm>
            <a:off x="548640" y="566928"/>
            <a:ext cx="11064240" cy="3593592"/>
            <a:chOff x="548640" y="566928"/>
            <a:chExt cx="11064240" cy="3593592"/>
          </a:xfrm>
        </p:grpSpPr>
        <p:sp>
          <p:nvSpPr>
            <p:cNvPr id="3" name="TextBox 2"/>
            <p:cNvSpPr txBox="1"/>
            <p:nvPr/>
          </p:nvSpPr>
          <p:spPr>
            <a:xfrm>
              <a:off x="548640" y="566928"/>
              <a:ext cx="11064240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레드 강조 헤더 (증감 · 경고용)</a:t>
              </a:r>
            </a:p>
          </p:txBody>
        </p:sp>
        <p:graphicFrame>
          <p:nvGraphicFramePr>
            <p:cNvPr id="4" name="TBL-004_bg"/>
            <p:cNvGraphicFramePr>
              <a:graphicFrameLocks noGrp="1"/>
            </p:cNvGraphicFramePr>
            <p:nvPr/>
          </p:nvGraphicFramePr>
          <p:xfrm>
            <a:off x="548640" y="1143000"/>
            <a:ext cx="11064240" cy="3017520"/>
          </p:xfrm>
          <a:graphic>
            <a:graphicData uri="http://schemas.openxmlformats.org/drawingml/2006/table">
              <a:tbl>
                <a:tblPr firstRow="0" bandRow="0" lastRow="0" firstCol="0" bandCol="0">
                  <a:tableStyleId>{2D5ABB26-0587-4C30-8999-92F81FD0307C}</a:tableStyleId>
                </a:tblPr>
                <a:tblGrid>
                  <a:gridCol w="4206240"/>
                  <a:gridCol w="2286000"/>
                  <a:gridCol w="2286000"/>
                  <a:gridCol w="2286000"/>
                </a:tblGrid>
                <a:tr h="603504"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지표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C0392B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전년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C0392B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당해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C0392B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증감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C0392B"/>
                      </a:solidFill>
                    </a:tcPr>
                  </a:tc>
                </a:tr>
                <a:tr h="603504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반품·클레임 건수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48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61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▲ +13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미이행 계약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3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▼ -4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</a:tr>
                <a:tr h="603504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지연 정산 비율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12%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5%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▼ -7%p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리스크 등급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중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주의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상향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</a:tr>
              </a:tbl>
            </a:graphicData>
          </a:graphic>
        </p:graphicFrame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TBL-005</a:t>
            </a:r>
          </a:p>
        </p:txBody>
      </p:sp>
      <p:grpSp>
        <p:nvGrpSpPr>
          <p:cNvPr id="5" name="asset:TBL-005"/>
          <p:cNvGrpSpPr/>
          <p:nvPr/>
        </p:nvGrpSpPr>
        <p:grpSpPr>
          <a:xfrm>
            <a:off x="548640" y="566928"/>
            <a:ext cx="11064240" cy="3593592"/>
            <a:chOff x="548640" y="566928"/>
            <a:chExt cx="11064240" cy="3593592"/>
          </a:xfrm>
        </p:grpSpPr>
        <p:sp>
          <p:nvSpPr>
            <p:cNvPr id="3" name="TextBox 2"/>
            <p:cNvSpPr txBox="1"/>
            <p:nvPr/>
          </p:nvSpPr>
          <p:spPr>
            <a:xfrm>
              <a:off x="548640" y="566928"/>
              <a:ext cx="11064240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퍼플 보조 헤더 표</a:t>
              </a:r>
            </a:p>
          </p:txBody>
        </p:sp>
        <p:graphicFrame>
          <p:nvGraphicFramePr>
            <p:cNvPr id="4" name="TBL-005_bg"/>
            <p:cNvGraphicFramePr>
              <a:graphicFrameLocks noGrp="1"/>
            </p:cNvGraphicFramePr>
            <p:nvPr/>
          </p:nvGraphicFramePr>
          <p:xfrm>
            <a:off x="548640" y="1143000"/>
            <a:ext cx="11064240" cy="3017520"/>
          </p:xfrm>
          <a:graphic>
            <a:graphicData uri="http://schemas.openxmlformats.org/drawingml/2006/table">
              <a:tbl>
                <a:tblPr firstRow="0" bandRow="0" lastRow="0" firstCol="0" bandCol="0">
                  <a:tableStyleId>{2D5ABB26-0587-4C30-8999-92F81FD0307C}</a:tableStyleId>
                </a:tblPr>
                <a:tblGrid>
                  <a:gridCol w="3566160"/>
                  <a:gridCol w="2468880"/>
                  <a:gridCol w="2468880"/>
                  <a:gridCol w="2560320"/>
                </a:tblGrid>
                <a:tr h="603504"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프로그램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7B2D8E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대상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7B2D8E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방식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7B2D8E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비중(%)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7B2D8E"/>
                      </a:solidFill>
                    </a:tcPr>
                  </a:tc>
                </a:tr>
                <a:tr h="603504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입점 컨설팅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중소 콘텐츠사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1:1 멘토링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30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현지화 지원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선정 기업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외주 매칭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25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</a:tr>
                <a:tr h="603504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마케팅 지원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전체 참여사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공동 캠페인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25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사후 관리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계약 성사사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정기 모니터링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20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</a:tr>
              </a:tbl>
            </a:graphicData>
          </a:graphic>
        </p:graphicFrame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TBL-006</a:t>
            </a:r>
          </a:p>
        </p:txBody>
      </p:sp>
      <p:grpSp>
        <p:nvGrpSpPr>
          <p:cNvPr id="5" name="asset:TBL-006"/>
          <p:cNvGrpSpPr/>
          <p:nvPr/>
        </p:nvGrpSpPr>
        <p:grpSpPr>
          <a:xfrm>
            <a:off x="548640" y="566928"/>
            <a:ext cx="11064240" cy="4197096"/>
            <a:chOff x="548640" y="566928"/>
            <a:chExt cx="11064240" cy="4197096"/>
          </a:xfrm>
        </p:grpSpPr>
        <p:sp>
          <p:nvSpPr>
            <p:cNvPr id="3" name="TextBox 2"/>
            <p:cNvSpPr txBox="1"/>
            <p:nvPr/>
          </p:nvSpPr>
          <p:spPr>
            <a:xfrm>
              <a:off x="548640" y="566928"/>
              <a:ext cx="11064240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블루 강조 헤더 표 (3열 변형)</a:t>
              </a:r>
            </a:p>
          </p:txBody>
        </p:sp>
        <p:graphicFrame>
          <p:nvGraphicFramePr>
            <p:cNvPr id="4" name="TBL-006_bg"/>
            <p:cNvGraphicFramePr>
              <a:graphicFrameLocks noGrp="1"/>
            </p:cNvGraphicFramePr>
            <p:nvPr/>
          </p:nvGraphicFramePr>
          <p:xfrm>
            <a:off x="548640" y="1143000"/>
            <a:ext cx="11064240" cy="3621024"/>
          </p:xfrm>
          <a:graphic>
            <a:graphicData uri="http://schemas.openxmlformats.org/drawingml/2006/table">
              <a:tbl>
                <a:tblPr firstRow="0" bandRow="0" lastRow="0" firstCol="0" bandCol="0">
                  <a:tableStyleId>{2D5ABB26-0587-4C30-8999-92F81FD0307C}</a:tableStyleId>
                </a:tblPr>
                <a:tblGrid>
                  <a:gridCol w="5120640"/>
                  <a:gridCol w="2971800"/>
                  <a:gridCol w="2971800"/>
                </a:tblGrid>
                <a:tr h="603504"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추진전략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2E75D6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핵심 과제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2E75D6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기대효과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2E75D6"/>
                      </a:solidFill>
                    </a:tcPr>
                  </a:tc>
                </a:tr>
                <a:tr h="603504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글로벌 마켓 진출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해외 전시회 3개국 참가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신규 바이어 확보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디지털 유통 강화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글로벌 OTT·플랫폼 입점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판로 다변화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</a:tr>
                <a:tr h="603504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현지화 고도화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언어·문화 맞춤 재편집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현지 수용성 제고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파트너 네트워크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현지 에이전시 협업체계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지속 거래 기반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</a:tr>
                <a:tr h="603504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성과 관리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데이터 기반 성과 추적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사업 효율 극대화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</a:tr>
              </a:tbl>
            </a:graphicData>
          </a:graphic>
        </p:graphicFrame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