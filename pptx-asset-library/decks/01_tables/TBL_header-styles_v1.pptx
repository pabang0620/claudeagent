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네이비 헤더 · 줄무늬 본문 (3열)</a:t>
            </a:r>
          </a:p>
        </p:txBody>
      </p:sp>
      <p:graphicFrame>
        <p:nvGraphicFramePr>
          <p:cNvPr id="4" name="asset:TBL-001"/>
          <p:cNvGraphicFramePr>
            <a:graphicFrameLocks noGrp="1"/>
          </p:cNvGraphicFramePr>
          <p:nvPr/>
        </p:nvGraphicFramePr>
        <p:xfrm>
          <a:off x="548640" y="1143000"/>
          <a:ext cx="11064240" cy="3017520"/>
        </p:xfrm>
        <a:graphic>
          <a:graphicData uri="http://schemas.openxmlformats.org/drawingml/2006/table">
            <a:tbl>
              <a:tblPr firstRow="0" bandRow="0" lastRow="0" firstCol="0" bandCol="0">
                <a:tableStyleId>{5C22544A-7EE6-4342-B048-85BDC9FD1C3A}</a:tableStyleId>
              </a:tblPr>
              <a:tblGrid>
                <a:gridCol w="4663440"/>
                <a:gridCol w="3200400"/>
                <a:gridCol w="3200400"/>
              </a:tblGrid>
              <a:tr h="603504"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수출액 (백만$)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1,240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1,580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 진출 기업 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신규 계약 건수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참가 마켓 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네이비 헤더 · 줄무늬 본문 (4열)</a:t>
            </a:r>
          </a:p>
        </p:txBody>
      </p:sp>
      <p:graphicFrame>
        <p:nvGraphicFramePr>
          <p:cNvPr id="4" name="asset:TBL-002"/>
          <p:cNvGraphicFramePr>
            <a:graphicFrameLocks noGrp="1"/>
          </p:cNvGraphicFramePr>
          <p:nvPr/>
        </p:nvGraphicFramePr>
        <p:xfrm>
          <a:off x="548640" y="1143000"/>
          <a:ext cx="11064240" cy="3017520"/>
        </p:xfrm>
        <a:graphic>
          <a:graphicData uri="http://schemas.openxmlformats.org/drawingml/2006/table">
            <a:tbl>
              <a:tblPr firstRow="0" bandRow="0" lastRow="0" firstCol="0" bandCol="0">
                <a:tableStyleId>{5C22544A-7EE6-4342-B048-85BDC9FD1C3A}</a:tableStyleId>
              </a:tblPr>
              <a:tblGrid>
                <a:gridCol w="3931920"/>
                <a:gridCol w="2377440"/>
                <a:gridCol w="2377440"/>
                <a:gridCol w="2377440"/>
              </a:tblGrid>
              <a:tr h="603504"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달성률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 마케팅 지원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113%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제작 지원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바이어 매칭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150건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167건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111%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입점 지원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네이비 헤더 · 줄무늬 본문 (5열)</a:t>
            </a:r>
          </a:p>
        </p:txBody>
      </p:sp>
      <p:graphicFrame>
        <p:nvGraphicFramePr>
          <p:cNvPr id="4" name="asset:TBL-003"/>
          <p:cNvGraphicFramePr>
            <a:graphicFrameLocks noGrp="1"/>
          </p:cNvGraphicFramePr>
          <p:nvPr/>
        </p:nvGraphicFramePr>
        <p:xfrm>
          <a:off x="548640" y="1143000"/>
          <a:ext cx="11064240" cy="3291840"/>
        </p:xfrm>
        <a:graphic>
          <a:graphicData uri="http://schemas.openxmlformats.org/drawingml/2006/table">
            <a:tbl>
              <a:tblPr firstRow="0" bandRow="0" lastRow="0" firstCol="0" bandCol="0">
                <a:tableStyleId>{5C22544A-7EE6-4342-B048-85BDC9FD1C3A}</a:tableStyleId>
              </a:tblPr>
              <a:tblGrid>
                <a:gridCol w="2377440"/>
                <a:gridCol w="2834640"/>
                <a:gridCol w="2834640"/>
                <a:gridCol w="1645920"/>
                <a:gridCol w="1371600"/>
              </a:tblGrid>
              <a:tr h="658368"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사업목표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추진전략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산출물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수출 판로 확대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온라인 마켓 입점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입점 실적 보고서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 인지도 제고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 홍보 캠페인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홍보 결과 리포트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B팀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파트너십 구축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바이어 매칭 상담회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MOU·상담일지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C팀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 2회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역량 강화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수출 실무 교육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이수 명단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D팀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레드 강조 헤더 (증감 · 경고용)</a:t>
            </a:r>
          </a:p>
        </p:txBody>
      </p:sp>
      <p:graphicFrame>
        <p:nvGraphicFramePr>
          <p:cNvPr id="4" name="asset:TBL-004"/>
          <p:cNvGraphicFramePr>
            <a:graphicFrameLocks noGrp="1"/>
          </p:cNvGraphicFramePr>
          <p:nvPr/>
        </p:nvGraphicFramePr>
        <p:xfrm>
          <a:off x="548640" y="1143000"/>
          <a:ext cx="11064240" cy="3017520"/>
        </p:xfrm>
        <a:graphic>
          <a:graphicData uri="http://schemas.openxmlformats.org/drawingml/2006/table">
            <a:tbl>
              <a:tblPr firstRow="0" bandRow="0" lastRow="0" firstCol="0" bandCol="0">
                <a:tableStyleId>{5C22544A-7EE6-4342-B048-85BDC9FD1C3A}</a:tableStyleId>
              </a:tblPr>
              <a:tblGrid>
                <a:gridCol w="4206240"/>
                <a:gridCol w="2286000"/>
                <a:gridCol w="2286000"/>
                <a:gridCol w="2286000"/>
              </a:tblGrid>
              <a:tr h="603504"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당해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반품·클레임 건수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▲ +13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미이행 계약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▼ -4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지연 정산 비율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▼ -7%p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등급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퍼플 보조 헤더 표</a:t>
            </a:r>
          </a:p>
        </p:txBody>
      </p:sp>
      <p:graphicFrame>
        <p:nvGraphicFramePr>
          <p:cNvPr id="4" name="asset:TBL-005"/>
          <p:cNvGraphicFramePr>
            <a:graphicFrameLocks noGrp="1"/>
          </p:cNvGraphicFramePr>
          <p:nvPr/>
        </p:nvGraphicFramePr>
        <p:xfrm>
          <a:off x="548640" y="1143000"/>
          <a:ext cx="11064240" cy="3017520"/>
        </p:xfrm>
        <a:graphic>
          <a:graphicData uri="http://schemas.openxmlformats.org/drawingml/2006/table">
            <a:tbl>
              <a:tblPr firstRow="0" bandRow="0" lastRow="0" firstCol="0" bandCol="0">
                <a:tableStyleId>{5C22544A-7EE6-4342-B048-85BDC9FD1C3A}</a:tableStyleId>
              </a:tblPr>
              <a:tblGrid>
                <a:gridCol w="3566160"/>
                <a:gridCol w="2468880"/>
                <a:gridCol w="2468880"/>
                <a:gridCol w="2560320"/>
              </a:tblGrid>
              <a:tr h="603504"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프로그램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비중(%)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7B2D8E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입점 컨설팅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중소 콘텐츠사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1:1 멘토링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선정 기업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외주 매칭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지원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참여사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공동 캠페인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사후 관리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계약 성사사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정기 모니터링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블루 강조 헤더 표 (3열 변형)</a:t>
            </a:r>
          </a:p>
        </p:txBody>
      </p:sp>
      <p:graphicFrame>
        <p:nvGraphicFramePr>
          <p:cNvPr id="4" name="asset:TBL-006"/>
          <p:cNvGraphicFramePr>
            <a:graphicFrameLocks noGrp="1"/>
          </p:cNvGraphicFramePr>
          <p:nvPr/>
        </p:nvGraphicFramePr>
        <p:xfrm>
          <a:off x="548640" y="1143000"/>
          <a:ext cx="11064240" cy="3621024"/>
        </p:xfrm>
        <a:graphic>
          <a:graphicData uri="http://schemas.openxmlformats.org/drawingml/2006/table">
            <a:tbl>
              <a:tblPr firstRow="0" bandRow="0" lastRow="0" firstCol="0" bandCol="0">
                <a:tableStyleId>{5C22544A-7EE6-4342-B048-85BDC9FD1C3A}</a:tableStyleId>
              </a:tblPr>
              <a:tblGrid>
                <a:gridCol w="5120640"/>
                <a:gridCol w="2971800"/>
                <a:gridCol w="2971800"/>
              </a:tblGrid>
              <a:tr h="603504"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추진전략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과제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기대효과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2E75D6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마켓 진출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해외 전시회 3개국 참가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신규 바이어 확보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디지털 유통 강화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OTT·플랫폼 입점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판로 다변화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고도화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언어·문화 맞춤 재편집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 수용성 제고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네트워크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 에이전시 협업체계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지속 거래 기반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추적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효율 극대화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