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에듀테크 플랫폼 개요 요약표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보더리스 미니멀 · 3열 · 헤더 navy_800</a:t>
            </a:r>
          </a:p>
        </p:txBody>
      </p:sp>
      <p:graphicFrame>
        <p:nvGraphicFramePr>
          <p:cNvPr id="4" name="asset:TBL-071"/>
          <p:cNvGraphicFramePr>
            <a:graphicFrameLocks noGrp="1"/>
          </p:cNvGraphicFramePr>
          <p:nvPr/>
        </p:nvGraphicFramePr>
        <p:xfrm>
          <a:off x="914400" y="1554480"/>
          <a:ext cx="10360152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4082796"/>
                <a:gridCol w="4082796"/>
              </a:tblGrid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범주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1F386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대응 방안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1F386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주요 내용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1F386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채널 다각화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기준 수립 및 결함 조치 프로세스 운영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406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기획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매뉴얼 정비와 담당자 교육 병행 추진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423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440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검증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457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TBL-071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제조 디지털전환 개요 요약표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보더리스 미니멀 · 4열 · 헤더 blue_500</a:t>
            </a:r>
          </a:p>
        </p:txBody>
      </p:sp>
      <p:graphicFrame>
        <p:nvGraphicFramePr>
          <p:cNvPr id="4" name="asset:TBL-072"/>
          <p:cNvGraphicFramePr>
            <a:graphicFrameLocks noGrp="1"/>
          </p:cNvGraphicFramePr>
          <p:nvPr/>
        </p:nvGraphicFramePr>
        <p:xfrm>
          <a:off x="914400" y="1554480"/>
          <a:ext cx="10360152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2721864"/>
                <a:gridCol w="2721864"/>
                <a:gridCol w="2721864"/>
              </a:tblGrid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구분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2E75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주요 내용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2E75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담당 부서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2E75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일정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2E75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강화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매뉴얼 정비와 담당자 교육 병행 추진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411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418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분석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428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435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지원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445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452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이관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462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469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TBL-072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공공 데이터 개방 개요 요약표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보더리스 미니멀 · 5열 · 헤더 teal_500</a:t>
            </a:r>
          </a:p>
        </p:txBody>
      </p:sp>
      <p:graphicFrame>
        <p:nvGraphicFramePr>
          <p:cNvPr id="4" name="asset:TBL-073"/>
          <p:cNvGraphicFramePr>
            <a:graphicFrameLocks noGrp="1"/>
          </p:cNvGraphicFramePr>
          <p:nvPr/>
        </p:nvGraphicFramePr>
        <p:xfrm>
          <a:off x="914400" y="1554480"/>
          <a:ext cx="10360152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2041398"/>
                <a:gridCol w="2041398"/>
                <a:gridCol w="2041398"/>
                <a:gridCol w="2041398"/>
              </a:tblGrid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항목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1F9E8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담당 부서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1F9E8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일정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1F9E8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산출물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1F9E8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목표치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1F9E8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재무 관리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416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423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430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정보구조 설계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433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440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447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테스트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450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457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464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성과 관리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인지도 제고 및 신규 파트너 발굴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467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474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481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TBL-073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메타버스 전시 개요 요약표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보더리스 미니멀 · 3열 · 헤더 purple_600</a:t>
            </a:r>
          </a:p>
        </p:txBody>
      </p:sp>
      <p:graphicFrame>
        <p:nvGraphicFramePr>
          <p:cNvPr id="4" name="asset:TBL-074"/>
          <p:cNvGraphicFramePr>
            <a:graphicFrameLocks noGrp="1"/>
          </p:cNvGraphicFramePr>
          <p:nvPr/>
        </p:nvGraphicFramePr>
        <p:xfrm>
          <a:off x="914400" y="1554480"/>
          <a:ext cx="10360152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4082796"/>
                <a:gridCol w="4082796"/>
              </a:tblGrid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영역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7B2D8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일정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7B2D8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산출물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7B2D8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기획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421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438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검증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인지도 제고 및 신규 파트너 발굴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455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위험 관리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 집행 점검과 정산 체계 투명성 확보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472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 점검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 및 범위 확정 후 단계별 실행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489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TBL-074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친환경 모빌리티 개요 요약표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보더리스 미니멀 · 4열 · 헤더 navy_600</a:t>
            </a:r>
          </a:p>
        </p:txBody>
      </p:sp>
      <p:graphicFrame>
        <p:nvGraphicFramePr>
          <p:cNvPr id="4" name="asset:TBL-075"/>
          <p:cNvGraphicFramePr>
            <a:graphicFrameLocks noGrp="1"/>
          </p:cNvGraphicFramePr>
          <p:nvPr/>
        </p:nvGraphicFramePr>
        <p:xfrm>
          <a:off x="914400" y="1554480"/>
          <a:ext cx="10360152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2721864"/>
                <a:gridCol w="2721864"/>
                <a:gridCol w="2721864"/>
              </a:tblGrid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과업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2A4A7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산출물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2A4A7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목표치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2A4A7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실적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2A4A7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분석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426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433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지원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인지도 제고 및 신규 파트너 발굴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443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450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이관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 집행 점검과 정산 체계 투명성 확보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460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467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 및 범위 확정 후 단계별 실행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477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484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인프라 구축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유통 채널 15개국 확장 및 현지화 대응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494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TBL-075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농식품 수출 개요 요약표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보더리스 미니멀 · 5열 · 헤더 red_500</a:t>
            </a:r>
          </a:p>
        </p:txBody>
      </p:sp>
      <p:graphicFrame>
        <p:nvGraphicFramePr>
          <p:cNvPr id="4" name="asset:TBL-076"/>
          <p:cNvGraphicFramePr>
            <a:graphicFrameLocks noGrp="1"/>
          </p:cNvGraphicFramePr>
          <p:nvPr/>
        </p:nvGraphicFramePr>
        <p:xfrm>
          <a:off x="914400" y="1554480"/>
          <a:ext cx="10360152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2041398"/>
                <a:gridCol w="2041398"/>
                <a:gridCol w="2041398"/>
                <a:gridCol w="2041398"/>
              </a:tblGrid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지표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C0392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목표치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C0392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실적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C0392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가중치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C0392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우선순위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C0392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정보구조 설계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인지도 제고 및 신규 파트너 발굴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431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438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445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테스트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 집행 점검과 정산 체계 투명성 확보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448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455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462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성과 관리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 및 범위 확정 후 단계별 실행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465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472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479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분석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유통 채널 15개국 확장 및 현지화 대응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482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489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496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제작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개발과 외부 시스템 연동 안정화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499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26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TBL-076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문화예술 지원 개요 요약표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보더리스 미니멀 · 3열 · 헤더 navy_800</a:t>
            </a:r>
          </a:p>
        </p:txBody>
      </p:sp>
      <p:graphicFrame>
        <p:nvGraphicFramePr>
          <p:cNvPr id="4" name="asset:TBL-077"/>
          <p:cNvGraphicFramePr>
            <a:graphicFrameLocks noGrp="1"/>
          </p:cNvGraphicFramePr>
          <p:nvPr/>
        </p:nvGraphicFramePr>
        <p:xfrm>
          <a:off x="914400" y="1554480"/>
          <a:ext cx="10360152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4082796"/>
                <a:gridCol w="4082796"/>
              </a:tblGrid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부문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1F386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실적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1F386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가중치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1F386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 집행 점검과 정산 체계 투명성 확보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436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검증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 및 범위 확정 후 단계별 실행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453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위험 관리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유통 채널 15개국 확장 및 현지화 대응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470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 점검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개발과 외부 시스템 연동 안정화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487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TBL-077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스마트시티 개요 요약표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보더리스 미니멀 · 4열 · 헤더 blue_500</a:t>
            </a:r>
          </a:p>
        </p:txBody>
      </p:sp>
      <p:graphicFrame>
        <p:nvGraphicFramePr>
          <p:cNvPr id="4" name="asset:TBL-078"/>
          <p:cNvGraphicFramePr>
            <a:graphicFrameLocks noGrp="1"/>
          </p:cNvGraphicFramePr>
          <p:nvPr/>
        </p:nvGraphicFramePr>
        <p:xfrm>
          <a:off x="914400" y="1554480"/>
          <a:ext cx="10360152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2721864"/>
                <a:gridCol w="2721864"/>
                <a:gridCol w="2721864"/>
              </a:tblGrid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단계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2E75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가중치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2E75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우선순위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2E75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 상태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2E75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지원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 및 범위 확정 후 단계별 실행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441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448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이관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유통 채널 15개국 확장 및 현지화 대응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458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465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개발과 외부 시스템 연동 안정화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475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482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인프라 구축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기준 수립 및 결함 조치 프로세스 운영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492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499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TBL-078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바이오 소재 개요 요약표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보더리스 미니멀 · 5열 · 헤더 teal_500</a:t>
            </a:r>
          </a:p>
        </p:txBody>
      </p:sp>
      <p:graphicFrame>
        <p:nvGraphicFramePr>
          <p:cNvPr id="4" name="asset:TBL-079"/>
          <p:cNvGraphicFramePr>
            <a:graphicFrameLocks noGrp="1"/>
          </p:cNvGraphicFramePr>
          <p:nvPr/>
        </p:nvGraphicFramePr>
        <p:xfrm>
          <a:off x="914400" y="1554480"/>
          <a:ext cx="10360152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2041398"/>
                <a:gridCol w="2041398"/>
                <a:gridCol w="2041398"/>
                <a:gridCol w="2041398"/>
              </a:tblGrid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분류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1F9E8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우선순위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1F9E8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 상태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1F9E8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비고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1F9E8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책임자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1F9E8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테스트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유통 채널 15개국 확장 및 현지화 대응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446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453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460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성과 관리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개발과 외부 시스템 연동 안정화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463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470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477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분석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기준 수립 및 결함 조치 프로세스 운영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480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487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494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제작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매뉴얼 정비와 담당자 교육 병행 추진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497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31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TBL-079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콘텐츠 해외진출 개요 요약표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보더리스 미니멀 · 3열 · 헤더 purple_600</a:t>
            </a:r>
          </a:p>
        </p:txBody>
      </p:sp>
      <p:graphicFrame>
        <p:nvGraphicFramePr>
          <p:cNvPr id="4" name="asset:TBL-080"/>
          <p:cNvGraphicFramePr>
            <a:graphicFrameLocks noGrp="1"/>
          </p:cNvGraphicFramePr>
          <p:nvPr/>
        </p:nvGraphicFramePr>
        <p:xfrm>
          <a:off x="914400" y="1554480"/>
          <a:ext cx="10360152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4082796"/>
                <a:gridCol w="4082796"/>
              </a:tblGrid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요소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7B2D8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 상태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7B2D8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비고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7B2D8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검증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개발과 외부 시스템 연동 안정화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451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위험 관리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기준 수립 및 결함 조치 프로세스 운영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468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 점검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매뉴얼 정비와 담당자 교육 병행 추진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485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홍보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22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39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TBL-080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스마트 물류 개요 요약표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보더리스 미니멀 · 4열 · 헤더 navy_600</a:t>
            </a:r>
          </a:p>
        </p:txBody>
      </p:sp>
      <p:graphicFrame>
        <p:nvGraphicFramePr>
          <p:cNvPr id="4" name="asset:TBL-081"/>
          <p:cNvGraphicFramePr>
            <a:graphicFrameLocks noGrp="1"/>
          </p:cNvGraphicFramePr>
          <p:nvPr/>
        </p:nvGraphicFramePr>
        <p:xfrm>
          <a:off x="914400" y="1554480"/>
          <a:ext cx="10360152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2721864"/>
                <a:gridCol w="2721864"/>
                <a:gridCol w="2721864"/>
              </a:tblGrid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기준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2A4A7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비고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2A4A7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책임자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2A4A7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기대 효과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2A4A7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이관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기준 수립 및 결함 조치 프로세스 운영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456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463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매뉴얼 정비와 담당자 교육 병행 추진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473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480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인프라 구축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490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497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파트너 협력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27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서비스 고도화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44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51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TBL-081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AI 통합 플랫폼 개요 요약표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보더리스 미니멀 · 5열 · 헤더 red_500</a:t>
            </a:r>
          </a:p>
        </p:txBody>
      </p:sp>
      <p:graphicFrame>
        <p:nvGraphicFramePr>
          <p:cNvPr id="4" name="asset:TBL-082"/>
          <p:cNvGraphicFramePr>
            <a:graphicFrameLocks noGrp="1"/>
          </p:cNvGraphicFramePr>
          <p:nvPr/>
        </p:nvGraphicFramePr>
        <p:xfrm>
          <a:off x="914400" y="1554480"/>
          <a:ext cx="10360152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2041398"/>
                <a:gridCol w="2041398"/>
                <a:gridCol w="2041398"/>
                <a:gridCol w="2041398"/>
              </a:tblGrid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대상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C0392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책임자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C0392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기대 효과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C0392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지표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C0392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리스크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5400" cap="flat">
                      <a:solidFill>
                        <a:srgbClr val="C0392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성과 관리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매뉴얼 정비와 담당자 교육 병행 추진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461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468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475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분석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478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485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492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제작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495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22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29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 훈련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32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39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46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표준화 정립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인지도 제고 및 신규 파트너 발굴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49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56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63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TBL-082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