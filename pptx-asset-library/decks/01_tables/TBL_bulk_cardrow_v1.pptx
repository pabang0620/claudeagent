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teal_500</a:t>
            </a:r>
          </a:p>
        </p:txBody>
      </p:sp>
      <p:grpSp>
        <p:nvGrpSpPr>
          <p:cNvPr id="16" name="asset:TBL-163"/>
          <p:cNvGrpSpPr/>
          <p:nvPr/>
        </p:nvGrpSpPr>
        <p:grpSpPr>
          <a:xfrm>
            <a:off x="914400" y="1508760"/>
            <a:ext cx="10360152" cy="2651760"/>
            <a:chOff x="914400" y="1508760"/>
            <a:chExt cx="10360152" cy="265176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확장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7,060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기준 수립 및 결함 조치 프로세스 운영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재무 관리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379건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매뉴얼 정비와 담당자 교육 병행 추진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정보구조 설계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7,166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성과 측정 및 개선 과제 도출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purple_600</a:t>
            </a:r>
          </a:p>
        </p:txBody>
      </p:sp>
      <p:grpSp>
        <p:nvGrpSpPr>
          <p:cNvPr id="20" name="asset:TBL-164"/>
          <p:cNvGrpSpPr/>
          <p:nvPr/>
        </p:nvGrpSpPr>
        <p:grpSpPr>
          <a:xfrm>
            <a:off x="914400" y="1508760"/>
            <a:ext cx="10360152" cy="3584448"/>
            <a:chOff x="914400" y="1508760"/>
            <a:chExt cx="10360152" cy="3584448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채널 다각화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7,097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매뉴얼 정비와 담당자 교육 병행 추진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기획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384건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성과 측정 및 개선 과제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7,203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협의체 운영으로 리스크 선제 대응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06824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4306824"/>
              <a:ext cx="274320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 검증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40480" y="4361688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418건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37960" y="4361688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프로세스 정립과 자동화 도입으로 효율화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navy_600</a:t>
            </a:r>
          </a:p>
        </p:txBody>
      </p:sp>
      <p:grpSp>
        <p:nvGrpSpPr>
          <p:cNvPr id="16" name="asset:TBL-165"/>
          <p:cNvGrpSpPr/>
          <p:nvPr/>
        </p:nvGrpSpPr>
        <p:grpSpPr>
          <a:xfrm>
            <a:off x="914400" y="1508760"/>
            <a:ext cx="10360152" cy="2651760"/>
            <a:chOff x="914400" y="1508760"/>
            <a:chExt cx="10360152" cy="265176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브랜드 강화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7,134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성과 측정 및 개선 과제 도출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요구사항 분석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389건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협의체 운영으로 리스크 선제 대응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 지원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7,240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프로세스 정립과 자동화 도입으로 효율화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red_500</a:t>
            </a:r>
          </a:p>
        </p:txBody>
      </p:sp>
      <p:grpSp>
        <p:nvGrpSpPr>
          <p:cNvPr id="20" name="asset:TBL-166"/>
          <p:cNvGrpSpPr/>
          <p:nvPr/>
        </p:nvGrpSpPr>
        <p:grpSpPr>
          <a:xfrm>
            <a:off x="914400" y="1508760"/>
            <a:ext cx="10360152" cy="3584448"/>
            <a:chOff x="914400" y="1508760"/>
            <a:chExt cx="10360152" cy="3584448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재무 관리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7,171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협의체 운영으로 리스크 선제 대응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정보구조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394건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프로세스 정립과 자동화 도입으로 효율화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테스트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7,277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제고 및 신규 파트너 발굴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06824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4306824"/>
              <a:ext cx="2743200" cy="786384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 관리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40480" y="4361688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428건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37960" y="4361688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예산 집행 점검과 정산 체계 투명성 확보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navy_800</a:t>
            </a:r>
          </a:p>
        </p:txBody>
      </p:sp>
      <p:grpSp>
        <p:nvGrpSpPr>
          <p:cNvPr id="16" name="asset:TBL-167"/>
          <p:cNvGrpSpPr/>
          <p:nvPr/>
        </p:nvGrpSpPr>
        <p:grpSpPr>
          <a:xfrm>
            <a:off x="914400" y="1508760"/>
            <a:ext cx="10360152" cy="2651760"/>
            <a:chOff x="914400" y="1508760"/>
            <a:chExt cx="10360152" cy="265176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 기획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7,208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프로세스 정립과 자동화 도입으로 효율화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399건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제고 및 신규 파트너 발굴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 검증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7,314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예산 집행 점검과 정산 체계 투명성 확보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blue_500</a:t>
            </a:r>
          </a:p>
        </p:txBody>
      </p:sp>
      <p:grpSp>
        <p:nvGrpSpPr>
          <p:cNvPr id="20" name="asset:TBL-168"/>
          <p:cNvGrpSpPr/>
          <p:nvPr/>
        </p:nvGrpSpPr>
        <p:grpSpPr>
          <a:xfrm>
            <a:off x="914400" y="1508760"/>
            <a:ext cx="10360152" cy="3584448"/>
            <a:chOff x="914400" y="1508760"/>
            <a:chExt cx="10360152" cy="3584448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요구사항 분석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7,245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제고 및 신규 파트너 발굴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 지원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404건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예산 집행 점검과 정산 체계 투명성 확보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이관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7,351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요구사항 정의 및 범위 확정 후 단계별 실행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06824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4306824"/>
              <a:ext cx="2743200" cy="78638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고객 지원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40480" y="4361688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438건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37960" y="4361688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유통 채널 15개국 확장 및 현지화 대응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teal_500</a:t>
            </a:r>
          </a:p>
        </p:txBody>
      </p:sp>
      <p:grpSp>
        <p:nvGrpSpPr>
          <p:cNvPr id="16" name="asset:TBL-169"/>
          <p:cNvGrpSpPr/>
          <p:nvPr/>
        </p:nvGrpSpPr>
        <p:grpSpPr>
          <a:xfrm>
            <a:off x="914400" y="1508760"/>
            <a:ext cx="10360152" cy="2651760"/>
            <a:chOff x="914400" y="1508760"/>
            <a:chExt cx="10360152" cy="265176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정보구조 설계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7,282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예산 집행 점검과 정산 체계 투명성 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테스트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409건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요구사항 정의 및 범위 확정 후 단계별 실행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 관리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7,388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유통 채널 15개국 확장 및 현지화 대응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purple_600</a:t>
            </a:r>
          </a:p>
        </p:txBody>
      </p:sp>
      <p:grpSp>
        <p:nvGrpSpPr>
          <p:cNvPr id="20" name="asset:TBL-170"/>
          <p:cNvGrpSpPr/>
          <p:nvPr/>
        </p:nvGrpSpPr>
        <p:grpSpPr>
          <a:xfrm>
            <a:off x="914400" y="1508760"/>
            <a:ext cx="10360152" cy="3584448"/>
            <a:chOff x="914400" y="1508760"/>
            <a:chExt cx="10360152" cy="3584448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7,319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요구사항 정의 및 범위 확정 후 단계별 실행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 검증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414건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유통 채널 15개국 확장 및 현지화 대응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위험 관리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7,425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개발과 외부 시스템 연동 안정화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06824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4306824"/>
              <a:ext cx="274320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점검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40480" y="4361688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448건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37960" y="4361688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기준 수립 및 결함 조치 프로세스 운영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navy_600</a:t>
            </a:r>
          </a:p>
        </p:txBody>
      </p:sp>
      <p:grpSp>
        <p:nvGrpSpPr>
          <p:cNvPr id="16" name="asset:TBL-171"/>
          <p:cNvGrpSpPr/>
          <p:nvPr/>
        </p:nvGrpSpPr>
        <p:grpSpPr>
          <a:xfrm>
            <a:off x="914400" y="1508760"/>
            <a:ext cx="10360152" cy="2651760"/>
            <a:chOff x="914400" y="1508760"/>
            <a:chExt cx="10360152" cy="265176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 지원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7,356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유통 채널 15개국 확장 및 현지화 대응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이관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419건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개발과 외부 시스템 연동 안정화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고객 지원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7,462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기준 수립 및 결함 조치 프로세스 운영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성과 하이라이트 (카드형)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카드행 · 좌 라벨 / 우 내용 2톤 · red_500</a:t>
            </a:r>
          </a:p>
        </p:txBody>
      </p:sp>
      <p:grpSp>
        <p:nvGrpSpPr>
          <p:cNvPr id="20" name="asset:TBL-172"/>
          <p:cNvGrpSpPr/>
          <p:nvPr/>
        </p:nvGrpSpPr>
        <p:grpSpPr>
          <a:xfrm>
            <a:off x="914400" y="1508760"/>
            <a:ext cx="10360152" cy="3584448"/>
            <a:chOff x="914400" y="1508760"/>
            <a:chExt cx="10360152" cy="3584448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테스트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7,393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개발과 외부 시스템 연동 안정화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 관리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424건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기준 수립 및 결함 조치 프로세스 운영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7,499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매뉴얼 정비와 담당자 교육 병행 추진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06824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4306824"/>
              <a:ext cx="2743200" cy="786384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제작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40480" y="4361688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458건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37960" y="4361688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성과 측정 및 개선 과제 도출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