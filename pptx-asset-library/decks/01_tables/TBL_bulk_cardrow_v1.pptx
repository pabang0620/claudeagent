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지역 관광 활성화 성과 하이라이트 (카드형)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카드행 · 좌 라벨 / 우 내용 2톤 · teal_500</a:t>
            </a:r>
          </a:p>
        </p:txBody>
      </p:sp>
      <p:grpSp>
        <p:nvGrpSpPr>
          <p:cNvPr id="16" name="asset:TBL-163"/>
          <p:cNvGrpSpPr/>
          <p:nvPr/>
        </p:nvGrpSpPr>
        <p:grpSpPr>
          <a:xfrm>
            <a:off x="914400" y="1508760"/>
            <a:ext cx="10360152" cy="2651760"/>
            <a:chOff x="914400" y="1508760"/>
            <a:chExt cx="10360152" cy="2651760"/>
          </a:xfrm>
        </p:grpSpPr>
        <p:sp>
          <p:nvSpPr>
            <p:cNvPr id="4" name="Rounded Rectangle 3"/>
            <p:cNvSpPr/>
            <p:nvPr/>
          </p:nvSpPr>
          <p:spPr>
            <a:xfrm>
              <a:off x="914400" y="1508760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508760"/>
              <a:ext cx="2743200" cy="78638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글로벌 확장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840480" y="1563624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7,060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537960" y="1563624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 기준 수립 및 결함 조치 프로세스 운영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14400" y="2441448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914400" y="2441448"/>
              <a:ext cx="2743200" cy="78638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재무 관리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840480" y="2496312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379건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537960" y="2496312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매뉴얼 정비와 담당자 교육 병행 추진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914400" y="3374136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14400" y="3374136"/>
              <a:ext cx="2743200" cy="78638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정보구조 설계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840480" y="3429000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7,166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537960" y="3429000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기반 성과 측정 및 개선 과제 도출</a:t>
              </a:r>
            </a:p>
          </p:txBody>
        </p:sp>
      </p:grpSp>
      <p:sp>
        <p:nvSpPr>
          <p:cNvPr id="17" name="TextBox 16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TBL-163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디지털 헬스케어 성과 하이라이트 (카드형)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카드행 · 좌 라벨 / 우 내용 2톤 · purple_600</a:t>
            </a:r>
          </a:p>
        </p:txBody>
      </p:sp>
      <p:grpSp>
        <p:nvGrpSpPr>
          <p:cNvPr id="20" name="asset:TBL-164"/>
          <p:cNvGrpSpPr/>
          <p:nvPr/>
        </p:nvGrpSpPr>
        <p:grpSpPr>
          <a:xfrm>
            <a:off x="914400" y="1508760"/>
            <a:ext cx="10360152" cy="3584448"/>
            <a:chOff x="914400" y="1508760"/>
            <a:chExt cx="10360152" cy="3584448"/>
          </a:xfrm>
        </p:grpSpPr>
        <p:sp>
          <p:nvSpPr>
            <p:cNvPr id="4" name="Rounded Rectangle 3"/>
            <p:cNvSpPr/>
            <p:nvPr/>
          </p:nvSpPr>
          <p:spPr>
            <a:xfrm>
              <a:off x="914400" y="1508760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508760"/>
              <a:ext cx="2743200" cy="78638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채널 다각화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840480" y="1563624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7,097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537960" y="1563624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매뉴얼 정비와 담당자 교육 병행 추진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14400" y="2441448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914400" y="2441448"/>
              <a:ext cx="2743200" cy="78638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기획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840480" y="2496312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384건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537960" y="2496312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기반 성과 측정 및 개선 과제 도출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914400" y="3374136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14400" y="3374136"/>
              <a:ext cx="2743200" cy="78638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핵심 기능 개발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840480" y="3429000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7,203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537960" y="3429000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이해관계자 협의체 운영으로 리스크 선제 대응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914400" y="4306824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914400" y="4306824"/>
              <a:ext cx="2743200" cy="78638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 검증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840480" y="4361688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418건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537960" y="4361688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프로세스 정립과 자동화 도입으로 효율화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TBL-164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그린 에너지 성과 하이라이트 (카드형)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카드행 · 좌 라벨 / 우 내용 2톤 · navy_600</a:t>
            </a:r>
          </a:p>
        </p:txBody>
      </p:sp>
      <p:grpSp>
        <p:nvGrpSpPr>
          <p:cNvPr id="16" name="asset:TBL-165"/>
          <p:cNvGrpSpPr/>
          <p:nvPr/>
        </p:nvGrpSpPr>
        <p:grpSpPr>
          <a:xfrm>
            <a:off x="914400" y="1508760"/>
            <a:ext cx="10360152" cy="2651760"/>
            <a:chOff x="914400" y="1508760"/>
            <a:chExt cx="10360152" cy="2651760"/>
          </a:xfrm>
        </p:grpSpPr>
        <p:sp>
          <p:nvSpPr>
            <p:cNvPr id="4" name="Rounded Rectangle 3"/>
            <p:cNvSpPr/>
            <p:nvPr/>
          </p:nvSpPr>
          <p:spPr>
            <a:xfrm>
              <a:off x="914400" y="1508760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508760"/>
              <a:ext cx="2743200" cy="786384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브랜드 강화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840480" y="1563624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7,134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537960" y="1563624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기반 성과 측정 및 개선 과제 도출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14400" y="2441448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914400" y="2441448"/>
              <a:ext cx="2743200" cy="786384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요구사항 분석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840480" y="2496312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389건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537960" y="2496312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이해관계자 협의체 운영으로 리스크 선제 대응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914400" y="3374136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14400" y="3374136"/>
              <a:ext cx="2743200" cy="786384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 지원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840480" y="3429000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7,240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537960" y="3429000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프로세스 정립과 자동화 도입으로 효율화</a:t>
              </a:r>
            </a:p>
          </p:txBody>
        </p:sp>
      </p:grpSp>
      <p:sp>
        <p:nvSpPr>
          <p:cNvPr id="17" name="TextBox 16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핀테크 서비스 성과 하이라이트 (카드형)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카드행 · 좌 라벨 / 우 내용 2톤 · red_500</a:t>
            </a:r>
          </a:p>
        </p:txBody>
      </p:sp>
      <p:grpSp>
        <p:nvGrpSpPr>
          <p:cNvPr id="20" name="asset:TBL-166"/>
          <p:cNvGrpSpPr/>
          <p:nvPr/>
        </p:nvGrpSpPr>
        <p:grpSpPr>
          <a:xfrm>
            <a:off x="914400" y="1508760"/>
            <a:ext cx="10360152" cy="3584448"/>
            <a:chOff x="914400" y="1508760"/>
            <a:chExt cx="10360152" cy="3584448"/>
          </a:xfrm>
        </p:grpSpPr>
        <p:sp>
          <p:nvSpPr>
            <p:cNvPr id="4" name="Rounded Rectangle 3"/>
            <p:cNvSpPr/>
            <p:nvPr/>
          </p:nvSpPr>
          <p:spPr>
            <a:xfrm>
              <a:off x="914400" y="1508760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508760"/>
              <a:ext cx="2743200" cy="786384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재무 관리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840480" y="1563624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7,171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537960" y="1563624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이해관계자 협의체 운영으로 리스크 선제 대응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14400" y="2441448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914400" y="2441448"/>
              <a:ext cx="2743200" cy="786384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정보구조 설계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840480" y="2496312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394건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537960" y="2496312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프로세스 정립과 자동화 도입으로 효율화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914400" y="3374136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14400" y="3374136"/>
              <a:ext cx="2743200" cy="786384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테스트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840480" y="3429000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7,277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537960" y="3429000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브랜드 인지도 제고 및 신규 파트너 발굴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914400" y="4306824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914400" y="4306824"/>
              <a:ext cx="2743200" cy="786384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성과 관리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840480" y="4361688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428건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537960" y="4361688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예산 집행 점검과 정산 체계 투명성 확보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TBL-166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에듀테크 플랫폼 성과 하이라이트 (카드형)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카드행 · 좌 라벨 / 우 내용 2톤 · navy_800</a:t>
            </a:r>
          </a:p>
        </p:txBody>
      </p:sp>
      <p:grpSp>
        <p:nvGrpSpPr>
          <p:cNvPr id="16" name="asset:TBL-167"/>
          <p:cNvGrpSpPr/>
          <p:nvPr/>
        </p:nvGrpSpPr>
        <p:grpSpPr>
          <a:xfrm>
            <a:off x="914400" y="1508760"/>
            <a:ext cx="10360152" cy="2651760"/>
            <a:chOff x="914400" y="1508760"/>
            <a:chExt cx="10360152" cy="2651760"/>
          </a:xfrm>
        </p:grpSpPr>
        <p:sp>
          <p:nvSpPr>
            <p:cNvPr id="4" name="Rounded Rectangle 3"/>
            <p:cNvSpPr/>
            <p:nvPr/>
          </p:nvSpPr>
          <p:spPr>
            <a:xfrm>
              <a:off x="914400" y="1508760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508760"/>
              <a:ext cx="2743200" cy="786384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기획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840480" y="1563624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7,208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537960" y="1563624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프로세스 정립과 자동화 도입으로 효율화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14400" y="2441448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914400" y="2441448"/>
              <a:ext cx="2743200" cy="786384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핵심 기능 개발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840480" y="2496312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399건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537960" y="2496312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브랜드 인지도 제고 및 신규 파트너 발굴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914400" y="3374136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14400" y="3374136"/>
              <a:ext cx="2743200" cy="786384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 검증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840480" y="3429000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7,314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537960" y="3429000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예산 집행 점검과 정산 체계 투명성 확보</a:t>
              </a:r>
            </a:p>
          </p:txBody>
        </p:sp>
      </p:grpSp>
      <p:sp>
        <p:nvSpPr>
          <p:cNvPr id="17" name="TextBox 16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TBL-167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제조 디지털전환 성과 하이라이트 (카드형)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카드행 · 좌 라벨 / 우 내용 2톤 · blue_500</a:t>
            </a:r>
          </a:p>
        </p:txBody>
      </p:sp>
      <p:grpSp>
        <p:nvGrpSpPr>
          <p:cNvPr id="20" name="asset:TBL-168"/>
          <p:cNvGrpSpPr/>
          <p:nvPr/>
        </p:nvGrpSpPr>
        <p:grpSpPr>
          <a:xfrm>
            <a:off x="914400" y="1508760"/>
            <a:ext cx="10360152" cy="3584448"/>
            <a:chOff x="914400" y="1508760"/>
            <a:chExt cx="10360152" cy="3584448"/>
          </a:xfrm>
        </p:grpSpPr>
        <p:sp>
          <p:nvSpPr>
            <p:cNvPr id="4" name="Rounded Rectangle 3"/>
            <p:cNvSpPr/>
            <p:nvPr/>
          </p:nvSpPr>
          <p:spPr>
            <a:xfrm>
              <a:off x="914400" y="1508760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508760"/>
              <a:ext cx="2743200" cy="78638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요구사항 분석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840480" y="1563624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7,245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537960" y="1563624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브랜드 인지도 제고 및 신규 파트너 발굴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14400" y="2441448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914400" y="2441448"/>
              <a:ext cx="2743200" cy="78638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 지원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840480" y="2496312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404건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537960" y="2496312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예산 집행 점검과 정산 체계 투명성 확보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914400" y="3374136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14400" y="3374136"/>
              <a:ext cx="2743200" cy="78638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 이관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840480" y="3429000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7,351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537960" y="3429000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요구사항 정의 및 범위 확정 후 단계별 실행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914400" y="4306824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914400" y="4306824"/>
              <a:ext cx="2743200" cy="78638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고객 지원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840480" y="4361688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438건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537960" y="4361688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유통 채널 15개국 확장 및 현지화 대응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TBL-168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공공 데이터 개방 성과 하이라이트 (카드형)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카드행 · 좌 라벨 / 우 내용 2톤 · teal_500</a:t>
            </a:r>
          </a:p>
        </p:txBody>
      </p:sp>
      <p:grpSp>
        <p:nvGrpSpPr>
          <p:cNvPr id="16" name="asset:TBL-169"/>
          <p:cNvGrpSpPr/>
          <p:nvPr/>
        </p:nvGrpSpPr>
        <p:grpSpPr>
          <a:xfrm>
            <a:off x="914400" y="1508760"/>
            <a:ext cx="10360152" cy="2651760"/>
            <a:chOff x="914400" y="1508760"/>
            <a:chExt cx="10360152" cy="2651760"/>
          </a:xfrm>
        </p:grpSpPr>
        <p:sp>
          <p:nvSpPr>
            <p:cNvPr id="4" name="Rounded Rectangle 3"/>
            <p:cNvSpPr/>
            <p:nvPr/>
          </p:nvSpPr>
          <p:spPr>
            <a:xfrm>
              <a:off x="914400" y="1508760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508760"/>
              <a:ext cx="2743200" cy="78638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정보구조 설계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840480" y="1563624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7,282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537960" y="1563624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예산 집행 점검과 정산 체계 투명성 확보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14400" y="2441448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914400" y="2441448"/>
              <a:ext cx="2743200" cy="78638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테스트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840480" y="2496312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409건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537960" y="2496312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요구사항 정의 및 범위 확정 후 단계별 실행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914400" y="3374136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14400" y="3374136"/>
              <a:ext cx="2743200" cy="78638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성과 관리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840480" y="3429000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7,388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537960" y="3429000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유통 채널 15개국 확장 및 현지화 대응</a:t>
              </a:r>
            </a:p>
          </p:txBody>
        </p:sp>
      </p:grpSp>
      <p:sp>
        <p:nvSpPr>
          <p:cNvPr id="17" name="TextBox 16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TBL-169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메타버스 전시 성과 하이라이트 (카드형)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카드행 · 좌 라벨 / 우 내용 2톤 · purple_600</a:t>
            </a:r>
          </a:p>
        </p:txBody>
      </p:sp>
      <p:grpSp>
        <p:nvGrpSpPr>
          <p:cNvPr id="20" name="asset:TBL-170"/>
          <p:cNvGrpSpPr/>
          <p:nvPr/>
        </p:nvGrpSpPr>
        <p:grpSpPr>
          <a:xfrm>
            <a:off x="914400" y="1508760"/>
            <a:ext cx="10360152" cy="3584448"/>
            <a:chOff x="914400" y="1508760"/>
            <a:chExt cx="10360152" cy="3584448"/>
          </a:xfrm>
        </p:grpSpPr>
        <p:sp>
          <p:nvSpPr>
            <p:cNvPr id="4" name="Rounded Rectangle 3"/>
            <p:cNvSpPr/>
            <p:nvPr/>
          </p:nvSpPr>
          <p:spPr>
            <a:xfrm>
              <a:off x="914400" y="1508760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508760"/>
              <a:ext cx="2743200" cy="78638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핵심 기능 개발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840480" y="1563624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7,319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537960" y="1563624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요구사항 정의 및 범위 확정 후 단계별 실행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14400" y="2441448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914400" y="2441448"/>
              <a:ext cx="2743200" cy="78638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 검증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840480" y="2496312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414건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537960" y="2496312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유통 채널 15개국 확장 및 현지화 대응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914400" y="3374136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14400" y="3374136"/>
              <a:ext cx="2743200" cy="78638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위험 관리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840480" y="3429000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7,425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537960" y="3429000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개발과 외부 시스템 연동 안정화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914400" y="4306824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914400" y="4306824"/>
              <a:ext cx="2743200" cy="78638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보안 점검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840480" y="4361688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448건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537960" y="4361688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 기준 수립 및 결함 조치 프로세스 운영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TBL-170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친환경 모빌리티 성과 하이라이트 (카드형)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카드행 · 좌 라벨 / 우 내용 2톤 · navy_600</a:t>
            </a:r>
          </a:p>
        </p:txBody>
      </p:sp>
      <p:grpSp>
        <p:nvGrpSpPr>
          <p:cNvPr id="16" name="asset:TBL-171"/>
          <p:cNvGrpSpPr/>
          <p:nvPr/>
        </p:nvGrpSpPr>
        <p:grpSpPr>
          <a:xfrm>
            <a:off x="914400" y="1508760"/>
            <a:ext cx="10360152" cy="2651760"/>
            <a:chOff x="914400" y="1508760"/>
            <a:chExt cx="10360152" cy="2651760"/>
          </a:xfrm>
        </p:grpSpPr>
        <p:sp>
          <p:nvSpPr>
            <p:cNvPr id="4" name="Rounded Rectangle 3"/>
            <p:cNvSpPr/>
            <p:nvPr/>
          </p:nvSpPr>
          <p:spPr>
            <a:xfrm>
              <a:off x="914400" y="1508760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508760"/>
              <a:ext cx="2743200" cy="786384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 지원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840480" y="1563624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7,356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537960" y="1563624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유통 채널 15개국 확장 및 현지화 대응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14400" y="2441448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914400" y="2441448"/>
              <a:ext cx="2743200" cy="786384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 이관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840480" y="2496312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419건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537960" y="2496312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개발과 외부 시스템 연동 안정화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914400" y="3374136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14400" y="3374136"/>
              <a:ext cx="2743200" cy="786384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고객 지원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840480" y="3429000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7,462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537960" y="3429000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 기준 수립 및 결함 조치 프로세스 운영</a:t>
              </a:r>
            </a:p>
          </p:txBody>
        </p:sp>
      </p:grpSp>
      <p:sp>
        <p:nvSpPr>
          <p:cNvPr id="17" name="TextBox 16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TBL-171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농식품 수출 성과 하이라이트 (카드형)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카드행 · 좌 라벨 / 우 내용 2톤 · red_500</a:t>
            </a:r>
          </a:p>
        </p:txBody>
      </p:sp>
      <p:grpSp>
        <p:nvGrpSpPr>
          <p:cNvPr id="20" name="asset:TBL-172"/>
          <p:cNvGrpSpPr/>
          <p:nvPr/>
        </p:nvGrpSpPr>
        <p:grpSpPr>
          <a:xfrm>
            <a:off x="914400" y="1508760"/>
            <a:ext cx="10360152" cy="3584448"/>
            <a:chOff x="914400" y="1508760"/>
            <a:chExt cx="10360152" cy="3584448"/>
          </a:xfrm>
        </p:grpSpPr>
        <p:sp>
          <p:nvSpPr>
            <p:cNvPr id="4" name="Rounded Rectangle 3"/>
            <p:cNvSpPr/>
            <p:nvPr/>
          </p:nvSpPr>
          <p:spPr>
            <a:xfrm>
              <a:off x="914400" y="1508760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508760"/>
              <a:ext cx="2743200" cy="786384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테스트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840480" y="1563624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7,393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537960" y="1563624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개발과 외부 시스템 연동 안정화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14400" y="2441448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914400" y="2441448"/>
              <a:ext cx="2743200" cy="786384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성과 관리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840480" y="2496312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424건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537960" y="2496312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 기준 수립 및 결함 조치 프로세스 운영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914400" y="3374136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14400" y="3374136"/>
              <a:ext cx="2743200" cy="786384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분석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840480" y="3429000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7,499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537960" y="3429000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매뉴얼 정비와 담당자 교육 병행 추진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914400" y="4306824"/>
              <a:ext cx="10360152" cy="786384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914400" y="4306824"/>
              <a:ext cx="2743200" cy="786384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콘텐츠 제작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840480" y="4361688"/>
              <a:ext cx="2651760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458건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537960" y="4361688"/>
              <a:ext cx="4553712" cy="6766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기반 성과 측정 및 개선 과제 도출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TBL-172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