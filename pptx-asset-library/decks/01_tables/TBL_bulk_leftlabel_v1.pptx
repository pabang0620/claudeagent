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친환경 모빌리티 항목별 정리표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좌측 라벨열 강조 · 4열 · navy_800</a:t>
            </a:r>
          </a:p>
        </p:txBody>
      </p:sp>
      <p:graphicFrame>
        <p:nvGraphicFramePr>
          <p:cNvPr id="4" name="asset:TBL-107"/>
          <p:cNvGraphicFramePr>
            <a:graphicFrameLocks noGrp="1"/>
          </p:cNvGraphicFramePr>
          <p:nvPr/>
        </p:nvGraphicFramePr>
        <p:xfrm>
          <a:off x="914400" y="1417320"/>
          <a:ext cx="10360152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/>
                <a:gridCol w="2599944"/>
                <a:gridCol w="2599944"/>
                <a:gridCol w="259994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책임자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기대 효과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 집행 점검과 정산 체계 투명성 확보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67.1%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보안 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 및 범위 확정 후 단계별 실행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80.2%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 홍보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유통 채널 15개국 확장 및 현지화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93.3%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개발과 외부 시스템 연동 안정화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61.4%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농식품 수출 항목별 정리표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좌측 라벨열 강조 · 5열 · blue_500</a:t>
            </a:r>
          </a:p>
        </p:txBody>
      </p:sp>
      <p:graphicFrame>
        <p:nvGraphicFramePr>
          <p:cNvPr id="4" name="asset:TBL-108"/>
          <p:cNvGraphicFramePr>
            <a:graphicFrameLocks noGrp="1"/>
          </p:cNvGraphicFramePr>
          <p:nvPr/>
        </p:nvGraphicFramePr>
        <p:xfrm>
          <a:off x="914400" y="1417320"/>
          <a:ext cx="10360152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/>
                <a:gridCol w="1949958"/>
                <a:gridCol w="1949958"/>
                <a:gridCol w="1949958"/>
                <a:gridCol w="1949958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기대 효과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대응 방안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79.3%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92.4%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고도화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73.6%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문화예술 지원 항목별 정리표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좌측 라벨열 강조 · 6열 · teal_500</a:t>
            </a:r>
          </a:p>
        </p:txBody>
      </p:sp>
      <p:graphicFrame>
        <p:nvGraphicFramePr>
          <p:cNvPr id="4" name="asset:TBL-109"/>
          <p:cNvGraphicFramePr>
            <a:graphicFrameLocks noGrp="1"/>
          </p:cNvGraphicFramePr>
          <p:nvPr/>
        </p:nvGraphicFramePr>
        <p:xfrm>
          <a:off x="914400" y="1417320"/>
          <a:ext cx="1036015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/>
                <a:gridCol w="1559966"/>
                <a:gridCol w="1559966"/>
                <a:gridCol w="1559966"/>
                <a:gridCol w="1559966"/>
                <a:gridCol w="1559966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대응 방안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내용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 부서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91.5%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59.6%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훈련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72.7%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표준화 정립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85.8%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스마트시티 항목별 정리표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좌측 라벨열 강조 · 4열 · purple_600</a:t>
            </a:r>
          </a:p>
        </p:txBody>
      </p:sp>
      <p:graphicFrame>
        <p:nvGraphicFramePr>
          <p:cNvPr id="4" name="asset:TBL-110"/>
          <p:cNvGraphicFramePr>
            <a:graphicFrameLocks noGrp="1"/>
          </p:cNvGraphicFramePr>
          <p:nvPr/>
        </p:nvGraphicFramePr>
        <p:xfrm>
          <a:off x="914400" y="1417320"/>
          <a:ext cx="10360152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/>
                <a:gridCol w="2599944"/>
                <a:gridCol w="2599944"/>
                <a:gridCol w="259994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대응 방안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내용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보안 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개발과 외부 시스템 연동 안정화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88.4%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 홍보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기준 수립 및 결함 조치 프로세스 운영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56.5%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매뉴얼 정비와 담당자 교육 병행 추진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69.6%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확장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기반 성과 측정 및 개선 과제 도출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82.7%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이해관계자 협의체 운영으로 리스크 선제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95.8%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바이오 소재 항목별 정리표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좌측 라벨열 강조 · 5열 · navy_600</a:t>
            </a:r>
          </a:p>
        </p:txBody>
      </p:sp>
      <p:graphicFrame>
        <p:nvGraphicFramePr>
          <p:cNvPr id="4" name="asset:TBL-111"/>
          <p:cNvGraphicFramePr>
            <a:graphicFrameLocks noGrp="1"/>
          </p:cNvGraphicFramePr>
          <p:nvPr/>
        </p:nvGraphicFramePr>
        <p:xfrm>
          <a:off x="914400" y="1417320"/>
          <a:ext cx="10360152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/>
                <a:gridCol w="1949958"/>
                <a:gridCol w="1949958"/>
                <a:gridCol w="1949958"/>
                <a:gridCol w="1949958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대응 방안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내용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 부서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일정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55.6%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68.7%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고도화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81.8%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 다각화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94.9%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62.0%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콘텐츠 해외진출 항목별 정리표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좌측 라벨열 강조 · 6열 · red_500</a:t>
            </a:r>
          </a:p>
        </p:txBody>
      </p:sp>
      <p:graphicFrame>
        <p:nvGraphicFramePr>
          <p:cNvPr id="4" name="asset:TBL-112"/>
          <p:cNvGraphicFramePr>
            <a:graphicFrameLocks noGrp="1"/>
          </p:cNvGraphicFramePr>
          <p:nvPr/>
        </p:nvGraphicFramePr>
        <p:xfrm>
          <a:off x="914400" y="1417320"/>
          <a:ext cx="1036015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/>
                <a:gridCol w="1559966"/>
                <a:gridCol w="1559966"/>
                <a:gridCol w="1559966"/>
                <a:gridCol w="1559966"/>
                <a:gridCol w="1559966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범주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내용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 부서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일정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67.8%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훈련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80.9%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표준화 정립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93.0%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61.1%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74.2%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스마트 물류 항목별 정리표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좌측 라벨열 강조 · 4열 · navy_800</a:t>
            </a:r>
          </a:p>
        </p:txBody>
      </p:sp>
      <p:graphicFrame>
        <p:nvGraphicFramePr>
          <p:cNvPr id="4" name="asset:TBL-113"/>
          <p:cNvGraphicFramePr>
            <a:graphicFrameLocks noGrp="1"/>
          </p:cNvGraphicFramePr>
          <p:nvPr/>
        </p:nvGraphicFramePr>
        <p:xfrm>
          <a:off x="914400" y="1417320"/>
          <a:ext cx="10360152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/>
                <a:gridCol w="2599944"/>
                <a:gridCol w="2599944"/>
                <a:gridCol w="259994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 부서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일정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 홍보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기반 성과 측정 및 개선 과제 도출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64.7%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이해관계자 협의체 운영으로 리스크 선제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77.8%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확장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 프로세스 정립과 자동화 도입으로 효율화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90.9%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인지도 제고 및 신규 파트너 발굴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58.0%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AI 통합 플랫폼 항목별 정리표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좌측 라벨열 강조 · 5열 · blue_500</a:t>
            </a:r>
          </a:p>
        </p:txBody>
      </p:sp>
      <p:graphicFrame>
        <p:nvGraphicFramePr>
          <p:cNvPr id="4" name="asset:TBL-114"/>
          <p:cNvGraphicFramePr>
            <a:graphicFrameLocks noGrp="1"/>
          </p:cNvGraphicFramePr>
          <p:nvPr/>
        </p:nvGraphicFramePr>
        <p:xfrm>
          <a:off x="914400" y="1417320"/>
          <a:ext cx="10360152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/>
                <a:gridCol w="1949958"/>
                <a:gridCol w="1949958"/>
                <a:gridCol w="1949958"/>
                <a:gridCol w="1949958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일정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76.9%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고도화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89.0%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 다각화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57.1%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70.2%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지역 관광 활성화 항목별 정리표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좌측 라벨열 강조 · 6열 · teal_500</a:t>
            </a:r>
          </a:p>
        </p:txBody>
      </p:sp>
      <p:graphicFrame>
        <p:nvGraphicFramePr>
          <p:cNvPr id="4" name="asset:TBL-115"/>
          <p:cNvGraphicFramePr>
            <a:graphicFrameLocks noGrp="1"/>
          </p:cNvGraphicFramePr>
          <p:nvPr/>
        </p:nvGraphicFramePr>
        <p:xfrm>
          <a:off x="914400" y="1417320"/>
          <a:ext cx="1036015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/>
                <a:gridCol w="1559966"/>
                <a:gridCol w="1559966"/>
                <a:gridCol w="1559966"/>
                <a:gridCol w="1559966"/>
                <a:gridCol w="1559966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영역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우선순위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훈련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표준화 정립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56.2%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69.3%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82.4%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디지털 헬스케어 항목별 정리표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좌측 라벨열 강조 · 4열 · purple_600</a:t>
            </a:r>
          </a:p>
        </p:txBody>
      </p:sp>
      <p:graphicFrame>
        <p:nvGraphicFramePr>
          <p:cNvPr id="4" name="asset:TBL-116"/>
          <p:cNvGraphicFramePr>
            <a:graphicFrameLocks noGrp="1"/>
          </p:cNvGraphicFramePr>
          <p:nvPr/>
        </p:nvGraphicFramePr>
        <p:xfrm>
          <a:off x="914400" y="1417320"/>
          <a:ext cx="10360152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/>
                <a:gridCol w="2599944"/>
                <a:gridCol w="2599944"/>
                <a:gridCol w="259994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과업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인지도 제고 및 신규 파트너 발굴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85.0%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확장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 집행 점검과 정산 체계 투명성 확보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98.1%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 및 범위 확정 후 단계별 실행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66.2%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정보구조 설계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유통 채널 15개국 확장 및 현지화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79.3%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테스트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개발과 외부 시스템 연동 안정화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92.4%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그린 에너지 항목별 정리표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좌측 라벨열 강조 · 5열 · navy_600</a:t>
            </a:r>
          </a:p>
        </p:txBody>
      </p:sp>
      <p:graphicFrame>
        <p:nvGraphicFramePr>
          <p:cNvPr id="4" name="asset:TBL-117"/>
          <p:cNvGraphicFramePr>
            <a:graphicFrameLocks noGrp="1"/>
          </p:cNvGraphicFramePr>
          <p:nvPr/>
        </p:nvGraphicFramePr>
        <p:xfrm>
          <a:off x="914400" y="1417320"/>
          <a:ext cx="10360152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/>
                <a:gridCol w="1949958"/>
                <a:gridCol w="1949958"/>
                <a:gridCol w="1949958"/>
                <a:gridCol w="1949958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추진 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우선순위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 상태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고도화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97.2%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 다각화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65.3%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78.4%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91.5%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검증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224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59.6%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핀테크 서비스 항목별 정리표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좌측 라벨열 강조 · 6열 · red_500</a:t>
            </a:r>
          </a:p>
        </p:txBody>
      </p:sp>
      <p:graphicFrame>
        <p:nvGraphicFramePr>
          <p:cNvPr id="4" name="asset:TBL-118"/>
          <p:cNvGraphicFramePr>
            <a:graphicFrameLocks noGrp="1"/>
          </p:cNvGraphicFramePr>
          <p:nvPr/>
        </p:nvGraphicFramePr>
        <p:xfrm>
          <a:off x="914400" y="1417320"/>
          <a:ext cx="1036015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/>
                <a:gridCol w="1559966"/>
                <a:gridCol w="1559966"/>
                <a:gridCol w="1559966"/>
                <a:gridCol w="1559966"/>
                <a:gridCol w="1559966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부문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우선순위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진행 상태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책임자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표준화 정립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64.4%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77.5%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90.6%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226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58.7%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이관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222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229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71.8%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