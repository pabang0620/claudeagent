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친환경 모빌리티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4열 · navy_800</a:t>
            </a:r>
          </a:p>
        </p:txBody>
      </p:sp>
      <p:graphicFrame>
        <p:nvGraphicFramePr>
          <p:cNvPr id="4" name="asset:TBL-107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0320"/>
                <a:gridCol w="2599944"/>
                <a:gridCol w="2599944"/>
                <a:gridCol w="259994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93.3%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61.4%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농식품 수출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5열 · blue_500</a:t>
            </a:r>
          </a:p>
        </p:txBody>
      </p:sp>
      <p:graphicFrame>
        <p:nvGraphicFramePr>
          <p:cNvPr id="4" name="asset:TBL-108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0320"/>
                <a:gridCol w="1949958"/>
                <a:gridCol w="1949958"/>
                <a:gridCol w="1949958"/>
                <a:gridCol w="194995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79.3%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문화예술 지원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6열 · teal_500</a:t>
            </a:r>
          </a:p>
        </p:txBody>
      </p:sp>
      <p:graphicFrame>
        <p:nvGraphicFramePr>
          <p:cNvPr id="4" name="asset:TBL-109"/>
          <p:cNvGraphicFramePr>
            <a:graphicFrameLocks noGrp="1"/>
          </p:cNvGraphicFramePr>
          <p:nvPr/>
        </p:nvGraphicFramePr>
        <p:xfrm>
          <a:off x="914400" y="1417320"/>
          <a:ext cx="10360150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0320"/>
                <a:gridCol w="1559966"/>
                <a:gridCol w="1559966"/>
                <a:gridCol w="1559966"/>
                <a:gridCol w="1559966"/>
                <a:gridCol w="155996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59.6%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스마트시티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4열 · purple_600</a:t>
            </a:r>
          </a:p>
        </p:txBody>
      </p:sp>
      <p:graphicFrame>
        <p:nvGraphicFramePr>
          <p:cNvPr id="4" name="asset:TBL-110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0320"/>
                <a:gridCol w="2599944"/>
                <a:gridCol w="2599944"/>
                <a:gridCol w="259994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95.8%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바이오 소재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5열 · navy_600</a:t>
            </a:r>
          </a:p>
        </p:txBody>
      </p:sp>
      <p:graphicFrame>
        <p:nvGraphicFramePr>
          <p:cNvPr id="4" name="asset:TBL-111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0320"/>
                <a:gridCol w="1949958"/>
                <a:gridCol w="1949958"/>
                <a:gridCol w="1949958"/>
                <a:gridCol w="194995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55.6%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68.7%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81.8%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94.9%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62.0%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콘텐츠 해외진출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6열 · red_500</a:t>
            </a:r>
          </a:p>
        </p:txBody>
      </p:sp>
      <p:graphicFrame>
        <p:nvGraphicFramePr>
          <p:cNvPr id="4" name="asset:TBL-112"/>
          <p:cNvGraphicFramePr>
            <a:graphicFrameLocks noGrp="1"/>
          </p:cNvGraphicFramePr>
          <p:nvPr/>
        </p:nvGraphicFramePr>
        <p:xfrm>
          <a:off x="914400" y="1417320"/>
          <a:ext cx="10360150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0320"/>
                <a:gridCol w="1559966"/>
                <a:gridCol w="1559966"/>
                <a:gridCol w="1559966"/>
                <a:gridCol w="1559966"/>
                <a:gridCol w="155996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범주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93.0%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61.1%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74.2%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 물류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4열 · navy_800</a:t>
            </a:r>
          </a:p>
        </p:txBody>
      </p:sp>
      <p:graphicFrame>
        <p:nvGraphicFramePr>
          <p:cNvPr id="4" name="asset:TBL-113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0320"/>
                <a:gridCol w="2599944"/>
                <a:gridCol w="2599944"/>
                <a:gridCol w="259994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64.7%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AI 통합 플랫폼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5열 · blue_500</a:t>
            </a:r>
          </a:p>
        </p:txBody>
      </p:sp>
      <p:graphicFrame>
        <p:nvGraphicFramePr>
          <p:cNvPr id="4" name="asset:TBL-114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0320"/>
                <a:gridCol w="1949958"/>
                <a:gridCol w="1949958"/>
                <a:gridCol w="1949958"/>
                <a:gridCol w="194995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57.1%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지역 관광 활성화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6열 · teal_500</a:t>
            </a:r>
          </a:p>
        </p:txBody>
      </p:sp>
      <p:graphicFrame>
        <p:nvGraphicFramePr>
          <p:cNvPr id="4" name="asset:TBL-115"/>
          <p:cNvGraphicFramePr>
            <a:graphicFrameLocks noGrp="1"/>
          </p:cNvGraphicFramePr>
          <p:nvPr/>
        </p:nvGraphicFramePr>
        <p:xfrm>
          <a:off x="914400" y="1417320"/>
          <a:ext cx="10360150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0320"/>
                <a:gridCol w="1559966"/>
                <a:gridCol w="1559966"/>
                <a:gridCol w="1559966"/>
                <a:gridCol w="1559966"/>
                <a:gridCol w="155996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영역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디지털 헬스케어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4열 · purple_600</a:t>
            </a:r>
          </a:p>
        </p:txBody>
      </p:sp>
      <p:graphicFrame>
        <p:nvGraphicFramePr>
          <p:cNvPr id="4" name="asset:TBL-116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0320"/>
                <a:gridCol w="2599944"/>
                <a:gridCol w="2599944"/>
                <a:gridCol w="259994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과업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98.1%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79.3%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그린 에너지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5열 · navy_600</a:t>
            </a:r>
          </a:p>
        </p:txBody>
      </p:sp>
      <p:graphicFrame>
        <p:nvGraphicFramePr>
          <p:cNvPr id="4" name="asset:TBL-117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0320"/>
                <a:gridCol w="1949958"/>
                <a:gridCol w="1949958"/>
                <a:gridCol w="1949958"/>
                <a:gridCol w="194995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97.2%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65.3%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59.6%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핀테크 서비스 항목별 정리표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좌측 라벨열 강조 · 6열 · red_500</a:t>
            </a:r>
          </a:p>
        </p:txBody>
      </p:sp>
      <p:graphicFrame>
        <p:nvGraphicFramePr>
          <p:cNvPr id="4" name="asset:TBL-118"/>
          <p:cNvGraphicFramePr>
            <a:graphicFrameLocks noGrp="1"/>
          </p:cNvGraphicFramePr>
          <p:nvPr/>
        </p:nvGraphicFramePr>
        <p:xfrm>
          <a:off x="914400" y="1417320"/>
          <a:ext cx="10360150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0320"/>
                <a:gridCol w="1559966"/>
                <a:gridCol w="1559966"/>
                <a:gridCol w="1559966"/>
                <a:gridCol w="1559966"/>
                <a:gridCol w="155996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64.4%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