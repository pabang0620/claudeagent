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3열 × 4행</a:t>
            </a:r>
          </a:p>
        </p:txBody>
      </p:sp>
      <p:graphicFrame>
        <p:nvGraphicFramePr>
          <p:cNvPr id="4" name="asset:TBL-04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3열 × 6행</a:t>
            </a:r>
          </a:p>
        </p:txBody>
      </p:sp>
      <p:graphicFrame>
        <p:nvGraphicFramePr>
          <p:cNvPr id="4" name="asset:TBL-04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매뉴얼 정비와 담당자 교육 병행 추진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74.6%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4열 × 4행</a:t>
            </a:r>
          </a:p>
        </p:txBody>
      </p:sp>
      <p:graphicFrame>
        <p:nvGraphicFramePr>
          <p:cNvPr id="4" name="asset:TBL-049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4열 × 6행</a:t>
            </a:r>
          </a:p>
        </p:txBody>
      </p:sp>
      <p:graphicFrame>
        <p:nvGraphicFramePr>
          <p:cNvPr id="4" name="asset:TBL-050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5열 × 4행</a:t>
            </a:r>
          </a:p>
        </p:txBody>
      </p:sp>
      <p:graphicFrame>
        <p:nvGraphicFramePr>
          <p:cNvPr id="4" name="asset:TBL-051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5열 × 6행</a:t>
            </a:r>
          </a:p>
        </p:txBody>
      </p:sp>
      <p:graphicFrame>
        <p:nvGraphicFramePr>
          <p:cNvPr id="4" name="asset:TBL-052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정보구조 설계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6열 × 4행</a:t>
            </a:r>
          </a:p>
        </p:txBody>
      </p:sp>
      <p:graphicFrame>
        <p:nvGraphicFramePr>
          <p:cNvPr id="4" name="asset:TBL-053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98.2%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6열 × 6행</a:t>
            </a:r>
          </a:p>
        </p:txBody>
      </p:sp>
      <p:graphicFrame>
        <p:nvGraphicFramePr>
          <p:cNvPr id="4" name="asset:TBL-054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현지화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66.0%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92.2%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60.3%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73.4%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에듀테크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3열 × 4행</a:t>
            </a:r>
          </a:p>
        </p:txBody>
      </p:sp>
      <p:graphicFrame>
        <p:nvGraphicFramePr>
          <p:cNvPr id="4" name="asset:TBL-055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제조 디지털전환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3열 × 6행</a:t>
            </a:r>
          </a:p>
        </p:txBody>
      </p:sp>
      <p:graphicFrame>
        <p:nvGraphicFramePr>
          <p:cNvPr id="4" name="asset:TBL-05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검증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개발과 외부 시스템 연동 안정화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72.3%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품질 기준 수립 및 결함 조치 프로세스 운영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85.4%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4열 × 4행</a:t>
            </a:r>
          </a:p>
        </p:txBody>
      </p:sp>
      <p:graphicFrame>
        <p:nvGraphicFramePr>
          <p:cNvPr id="4" name="asset:TBL-057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운영 이관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4열 × 6행</a:t>
            </a:r>
          </a:p>
        </p:txBody>
      </p:sp>
      <p:graphicFrame>
        <p:nvGraphicFramePr>
          <p:cNvPr id="4" name="asset:TBL-058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성과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59.7%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5열 × 4행</a:t>
            </a:r>
          </a:p>
        </p:txBody>
      </p:sp>
      <p:graphicFrame>
        <p:nvGraphicFramePr>
          <p:cNvPr id="4" name="asset:TBL-059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범주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위험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TBL-059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5열 × 6행</a:t>
            </a:r>
          </a:p>
        </p:txBody>
      </p:sp>
      <p:graphicFrame>
        <p:nvGraphicFramePr>
          <p:cNvPr id="4" name="asset:TBL-060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일정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지원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65.9%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78.0%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6열 × 4행</a:t>
            </a:r>
          </a:p>
        </p:txBody>
      </p:sp>
      <p:graphicFrame>
        <p:nvGraphicFramePr>
          <p:cNvPr id="4" name="asset:TBL-061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항목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산출물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64.0%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6열 × 6행</a:t>
            </a:r>
          </a:p>
        </p:txBody>
      </p:sp>
      <p:graphicFrame>
        <p:nvGraphicFramePr>
          <p:cNvPr id="4" name="asset:TBL-062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영역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목표치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보안 점검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77.8%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90.9%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58.0%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71.1%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84.2%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97.3%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3열 × 4행</a:t>
            </a:r>
          </a:p>
        </p:txBody>
      </p:sp>
      <p:graphicFrame>
        <p:nvGraphicFramePr>
          <p:cNvPr id="4" name="asset:TBL-063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과업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추진 실적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인프라 구축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데이터 기반 성과 측정 및 개선 과제 도출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3열 × 6행</a:t>
            </a:r>
          </a:p>
        </p:txBody>
      </p:sp>
      <p:graphicFrame>
        <p:nvGraphicFramePr>
          <p:cNvPr id="4" name="asset:TBL-064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3991356"/>
                <a:gridCol w="3991356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가중치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콘텐츠 제작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이해관계자 협의체 운영으로 리스크 선제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 프로세스 정립과 자동화 도입으로 효율화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인지도 제고 및 신규 파트너 발굴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예산 집행 점검과 정산 체계 투명성 확보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정의 및 범위 확정 후 단계별 실행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유통 채널 15개국 확장 및 현지화 대응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헤더(navy_800) · 4열 × 4행</a:t>
            </a:r>
          </a:p>
        </p:txBody>
      </p:sp>
      <p:graphicFrame>
        <p:nvGraphicFramePr>
          <p:cNvPr id="4" name="asset:TBL-065"/>
          <p:cNvGraphicFramePr>
            <a:graphicFrameLocks noGrp="1"/>
          </p:cNvGraphicFramePr>
          <p:nvPr/>
        </p:nvGraphicFramePr>
        <p:xfrm>
          <a:off x="914400" y="1417320"/>
          <a:ext cx="10360152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부문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우선순위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홍보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헤더(blue_500) · 4열 × 6행</a:t>
            </a:r>
          </a:p>
        </p:txBody>
      </p:sp>
      <p:graphicFrame>
        <p:nvGraphicFramePr>
          <p:cNvPr id="4" name="asset:TBL-066"/>
          <p:cNvGraphicFramePr>
            <a:graphicFrameLocks noGrp="1"/>
          </p:cNvGraphicFramePr>
          <p:nvPr/>
        </p:nvGraphicFramePr>
        <p:xfrm>
          <a:off x="914400" y="1417320"/>
          <a:ext cx="10360152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660904"/>
                <a:gridCol w="2660904"/>
                <a:gridCol w="266090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단계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진행 상태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E75D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파트너 협력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57.4%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70.5%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지역 관광 활성화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헤더(teal_500) · 5열 × 4행</a:t>
            </a:r>
          </a:p>
        </p:txBody>
      </p:sp>
      <p:graphicFrame>
        <p:nvGraphicFramePr>
          <p:cNvPr id="4" name="asset:TBL-067"/>
          <p:cNvGraphicFramePr>
            <a:graphicFrameLocks noGrp="1"/>
          </p:cNvGraphicFramePr>
          <p:nvPr/>
        </p:nvGraphicFramePr>
        <p:xfrm>
          <a:off x="914400" y="1417320"/>
          <a:ext cx="10360148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분류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비고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1F9E8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교육 훈련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62.2%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디지털 헬스케어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헤더(purple_600) · 5열 × 6행</a:t>
            </a:r>
          </a:p>
        </p:txBody>
      </p:sp>
      <p:graphicFrame>
        <p:nvGraphicFramePr>
          <p:cNvPr id="4" name="asset:TBL-068"/>
          <p:cNvGraphicFramePr>
            <a:graphicFrameLocks noGrp="1"/>
          </p:cNvGraphicFramePr>
          <p:nvPr/>
        </p:nvGraphicFramePr>
        <p:xfrm>
          <a:off x="914400" y="1417320"/>
          <a:ext cx="10360148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87117"/>
                <a:gridCol w="2087117"/>
                <a:gridCol w="2087117"/>
                <a:gridCol w="2087117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요소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책임자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7B2D8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유지보수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69.3%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82.4%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그린 에너지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헤더(navy_600) · 6열 × 4행</a:t>
            </a:r>
          </a:p>
        </p:txBody>
      </p:sp>
      <p:graphicFrame>
        <p:nvGraphicFramePr>
          <p:cNvPr id="4" name="asset:TBL-069"/>
          <p:cNvGraphicFramePr>
            <a:graphicFrameLocks noGrp="1"/>
          </p:cNvGraphicFramePr>
          <p:nvPr/>
        </p:nvGraphicFramePr>
        <p:xfrm>
          <a:off x="914400" y="1417320"/>
          <a:ext cx="1036015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기준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기대 효과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2A4A7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서비스 고도화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389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81.5%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글로벌 확장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94.6%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강화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62.7%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사업 기획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447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75.8%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핀테크 서비스 추진 현황표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줄무늬 헤더(red_500) · 6열 × 6행</a:t>
            </a:r>
          </a:p>
        </p:txBody>
      </p:sp>
      <p:graphicFrame>
        <p:nvGraphicFramePr>
          <p:cNvPr id="4" name="asset:TBL-070"/>
          <p:cNvGraphicFramePr>
            <a:graphicFrameLocks noGrp="1"/>
          </p:cNvGraphicFramePr>
          <p:nvPr/>
        </p:nvGraphicFramePr>
        <p:xfrm>
          <a:off x="914400" y="1417320"/>
          <a:ext cx="1036015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669694"/>
                <a:gridCol w="1669694"/>
                <a:gridCol w="1669694"/>
                <a:gridCol w="1669694"/>
                <a:gridCol w="1669694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대상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지표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리스크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대응 방안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주요 내용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담당 부서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C0392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표준화 정립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394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408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88.6%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채널 다각화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411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418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56.7%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재무 관리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428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69.8%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요구사항 분석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445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459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82.9%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기능 개발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462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469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95.0%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통합 테스트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479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486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493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20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63.1%</a:t>
                      </a:r>
                    </a:p>
                  </a:txBody>
                  <a:tcPr anchor="ctr" marL="63500" marR="63500" marT="25400" marB="25400">
                    <a:lnL w="9525" cap="flat">
                      <a:solidFill>
                        <a:srgbClr val="D9D9D9"/>
                      </a:solidFill>
                    </a:lnL>
                    <a:lnR w="9525" cap="flat">
                      <a:solidFill>
                        <a:srgbClr val="D9D9D9"/>
                      </a:solidFill>
                    </a:lnR>
                    <a:lnT w="9525" cap="flat">
                      <a:solidFill>
                        <a:srgbClr val="D9D9D9"/>
                      </a:solidFill>
                    </a:lnT>
                    <a:lnB w="9525" cap="flat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TBL-070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