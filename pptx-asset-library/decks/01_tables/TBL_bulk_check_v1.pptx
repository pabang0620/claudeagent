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바이오 소재 점검 체크표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체크 글리프(✓/△/✗) · 4열 · navy_800</a:t>
            </a:r>
          </a:p>
        </p:txBody>
      </p:sp>
      <p:graphicFrame>
        <p:nvGraphicFramePr>
          <p:cNvPr id="4" name="asset:TBL-143"/>
          <p:cNvGraphicFramePr>
            <a:graphicFrameLocks noGrp="1"/>
          </p:cNvGraphicFramePr>
          <p:nvPr/>
        </p:nvGraphicFramePr>
        <p:xfrm>
          <a:off x="914400" y="1417320"/>
          <a:ext cx="10360152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840480"/>
                <a:gridCol w="2173224"/>
                <a:gridCol w="2173224"/>
                <a:gridCol w="2173224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항목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대응 방안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주요 내용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점검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재무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기반 성과 측정 및 개선 과제 도출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전략기획실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정보구조 설계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이해관계자 협의체 운영으로 리스크 선제 대응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운영지원팀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통합 테스트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 프로세스 정립과 자동화 도입으로 효율화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데이터분석팀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성과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인지도 제고 및 신규 파트너 발굴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마케팅팀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TBL-143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콘텐츠 해외진출 점검 체크표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체크 글리프(✓/△/✗) · 5열 · blue_500</a:t>
            </a:r>
          </a:p>
        </p:txBody>
      </p:sp>
      <p:graphicFrame>
        <p:nvGraphicFramePr>
          <p:cNvPr id="4" name="asset:TBL-144"/>
          <p:cNvGraphicFramePr>
            <a:graphicFrameLocks noGrp="1"/>
          </p:cNvGraphicFramePr>
          <p:nvPr/>
        </p:nvGraphicFramePr>
        <p:xfrm>
          <a:off x="914400" y="1417320"/>
          <a:ext cx="10360152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840480"/>
                <a:gridCol w="1629918"/>
                <a:gridCol w="1629918"/>
                <a:gridCol w="1629918"/>
                <a:gridCol w="1629918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영역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주요 내용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담당 부서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추진 일정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점검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 기획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이해관계자 협의체 운영으로 리스크 선제 대응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운영지원팀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데이터분석팀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기능 개발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 프로세스 정립과 자동화 도입으로 효율화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데이터분석팀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마케팅팀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검증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인지도 제고 및 신규 파트너 발굴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마케팅팀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사업기획팀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위험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예산 집행 점검과 정산 체계 투명성 확보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사업기획팀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PMO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TBL-144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스마트 물류 점검 체크표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체크 글리프(✓/△/✗) · 4열 · teal_500</a:t>
            </a:r>
          </a:p>
        </p:txBody>
      </p:sp>
      <p:graphicFrame>
        <p:nvGraphicFramePr>
          <p:cNvPr id="4" name="asset:TBL-145"/>
          <p:cNvGraphicFramePr>
            <a:graphicFrameLocks noGrp="1"/>
          </p:cNvGraphicFramePr>
          <p:nvPr/>
        </p:nvGraphicFramePr>
        <p:xfrm>
          <a:off x="914400" y="1417320"/>
          <a:ext cx="10360152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840480"/>
                <a:gridCol w="2173224"/>
                <a:gridCol w="2173224"/>
                <a:gridCol w="2173224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과업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담당 부서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추진 일정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점검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분석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 프로세스 정립과 자동화 도입으로 효율화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데이터분석팀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현지화 지원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인지도 제고 및 신규 파트너 발굴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마케팅팀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이관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예산 집행 점검과 정산 체계 투명성 확보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사업기획팀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 지원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정의 및 범위 확정 후 단계별 실행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PMO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인프라 구축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유통 채널 15개국 확장 및 현지화 대응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개발팀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TBL-145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AI 통합 플랫폼 점검 체크표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체크 글리프(✓/△/✗) · 5열 · purple_600</a:t>
            </a:r>
          </a:p>
        </p:txBody>
      </p:sp>
      <p:graphicFrame>
        <p:nvGraphicFramePr>
          <p:cNvPr id="4" name="asset:TBL-146"/>
          <p:cNvGraphicFramePr>
            <a:graphicFrameLocks noGrp="1"/>
          </p:cNvGraphicFramePr>
          <p:nvPr/>
        </p:nvGraphicFramePr>
        <p:xfrm>
          <a:off x="914400" y="1417320"/>
          <a:ext cx="10360152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840480"/>
                <a:gridCol w="1629918"/>
                <a:gridCol w="1629918"/>
                <a:gridCol w="1629918"/>
                <a:gridCol w="1629918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추진 일정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목표치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점검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정보구조 설계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인지도 제고 및 신규 파트너 발굴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마케팅팀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사업기획팀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통합 테스트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예산 집행 점검과 정산 체계 투명성 확보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사업기획팀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PMO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성과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정의 및 범위 확정 후 단계별 실행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PMO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개발팀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분석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유통 채널 15개국 확장 및 현지화 대응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개발팀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디자인팀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콘텐츠 제작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기능 개발과 외부 시스템 연동 안정화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디자인팀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해외사업팀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TBL-146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지역 관광 활성화 점검 체크표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체크 글리프(✓/△/✗) · 4열 · navy_600</a:t>
            </a:r>
          </a:p>
        </p:txBody>
      </p:sp>
      <p:graphicFrame>
        <p:nvGraphicFramePr>
          <p:cNvPr id="4" name="asset:TBL-147"/>
          <p:cNvGraphicFramePr>
            <a:graphicFrameLocks noGrp="1"/>
          </p:cNvGraphicFramePr>
          <p:nvPr/>
        </p:nvGraphicFramePr>
        <p:xfrm>
          <a:off x="914400" y="1417320"/>
          <a:ext cx="10360152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840480"/>
                <a:gridCol w="2173224"/>
                <a:gridCol w="2173224"/>
                <a:gridCol w="2173224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부문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목표치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점검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기능 개발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예산 집행 점검과 정산 체계 투명성 확보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사업기획팀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검증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정의 및 범위 확정 후 단계별 실행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PMO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위험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유통 채널 15개국 확장 및 현지화 대응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개발팀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보안 점검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기능 개발과 외부 시스템 연동 안정화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디자인팀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TBL-147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디지털 헬스케어 점검 체크표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체크 글리프(✓/△/✗) · 5열 · red_500</a:t>
            </a:r>
          </a:p>
        </p:txBody>
      </p:sp>
      <p:graphicFrame>
        <p:nvGraphicFramePr>
          <p:cNvPr id="4" name="asset:TBL-148"/>
          <p:cNvGraphicFramePr>
            <a:graphicFrameLocks noGrp="1"/>
          </p:cNvGraphicFramePr>
          <p:nvPr/>
        </p:nvGraphicFramePr>
        <p:xfrm>
          <a:off x="914400" y="1417320"/>
          <a:ext cx="10360152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840480"/>
                <a:gridCol w="1629918"/>
                <a:gridCol w="1629918"/>
                <a:gridCol w="1629918"/>
                <a:gridCol w="1629918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단계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목표치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추진 실적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가중치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점검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현지화 지원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정의 및 범위 확정 후 단계별 실행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PMO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개발팀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이관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유통 채널 15개국 확장 및 현지화 대응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개발팀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디자인팀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 지원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기능 개발과 외부 시스템 연동 안정화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디자인팀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해외사업팀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인프라 구축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기준 수립 및 결함 조치 프로세스 운영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해외사업팀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QA팀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TBL-148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그린 에너지 점검 체크표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체크 글리프(✓/△/✗) · 4열 · navy_800</a:t>
            </a:r>
          </a:p>
        </p:txBody>
      </p:sp>
      <p:graphicFrame>
        <p:nvGraphicFramePr>
          <p:cNvPr id="4" name="asset:TBL-149"/>
          <p:cNvGraphicFramePr>
            <a:graphicFrameLocks noGrp="1"/>
          </p:cNvGraphicFramePr>
          <p:nvPr/>
        </p:nvGraphicFramePr>
        <p:xfrm>
          <a:off x="914400" y="1417320"/>
          <a:ext cx="10360152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840480"/>
                <a:gridCol w="2173224"/>
                <a:gridCol w="2173224"/>
                <a:gridCol w="2173224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분류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추진 실적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가중치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점검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통합 테스트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유통 채널 15개국 확장 및 현지화 대응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개발팀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성과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기능 개발과 외부 시스템 연동 안정화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디자인팀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분석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기준 수립 및 결함 조치 프로세스 운영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해외사업팀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콘텐츠 제작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매뉴얼 정비와 담당자 교육 병행 추진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QA팀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교육 훈련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기반 성과 측정 및 개선 과제 도출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전략기획실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TBL-149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핀테크 서비스 점검 체크표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체크 글리프(✓/△/✗) · 5열 · blue_500</a:t>
            </a:r>
          </a:p>
        </p:txBody>
      </p:sp>
      <p:graphicFrame>
        <p:nvGraphicFramePr>
          <p:cNvPr id="4" name="asset:TBL-150"/>
          <p:cNvGraphicFramePr>
            <a:graphicFrameLocks noGrp="1"/>
          </p:cNvGraphicFramePr>
          <p:nvPr/>
        </p:nvGraphicFramePr>
        <p:xfrm>
          <a:off x="914400" y="1417320"/>
          <a:ext cx="10360152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840480"/>
                <a:gridCol w="1629918"/>
                <a:gridCol w="1629918"/>
                <a:gridCol w="1629918"/>
                <a:gridCol w="1629918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요소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가중치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우선순위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진행 상태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점검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검증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기능 개발과 외부 시스템 연동 안정화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디자인팀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해외사업팀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위험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기준 수립 및 결함 조치 프로세스 운영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해외사업팀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QA팀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보안 점검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매뉴얼 정비와 담당자 교육 병행 추진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QA팀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전략기획실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마케팅 홍보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기반 성과 측정 및 개선 과제 도출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전략기획실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운영지원팀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유지보수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이해관계자 협의체 운영으로 리스크 선제 대응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운영지원팀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데이터분석팀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TBL-150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에듀테크 플랫폼 점검 체크표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체크 글리프(✓/△/✗) · 4열 · teal_500</a:t>
            </a:r>
          </a:p>
        </p:txBody>
      </p:sp>
      <p:graphicFrame>
        <p:nvGraphicFramePr>
          <p:cNvPr id="4" name="asset:TBL-151"/>
          <p:cNvGraphicFramePr>
            <a:graphicFrameLocks noGrp="1"/>
          </p:cNvGraphicFramePr>
          <p:nvPr/>
        </p:nvGraphicFramePr>
        <p:xfrm>
          <a:off x="914400" y="1417320"/>
          <a:ext cx="10360152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840480"/>
                <a:gridCol w="2173224"/>
                <a:gridCol w="2173224"/>
                <a:gridCol w="2173224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우선순위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진행 상태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점검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이관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기준 수립 및 결함 조치 프로세스 운영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해외사업팀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 지원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매뉴얼 정비와 담당자 교육 병행 추진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QA팀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인프라 구축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기반 성과 측정 및 개선 과제 도출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전략기획실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파트너 협력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이해관계자 협의체 운영으로 리스크 선제 대응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운영지원팀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TBL-151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제조 디지털전환 점검 체크표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체크 글리프(✓/△/✗) · 5열 · purple_600</a:t>
            </a:r>
          </a:p>
        </p:txBody>
      </p:sp>
      <p:graphicFrame>
        <p:nvGraphicFramePr>
          <p:cNvPr id="4" name="asset:TBL-152"/>
          <p:cNvGraphicFramePr>
            <a:graphicFrameLocks noGrp="1"/>
          </p:cNvGraphicFramePr>
          <p:nvPr/>
        </p:nvGraphicFramePr>
        <p:xfrm>
          <a:off x="914400" y="1417320"/>
          <a:ext cx="10360152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840480"/>
                <a:gridCol w="1629918"/>
                <a:gridCol w="1629918"/>
                <a:gridCol w="1629918"/>
                <a:gridCol w="1629918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진행 상태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비고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책임자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점검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성과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매뉴얼 정비와 담당자 교육 병행 추진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QA팀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전략기획실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분석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기반 성과 측정 및 개선 과제 도출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전략기획실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운영지원팀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콘텐츠 제작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이해관계자 협의체 운영으로 리스크 선제 대응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운영지원팀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데이터분석팀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교육 훈련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 프로세스 정립과 자동화 도입으로 효율화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데이터분석팀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마케팅팀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TBL-152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