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문화예술 지원 사업비 집행표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예산·집행·잔액·집행률 · 합계 강조 · navy_800</a:t>
            </a:r>
          </a:p>
        </p:txBody>
      </p:sp>
      <p:graphicFrame>
        <p:nvGraphicFramePr>
          <p:cNvPr id="4" name="asset:TBL-173"/>
          <p:cNvGraphicFramePr>
            <a:graphicFrameLocks noGrp="1"/>
          </p:cNvGraphicFramePr>
          <p:nvPr/>
        </p:nvGraphicFramePr>
        <p:xfrm>
          <a:off x="914400" y="1417320"/>
          <a:ext cx="10360152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4952"/>
                <a:gridCol w="1828800"/>
                <a:gridCol w="1828800"/>
                <a:gridCol w="1828800"/>
                <a:gridCol w="18288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잔액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166,000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114,000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189,000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235,000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169,000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565,000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237,000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스마트시티 사업비 집행표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예산·집행·잔액·집행률 · 합계 강조 · blue_500</a:t>
            </a:r>
          </a:p>
        </p:txBody>
      </p:sp>
      <p:graphicFrame>
        <p:nvGraphicFramePr>
          <p:cNvPr id="4" name="asset:TBL-174"/>
          <p:cNvGraphicFramePr>
            <a:graphicFrameLocks noGrp="1"/>
          </p:cNvGraphicFramePr>
          <p:nvPr/>
        </p:nvGraphicFramePr>
        <p:xfrm>
          <a:off x="914400" y="1417320"/>
          <a:ext cx="10360152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4952"/>
                <a:gridCol w="1828800"/>
                <a:gridCol w="1828800"/>
                <a:gridCol w="1828800"/>
                <a:gridCol w="18288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잔액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177,000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54,000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715,000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509,000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206,000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TBL-174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바이오 소재 사업비 집행표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예산·집행·잔액·집행률 · 합계 강조 · teal_500</a:t>
            </a:r>
          </a:p>
        </p:txBody>
      </p:sp>
      <p:graphicFrame>
        <p:nvGraphicFramePr>
          <p:cNvPr id="4" name="asset:TBL-175"/>
          <p:cNvGraphicFramePr>
            <a:graphicFrameLocks noGrp="1"/>
          </p:cNvGraphicFramePr>
          <p:nvPr/>
        </p:nvGraphicFramePr>
        <p:xfrm>
          <a:off x="914400" y="1417320"/>
          <a:ext cx="10360152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4952"/>
                <a:gridCol w="1828800"/>
                <a:gridCol w="1828800"/>
                <a:gridCol w="1828800"/>
                <a:gridCol w="18288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잔액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234,000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496,000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194,000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콘텐츠 해외진출 사업비 집행표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예산·집행·잔액·집행률 · 합계 강조 · purple_600</a:t>
            </a:r>
          </a:p>
        </p:txBody>
      </p:sp>
      <p:graphicFrame>
        <p:nvGraphicFramePr>
          <p:cNvPr id="4" name="asset:TBL-176"/>
          <p:cNvGraphicFramePr>
            <a:graphicFrameLocks noGrp="1"/>
          </p:cNvGraphicFramePr>
          <p:nvPr/>
        </p:nvGraphicFramePr>
        <p:xfrm>
          <a:off x="914400" y="1417320"/>
          <a:ext cx="10360152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4952"/>
                <a:gridCol w="1828800"/>
                <a:gridCol w="1828800"/>
                <a:gridCol w="1828800"/>
                <a:gridCol w="18288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잔액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199,000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625,000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167,000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TBL-176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 물류 사업비 집행표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예산·집행·잔액·집행률 · 합계 강조 · navy_600</a:t>
            </a:r>
          </a:p>
        </p:txBody>
      </p:sp>
      <p:graphicFrame>
        <p:nvGraphicFramePr>
          <p:cNvPr id="4" name="asset:TBL-177"/>
          <p:cNvGraphicFramePr>
            <a:graphicFrameLocks noGrp="1"/>
          </p:cNvGraphicFramePr>
          <p:nvPr/>
        </p:nvGraphicFramePr>
        <p:xfrm>
          <a:off x="914400" y="1417320"/>
          <a:ext cx="10360152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4952"/>
                <a:gridCol w="1828800"/>
                <a:gridCol w="1828800"/>
                <a:gridCol w="1828800"/>
                <a:gridCol w="18288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잔액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72.8%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578,000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427,000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AI 통합 플랫폼 사업비 집행표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예산·집행·잔액·집행률 · 합계 강조 · red_500</a:t>
            </a:r>
          </a:p>
        </p:txBody>
      </p:sp>
      <p:graphicFrame>
        <p:nvGraphicFramePr>
          <p:cNvPr id="4" name="asset:TBL-178"/>
          <p:cNvGraphicFramePr>
            <a:graphicFrameLocks noGrp="1"/>
          </p:cNvGraphicFramePr>
          <p:nvPr/>
        </p:nvGraphicFramePr>
        <p:xfrm>
          <a:off x="914400" y="1417320"/>
          <a:ext cx="10360152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4952"/>
                <a:gridCol w="1828800"/>
                <a:gridCol w="1828800"/>
                <a:gridCol w="1828800"/>
                <a:gridCol w="18288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잔액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221,000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67,000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25,000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535,000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403,000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지역 관광 활성화 사업비 집행표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예산·집행·잔액·집행률 · 합계 강조 · navy_800</a:t>
            </a:r>
          </a:p>
        </p:txBody>
      </p:sp>
      <p:graphicFrame>
        <p:nvGraphicFramePr>
          <p:cNvPr id="4" name="asset:TBL-179"/>
          <p:cNvGraphicFramePr>
            <a:graphicFrameLocks noGrp="1"/>
          </p:cNvGraphicFramePr>
          <p:nvPr/>
        </p:nvGraphicFramePr>
        <p:xfrm>
          <a:off x="914400" y="1417320"/>
          <a:ext cx="10360152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4952"/>
                <a:gridCol w="1828800"/>
                <a:gridCol w="1828800"/>
                <a:gridCol w="1828800"/>
                <a:gridCol w="18288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잔액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174,000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55,000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41,000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466,000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353,000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TBL-179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디지털 헬스케어 사업비 집행표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예산·집행·잔액·집행률 · 합계 강조 · blue_500</a:t>
            </a:r>
          </a:p>
        </p:txBody>
      </p:sp>
      <p:graphicFrame>
        <p:nvGraphicFramePr>
          <p:cNvPr id="4" name="asset:TBL-180"/>
          <p:cNvGraphicFramePr>
            <a:graphicFrameLocks noGrp="1"/>
          </p:cNvGraphicFramePr>
          <p:nvPr/>
        </p:nvGraphicFramePr>
        <p:xfrm>
          <a:off x="914400" y="1417320"/>
          <a:ext cx="10360152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4952"/>
                <a:gridCol w="1828800"/>
                <a:gridCol w="1828800"/>
                <a:gridCol w="1828800"/>
                <a:gridCol w="18288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잔액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집행률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43,000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32,000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74.1%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75.2%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89,000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69,000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77.3%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112,000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24,000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78.4%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135,000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27,000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합계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445,000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347,000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98,000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77.0%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