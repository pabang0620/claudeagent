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문화예술 지원 사업비 집행표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예산·집행·잔액·집행률 · 합계 강조 · navy_800</a:t>
            </a:r>
          </a:p>
        </p:txBody>
      </p:sp>
      <p:graphicFrame>
        <p:nvGraphicFramePr>
          <p:cNvPr id="4" name="asset:TBL-173"/>
          <p:cNvGraphicFramePr>
            <a:graphicFrameLocks noGrp="1"/>
          </p:cNvGraphicFramePr>
          <p:nvPr/>
        </p:nvGraphicFramePr>
        <p:xfrm>
          <a:off x="914400" y="1417320"/>
          <a:ext cx="10360152" cy="307238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044952"/>
                <a:gridCol w="1828800"/>
                <a:gridCol w="1828800"/>
                <a:gridCol w="1828800"/>
                <a:gridCol w="1828800"/>
              </a:tblGrid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항목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예산액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집행액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잔액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집행률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이관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166,000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114,000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52,000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68.4%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위험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189,000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132,000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57,000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69.5%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212,000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150,000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62,000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70.6%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인프라 구축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235,000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169,000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66,000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71.7%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합계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802,000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565,000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237,000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70.0%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TBL-173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스마트시티 사업비 집행표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예산·집행·잔액·집행률 · 합계 강조 · blue_500</a:t>
            </a:r>
          </a:p>
        </p:txBody>
      </p:sp>
      <p:graphicFrame>
        <p:nvGraphicFramePr>
          <p:cNvPr id="4" name="asset:TBL-174"/>
          <p:cNvGraphicFramePr>
            <a:graphicFrameLocks noGrp="1"/>
          </p:cNvGraphicFramePr>
          <p:nvPr/>
        </p:nvGraphicFramePr>
        <p:xfrm>
          <a:off x="914400" y="1417320"/>
          <a:ext cx="10360152" cy="358444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044952"/>
                <a:gridCol w="1828800"/>
                <a:gridCol w="1828800"/>
                <a:gridCol w="1828800"/>
                <a:gridCol w="1828800"/>
              </a:tblGrid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항목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예산액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집행액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잔액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집행률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성과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177,000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123,000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54,000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69.5%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200,000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142,000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58,000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71.6%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보안 점검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223,000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160,000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63,000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71.7%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콘텐츠 제작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46,000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33,000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71.8%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파트너 협력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69,000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51,000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73.9%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합계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715,000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509,000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206,000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71.0%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TBL-174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바이오 소재 사업비 집행표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예산·집행·잔액·집행률 · 합계 강조 · teal_500</a:t>
            </a:r>
          </a:p>
        </p:txBody>
      </p:sp>
      <p:graphicFrame>
        <p:nvGraphicFramePr>
          <p:cNvPr id="4" name="asset:TBL-175"/>
          <p:cNvGraphicFramePr>
            <a:graphicFrameLocks noGrp="1"/>
          </p:cNvGraphicFramePr>
          <p:nvPr/>
        </p:nvGraphicFramePr>
        <p:xfrm>
          <a:off x="914400" y="1417320"/>
          <a:ext cx="10360152" cy="307238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044952"/>
                <a:gridCol w="1828800"/>
                <a:gridCol w="1828800"/>
                <a:gridCol w="1828800"/>
                <a:gridCol w="1828800"/>
              </a:tblGrid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항목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예산액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집행액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잔액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집행률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위험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188,000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133,000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55,000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70.6%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211,000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151,000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60,000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71.7%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인프라 구축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234,000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170,000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64,000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72.8%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 홍보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57,000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42,000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73.9%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합계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690,000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496,000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194,000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71.0%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TBL-175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콘텐츠 해외진출 사업비 집행표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예산·집행·잔액·집행률 · 합계 강조 · purple_600</a:t>
            </a:r>
          </a:p>
        </p:txBody>
      </p:sp>
      <p:graphicFrame>
        <p:nvGraphicFramePr>
          <p:cNvPr id="4" name="asset:TBL-176"/>
          <p:cNvGraphicFramePr>
            <a:graphicFrameLocks noGrp="1"/>
          </p:cNvGraphicFramePr>
          <p:nvPr/>
        </p:nvGraphicFramePr>
        <p:xfrm>
          <a:off x="914400" y="1417320"/>
          <a:ext cx="10360152" cy="358444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044952"/>
                <a:gridCol w="1828800"/>
                <a:gridCol w="1828800"/>
                <a:gridCol w="1828800"/>
                <a:gridCol w="1828800"/>
              </a:tblGrid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항목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예산액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집행액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잔액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집행률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199,000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143,000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56,000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71.7%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보안 점검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222,000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162,000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60,000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72.8%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콘텐츠 제작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45,000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33,000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12,000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73.9%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파트너 협력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68,000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51,000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75.0%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91,000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69,000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22,000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75.1%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합계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625,000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458,000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167,000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73.0%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TBL-176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스마트 물류 사업비 집행표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예산·집행·잔액·집행률 · 합계 강조 · navy_600</a:t>
            </a:r>
          </a:p>
        </p:txBody>
      </p:sp>
      <p:graphicFrame>
        <p:nvGraphicFramePr>
          <p:cNvPr id="4" name="asset:TBL-177"/>
          <p:cNvGraphicFramePr>
            <a:graphicFrameLocks noGrp="1"/>
          </p:cNvGraphicFramePr>
          <p:nvPr/>
        </p:nvGraphicFramePr>
        <p:xfrm>
          <a:off x="914400" y="1417320"/>
          <a:ext cx="10360152" cy="307238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044952"/>
                <a:gridCol w="1828800"/>
                <a:gridCol w="1828800"/>
                <a:gridCol w="1828800"/>
                <a:gridCol w="1828800"/>
              </a:tblGrid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항목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예산액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집행액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잔액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집행률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210,000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153,000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57,000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72.8%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인프라 구축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233,000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172,000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61,000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73.9%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 홍보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56,000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42,000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14,000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75.0%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교육 훈련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79,000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60,000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19,000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75.1%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합계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578,000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427,000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151,000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73.0%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TBL-177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AI 통합 플랫폼 사업비 집행표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예산·집행·잔액·집행률 · 합계 강조 · red_500</a:t>
            </a:r>
          </a:p>
        </p:txBody>
      </p:sp>
      <p:graphicFrame>
        <p:nvGraphicFramePr>
          <p:cNvPr id="4" name="asset:TBL-178"/>
          <p:cNvGraphicFramePr>
            <a:graphicFrameLocks noGrp="1"/>
          </p:cNvGraphicFramePr>
          <p:nvPr/>
        </p:nvGraphicFramePr>
        <p:xfrm>
          <a:off x="914400" y="1417320"/>
          <a:ext cx="10360152" cy="358444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044952"/>
                <a:gridCol w="1828800"/>
                <a:gridCol w="1828800"/>
                <a:gridCol w="1828800"/>
                <a:gridCol w="1828800"/>
              </a:tblGrid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항목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예산액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집행액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잔액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집행률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보안 점검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221,000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163,000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58,000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73.9%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콘텐츠 제작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44,000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33,000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11,000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75.0%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파트너 협력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67,000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50,000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74.1%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90,000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69,000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21,000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76.2%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표준화 정립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113,000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88,000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25,000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77.3%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합계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535,000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403,000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132,000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75.0%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TBL-178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지역 관광 활성화 사업비 집행표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예산·집행·잔액·집행률 · 합계 강조 · navy_800</a:t>
            </a:r>
          </a:p>
        </p:txBody>
      </p:sp>
      <p:graphicFrame>
        <p:nvGraphicFramePr>
          <p:cNvPr id="4" name="asset:TBL-179"/>
          <p:cNvGraphicFramePr>
            <a:graphicFrameLocks noGrp="1"/>
          </p:cNvGraphicFramePr>
          <p:nvPr/>
        </p:nvGraphicFramePr>
        <p:xfrm>
          <a:off x="914400" y="1417320"/>
          <a:ext cx="10360152" cy="307238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044952"/>
                <a:gridCol w="1828800"/>
                <a:gridCol w="1828800"/>
                <a:gridCol w="1828800"/>
                <a:gridCol w="1828800"/>
              </a:tblGrid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항목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예산액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집행액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잔액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집행률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인프라 구축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232,000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174,000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58,000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75.0%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 홍보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55,000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41,000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14,000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74.1%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교육 훈련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78,000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60,000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76.2%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서비스 고도화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101,000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78,000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23,000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77.3%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합계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466,000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353,000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113,000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75.0%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TBL-179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디지털 헬스케어 사업비 집행표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예산·집행·잔액·집행률 · 합계 강조 · blue_500</a:t>
            </a:r>
          </a:p>
        </p:txBody>
      </p:sp>
      <p:graphicFrame>
        <p:nvGraphicFramePr>
          <p:cNvPr id="4" name="asset:TBL-180"/>
          <p:cNvGraphicFramePr>
            <a:graphicFrameLocks noGrp="1"/>
          </p:cNvGraphicFramePr>
          <p:nvPr/>
        </p:nvGraphicFramePr>
        <p:xfrm>
          <a:off x="914400" y="1417320"/>
          <a:ext cx="10360152" cy="358444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044952"/>
                <a:gridCol w="1828800"/>
                <a:gridCol w="1828800"/>
                <a:gridCol w="1828800"/>
                <a:gridCol w="1828800"/>
              </a:tblGrid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항목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예산액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집행액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잔액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집행률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콘텐츠 제작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43,000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32,000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11,000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74.1%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파트너 협력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66,000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50,000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75.2%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89,000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69,000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77.3%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표준화 정립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112,000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88,000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24,000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78.4%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채널 다각화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135,000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108,000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27,000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80.5%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합계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445,000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347,000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98,000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77.0%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TBL-180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