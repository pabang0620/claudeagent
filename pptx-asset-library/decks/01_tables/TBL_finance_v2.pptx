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TBL-013</a:t>
            </a:r>
          </a:p>
        </p:txBody>
      </p:sp>
      <p:grpSp>
        <p:nvGrpSpPr>
          <p:cNvPr id="6" name="asset:TBL-013"/>
          <p:cNvGrpSpPr/>
          <p:nvPr/>
        </p:nvGrpSpPr>
        <p:grpSpPr>
          <a:xfrm>
            <a:off x="502920" y="457200"/>
            <a:ext cx="11155680" cy="5056632"/>
            <a:chOff x="502920" y="457200"/>
            <a:chExt cx="11155680" cy="5056632"/>
          </a:xfrm>
        </p:grpSpPr>
        <p:sp>
          <p:nvSpPr>
            <p:cNvPr id="2" name="TextBox 1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연도별 손익 요약표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단위: 백만원 · 소계/영업이익 행 강조</a:t>
              </a:r>
            </a:p>
          </p:txBody>
        </p:sp>
        <p:graphicFrame>
          <p:nvGraphicFramePr>
            <p:cNvPr id="4" name="TBL-013_bg"/>
            <p:cNvGraphicFramePr>
              <a:graphicFrameLocks noGrp="1"/>
            </p:cNvGraphicFramePr>
            <p:nvPr/>
          </p:nvGraphicFramePr>
          <p:xfrm>
            <a:off x="914400" y="1417320"/>
            <a:ext cx="10360148" cy="4096512"/>
          </p:xfrm>
          <a:graphic>
            <a:graphicData uri="http://schemas.openxmlformats.org/drawingml/2006/table">
              <a:tbl>
                <a:tblPr>
                  <a:tableStyleId>{2D5ABB26-0587-4C30-8999-92F81FD0307C}</a:tableStyleId>
                </a:tblPr>
                <a:tblGrid>
                  <a:gridCol w="2862072"/>
                  <a:gridCol w="1874519"/>
                  <a:gridCol w="1874519"/>
                  <a:gridCol w="1874519"/>
                  <a:gridCol w="1874519"/>
                </a:tblGrid>
                <a:tr h="51206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구분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2024년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2025년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2026년(E)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증감률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</a:tr>
                <a:tr h="51206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국내 매출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1,200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1,480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1,760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+18.9%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</a:tr>
                <a:tr h="51206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해외 매출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320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610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980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+60.7%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</a:tr>
                <a:tr h="51206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소계 (매출)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D9D9D9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1,520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D9D9D9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2,090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D9D9D9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2,740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D9D9D9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+31.1%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D9D9D9"/>
                      </a:solidFill>
                    </a:tcPr>
                  </a:tc>
                </a:tr>
                <a:tr h="51206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인건비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680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790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910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+15.2%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</a:tr>
                <a:tr h="51206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운영비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240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310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380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+22.6%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</a:tr>
                <a:tr h="51206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소계 (비용)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D9D9D9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920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D9D9D9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1,100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D9D9D9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1,290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D9D9D9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+17.3%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D9D9D9"/>
                      </a:solidFill>
                    </a:tcPr>
                  </a:tc>
                </a:tr>
                <a:tr h="51206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영업이익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600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990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1,450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+46.5%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TBL-015</a:t>
            </a:r>
          </a:p>
        </p:txBody>
      </p:sp>
      <p:grpSp>
        <p:nvGrpSpPr>
          <p:cNvPr id="6" name="asset:TBL-015"/>
          <p:cNvGrpSpPr/>
          <p:nvPr/>
        </p:nvGrpSpPr>
        <p:grpSpPr>
          <a:xfrm>
            <a:off x="502920" y="457200"/>
            <a:ext cx="11155680" cy="3712464"/>
            <a:chOff x="502920" y="457200"/>
            <a:chExt cx="11155680" cy="3712464"/>
          </a:xfrm>
        </p:grpSpPr>
        <p:sp>
          <p:nvSpPr>
            <p:cNvPr id="2" name="TextBox 1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 KPI 상세 실적표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단위: 건/백만원 · 8열 고밀도 컴팩트</a:t>
              </a:r>
            </a:p>
          </p:txBody>
        </p:sp>
        <p:graphicFrame>
          <p:nvGraphicFramePr>
            <p:cNvPr id="4" name="TBL-015_bg"/>
            <p:cNvGraphicFramePr>
              <a:graphicFrameLocks noGrp="1"/>
            </p:cNvGraphicFramePr>
            <p:nvPr/>
          </p:nvGraphicFramePr>
          <p:xfrm>
            <a:off x="640080" y="1371600"/>
            <a:ext cx="10908792" cy="2798064"/>
          </p:xfrm>
          <a:graphic>
            <a:graphicData uri="http://schemas.openxmlformats.org/drawingml/2006/table">
              <a:tbl>
                <a:tblPr>
                  <a:tableStyleId>{2D5ABB26-0587-4C30-8999-92F81FD0307C}</a:tableStyleId>
                </a:tblPr>
                <a:tblGrid>
                  <a:gridCol w="1947672"/>
                  <a:gridCol w="1280160"/>
                  <a:gridCol w="1280160"/>
                  <a:gridCol w="1280160"/>
                  <a:gridCol w="1280160"/>
                  <a:gridCol w="1280160"/>
                  <a:gridCol w="1280160"/>
                  <a:gridCol w="1280160"/>
                </a:tblGrid>
                <a:tr h="310896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9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지표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9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Q1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9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Q2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9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Q3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9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Q4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9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연간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9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목표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9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달성률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</a:tr>
                <a:tr h="310896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9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신규 계약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42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55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61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73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231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220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105%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</a:tr>
                <a:tr h="310896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9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리텐션(%)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88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89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91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92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90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88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102%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</a:tr>
                <a:tr h="310896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9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MAU(천)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120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138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156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181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181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170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106%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</a:tr>
                <a:tr h="310896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9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ARPU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3.2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3.4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3.6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3.9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3.5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3.4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103%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</a:tr>
                <a:tr h="310896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9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매출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1,180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1,340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1,510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1,760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5,790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5,500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105%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</a:tr>
                <a:tr h="310896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9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CAC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48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45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43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41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44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46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96%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</a:tr>
                <a:tr h="310896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9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이탈률(%)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4.1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3.8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3.5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3.1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3.6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4.0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90%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</a:tr>
                <a:tr h="310896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9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NPS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38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42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46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51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51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45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9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113%</a:t>
                        </a:r>
                      </a:p>
                    </a:txBody>
                    <a:tcPr anchor="ctr" marL="38100" marR="38100" marT="25400" marB="25400">
                      <a:lnL w="6350" cap="flat">
                        <a:solidFill>
                          <a:srgbClr val="D9D9D9"/>
                        </a:solidFill>
                      </a:lnL>
                      <a:lnR w="6350" cap="flat">
                        <a:solidFill>
                          <a:srgbClr val="D9D9D9"/>
                        </a:solidFill>
                      </a:lnR>
                      <a:lnT w="6350" cap="flat">
                        <a:solidFill>
                          <a:srgbClr val="D9D9D9"/>
                        </a:solidFill>
                      </a:lnT>
                      <a:lnB w="6350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핵심 성과지표(KPI) 대시보드 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값 + 전기대비 증감칩 오버레이</a:t>
            </a:r>
          </a:p>
        </p:txBody>
      </p:sp>
      <p:grpSp>
        <p:nvGrpSpPr>
          <p:cNvPr id="10" name="asset:TBL-016"/>
          <p:cNvGrpSpPr/>
          <p:nvPr/>
        </p:nvGrpSpPr>
        <p:grpSpPr>
          <a:xfrm>
            <a:off x="914400" y="1463040"/>
            <a:ext cx="10360152" cy="3621024"/>
            <a:chOff x="914400" y="1463040"/>
            <a:chExt cx="10360152" cy="3621024"/>
          </a:xfrm>
        </p:grpSpPr>
        <p:graphicFrame>
          <p:nvGraphicFramePr>
            <p:cNvPr id="4" name="Table 3"/>
            <p:cNvGraphicFramePr>
              <a:graphicFrameLocks noGrp="1"/>
            </p:cNvGraphicFramePr>
            <p:nvPr/>
          </p:nvGraphicFramePr>
          <p:xfrm>
            <a:off x="914400" y="1463040"/>
            <a:ext cx="10360152" cy="3621024"/>
          </p:xfrm>
          <a:graphic>
            <a:graphicData uri="http://schemas.openxmlformats.org/drawingml/2006/table">
              <a:tbl>
                <a:tblPr>
                  <a:tableStyleId>{2D5ABB26-0587-4C30-8999-92F81FD0307C}</a:tableStyleId>
                </a:tblPr>
                <a:tblGrid>
                  <a:gridCol w="3685032"/>
                  <a:gridCol w="2651760"/>
                  <a:gridCol w="1920240"/>
                  <a:gridCol w="2103120"/>
                </a:tblGrid>
                <a:tr h="60350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KPI 지표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현재 값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목표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전기 대비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</a:tr>
                <a:tr h="60350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2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월 거래액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5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₩ 4.82억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4.5억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/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</a:tr>
                <a:tr h="60350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2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활성 사용자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5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18.1만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17.0만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/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</a:tr>
                <a:tr h="60350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2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전환율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5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3.9%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3.5%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/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</a:tr>
                <a:tr h="60350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2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고객이탈률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5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3.1%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4.0%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/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</a:tr>
                <a:tr h="60350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2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객단가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5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₩ 26,700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25,000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/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5" name="Rounded Rectangle 4"/>
            <p:cNvSpPr/>
            <p:nvPr/>
          </p:nvSpPr>
          <p:spPr>
            <a:xfrm>
              <a:off x="9445752" y="2176272"/>
              <a:ext cx="1554480" cy="38404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▲ 12.4%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445752" y="2779776"/>
              <a:ext cx="1554480" cy="38404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▲ 6.5%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445752" y="3383280"/>
              <a:ext cx="1554480" cy="38404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▲ 0.4%p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445752" y="3986784"/>
              <a:ext cx="1554480" cy="384048"/>
            </a:xfrm>
            <a:prstGeom prst="round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▼ 0.9%p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445752" y="4590288"/>
              <a:ext cx="1554480" cy="38404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▲ 6.8%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TBL-019</a:t>
            </a:r>
          </a:p>
        </p:txBody>
      </p:sp>
      <p:grpSp>
        <p:nvGrpSpPr>
          <p:cNvPr id="6" name="asset:TBL-019"/>
          <p:cNvGrpSpPr/>
          <p:nvPr/>
        </p:nvGrpSpPr>
        <p:grpSpPr>
          <a:xfrm>
            <a:off x="502920" y="457200"/>
            <a:ext cx="11155680" cy="4672584"/>
            <a:chOff x="502920" y="457200"/>
            <a:chExt cx="11155680" cy="4672584"/>
          </a:xfrm>
        </p:grpSpPr>
        <p:sp>
          <p:nvSpPr>
            <p:cNvPr id="2" name="TextBox 1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사업비 집행 현황표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단위: 천원 · 집행률 및 합계 행 강조</a:t>
              </a:r>
            </a:p>
          </p:txBody>
        </p:sp>
        <p:graphicFrame>
          <p:nvGraphicFramePr>
            <p:cNvPr id="4" name="TBL-019_bg"/>
            <p:cNvGraphicFramePr>
              <a:graphicFrameLocks noGrp="1"/>
            </p:cNvGraphicFramePr>
            <p:nvPr/>
          </p:nvGraphicFramePr>
          <p:xfrm>
            <a:off x="914400" y="1417320"/>
            <a:ext cx="10360152" cy="3712464"/>
          </p:xfrm>
          <a:graphic>
            <a:graphicData uri="http://schemas.openxmlformats.org/drawingml/2006/table">
              <a:tbl>
                <a:tblPr>
                  <a:tableStyleId>{2D5ABB26-0587-4C30-8999-92F81FD0307C}</a:tableStyleId>
                </a:tblPr>
                <a:tblGrid>
                  <a:gridCol w="3044952"/>
                  <a:gridCol w="1828800"/>
                  <a:gridCol w="1828800"/>
                  <a:gridCol w="1828800"/>
                  <a:gridCol w="1828800"/>
                </a:tblGrid>
                <a:tr h="530352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사업 항목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예산액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집행액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잔액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집행률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</a:tr>
                <a:tr h="530352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인건비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180,000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142,500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37,500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79.2%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</a:tr>
                <a:tr h="530352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콘텐츠 제작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240,000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205,800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34,200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85.8%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</a:tr>
                <a:tr h="530352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마케팅·홍보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120,000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96,400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23,600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80.3%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</a:tr>
                <a:tr h="530352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시스템 구축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160,000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88,200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71,800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55.1%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</a:tr>
                <a:tr h="530352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일반 운영비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60,000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47,900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12,100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79.8%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</a:tr>
                <a:tr h="530352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합계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760,000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580,800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179,200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76.4%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TBL-022</a:t>
            </a:r>
          </a:p>
        </p:txBody>
      </p:sp>
      <p:grpSp>
        <p:nvGrpSpPr>
          <p:cNvPr id="6" name="asset:TBL-022"/>
          <p:cNvGrpSpPr/>
          <p:nvPr/>
        </p:nvGrpSpPr>
        <p:grpSpPr>
          <a:xfrm>
            <a:off x="502920" y="457200"/>
            <a:ext cx="11155680" cy="4544568"/>
            <a:chOff x="502920" y="457200"/>
            <a:chExt cx="11155680" cy="4544568"/>
          </a:xfrm>
        </p:grpSpPr>
        <p:sp>
          <p:nvSpPr>
            <p:cNvPr id="2" name="TextBox 1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요약 재무상태표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단위: 백만원 · 수치 우측정렬, 감소 항목 적색</a:t>
              </a:r>
            </a:p>
          </p:txBody>
        </p:sp>
        <p:graphicFrame>
          <p:nvGraphicFramePr>
            <p:cNvPr id="4" name="TBL-022_bg"/>
            <p:cNvGraphicFramePr>
              <a:graphicFrameLocks noGrp="1"/>
            </p:cNvGraphicFramePr>
            <p:nvPr/>
          </p:nvGraphicFramePr>
          <p:xfrm>
            <a:off x="914400" y="1417320"/>
            <a:ext cx="10360152" cy="3584448"/>
          </p:xfrm>
          <a:graphic>
            <a:graphicData uri="http://schemas.openxmlformats.org/drawingml/2006/table">
              <a:tbl>
                <a:tblPr>
                  <a:tableStyleId>{2D5ABB26-0587-4C30-8999-92F81FD0307C}</a:tableStyleId>
                </a:tblPr>
                <a:tblGrid>
                  <a:gridCol w="3044952"/>
                  <a:gridCol w="1828800"/>
                  <a:gridCol w="1828800"/>
                  <a:gridCol w="1828800"/>
                  <a:gridCol w="1828800"/>
                </a:tblGrid>
                <a:tr h="51206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계정 과목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당기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전기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증감액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증감률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1F3864"/>
                      </a:solidFill>
                    </a:tcPr>
                  </a:tc>
                </a:tr>
                <a:tr h="51206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유동자산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3,420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2,980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+440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+14.8%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</a:tr>
                <a:tr h="51206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비유동자산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5,180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5,360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C0392B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-180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C0392B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-3.4%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</a:tr>
                <a:tr h="51206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자산 총계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8,600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8,340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+260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+3.1%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</a:tr>
                <a:tr h="51206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유동부채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2,110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2,450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C0392B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-340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C0392B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-13.9%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</a:tr>
                <a:tr h="51206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비유동부채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1,780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1,690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+90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+5.3%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FFFFF"/>
                      </a:solidFill>
                    </a:tcPr>
                  </a:tc>
                </a:tr>
                <a:tr h="512064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1F3864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자본 총계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4,710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4,200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+510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+12.1%</a:t>
                        </a:r>
                      </a:p>
                    </a:txBody>
                    <a:tcPr anchor="ctr" marL="63500" marR="63500" marT="25400" marB="25400">
                      <a:lnL w="9525" cap="flat">
                        <a:solidFill>
                          <a:srgbClr val="D9D9D9"/>
                        </a:solidFill>
                      </a:lnL>
                      <a:lnR w="9525" cap="flat">
                        <a:solidFill>
                          <a:srgbClr val="D9D9D9"/>
                        </a:solidFill>
                      </a:lnR>
                      <a:lnT w="9525" cap="flat">
                        <a:solidFill>
                          <a:srgbClr val="D9D9D9"/>
                        </a:solidFill>
                      </a:lnT>
                      <a:lnB w="9525" cap="flat">
                        <a:solidFill>
                          <a:srgbClr val="D9D9D9"/>
                        </a:solidFill>
                      </a:lnB>
                      <a:solidFill>
                        <a:srgbClr val="F2F2F2"/>
                      </a:solidFill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