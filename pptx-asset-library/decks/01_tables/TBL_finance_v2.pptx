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TBL-013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연도별 손익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단위: 백만원 · 소계/영업이익 행 강조</a:t>
            </a:r>
          </a:p>
        </p:txBody>
      </p:sp>
      <p:graphicFrame>
        <p:nvGraphicFramePr>
          <p:cNvPr id="4" name="asset:TBL-013"/>
          <p:cNvGraphicFramePr>
            <a:graphicFrameLocks noGrp="1"/>
          </p:cNvGraphicFramePr>
          <p:nvPr/>
        </p:nvGraphicFramePr>
        <p:xfrm>
          <a:off x="914400" y="1417320"/>
          <a:ext cx="10360148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62072"/>
                <a:gridCol w="1874519"/>
                <a:gridCol w="1874519"/>
                <a:gridCol w="1874519"/>
                <a:gridCol w="1874519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국내 매출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1,480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매출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+60.7%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소계 (매출)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1,520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2,740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+31.1%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인건비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소계 (비용)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영업이익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1,450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+46.5%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분기 KPI 상세 실적표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단위: 건/백만원 · 8열 고밀도 컴팩트</a:t>
            </a:r>
          </a:p>
        </p:txBody>
      </p:sp>
      <p:graphicFrame>
        <p:nvGraphicFramePr>
          <p:cNvPr id="4" name="asset:TBL-015"/>
          <p:cNvGraphicFramePr>
            <a:graphicFrameLocks noGrp="1"/>
          </p:cNvGraphicFramePr>
          <p:nvPr/>
        </p:nvGraphicFramePr>
        <p:xfrm>
          <a:off x="640080" y="1371600"/>
          <a:ext cx="10908792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Q1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Q2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Q3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Q4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계약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105%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리텐션(%)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MAU(천)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ARPU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1,180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1,340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1,510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1,760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5,500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105%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CAC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이탈률(%)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NPS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핵심 성과지표(KPI) 대시보드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값 + 전기대비 증감칩 오버레이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TBL-016</a:t>
            </a:r>
          </a:p>
        </p:txBody>
      </p:sp>
      <p:graphicFrame>
        <p:nvGraphicFramePr>
          <p:cNvPr id="4" name="asset:TBL-016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KPI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거래액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₩ 4.82억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4.5억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활성 사용자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18.1만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17.0만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전환율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고객이탈률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객단가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₩ 26,700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12.4%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6.5%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0.4%p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0.9%p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6.8%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사업비 집행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단위: 천원 · 집행률 및 합계 행 강조</a:t>
            </a:r>
          </a:p>
        </p:txBody>
      </p:sp>
      <p:graphicFrame>
        <p:nvGraphicFramePr>
          <p:cNvPr id="4" name="asset:TBL-019"/>
          <p:cNvGraphicFramePr>
            <a:graphicFrameLocks noGrp="1"/>
          </p:cNvGraphicFramePr>
          <p:nvPr/>
        </p:nvGraphicFramePr>
        <p:xfrm>
          <a:off x="914400" y="1417320"/>
          <a:ext cx="10360152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인건비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142,500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37,500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205,800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마케팅·홍보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96,400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23,600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71,800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운영비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47,900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12,100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580,800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TBL-022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요약 재무상태표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단위: 백만원 · 수치 우측정렬, 감소 항목 적색</a:t>
            </a:r>
          </a:p>
        </p:txBody>
      </p:sp>
      <p:graphicFrame>
        <p:nvGraphicFramePr>
          <p:cNvPr id="4" name="asset:TBL-022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당기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유동자산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3,420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2,980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+440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비유동자산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5,360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-3.4%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자산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유동부채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2,450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비유동부채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1,690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자본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