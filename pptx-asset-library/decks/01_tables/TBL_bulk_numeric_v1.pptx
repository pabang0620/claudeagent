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지역 관광 활성화 요약 재무표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우측정렬 수치 · 감소 적색 · 4열 · navy_600</a:t>
            </a:r>
          </a:p>
        </p:txBody>
      </p:sp>
      <p:graphicFrame>
        <p:nvGraphicFramePr>
          <p:cNvPr id="4" name="asset:TBL-195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538984"/>
                <a:gridCol w="2538984"/>
                <a:gridCol w="253898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계정 과목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2026년(E)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8,297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8,326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+21.5%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8,350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8,379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-12.6%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8,432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-5.7%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8,456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8,485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+2.8%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 총계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8,509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8,538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+9.9%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디지털 헬스케어 요약 재무표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우측정렬 수치 · 감소 적색 · 5열 · red_500</a:t>
            </a:r>
          </a:p>
        </p:txBody>
      </p:sp>
      <p:graphicFrame>
        <p:nvGraphicFramePr>
          <p:cNvPr id="4" name="asset:TBL-196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904238"/>
                <a:gridCol w="1904238"/>
                <a:gridCol w="1904238"/>
                <a:gridCol w="190423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계정 과목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2026년(E)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8,334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8,363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8,392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-5.6%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8,387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8,416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+2.7%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8,498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+9.8%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8,493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8,522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8,551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+16.9%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 총계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8,546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8,604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+23.0%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TBL-196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그린 에너지 요약 재무표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우측정렬 수치 · 감소 적색 · 4열 · navy_800</a:t>
            </a:r>
          </a:p>
        </p:txBody>
      </p:sp>
      <p:graphicFrame>
        <p:nvGraphicFramePr>
          <p:cNvPr id="4" name="asset:TBL-197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538984"/>
                <a:gridCol w="2538984"/>
                <a:gridCol w="253898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계정 과목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8,371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-13.5%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8,424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8,453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-6.6%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8,477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8,506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8,530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+8.8%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8,583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+15.9%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 총계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8,636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8,665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+22.0%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TBL-197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핀테크 서비스 요약 재무표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우측정렬 수치 · 감소 적색 · 5열 · blue_500</a:t>
            </a:r>
          </a:p>
        </p:txBody>
      </p:sp>
      <p:graphicFrame>
        <p:nvGraphicFramePr>
          <p:cNvPr id="4" name="asset:TBL-198"/>
          <p:cNvGraphicFramePr>
            <a:graphicFrameLocks noGrp="1"/>
          </p:cNvGraphicFramePr>
          <p:nvPr/>
        </p:nvGraphicFramePr>
        <p:xfrm>
          <a:off x="914400" y="1417320"/>
          <a:ext cx="10360152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904238"/>
                <a:gridCol w="1904238"/>
                <a:gridCol w="1904238"/>
                <a:gridCol w="190423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계정 과목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8,437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8,461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8,519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+8.7%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8,514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8,572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+15.8%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8,567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8,625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+22.9%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8,678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-11.0%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총계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8,673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8,702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8,731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-4.1%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TBL-198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에듀테크 플랫폼 요약 재무표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우측정렬 수치 · 감소 적색 · 4열 · teal_500</a:t>
            </a:r>
          </a:p>
        </p:txBody>
      </p:sp>
      <p:graphicFrame>
        <p:nvGraphicFramePr>
          <p:cNvPr id="4" name="asset:TBL-199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2538984"/>
                <a:gridCol w="2538984"/>
                <a:gridCol w="2538984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계정 과목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8,474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-7.5%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8,498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+0.6%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8,551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+7.7%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8,604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+14.8%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 총계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8,657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+21.9%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제조 디지털전환 요약 재무표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우측정렬 수치 · 감소 적색 · 5열 · purple_600</a:t>
            </a:r>
          </a:p>
        </p:txBody>
      </p:sp>
      <p:graphicFrame>
        <p:nvGraphicFramePr>
          <p:cNvPr id="4" name="asset:TBL-200"/>
          <p:cNvGraphicFramePr>
            <a:graphicFrameLocks noGrp="1"/>
          </p:cNvGraphicFramePr>
          <p:nvPr/>
        </p:nvGraphicFramePr>
        <p:xfrm>
          <a:off x="914400" y="1417320"/>
          <a:ext cx="10360152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904238"/>
                <a:gridCol w="1904238"/>
                <a:gridCol w="1904238"/>
                <a:gridCol w="1904238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계정 과목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8,482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+7.6%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8,535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8,564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8,593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+14.7%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8,588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8,617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8,646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+21.8%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8,641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8,699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-12.9%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총계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8,694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8,723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8,752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-5.0%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TBL-200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