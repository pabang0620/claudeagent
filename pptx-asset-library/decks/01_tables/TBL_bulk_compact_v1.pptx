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상세 실적표 (컴팩트)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고밀도 · 6열 소폰트 · navy_600</a:t>
            </a:r>
          </a:p>
        </p:txBody>
      </p:sp>
      <p:graphicFrame>
        <p:nvGraphicFramePr>
          <p:cNvPr id="4" name="asset:TBL-189"/>
          <p:cNvGraphicFramePr>
            <a:graphicFrameLocks noGrp="1"/>
          </p:cNvGraphicFramePr>
          <p:nvPr/>
        </p:nvGraphicFramePr>
        <p:xfrm>
          <a:off x="640080" y="1371600"/>
          <a:ext cx="10908792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1792224"/>
                <a:gridCol w="1792224"/>
                <a:gridCol w="1792224"/>
                <a:gridCol w="1792224"/>
                <a:gridCol w="179222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상반기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66.5%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79.6%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92.7%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60.8%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86.0%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TBL-189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상세 실적표 (컴팩트)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고밀도 · 7열 소폰트 · red_500</a:t>
            </a:r>
          </a:p>
        </p:txBody>
      </p:sp>
      <p:graphicFrame>
        <p:nvGraphicFramePr>
          <p:cNvPr id="4" name="asset:TBL-190"/>
          <p:cNvGraphicFramePr>
            <a:graphicFrameLocks noGrp="1"/>
          </p:cNvGraphicFramePr>
          <p:nvPr/>
        </p:nvGraphicFramePr>
        <p:xfrm>
          <a:off x="640080" y="1371600"/>
          <a:ext cx="10908792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1493520"/>
                <a:gridCol w="1493520"/>
                <a:gridCol w="1493520"/>
                <a:gridCol w="1493520"/>
                <a:gridCol w="1493520"/>
                <a:gridCol w="14935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하반기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78.7%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91.8%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59.9%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72.0%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85.1%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98.2%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상세 실적표 (컴팩트)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고밀도 · 8열 소폰트 · navy_800</a:t>
            </a:r>
          </a:p>
        </p:txBody>
      </p:sp>
      <p:graphicFrame>
        <p:nvGraphicFramePr>
          <p:cNvPr id="4" name="asset:TBL-191"/>
          <p:cNvGraphicFramePr>
            <a:graphicFrameLocks noGrp="1"/>
          </p:cNvGraphicFramePr>
          <p:nvPr/>
        </p:nvGraphicFramePr>
        <p:xfrm>
          <a:off x="640080" y="1371600"/>
          <a:ext cx="10908792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90.9%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58.0%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71.1%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84.2%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97.3%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65.4%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상세 실적표 (컴팩트)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고밀도 · 6열 소폰트 · blue_500</a:t>
            </a:r>
          </a:p>
        </p:txBody>
      </p:sp>
      <p:graphicFrame>
        <p:nvGraphicFramePr>
          <p:cNvPr id="4" name="asset:TBL-192"/>
          <p:cNvGraphicFramePr>
            <a:graphicFrameLocks noGrp="1"/>
          </p:cNvGraphicFramePr>
          <p:nvPr/>
        </p:nvGraphicFramePr>
        <p:xfrm>
          <a:off x="640080" y="1371600"/>
          <a:ext cx="10908792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1792224"/>
                <a:gridCol w="1792224"/>
                <a:gridCol w="1792224"/>
                <a:gridCol w="1792224"/>
                <a:gridCol w="1792224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87.8%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55.9%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68.0%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81.1%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94.2%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62.3%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75.4%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상세 실적표 (컴팩트)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고밀도 · 7열 소폰트 · teal_500</a:t>
            </a:r>
          </a:p>
        </p:txBody>
      </p:sp>
      <p:graphicFrame>
        <p:nvGraphicFramePr>
          <p:cNvPr id="4" name="asset:TBL-193"/>
          <p:cNvGraphicFramePr>
            <a:graphicFrameLocks noGrp="1"/>
          </p:cNvGraphicFramePr>
          <p:nvPr/>
        </p:nvGraphicFramePr>
        <p:xfrm>
          <a:off x="640080" y="1371600"/>
          <a:ext cx="10908792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1493520"/>
                <a:gridCol w="1493520"/>
                <a:gridCol w="1493520"/>
                <a:gridCol w="1493520"/>
                <a:gridCol w="1493520"/>
                <a:gridCol w="14935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실적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99.0%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67.1%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80.2%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93.3%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61.4%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74.5%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87.6%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상세 실적표 (컴팩트)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고밀도 · 8열 소폰트 · purple_600</a:t>
            </a:r>
          </a:p>
        </p:txBody>
      </p:sp>
      <p:graphicFrame>
        <p:nvGraphicFramePr>
          <p:cNvPr id="4" name="asset:TBL-194"/>
          <p:cNvGraphicFramePr>
            <a:graphicFrameLocks noGrp="1"/>
          </p:cNvGraphicFramePr>
          <p:nvPr/>
        </p:nvGraphicFramePr>
        <p:xfrm>
          <a:off x="640080" y="1371600"/>
          <a:ext cx="10908792" cy="24871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7672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증감률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2024년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2025년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2026년(E)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1분기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2분기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3분기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66.2%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79.3%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92.4%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105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119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60.5%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122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73.6%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139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146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86.7%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156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170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177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184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191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2E75D6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99.8%</a:t>
                      </a:r>
                    </a:p>
                  </a:txBody>
                  <a:tcPr anchor="ctr" marL="38100" marR="38100" marT="25400" marB="254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TBL-194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