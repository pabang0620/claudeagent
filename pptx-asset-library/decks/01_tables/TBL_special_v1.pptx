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2단 헤더 (그룹 헤더 병합 + 서브 헤더)</a:t>
            </a:r>
          </a:p>
        </p:txBody>
      </p:sp>
      <p:graphicFrame>
        <p:nvGraphicFramePr>
          <p:cNvPr id="4" name="asset:TBL-007"/>
          <p:cNvGraphicFramePr>
            <a:graphicFrameLocks noGrp="1"/>
          </p:cNvGraphicFramePr>
          <p:nvPr/>
        </p:nvGraphicFramePr>
        <p:xfrm>
          <a:off x="548640" y="1143000"/>
          <a:ext cx="11064240" cy="329184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548640">
                <a:tc rowSpan="2"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수출액 (백만$)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</a:tcPr>
                </a:tc>
                <a:tc gridSpan="2"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고용 (명)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548640">
                <a:tc vMerge="1">
                  <a:txBody>
                    <a:bodyPr/>
                    <a:lstStyle/>
                    <a:p/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B사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D사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좌측 라벨열 강조 (첫 열 네이비)</a:t>
            </a:r>
          </a:p>
        </p:txBody>
      </p:sp>
      <p:graphicFrame>
        <p:nvGraphicFramePr>
          <p:cNvPr id="4" name="asset:TBL-008"/>
          <p:cNvGraphicFramePr>
            <a:graphicFrameLocks noGrp="1"/>
          </p:cNvGraphicFramePr>
          <p:nvPr/>
        </p:nvGraphicFramePr>
        <p:xfrm>
          <a:off x="548640" y="1143000"/>
          <a:ext cx="11064240" cy="329184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2743200"/>
                <a:gridCol w="2770632"/>
                <a:gridCol w="2770632"/>
                <a:gridCol w="2779776"/>
              </a:tblGrid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개요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콘텐츠 시장 진출 종합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수출 판로 다변화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성장 기반 확보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목표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3개년 누적 수출 30% 증대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신규 시장 5개국 개척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지속가능 성장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전략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현지화·마케팅·매칭 패키지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단계별 맞춤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기업 경쟁력 강화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수출 실적 및 고용 창출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콘텐츠 산업 활성화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국가 브랜드 제고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/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체크·기호 항목표 (검증 결과)</a:t>
            </a:r>
          </a:p>
        </p:txBody>
      </p:sp>
      <p:graphicFrame>
        <p:nvGraphicFramePr>
          <p:cNvPr id="4" name="asset:TBL-009"/>
          <p:cNvGraphicFramePr>
            <a:graphicFrameLocks noGrp="1"/>
          </p:cNvGraphicFramePr>
          <p:nvPr/>
        </p:nvGraphicFramePr>
        <p:xfrm>
          <a:off x="548640" y="1143000"/>
          <a:ext cx="11064240" cy="3401568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4572000"/>
                <a:gridCol w="1828800"/>
                <a:gridCol w="2286000"/>
                <a:gridCol w="2377440"/>
              </a:tblGrid>
              <a:tr h="566928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수출 계약 요건 충족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심사팀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 인증 취득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인증팀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정산 서류 구비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보완 요청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통과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준수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재조정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셀 하이라이트 (핵심 행 강조)</a:t>
            </a:r>
          </a:p>
        </p:txBody>
      </p:sp>
      <p:graphicFrame>
        <p:nvGraphicFramePr>
          <p:cNvPr id="4" name="asset:TBL-010"/>
          <p:cNvGraphicFramePr>
            <a:graphicFrameLocks noGrp="1"/>
          </p:cNvGraphicFramePr>
          <p:nvPr/>
        </p:nvGraphicFramePr>
        <p:xfrm>
          <a:off x="548640" y="1143000"/>
          <a:ext cx="11064240" cy="3401568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4206240"/>
                <a:gridCol w="2286000"/>
                <a:gridCol w="2286000"/>
                <a:gridCol w="2286000"/>
              </a:tblGrid>
              <a:tr h="566928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2025(목표)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매출액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210억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+33%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수출 기업 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+34%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성과: 신규 시장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C0392B"/>
                      </a:solidFill>
                      <a:prstDash val="solid"/>
                    </a:lnT>
                    <a:lnB w="19050" cap="flat" cmpd="sng" algn="ctr">
                      <a:solidFill>
                        <a:srgbClr val="C0392B"/>
                      </a:solidFill>
                      <a:prstDash val="solid"/>
                    </a:lnB>
                    <a:solidFill>
                      <a:srgbClr val="FBF0E1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5개국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C0392B"/>
                      </a:solidFill>
                      <a:prstDash val="solid"/>
                    </a:lnT>
                    <a:lnB w="19050" cap="flat" cmpd="sng" algn="ctr">
                      <a:solidFill>
                        <a:srgbClr val="C0392B"/>
                      </a:solidFill>
                      <a:prstDash val="solid"/>
                    </a:lnB>
                    <a:solidFill>
                      <a:srgbClr val="FBF0E1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9개국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C0392B"/>
                      </a:solidFill>
                      <a:prstDash val="solid"/>
                    </a:lnT>
                    <a:lnB w="19050" cap="flat" cmpd="sng" algn="ctr">
                      <a:solidFill>
                        <a:srgbClr val="C0392B"/>
                      </a:solidFill>
                      <a:prstDash val="solid"/>
                    </a:lnB>
                    <a:solidFill>
                      <a:srgbClr val="FBF0E1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+80%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C0392B"/>
                      </a:solidFill>
                      <a:prstDash val="solid"/>
                    </a:lnT>
                    <a:lnB w="19050" cap="flat" cmpd="sng" algn="ctr">
                      <a:solidFill>
                        <a:srgbClr val="C0392B"/>
                      </a:solidFill>
                      <a:prstDash val="solid"/>
                    </a:lnB>
                    <a:solidFill>
                      <a:srgbClr val="FBF0E1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고용 창출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340명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460명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+35%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재구매율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+11%p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미니멀 라인 표 (헤더 밑줄만)</a:t>
            </a:r>
          </a:p>
        </p:txBody>
      </p:sp>
      <p:graphicFrame>
        <p:nvGraphicFramePr>
          <p:cNvPr id="4" name="asset:TBL-011"/>
          <p:cNvGraphicFramePr>
            <a:graphicFrameLocks noGrp="1"/>
          </p:cNvGraphicFramePr>
          <p:nvPr/>
        </p:nvGraphicFramePr>
        <p:xfrm>
          <a:off x="548640" y="1234440"/>
          <a:ext cx="11064240" cy="3401568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5120640"/>
                <a:gridCol w="2971800"/>
                <a:gridCol w="2971800"/>
              </a:tblGrid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22225" cap="flat" cmpd="sng" algn="ctr">
                      <a:solidFill>
                        <a:srgbClr val="1F38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형태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22225" cap="flat" cmpd="sng" algn="ctr">
                      <a:solidFill>
                        <a:srgbClr val="1F38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22225" cap="flat" cmpd="sng" algn="ctr">
                      <a:solidFill>
                        <a:srgbClr val="1F38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사업수행계획서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문서(PDF)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착수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 성과 보고서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문서·데이터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중간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마케팅 결과서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문서(PDF)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결과 보고서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문서·발표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종료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정산 보고서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문서(회계)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종료</a:t>
                      </a:r>
                    </a:p>
                  </a:txBody>
                  <a:tcPr anchor="ctr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요약 박스 + 표 결합형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292608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 사업규모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42억 원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지원 기업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150개사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수출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210억 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3200400" cy="35661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 요약</a:t>
            </a:r>
          </a:p>
        </p:txBody>
      </p:sp>
      <p:graphicFrame>
        <p:nvGraphicFramePr>
          <p:cNvPr id="6" name="asset:TBL-012"/>
          <p:cNvGraphicFramePr>
            <a:graphicFrameLocks noGrp="1"/>
          </p:cNvGraphicFramePr>
          <p:nvPr/>
        </p:nvGraphicFramePr>
        <p:xfrm>
          <a:off x="3977639" y="1234440"/>
          <a:ext cx="7635240" cy="329184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3246120"/>
                <a:gridCol w="2194560"/>
                <a:gridCol w="2194560"/>
              </a:tblGrid>
              <a:tr h="658368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세부 사업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예산(억)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마케팅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제작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바이어 매칭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운영·관리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