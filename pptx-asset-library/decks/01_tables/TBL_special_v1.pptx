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TBL-007</a:t>
            </a:r>
          </a:p>
        </p:txBody>
      </p:sp>
      <p:grpSp>
        <p:nvGrpSpPr>
          <p:cNvPr id="5" name="asset:TBL-007"/>
          <p:cNvGrpSpPr/>
          <p:nvPr/>
        </p:nvGrpSpPr>
        <p:grpSpPr>
          <a:xfrm>
            <a:off x="548640" y="566928"/>
            <a:ext cx="11064240" cy="3867912"/>
            <a:chOff x="548640" y="566928"/>
            <a:chExt cx="11064240" cy="3867912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2단 헤더 (그룹 헤더 병합 + 서브 헤더)</a:t>
              </a:r>
            </a:p>
          </p:txBody>
        </p:sp>
        <p:graphicFrame>
          <p:nvGraphicFramePr>
            <p:cNvPr id="4" name="TBL-007_bg"/>
            <p:cNvGraphicFramePr>
              <a:graphicFrameLocks noGrp="1"/>
            </p:cNvGraphicFramePr>
            <p:nvPr/>
          </p:nvGraphicFramePr>
          <p:xfrm>
            <a:off x="548640" y="1143000"/>
            <a:ext cx="11064240" cy="329184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3017520"/>
                  <a:gridCol w="2011680"/>
                  <a:gridCol w="2011680"/>
                  <a:gridCol w="2011680"/>
                  <a:gridCol w="2011680"/>
                </a:tblGrid>
                <a:tr h="548640">
                  <a:tc rowSpan="2"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기업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 gridSpan="2"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수출액 (백만$)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 hMerge="1">
                    <a:txBody>
                      <a:bodyPr/>
                      <a:lstStyle/>
                      <a:p/>
                    </a:txBody>
                    <a:tcPr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</a:tcPr>
                  </a:tc>
                  <a:tc gridSpan="2"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고용 (명)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 hMerge="1">
                    <a:txBody>
                      <a:bodyPr/>
                      <a:lstStyle/>
                      <a:p/>
                    </a:txBody>
                    <a:tcPr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</a:tcPr>
                  </a:tc>
                </a:tr>
                <a:tr h="548640">
                  <a:tc vMerge="1">
                    <a:txBody>
                      <a:bodyPr/>
                      <a:lstStyle/>
                      <a:p/>
                    </a:txBody>
                    <a:tcPr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2023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2023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2A4A7F"/>
                      </a:solidFill>
                    </a:tcPr>
                  </a:tc>
                </a:tr>
                <a:tr h="548640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A사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120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158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45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62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B사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88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96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30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548640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C사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54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71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18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25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48640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D사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33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49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12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17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TBL-008</a:t>
            </a:r>
          </a:p>
        </p:txBody>
      </p:sp>
      <p:grpSp>
        <p:nvGrpSpPr>
          <p:cNvPr id="5" name="asset:TBL-008"/>
          <p:cNvGrpSpPr/>
          <p:nvPr/>
        </p:nvGrpSpPr>
        <p:grpSpPr>
          <a:xfrm>
            <a:off x="548640" y="566928"/>
            <a:ext cx="11064240" cy="3867912"/>
            <a:chOff x="548640" y="566928"/>
            <a:chExt cx="11064240" cy="3867912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좌측 라벨열 강조 (첫 열 네이비)</a:t>
              </a:r>
            </a:p>
          </p:txBody>
        </p:sp>
        <p:graphicFrame>
          <p:nvGraphicFramePr>
            <p:cNvPr id="4" name="TBL-008_bg"/>
            <p:cNvGraphicFramePr>
              <a:graphicFrameLocks noGrp="1"/>
            </p:cNvGraphicFramePr>
            <p:nvPr/>
          </p:nvGraphicFramePr>
          <p:xfrm>
            <a:off x="548640" y="1143000"/>
            <a:ext cx="11064240" cy="329184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2743200"/>
                  <a:gridCol w="2770632"/>
                  <a:gridCol w="2770632"/>
                  <a:gridCol w="2779776"/>
                </a:tblGrid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5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 개요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콘텐츠 시장 진출 종합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수출 판로 다변화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성장 기반 확보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5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추진 목표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3개년 누적 수출 30% 증대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신규 시장 5개국 개척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지속가능 성장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5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핵심 전략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현지화·마케팅·매칭 패키지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단계별 맞춤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기업 경쟁력 강화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5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기대 효과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수출 실적 및 고용 창출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지역 콘텐츠 산업 활성화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7F9FC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국가 브랜드 제고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/>
                      <a:lstStyle/>
                      <a:p/>
                    </a:txBody>
                    <a:tcPr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</a:tcPr>
                  </a:tc>
                  <a:tc>
                    <a:txBody>
                      <a:bodyPr/>
                      <a:lstStyle/>
                      <a:p/>
                    </a:txBody>
                    <a:tcPr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</a:tcPr>
                  </a:tc>
                  <a:tc>
                    <a:txBody>
                      <a:bodyPr/>
                      <a:lstStyle/>
                      <a:p/>
                    </a:txBody>
                    <a:tcPr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</a:tcPr>
                  </a:tc>
                  <a:tc>
                    <a:txBody>
                      <a:bodyPr/>
                      <a:lstStyle/>
                      <a:p/>
                    </a:txBody>
                    <a:tcPr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TBL-009</a:t>
            </a:r>
          </a:p>
        </p:txBody>
      </p:sp>
      <p:grpSp>
        <p:nvGrpSpPr>
          <p:cNvPr id="5" name="asset:TBL-009"/>
          <p:cNvGrpSpPr/>
          <p:nvPr/>
        </p:nvGrpSpPr>
        <p:grpSpPr>
          <a:xfrm>
            <a:off x="548640" y="566928"/>
            <a:ext cx="11064240" cy="3977640"/>
            <a:chOff x="548640" y="566928"/>
            <a:chExt cx="11064240" cy="3977640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체크·기호 항목표 (검증 결과)</a:t>
              </a:r>
            </a:p>
          </p:txBody>
        </p:sp>
        <p:graphicFrame>
          <p:nvGraphicFramePr>
            <p:cNvPr id="4" name="TBL-009_bg"/>
            <p:cNvGraphicFramePr>
              <a:graphicFrameLocks noGrp="1"/>
            </p:cNvGraphicFramePr>
            <p:nvPr/>
          </p:nvGraphicFramePr>
          <p:xfrm>
            <a:off x="548640" y="1143000"/>
            <a:ext cx="11064240" cy="3401568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4572000"/>
                  <a:gridCol w="1828800"/>
                  <a:gridCol w="2286000"/>
                  <a:gridCol w="2377440"/>
                </a:tblGrid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검증 항목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결과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담당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비고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수출 계약 요건 충족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심사팀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적합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 인증 취득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인증팀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완료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정산 서류 구비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29ABE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△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재무팀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보완 요청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품질 기준 통과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✓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품질팀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적합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납기 준수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3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✗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운영팀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재조정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TBL-010</a:t>
            </a:r>
          </a:p>
        </p:txBody>
      </p:sp>
      <p:grpSp>
        <p:nvGrpSpPr>
          <p:cNvPr id="5" name="asset:TBL-010"/>
          <p:cNvGrpSpPr/>
          <p:nvPr/>
        </p:nvGrpSpPr>
        <p:grpSpPr>
          <a:xfrm>
            <a:off x="548640" y="566928"/>
            <a:ext cx="11064240" cy="3977640"/>
            <a:chOff x="548640" y="566928"/>
            <a:chExt cx="11064240" cy="3977640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셀 하이라이트 (핵심 행 강조)</a:t>
              </a:r>
            </a:p>
          </p:txBody>
        </p:sp>
        <p:graphicFrame>
          <p:nvGraphicFramePr>
            <p:cNvPr id="4" name="TBL-010_bg"/>
            <p:cNvGraphicFramePr>
              <a:graphicFrameLocks noGrp="1"/>
            </p:cNvGraphicFramePr>
            <p:nvPr/>
          </p:nvGraphicFramePr>
          <p:xfrm>
            <a:off x="548640" y="1143000"/>
            <a:ext cx="11064240" cy="3401568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4206240"/>
                  <a:gridCol w="2286000"/>
                  <a:gridCol w="2286000"/>
                  <a:gridCol w="2286000"/>
                </a:tblGrid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구분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2025(목표)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증가율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매출액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158억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210억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+33%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수출 기업 수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112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150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+34%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핵심 성과: 신규 시장</a:t>
                        </a:r>
                      </a:p>
                    </a:txBody>
                    <a:tcPr anchor="ctr">
                      <a:lnT w="19050" cap="flat" cmpd="sng" algn="ctr">
                        <a:solidFill>
                          <a:srgbClr val="C0392B"/>
                        </a:solidFill>
                        <a:prstDash val="solid"/>
                      </a:lnT>
                      <a:lnB w="19050" cap="flat" cmpd="sng" algn="ctr">
                        <a:solidFill>
                          <a:srgbClr val="C0392B"/>
                        </a:solidFill>
                        <a:prstDash val="solid"/>
                      </a:lnB>
                      <a:solidFill>
                        <a:srgbClr val="FBF0E1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5개국</a:t>
                        </a:r>
                      </a:p>
                    </a:txBody>
                    <a:tcPr anchor="ctr">
                      <a:lnT w="19050" cap="flat" cmpd="sng" algn="ctr">
                        <a:solidFill>
                          <a:srgbClr val="C0392B"/>
                        </a:solidFill>
                        <a:prstDash val="solid"/>
                      </a:lnT>
                      <a:lnB w="19050" cap="flat" cmpd="sng" algn="ctr">
                        <a:solidFill>
                          <a:srgbClr val="C0392B"/>
                        </a:solidFill>
                        <a:prstDash val="solid"/>
                      </a:lnB>
                      <a:solidFill>
                        <a:srgbClr val="FBF0E1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9개국</a:t>
                        </a:r>
                      </a:p>
                    </a:txBody>
                    <a:tcPr anchor="ctr">
                      <a:lnT w="19050" cap="flat" cmpd="sng" algn="ctr">
                        <a:solidFill>
                          <a:srgbClr val="C0392B"/>
                        </a:solidFill>
                        <a:prstDash val="solid"/>
                      </a:lnT>
                      <a:lnB w="19050" cap="flat" cmpd="sng" algn="ctr">
                        <a:solidFill>
                          <a:srgbClr val="C0392B"/>
                        </a:solidFill>
                        <a:prstDash val="solid"/>
                      </a:lnB>
                      <a:solidFill>
                        <a:srgbClr val="FBF0E1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+80%</a:t>
                        </a:r>
                      </a:p>
                    </a:txBody>
                    <a:tcPr anchor="ctr">
                      <a:lnT w="19050" cap="flat" cmpd="sng" algn="ctr">
                        <a:solidFill>
                          <a:srgbClr val="C0392B"/>
                        </a:solidFill>
                        <a:prstDash val="solid"/>
                      </a:lnT>
                      <a:lnB w="19050" cap="flat" cmpd="sng" algn="ctr">
                        <a:solidFill>
                          <a:srgbClr val="C0392B"/>
                        </a:solidFill>
                        <a:prstDash val="solid"/>
                      </a:lnB>
                      <a:solidFill>
                        <a:srgbClr val="FBF0E1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고용 창출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340명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460명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+35%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재구매율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61%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72%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+11%p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TBL-011</a:t>
            </a:r>
          </a:p>
        </p:txBody>
      </p:sp>
      <p:grpSp>
        <p:nvGrpSpPr>
          <p:cNvPr id="5" name="asset:TBL-011"/>
          <p:cNvGrpSpPr/>
          <p:nvPr/>
        </p:nvGrpSpPr>
        <p:grpSpPr>
          <a:xfrm>
            <a:off x="548640" y="566928"/>
            <a:ext cx="11064240" cy="4069080"/>
            <a:chOff x="548640" y="566928"/>
            <a:chExt cx="11064240" cy="4069080"/>
          </a:xfrm>
        </p:grpSpPr>
        <p:sp>
          <p:nvSpPr>
            <p:cNvPr id="3" name="TextBox 2"/>
            <p:cNvSpPr txBox="1"/>
            <p:nvPr/>
          </p:nvSpPr>
          <p:spPr>
            <a:xfrm>
              <a:off x="548640" y="566928"/>
              <a:ext cx="11064240" cy="38404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3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미니멀 라인 표 (헤더 밑줄만)</a:t>
              </a:r>
            </a:p>
          </p:txBody>
        </p:sp>
        <p:graphicFrame>
          <p:nvGraphicFramePr>
            <p:cNvPr id="4" name="TBL-011_bg"/>
            <p:cNvGraphicFramePr>
              <a:graphicFrameLocks noGrp="1"/>
            </p:cNvGraphicFramePr>
            <p:nvPr/>
          </p:nvGraphicFramePr>
          <p:xfrm>
            <a:off x="548640" y="1234440"/>
            <a:ext cx="11064240" cy="3401568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5120640"/>
                  <a:gridCol w="2971800"/>
                  <a:gridCol w="2971800"/>
                </a:tblGrid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2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산출물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22225" cap="flat" cmpd="sng" algn="ctr">
                        <a:solidFill>
                          <a:srgbClr val="1F3864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형태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22225" cap="flat" cmpd="sng" algn="ctr">
                        <a:solidFill>
                          <a:srgbClr val="1F3864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제출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22225" cap="flat" cmpd="sng" algn="ctr">
                        <a:solidFill>
                          <a:srgbClr val="1F3864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사업수행계획서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문서(PDF)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착수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중간 성과 보고서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문서·데이터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중간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마케팅 결과서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문서(PDF)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수시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최종 결과 보고서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문서·발표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종료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56692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정산 보고서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문서(회계)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종료</a:t>
                        </a:r>
                      </a:p>
                    </a:txBody>
                    <a:tcPr anchor="ctr">
                      <a:lnL w="0" cap="flat">
                        <a:noFill/>
                      </a:lnL>
                      <a:lnR w="0" cap="flat">
                        <a:noFill/>
                      </a:lnR>
                      <a:lnT w="0" cap="flat">
                        <a:noFill/>
                      </a:lnT>
                      <a:lnB w="6350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6424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3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요약 박스 + 표 결합형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292608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총 사업규모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42억 원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지원 기업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150개사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수출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210억 원</a:t>
            </a:r>
          </a:p>
        </p:txBody>
      </p:sp>
      <p:grpSp>
        <p:nvGrpSpPr>
          <p:cNvPr id="7" name="asset:TBL-012"/>
          <p:cNvGrpSpPr/>
          <p:nvPr/>
        </p:nvGrpSpPr>
        <p:grpSpPr>
          <a:xfrm>
            <a:off x="548640" y="1234440"/>
            <a:ext cx="11064239" cy="3566160"/>
            <a:chOff x="548640" y="1234440"/>
            <a:chExt cx="11064239" cy="3566160"/>
          </a:xfrm>
        </p:grpSpPr>
        <p:sp>
          <p:nvSpPr>
            <p:cNvPr id="4" name="Rectangle 3"/>
            <p:cNvSpPr/>
            <p:nvPr/>
          </p:nvSpPr>
          <p:spPr>
            <a:xfrm>
              <a:off x="548640" y="1234440"/>
              <a:ext cx="3200400" cy="356616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5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사업 요약</a:t>
              </a:r>
            </a:p>
          </p:txBody>
        </p:sp>
        <p:graphicFrame>
          <p:nvGraphicFramePr>
            <p:cNvPr id="6" name="Table 5"/>
            <p:cNvGraphicFramePr>
              <a:graphicFrameLocks noGrp="1"/>
            </p:cNvGraphicFramePr>
            <p:nvPr/>
          </p:nvGraphicFramePr>
          <p:xfrm>
            <a:off x="3977639" y="1234440"/>
            <a:ext cx="7635240" cy="3291840"/>
          </p:xfrm>
          <a:graphic>
            <a:graphicData uri="http://schemas.openxmlformats.org/drawingml/2006/table">
              <a:tbl>
                <a:tblPr firstRow="0" bandRow="0" lastRow="0" firstCol="0" bandCol="0">
                  <a:tableStyleId>{2D5ABB26-0587-4C30-8999-92F81FD0307C}</a:tableStyleId>
                </a:tblPr>
                <a:tblGrid>
                  <a:gridCol w="3246120"/>
                  <a:gridCol w="2194560"/>
                  <a:gridCol w="2194560"/>
                </a:tblGrid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세부 사업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예산(억)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비중(%)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1F3864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해외 마케팅 지원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15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36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현지화 제작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12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29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바이어 매칭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9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21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FFFFF"/>
                      </a:solidFill>
                    </a:tcPr>
                  </a:tc>
                </a:tr>
                <a:tr h="658368">
                  <a:tc>
                    <a:txBody>
                      <a:bodyPr wrap="square" lIns="76200" rIns="76200" tIns="38100" bIns="38100"/>
                      <a:lstStyle/>
                      <a:p>
                        <a:pPr algn="l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운영·관리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 lIns="76200" rIns="76200" tIns="38100" bIns="38100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14</a:t>
                        </a:r>
                      </a:p>
                    </a:txBody>
                    <a:tcPr anchor="ctr">
                      <a:lnL w="9525" cap="flat" cmpd="sng" algn="ctr">
                        <a:solidFill>
                          <a:srgbClr val="D9D9D9"/>
                        </a:solidFill>
                        <a:prstDash val="solid"/>
                      </a:lnL>
                      <a:lnR w="9525" cap="flat" cmpd="sng" algn="ctr">
                        <a:solidFill>
                          <a:srgbClr val="D9D9D9"/>
                        </a:solidFill>
                        <a:prstDash val="solid"/>
                      </a:lnR>
                      <a:lnT w="9525" cap="flat" cmpd="sng" algn="ctr">
                        <a:solidFill>
                          <a:srgbClr val="D9D9D9"/>
                        </a:solidFill>
                        <a:prstDash val="solid"/>
                      </a:lnT>
                      <a:lnB w="9525" cap="flat" cmpd="sng" algn="ctr">
                        <a:solidFill>
                          <a:srgbClr val="D9D9D9"/>
                        </a:solidFill>
                        <a:prstDash val="solid"/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