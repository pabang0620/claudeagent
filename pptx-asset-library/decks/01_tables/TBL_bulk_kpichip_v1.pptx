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navy_600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TBL-153</a:t>
            </a:r>
          </a:p>
        </p:txBody>
      </p:sp>
      <p:graphicFrame>
        <p:nvGraphicFramePr>
          <p:cNvPr id="4" name="asset:TBL-153"/>
          <p:cNvGraphicFramePr>
            <a:graphicFrameLocks noGrp="1"/>
          </p:cNvGraphicFramePr>
          <p:nvPr/>
        </p:nvGraphicFramePr>
        <p:xfrm>
          <a:off x="914400" y="1463040"/>
          <a:ext cx="1036015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6,743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6,772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6,796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4.4%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11.5%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18.6%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15.7%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red_500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TBL-154</a:t>
            </a:r>
          </a:p>
        </p:txBody>
      </p:sp>
      <p:graphicFrame>
        <p:nvGraphicFramePr>
          <p:cNvPr id="4" name="asset:TBL-154"/>
          <p:cNvGraphicFramePr>
            <a:graphicFrameLocks noGrp="1"/>
          </p:cNvGraphicFramePr>
          <p:nvPr/>
        </p:nvGraphicFramePr>
        <p:xfrm>
          <a:off x="914400" y="1463040"/>
          <a:ext cx="10360152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6,780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7.4%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14.5%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21.6%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12.7%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4590288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5.8%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navy_800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TBL-155</a:t>
            </a:r>
          </a:p>
        </p:txBody>
      </p:sp>
      <p:graphicFrame>
        <p:nvGraphicFramePr>
          <p:cNvPr id="4" name="asset:TBL-155"/>
          <p:cNvGraphicFramePr>
            <a:graphicFrameLocks noGrp="1"/>
          </p:cNvGraphicFramePr>
          <p:nvPr/>
        </p:nvGraphicFramePr>
        <p:xfrm>
          <a:off x="914400" y="1463040"/>
          <a:ext cx="1036015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10.4%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17.5%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24.6%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9.7%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blue_500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TBL-156</a:t>
            </a:r>
          </a:p>
        </p:txBody>
      </p:sp>
      <p:graphicFrame>
        <p:nvGraphicFramePr>
          <p:cNvPr id="4" name="asset:TBL-156"/>
          <p:cNvGraphicFramePr>
            <a:graphicFrameLocks noGrp="1"/>
          </p:cNvGraphicFramePr>
          <p:nvPr/>
        </p:nvGraphicFramePr>
        <p:xfrm>
          <a:off x="914400" y="1463040"/>
          <a:ext cx="10360152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13.4%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20.5%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13.6%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6.7%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4590288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1.8%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teal_500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TBL-157</a:t>
            </a:r>
          </a:p>
        </p:txBody>
      </p:sp>
      <p:graphicFrame>
        <p:nvGraphicFramePr>
          <p:cNvPr id="4" name="asset:TBL-157"/>
          <p:cNvGraphicFramePr>
            <a:graphicFrameLocks noGrp="1"/>
          </p:cNvGraphicFramePr>
          <p:nvPr/>
        </p:nvGraphicFramePr>
        <p:xfrm>
          <a:off x="914400" y="1463040"/>
          <a:ext cx="1036015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6,891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16.4%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23.5%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10.6%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3.7%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purple_600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TBL-158</a:t>
            </a:r>
          </a:p>
        </p:txBody>
      </p:sp>
      <p:graphicFrame>
        <p:nvGraphicFramePr>
          <p:cNvPr id="4" name="asset:TBL-158"/>
          <p:cNvGraphicFramePr>
            <a:graphicFrameLocks noGrp="1"/>
          </p:cNvGraphicFramePr>
          <p:nvPr/>
        </p:nvGraphicFramePr>
        <p:xfrm>
          <a:off x="914400" y="1463040"/>
          <a:ext cx="10360152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19.4%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14.5%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7.6%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0.7%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4590288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7.8%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navy_600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TBL-159</a:t>
            </a:r>
          </a:p>
        </p:txBody>
      </p:sp>
      <p:graphicFrame>
        <p:nvGraphicFramePr>
          <p:cNvPr id="4" name="asset:TBL-159"/>
          <p:cNvGraphicFramePr>
            <a:graphicFrameLocks noGrp="1"/>
          </p:cNvGraphicFramePr>
          <p:nvPr/>
        </p:nvGraphicFramePr>
        <p:xfrm>
          <a:off x="914400" y="1463040"/>
          <a:ext cx="1036015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6,994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22.4%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11.5%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4.6%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3.7%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red_500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TBL-160</a:t>
            </a:r>
          </a:p>
        </p:txBody>
      </p:sp>
      <p:graphicFrame>
        <p:nvGraphicFramePr>
          <p:cNvPr id="4" name="asset:TBL-160"/>
          <p:cNvGraphicFramePr>
            <a:graphicFrameLocks noGrp="1"/>
          </p:cNvGraphicFramePr>
          <p:nvPr/>
        </p:nvGraphicFramePr>
        <p:xfrm>
          <a:off x="914400" y="1463040"/>
          <a:ext cx="10360152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15.4%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8.5%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6.7%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4590288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13.8%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navy_800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TBL-161</a:t>
            </a:r>
          </a:p>
        </p:txBody>
      </p:sp>
      <p:graphicFrame>
        <p:nvGraphicFramePr>
          <p:cNvPr id="4" name="asset:TBL-161"/>
          <p:cNvGraphicFramePr>
            <a:graphicFrameLocks noGrp="1"/>
          </p:cNvGraphicFramePr>
          <p:nvPr/>
        </p:nvGraphicFramePr>
        <p:xfrm>
          <a:off x="914400" y="1463040"/>
          <a:ext cx="1036015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12.4%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5.5%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2.6%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9.7%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핵심지표(KPI) 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셀내 KPI칩 · 증감칩 오버레이 · blue_500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TBL-162</a:t>
            </a:r>
          </a:p>
        </p:txBody>
      </p:sp>
      <p:graphicFrame>
        <p:nvGraphicFramePr>
          <p:cNvPr id="4" name="asset:TBL-162"/>
          <p:cNvGraphicFramePr>
            <a:graphicFrameLocks noGrp="1"/>
          </p:cNvGraphicFramePr>
          <p:nvPr/>
        </p:nvGraphicFramePr>
        <p:xfrm>
          <a:off x="914400" y="1463040"/>
          <a:ext cx="10360152" cy="3621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5032"/>
                <a:gridCol w="2651760"/>
                <a:gridCol w="1920240"/>
                <a:gridCol w="210312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값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전기 대비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7,076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7,182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7,288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7,317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45752" y="2176272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9.4%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5752" y="2779776"/>
            <a:ext cx="15544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▼ 2.5%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45752" y="3383280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5.6%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3986784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12.7%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5752" y="4590288"/>
            <a:ext cx="1554480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▲ 19.8%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