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공공 데이터 개방 핵심지표(KPI) 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셀내 KPI칩 · 증감칩 오버레이 · navy_600</a:t>
            </a:r>
          </a:p>
        </p:txBody>
      </p:sp>
      <p:grpSp>
        <p:nvGrpSpPr>
          <p:cNvPr id="9" name="asset:TBL-153"/>
          <p:cNvGrpSpPr/>
          <p:nvPr/>
        </p:nvGrpSpPr>
        <p:grpSpPr>
          <a:xfrm>
            <a:off x="914400" y="1463040"/>
            <a:ext cx="10360152" cy="3017520"/>
            <a:chOff x="914400" y="1463040"/>
            <a:chExt cx="10360152" cy="3017520"/>
          </a:xfrm>
        </p:grpSpPr>
        <p:graphicFrame>
          <p:nvGraphicFramePr>
            <p:cNvPr id="4" name="Table 3"/>
            <p:cNvGraphicFramePr>
              <a:graphicFrameLocks noGrp="1"/>
            </p:cNvGraphicFramePr>
            <p:nvPr/>
          </p:nvGraphicFramePr>
          <p:xfrm>
            <a:off x="914400" y="1463040"/>
            <a:ext cx="10360152" cy="3017520"/>
          </p:xfrm>
          <a:graphic>
            <a:graphicData uri="http://schemas.openxmlformats.org/drawingml/2006/table">
              <a:tbl>
                <a:tblPr>
                  <a:tableStyleId>{2D5ABB26-0587-4C30-8999-92F81FD0307C}</a:tableStyleId>
                </a:tblPr>
                <a:tblGrid>
                  <a:gridCol w="3685032"/>
                  <a:gridCol w="2651760"/>
                  <a:gridCol w="1920240"/>
                  <a:gridCol w="2103120"/>
                </a:tblGrid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구분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2A4A7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현재 값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2A4A7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목표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2A4A7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전기 대비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2A4A7F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고객 지원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2A4A7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6,743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6,772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보안 점검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2A4A7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6,796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6,825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콘텐츠 제작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2A4A7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6,849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6,878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파트너 협력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2A4A7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6,902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6,931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5" name="Rounded Rectangle 4"/>
            <p:cNvSpPr/>
            <p:nvPr/>
          </p:nvSpPr>
          <p:spPr>
            <a:xfrm>
              <a:off x="9445752" y="2176272"/>
              <a:ext cx="1554480" cy="38404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▲ 4.4%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445752" y="2779776"/>
              <a:ext cx="1554480" cy="38404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▲ 11.5%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445752" y="3383280"/>
              <a:ext cx="1554480" cy="38404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▲ 18.6%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445752" y="3986784"/>
              <a:ext cx="1554480" cy="38404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▼ 15.7%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TBL-153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메타버스 전시 핵심지표(KPI) 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셀내 KPI칩 · 증감칩 오버레이 · red_500</a:t>
            </a:r>
          </a:p>
        </p:txBody>
      </p:sp>
      <p:grpSp>
        <p:nvGrpSpPr>
          <p:cNvPr id="10" name="asset:TBL-154"/>
          <p:cNvGrpSpPr/>
          <p:nvPr/>
        </p:nvGrpSpPr>
        <p:grpSpPr>
          <a:xfrm>
            <a:off x="914400" y="1463040"/>
            <a:ext cx="10360152" cy="3621024"/>
            <a:chOff x="914400" y="1463040"/>
            <a:chExt cx="10360152" cy="3621024"/>
          </a:xfrm>
        </p:grpSpPr>
        <p:graphicFrame>
          <p:nvGraphicFramePr>
            <p:cNvPr id="4" name="Table 3"/>
            <p:cNvGraphicFramePr>
              <a:graphicFrameLocks noGrp="1"/>
            </p:cNvGraphicFramePr>
            <p:nvPr/>
          </p:nvGraphicFramePr>
          <p:xfrm>
            <a:off x="914400" y="1463040"/>
            <a:ext cx="10360152" cy="3621024"/>
          </p:xfrm>
          <a:graphic>
            <a:graphicData uri="http://schemas.openxmlformats.org/drawingml/2006/table">
              <a:tbl>
                <a:tblPr>
                  <a:tableStyleId>{2D5ABB26-0587-4C30-8999-92F81FD0307C}</a:tableStyleId>
                </a:tblPr>
                <a:tblGrid>
                  <a:gridCol w="3685032"/>
                  <a:gridCol w="2651760"/>
                  <a:gridCol w="1920240"/>
                  <a:gridCol w="2103120"/>
                </a:tblGrid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항목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C0392B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현재 값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C0392B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목표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C0392B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전기 대비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C0392B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데이터 분석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6,780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6,809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인프라 구축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6,833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6,862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마케팅 홍보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6,886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6,915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교육 훈련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6,939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6,968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서비스 고도화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6,992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7,021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5" name="Rounded Rectangle 4"/>
            <p:cNvSpPr/>
            <p:nvPr/>
          </p:nvSpPr>
          <p:spPr>
            <a:xfrm>
              <a:off x="9445752" y="2176272"/>
              <a:ext cx="1554480" cy="38404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▲ 7.4%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445752" y="2779776"/>
              <a:ext cx="1554480" cy="38404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▲ 14.5%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445752" y="3383280"/>
              <a:ext cx="1554480" cy="38404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▲ 21.6%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445752" y="3986784"/>
              <a:ext cx="1554480" cy="38404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▼ 12.7%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9445752" y="4590288"/>
              <a:ext cx="1554480" cy="38404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▼ 5.8%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TBL-154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친환경 모빌리티 핵심지표(KPI) 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셀내 KPI칩 · 증감칩 오버레이 · navy_800</a:t>
            </a:r>
          </a:p>
        </p:txBody>
      </p:sp>
      <p:grpSp>
        <p:nvGrpSpPr>
          <p:cNvPr id="9" name="asset:TBL-155"/>
          <p:cNvGrpSpPr/>
          <p:nvPr/>
        </p:nvGrpSpPr>
        <p:grpSpPr>
          <a:xfrm>
            <a:off x="914400" y="1463040"/>
            <a:ext cx="10360152" cy="3017520"/>
            <a:chOff x="914400" y="1463040"/>
            <a:chExt cx="10360152" cy="3017520"/>
          </a:xfrm>
        </p:grpSpPr>
        <p:graphicFrame>
          <p:nvGraphicFramePr>
            <p:cNvPr id="4" name="Table 3"/>
            <p:cNvGraphicFramePr>
              <a:graphicFrameLocks noGrp="1"/>
            </p:cNvGraphicFramePr>
            <p:nvPr/>
          </p:nvGraphicFramePr>
          <p:xfrm>
            <a:off x="914400" y="1463040"/>
            <a:ext cx="10360152" cy="3017520"/>
          </p:xfrm>
          <a:graphic>
            <a:graphicData uri="http://schemas.openxmlformats.org/drawingml/2006/table">
              <a:tbl>
                <a:tblPr>
                  <a:tableStyleId>{2D5ABB26-0587-4C30-8999-92F81FD0307C}</a:tableStyleId>
                </a:tblPr>
                <a:tblGrid>
                  <a:gridCol w="3685032"/>
                  <a:gridCol w="2651760"/>
                  <a:gridCol w="1920240"/>
                  <a:gridCol w="2103120"/>
                </a:tblGrid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영역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현재 값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목표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전기 대비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1F3864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보안 점검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1F3864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6,817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6,846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콘텐츠 제작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1F3864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6,870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6,899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파트너 협력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1F3864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6,923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6,952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유지보수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1F3864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6,976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7,005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5" name="Rounded Rectangle 4"/>
            <p:cNvSpPr/>
            <p:nvPr/>
          </p:nvSpPr>
          <p:spPr>
            <a:xfrm>
              <a:off x="9445752" y="2176272"/>
              <a:ext cx="1554480" cy="38404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▲ 10.4%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445752" y="2779776"/>
              <a:ext cx="1554480" cy="38404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▲ 17.5%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445752" y="3383280"/>
              <a:ext cx="1554480" cy="38404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▲ 24.6%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445752" y="3986784"/>
              <a:ext cx="1554480" cy="38404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▼ 9.7%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TBL-155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농식품 수출 핵심지표(KPI) 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셀내 KPI칩 · 증감칩 오버레이 · blue_500</a:t>
            </a:r>
          </a:p>
        </p:txBody>
      </p:sp>
      <p:grpSp>
        <p:nvGrpSpPr>
          <p:cNvPr id="10" name="asset:TBL-156"/>
          <p:cNvGrpSpPr/>
          <p:nvPr/>
        </p:nvGrpSpPr>
        <p:grpSpPr>
          <a:xfrm>
            <a:off x="914400" y="1463040"/>
            <a:ext cx="10360152" cy="3621024"/>
            <a:chOff x="914400" y="1463040"/>
            <a:chExt cx="10360152" cy="3621024"/>
          </a:xfrm>
        </p:grpSpPr>
        <p:graphicFrame>
          <p:nvGraphicFramePr>
            <p:cNvPr id="4" name="Table 3"/>
            <p:cNvGraphicFramePr>
              <a:graphicFrameLocks noGrp="1"/>
            </p:cNvGraphicFramePr>
            <p:nvPr/>
          </p:nvGraphicFramePr>
          <p:xfrm>
            <a:off x="914400" y="1463040"/>
            <a:ext cx="10360152" cy="3621024"/>
          </p:xfrm>
          <a:graphic>
            <a:graphicData uri="http://schemas.openxmlformats.org/drawingml/2006/table">
              <a:tbl>
                <a:tblPr>
                  <a:tableStyleId>{2D5ABB26-0587-4C30-8999-92F81FD0307C}</a:tableStyleId>
                </a:tblPr>
                <a:tblGrid>
                  <a:gridCol w="3685032"/>
                  <a:gridCol w="2651760"/>
                  <a:gridCol w="1920240"/>
                  <a:gridCol w="2103120"/>
                </a:tblGrid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과업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2E75D6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현재 값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2E75D6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목표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2E75D6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전기 대비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2E75D6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인프라 구축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6,854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6,883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마케팅 홍보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6,907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6,936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교육 훈련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6,960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6,989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서비스 고도화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7,013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7,042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글로벌 확장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7,066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7,095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5" name="Rounded Rectangle 4"/>
            <p:cNvSpPr/>
            <p:nvPr/>
          </p:nvSpPr>
          <p:spPr>
            <a:xfrm>
              <a:off x="9445752" y="2176272"/>
              <a:ext cx="1554480" cy="38404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▲ 13.4%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445752" y="2779776"/>
              <a:ext cx="1554480" cy="38404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▲ 20.5%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445752" y="3383280"/>
              <a:ext cx="1554480" cy="38404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▼ 13.6%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445752" y="3986784"/>
              <a:ext cx="1554480" cy="38404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▼ 6.7%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9445752" y="4590288"/>
              <a:ext cx="1554480" cy="38404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▲ 1.8%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TBL-156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문화예술 지원 핵심지표(KPI) 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셀내 KPI칩 · 증감칩 오버레이 · teal_500</a:t>
            </a:r>
          </a:p>
        </p:txBody>
      </p:sp>
      <p:grpSp>
        <p:nvGrpSpPr>
          <p:cNvPr id="9" name="asset:TBL-157"/>
          <p:cNvGrpSpPr/>
          <p:nvPr/>
        </p:nvGrpSpPr>
        <p:grpSpPr>
          <a:xfrm>
            <a:off x="914400" y="1463040"/>
            <a:ext cx="10360152" cy="3017520"/>
            <a:chOff x="914400" y="1463040"/>
            <a:chExt cx="10360152" cy="3017520"/>
          </a:xfrm>
        </p:grpSpPr>
        <p:graphicFrame>
          <p:nvGraphicFramePr>
            <p:cNvPr id="4" name="Table 3"/>
            <p:cNvGraphicFramePr>
              <a:graphicFrameLocks noGrp="1"/>
            </p:cNvGraphicFramePr>
            <p:nvPr/>
          </p:nvGraphicFramePr>
          <p:xfrm>
            <a:off x="914400" y="1463040"/>
            <a:ext cx="10360152" cy="3017520"/>
          </p:xfrm>
          <a:graphic>
            <a:graphicData uri="http://schemas.openxmlformats.org/drawingml/2006/table">
              <a:tbl>
                <a:tblPr>
                  <a:tableStyleId>{2D5ABB26-0587-4C30-8999-92F81FD0307C}</a:tableStyleId>
                </a:tblPr>
                <a:tblGrid>
                  <a:gridCol w="3685032"/>
                  <a:gridCol w="2651760"/>
                  <a:gridCol w="1920240"/>
                  <a:gridCol w="2103120"/>
                </a:tblGrid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지표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1F9E8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현재 값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1F9E8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목표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1F9E8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전기 대비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1F9E8F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콘텐츠 제작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6,891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6,920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파트너 협력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6,944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6,973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유지보수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6,997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7,026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표준화 정립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1F9E8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7,050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7,079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5" name="Rounded Rectangle 4"/>
            <p:cNvSpPr/>
            <p:nvPr/>
          </p:nvSpPr>
          <p:spPr>
            <a:xfrm>
              <a:off x="9445752" y="2176272"/>
              <a:ext cx="1554480" cy="38404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▲ 16.4%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445752" y="2779776"/>
              <a:ext cx="1554480" cy="38404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▲ 23.5%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445752" y="3383280"/>
              <a:ext cx="1554480" cy="38404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▼ 10.6%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445752" y="3986784"/>
              <a:ext cx="1554480" cy="38404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▼ 3.7%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TBL-157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스마트시티 핵심지표(KPI) 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셀내 KPI칩 · 증감칩 오버레이 · purple_600</a:t>
            </a:r>
          </a:p>
        </p:txBody>
      </p:sp>
      <p:grpSp>
        <p:nvGrpSpPr>
          <p:cNvPr id="10" name="asset:TBL-158"/>
          <p:cNvGrpSpPr/>
          <p:nvPr/>
        </p:nvGrpSpPr>
        <p:grpSpPr>
          <a:xfrm>
            <a:off x="914400" y="1463040"/>
            <a:ext cx="10360152" cy="3621024"/>
            <a:chOff x="914400" y="1463040"/>
            <a:chExt cx="10360152" cy="3621024"/>
          </a:xfrm>
        </p:grpSpPr>
        <p:graphicFrame>
          <p:nvGraphicFramePr>
            <p:cNvPr id="4" name="Table 3"/>
            <p:cNvGraphicFramePr>
              <a:graphicFrameLocks noGrp="1"/>
            </p:cNvGraphicFramePr>
            <p:nvPr/>
          </p:nvGraphicFramePr>
          <p:xfrm>
            <a:off x="914400" y="1463040"/>
            <a:ext cx="10360152" cy="3621024"/>
          </p:xfrm>
          <a:graphic>
            <a:graphicData uri="http://schemas.openxmlformats.org/drawingml/2006/table">
              <a:tbl>
                <a:tblPr>
                  <a:tableStyleId>{2D5ABB26-0587-4C30-8999-92F81FD0307C}</a:tableStyleId>
                </a:tblPr>
                <a:tblGrid>
                  <a:gridCol w="3685032"/>
                  <a:gridCol w="2651760"/>
                  <a:gridCol w="1920240"/>
                  <a:gridCol w="2103120"/>
                </a:tblGrid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부문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7B2D8E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현재 값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7B2D8E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목표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7B2D8E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전기 대비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7B2D8E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마케팅 홍보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7B2D8E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6,928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6,957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교육 훈련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7B2D8E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6,981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7,010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서비스 고도화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7B2D8E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7,034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7,063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글로벌 확장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7B2D8E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7,087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7,116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브랜드 강화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7B2D8E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7,140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7,169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5" name="Rounded Rectangle 4"/>
            <p:cNvSpPr/>
            <p:nvPr/>
          </p:nvSpPr>
          <p:spPr>
            <a:xfrm>
              <a:off x="9445752" y="2176272"/>
              <a:ext cx="1554480" cy="38404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▲ 19.4%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445752" y="2779776"/>
              <a:ext cx="1554480" cy="38404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▼ 14.5%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445752" y="3383280"/>
              <a:ext cx="1554480" cy="38404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▼ 7.6%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445752" y="3986784"/>
              <a:ext cx="1554480" cy="38404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▲ 0.7%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9445752" y="4590288"/>
              <a:ext cx="1554480" cy="38404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▲ 7.8%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TBL-158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바이오 소재 핵심지표(KPI) 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셀내 KPI칩 · 증감칩 오버레이 · navy_600</a:t>
            </a:r>
          </a:p>
        </p:txBody>
      </p:sp>
      <p:grpSp>
        <p:nvGrpSpPr>
          <p:cNvPr id="9" name="asset:TBL-159"/>
          <p:cNvGrpSpPr/>
          <p:nvPr/>
        </p:nvGrpSpPr>
        <p:grpSpPr>
          <a:xfrm>
            <a:off x="914400" y="1463040"/>
            <a:ext cx="10360152" cy="3017520"/>
            <a:chOff x="914400" y="1463040"/>
            <a:chExt cx="10360152" cy="3017520"/>
          </a:xfrm>
        </p:grpSpPr>
        <p:graphicFrame>
          <p:nvGraphicFramePr>
            <p:cNvPr id="4" name="Table 3"/>
            <p:cNvGraphicFramePr>
              <a:graphicFrameLocks noGrp="1"/>
            </p:cNvGraphicFramePr>
            <p:nvPr/>
          </p:nvGraphicFramePr>
          <p:xfrm>
            <a:off x="914400" y="1463040"/>
            <a:ext cx="10360152" cy="3017520"/>
          </p:xfrm>
          <a:graphic>
            <a:graphicData uri="http://schemas.openxmlformats.org/drawingml/2006/table">
              <a:tbl>
                <a:tblPr>
                  <a:tableStyleId>{2D5ABB26-0587-4C30-8999-92F81FD0307C}</a:tableStyleId>
                </a:tblPr>
                <a:tblGrid>
                  <a:gridCol w="3685032"/>
                  <a:gridCol w="2651760"/>
                  <a:gridCol w="1920240"/>
                  <a:gridCol w="2103120"/>
                </a:tblGrid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단계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2A4A7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현재 값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2A4A7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목표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2A4A7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전기 대비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2A4A7F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파트너 협력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2A4A7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6,965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6,994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유지보수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2A4A7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7,018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7,047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표준화 정립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2A4A7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7,071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7,100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채널 다각화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2A4A7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7,124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7,153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5" name="Rounded Rectangle 4"/>
            <p:cNvSpPr/>
            <p:nvPr/>
          </p:nvSpPr>
          <p:spPr>
            <a:xfrm>
              <a:off x="9445752" y="2176272"/>
              <a:ext cx="1554480" cy="38404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▲ 22.4%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445752" y="2779776"/>
              <a:ext cx="1554480" cy="38404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▼ 11.5%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445752" y="3383280"/>
              <a:ext cx="1554480" cy="38404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▼ 4.6%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445752" y="3986784"/>
              <a:ext cx="1554480" cy="38404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▲ 3.7%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TBL-159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콘텐츠 해외진출 핵심지표(KPI) 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셀내 KPI칩 · 증감칩 오버레이 · red_500</a:t>
            </a:r>
          </a:p>
        </p:txBody>
      </p:sp>
      <p:grpSp>
        <p:nvGrpSpPr>
          <p:cNvPr id="10" name="asset:TBL-160"/>
          <p:cNvGrpSpPr/>
          <p:nvPr/>
        </p:nvGrpSpPr>
        <p:grpSpPr>
          <a:xfrm>
            <a:off x="914400" y="1463040"/>
            <a:ext cx="10360152" cy="3621024"/>
            <a:chOff x="914400" y="1463040"/>
            <a:chExt cx="10360152" cy="3621024"/>
          </a:xfrm>
        </p:grpSpPr>
        <p:graphicFrame>
          <p:nvGraphicFramePr>
            <p:cNvPr id="4" name="Table 3"/>
            <p:cNvGraphicFramePr>
              <a:graphicFrameLocks noGrp="1"/>
            </p:cNvGraphicFramePr>
            <p:nvPr/>
          </p:nvGraphicFramePr>
          <p:xfrm>
            <a:off x="914400" y="1463040"/>
            <a:ext cx="10360152" cy="3621024"/>
          </p:xfrm>
          <a:graphic>
            <a:graphicData uri="http://schemas.openxmlformats.org/drawingml/2006/table">
              <a:tbl>
                <a:tblPr>
                  <a:tableStyleId>{2D5ABB26-0587-4C30-8999-92F81FD0307C}</a:tableStyleId>
                </a:tblPr>
                <a:tblGrid>
                  <a:gridCol w="3685032"/>
                  <a:gridCol w="2651760"/>
                  <a:gridCol w="1920240"/>
                  <a:gridCol w="2103120"/>
                </a:tblGrid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분류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C0392B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현재 값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C0392B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목표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C0392B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전기 대비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C0392B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교육 훈련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7,002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7,031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서비스 고도화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7,055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7,084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글로벌 확장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7,108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7,137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브랜드 강화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7,161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7,190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사업 기획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C0392B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7,214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7,243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5" name="Rounded Rectangle 4"/>
            <p:cNvSpPr/>
            <p:nvPr/>
          </p:nvSpPr>
          <p:spPr>
            <a:xfrm>
              <a:off x="9445752" y="2176272"/>
              <a:ext cx="1554480" cy="38404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▼ 15.4%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445752" y="2779776"/>
              <a:ext cx="1554480" cy="38404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▼ 8.5%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445752" y="3383280"/>
              <a:ext cx="1554480" cy="38404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▼ 1.6%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445752" y="3986784"/>
              <a:ext cx="1554480" cy="38404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▲ 6.7%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9445752" y="4590288"/>
              <a:ext cx="1554480" cy="38404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▲ 13.8%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TBL-160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스마트 물류 핵심지표(KPI) 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셀내 KPI칩 · 증감칩 오버레이 · navy_800</a:t>
            </a:r>
          </a:p>
        </p:txBody>
      </p:sp>
      <p:grpSp>
        <p:nvGrpSpPr>
          <p:cNvPr id="9" name="asset:TBL-161"/>
          <p:cNvGrpSpPr/>
          <p:nvPr/>
        </p:nvGrpSpPr>
        <p:grpSpPr>
          <a:xfrm>
            <a:off x="914400" y="1463040"/>
            <a:ext cx="10360152" cy="3017520"/>
            <a:chOff x="914400" y="1463040"/>
            <a:chExt cx="10360152" cy="3017520"/>
          </a:xfrm>
        </p:grpSpPr>
        <p:graphicFrame>
          <p:nvGraphicFramePr>
            <p:cNvPr id="4" name="Table 3"/>
            <p:cNvGraphicFramePr>
              <a:graphicFrameLocks noGrp="1"/>
            </p:cNvGraphicFramePr>
            <p:nvPr/>
          </p:nvGraphicFramePr>
          <p:xfrm>
            <a:off x="914400" y="1463040"/>
            <a:ext cx="10360152" cy="3017520"/>
          </p:xfrm>
          <a:graphic>
            <a:graphicData uri="http://schemas.openxmlformats.org/drawingml/2006/table">
              <a:tbl>
                <a:tblPr>
                  <a:tableStyleId>{2D5ABB26-0587-4C30-8999-92F81FD0307C}</a:tableStyleId>
                </a:tblPr>
                <a:tblGrid>
                  <a:gridCol w="3685032"/>
                  <a:gridCol w="2651760"/>
                  <a:gridCol w="1920240"/>
                  <a:gridCol w="2103120"/>
                </a:tblGrid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요소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현재 값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목표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1F3864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전기 대비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1F3864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유지보수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1F3864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7,039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7,068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표준화 정립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1F3864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7,092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7,121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채널 다각화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1F3864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7,145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7,174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재무 관리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1F3864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7,198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7,227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5" name="Rounded Rectangle 4"/>
            <p:cNvSpPr/>
            <p:nvPr/>
          </p:nvSpPr>
          <p:spPr>
            <a:xfrm>
              <a:off x="9445752" y="2176272"/>
              <a:ext cx="1554480" cy="38404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▼ 12.4%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445752" y="2779776"/>
              <a:ext cx="1554480" cy="38404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▼ 5.5%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445752" y="3383280"/>
              <a:ext cx="1554480" cy="38404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▲ 2.6%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445752" y="3986784"/>
              <a:ext cx="1554480" cy="38404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▲ 9.7%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TBL-161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1556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800" b="1">
                <a:solidFill>
                  <a:srgbClr val="1F3864"/>
                </a:solidFill>
                <a:latin typeface="Pretendard"/>
                <a:ea typeface="Pretendard"/>
                <a:cs typeface="Pretendard"/>
              </a:rPr>
              <a:t>AI 통합 플랫폼 핵심지표(KPI) 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14400"/>
            <a:ext cx="11155680" cy="29260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Pretendard"/>
                <a:ea typeface="Pretendard"/>
                <a:cs typeface="Pretendard"/>
              </a:rPr>
              <a:t>셀내 KPI칩 · 증감칩 오버레이 · blue_500</a:t>
            </a:r>
          </a:p>
        </p:txBody>
      </p:sp>
      <p:grpSp>
        <p:nvGrpSpPr>
          <p:cNvPr id="10" name="asset:TBL-162"/>
          <p:cNvGrpSpPr/>
          <p:nvPr/>
        </p:nvGrpSpPr>
        <p:grpSpPr>
          <a:xfrm>
            <a:off x="914400" y="1463040"/>
            <a:ext cx="10360152" cy="3621024"/>
            <a:chOff x="914400" y="1463040"/>
            <a:chExt cx="10360152" cy="3621024"/>
          </a:xfrm>
        </p:grpSpPr>
        <p:graphicFrame>
          <p:nvGraphicFramePr>
            <p:cNvPr id="4" name="Table 3"/>
            <p:cNvGraphicFramePr>
              <a:graphicFrameLocks noGrp="1"/>
            </p:cNvGraphicFramePr>
            <p:nvPr/>
          </p:nvGraphicFramePr>
          <p:xfrm>
            <a:off x="914400" y="1463040"/>
            <a:ext cx="10360152" cy="3621024"/>
          </p:xfrm>
          <a:graphic>
            <a:graphicData uri="http://schemas.openxmlformats.org/drawingml/2006/table">
              <a:tbl>
                <a:tblPr>
                  <a:tableStyleId>{2D5ABB26-0587-4C30-8999-92F81FD0307C}</a:tableStyleId>
                </a:tblPr>
                <a:tblGrid>
                  <a:gridCol w="3685032"/>
                  <a:gridCol w="2651760"/>
                  <a:gridCol w="1920240"/>
                  <a:gridCol w="2103120"/>
                </a:tblGrid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기준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2E75D6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현재 값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2E75D6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목표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2E75D6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200" b="1">
                            <a:solidFill>
                              <a:srgbClr val="FFFFFF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전기 대비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2E75D6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서비스 고도화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7,076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7,105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글로벌 확장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7,129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7,158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브랜드 강화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7,182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7,211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사업 기획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7,235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7,264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2F2F2"/>
                      </a:solidFill>
                    </a:tcPr>
                  </a:tc>
                </a:tr>
                <a:tr h="603504">
                  <a:tc>
                    <a:txBody>
                      <a:bodyPr wrap="square"/>
                      <a:lstStyle/>
                      <a:p>
                        <a:pPr algn="l"/>
                        <a:r>
                          <a:rPr sz="1200" b="1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정보구조 설계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500" b="1">
                            <a:solidFill>
                              <a:srgbClr val="2E75D6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7,288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595959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>7,317</a:t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 wrap="square"/>
                      <a:lstStyle/>
                      <a:p>
                        <a:pPr algn="ctr"/>
                        <a:r>
                          <a:rPr sz="1100" b="0">
                            <a:solidFill>
                              <a:srgbClr val="222222"/>
                            </a:solidFill>
                            <a:latin typeface="Pretendard"/>
                            <a:ea typeface="Pretendard"/>
                            <a:cs typeface="Pretendard"/>
                          </a:rPr>
                          <a:t/>
                        </a:r>
                      </a:p>
                    </a:txBody>
                    <a:tcPr anchor="ctr" marL="63500" marR="63500" marT="25400" marB="25400">
                      <a:lnL w="9525" cap="flat">
                        <a:solidFill>
                          <a:srgbClr val="D9D9D9"/>
                        </a:solidFill>
                      </a:lnL>
                      <a:lnR w="9525" cap="flat">
                        <a:solidFill>
                          <a:srgbClr val="D9D9D9"/>
                        </a:solidFill>
                      </a:lnR>
                      <a:lnT w="9525" cap="flat">
                        <a:solidFill>
                          <a:srgbClr val="D9D9D9"/>
                        </a:solidFill>
                      </a:lnT>
                      <a:lnB w="9525" cap="flat">
                        <a:solidFill>
                          <a:srgbClr val="D9D9D9"/>
                        </a:solidFill>
                      </a:lnB>
                      <a:solidFill>
                        <a:srgbClr val="FFFFFF"/>
                      </a:solidFill>
                    </a:tcPr>
                  </a:tc>
                </a:tr>
              </a:tbl>
            </a:graphicData>
          </a:graphic>
        </p:graphicFrame>
        <p:sp>
          <p:nvSpPr>
            <p:cNvPr id="5" name="Rounded Rectangle 4"/>
            <p:cNvSpPr/>
            <p:nvPr/>
          </p:nvSpPr>
          <p:spPr>
            <a:xfrm>
              <a:off x="9445752" y="2176272"/>
              <a:ext cx="1554480" cy="38404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▼ 9.4%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9445752" y="2779776"/>
              <a:ext cx="1554480" cy="38404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▼ 2.5%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445752" y="3383280"/>
              <a:ext cx="1554480" cy="38404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▲ 5.6%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9445752" y="3986784"/>
              <a:ext cx="1554480" cy="38404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▲ 12.7%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9445752" y="4590288"/>
              <a:ext cx="1554480" cy="38404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▲ 19.8%</a:t>
              </a:r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TBL-162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