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90536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990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E4692"/>
                </a:solidFill>
                <a:latin typeface="Pretendard GOV Black"/>
                <a:ea typeface="Pretendard GOV Black"/>
                <a:cs typeface="Pretendard GOV Black"/>
              </a:rPr>
              <a:t>연도별 사업 실행성과 비교표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99096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000" b="0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색코딩 병합헤더 · 2025년 실적 vs 2026년 계획</a:t>
            </a:r>
          </a:p>
        </p:txBody>
      </p:sp>
      <p:graphicFrame>
        <p:nvGraphicFramePr>
          <p:cNvPr id="4" name="asset:TBL-201"/>
          <p:cNvGraphicFramePr>
            <a:graphicFrameLocks noGrp="1"/>
          </p:cNvGraphicFramePr>
          <p:nvPr/>
        </p:nvGraphicFramePr>
        <p:xfrm>
          <a:off x="457200" y="1234440"/>
          <a:ext cx="9990956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7830"/>
                <a:gridCol w="1298824"/>
                <a:gridCol w="1298824"/>
                <a:gridCol w="1298824"/>
                <a:gridCol w="1298824"/>
                <a:gridCol w="2397830"/>
              </a:tblGrid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2025년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2026년 계획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증감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 추진율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76%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▲18%p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예산 집행률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70%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68%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▲23%p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콘텐츠 제작 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120건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108건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150건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121건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▲13건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고객 만족도(CSAT)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85점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82점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90점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79점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▼3점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TBL-201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990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E4692"/>
                </a:solidFill>
                <a:latin typeface="Pretendard GOV Black"/>
                <a:ea typeface="Pretendard GOV Black"/>
                <a:cs typeface="Pretendard GOV Black"/>
              </a:rPr>
              <a:t>추진체계 카테고리 구분표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99096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000" b="0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2단 헤더 · 카테고리(보라) + 세부 지표</a:t>
            </a:r>
          </a:p>
        </p:txBody>
      </p:sp>
      <p:graphicFrame>
        <p:nvGraphicFramePr>
          <p:cNvPr id="4" name="asset:TBL-202"/>
          <p:cNvGraphicFramePr>
            <a:graphicFrameLocks noGrp="1"/>
          </p:cNvGraphicFramePr>
          <p:nvPr/>
        </p:nvGraphicFramePr>
        <p:xfrm>
          <a:off x="457200" y="1234440"/>
          <a:ext cx="9990958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8824"/>
                <a:gridCol w="1448689"/>
                <a:gridCol w="1448689"/>
                <a:gridCol w="1448689"/>
                <a:gridCol w="1448689"/>
                <a:gridCol w="1448689"/>
                <a:gridCol w="1448689"/>
              </a:tblGrid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추진체계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성과관리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환류체계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조직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역할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점검주기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Medium"/>
                          <a:ea typeface="Pretendard GOV Medium"/>
                          <a:cs typeface="Pretendard GOV Medium"/>
                        </a:rPr>
                        <a:t>개선조치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총괄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사업총괄반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예산·일정 총괄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사업추진율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월 1회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지연시 즉시 보고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실행분과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세부과제 수행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과제완료율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월 1회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지연과제 재계획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자문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전문가 자문단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기술·정책 자문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자문충족도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분기 1회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자문의견 반영률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평가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성과평가위원회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성과 검증·환류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환류이행률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반기 1회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미이행 과제 재조치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TBL-202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990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E4692"/>
                </a:solidFill>
                <a:latin typeface="Pretendard GOV Black"/>
                <a:ea typeface="Pretendard GOV Black"/>
                <a:cs typeface="Pretendard GOV Black"/>
              </a:rPr>
              <a:t>과제 진행상태 점검표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99096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000" b="0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상태 신호등 셀 · 완료/진행중/지연/대기 4단계</a:t>
            </a:r>
          </a:p>
        </p:txBody>
      </p:sp>
      <p:graphicFrame>
        <p:nvGraphicFramePr>
          <p:cNvPr id="4" name="asset:TBL-203"/>
          <p:cNvGraphicFramePr>
            <a:graphicFrameLocks noGrp="1"/>
          </p:cNvGraphicFramePr>
          <p:nvPr/>
        </p:nvGraphicFramePr>
        <p:xfrm>
          <a:off x="457200" y="1234440"/>
          <a:ext cx="9990957" cy="352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9276"/>
                <a:gridCol w="3197107"/>
                <a:gridCol w="1798372"/>
                <a:gridCol w="1598553"/>
                <a:gridCol w="2597649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No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과제명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담당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진행상태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시스템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개발운영팀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검수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데이터 연계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정보화팀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연계테스트 통과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사업운영팀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2E46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68% 진척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대국민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홍보팀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2E46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채널 3종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성과평가 체계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평가관리팀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지연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일정 재조정 필요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유지보수 체계 수립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운영지원팀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대기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6975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착수 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TBL-203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990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E4692"/>
                </a:solidFill>
                <a:latin typeface="Pretendard GOV Black"/>
                <a:ea typeface="Pretendard GOV Black"/>
                <a:cs typeface="Pretendard GOV Black"/>
              </a:rPr>
              <a:t>정성·정량 평가 배점표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99096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000" b="0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평가영역 행병합(rowSpan) · 하단 합계행 열병합(gridSpan)</a:t>
            </a:r>
          </a:p>
        </p:txBody>
      </p:sp>
      <p:graphicFrame>
        <p:nvGraphicFramePr>
          <p:cNvPr id="4" name="asset:TBL-204"/>
          <p:cNvGraphicFramePr>
            <a:graphicFrameLocks noGrp="1"/>
          </p:cNvGraphicFramePr>
          <p:nvPr/>
        </p:nvGraphicFramePr>
        <p:xfrm>
          <a:off x="457200" y="1234440"/>
          <a:ext cx="9990958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8011"/>
                <a:gridCol w="4595841"/>
                <a:gridCol w="1598553"/>
                <a:gridCol w="1598553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평가영역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세부 평가지표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배점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획득점수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 이해도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사업목표 부합성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추진전략 타당성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rowSpan="3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수행 역량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조직 및 인력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유사사업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협력체계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가격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예산 적정성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60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TBL-204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990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E4692"/>
                </a:solidFill>
                <a:latin typeface="Pretendard GOV Black"/>
                <a:ea typeface="Pretendard GOV Black"/>
                <a:cs typeface="Pretendard GOV Black"/>
              </a:rPr>
              <a:t>사업비 예산·집행 현황표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99096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000" b="0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구분 행병합(rowSpan) · 하단 합계행 열병합(gridSpan)</a:t>
            </a:r>
          </a:p>
        </p:txBody>
      </p:sp>
      <p:graphicFrame>
        <p:nvGraphicFramePr>
          <p:cNvPr id="4" name="asset:TBL-205"/>
          <p:cNvGraphicFramePr>
            <a:graphicFrameLocks noGrp="1"/>
          </p:cNvGraphicFramePr>
          <p:nvPr/>
        </p:nvGraphicFramePr>
        <p:xfrm>
          <a:off x="457200" y="1234440"/>
          <a:ext cx="9990957" cy="352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8734"/>
                <a:gridCol w="2397830"/>
                <a:gridCol w="1598553"/>
                <a:gridCol w="1598553"/>
                <a:gridCol w="1398734"/>
                <a:gridCol w="1598553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세부항목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예산액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집행액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집행률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인건비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정규인력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82,400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91.6%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정상집행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전문인력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40,000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35,100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87.8%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정상집행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rowSpan="3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사업비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120,000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98,500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82.1%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정상집행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시스템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150,000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112,300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74.9%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순연 집행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홍보·확산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60,000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2E4692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51,200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85.3%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정상집행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460,000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379,500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82.5%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-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TBL-205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990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2E4692"/>
                </a:solidFill>
                <a:latin typeface="Pretendard GOV Black"/>
                <a:ea typeface="Pretendard GOV Black"/>
                <a:cs typeface="Pretendard GOV Black"/>
              </a:rPr>
              <a:t>분야별 점검 체크리스트표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99096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000" b="0">
                <a:solidFill>
                  <a:srgbClr val="697591"/>
                </a:solidFill>
                <a:latin typeface="Pretendard GOV Light"/>
                <a:ea typeface="Pretendard GOV Light"/>
                <a:cs typeface="Pretendard GOV Light"/>
              </a:rPr>
              <a:t>구분 행병합(rowSpan) · 확인여부 칩 셀</a:t>
            </a:r>
          </a:p>
        </p:txBody>
      </p:sp>
      <p:graphicFrame>
        <p:nvGraphicFramePr>
          <p:cNvPr id="4" name="asset:TBL-206"/>
          <p:cNvGraphicFramePr>
            <a:graphicFrameLocks noGrp="1"/>
          </p:cNvGraphicFramePr>
          <p:nvPr/>
        </p:nvGraphicFramePr>
        <p:xfrm>
          <a:off x="457200" y="1234440"/>
          <a:ext cx="9990958" cy="352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8734"/>
                <a:gridCol w="4196203"/>
                <a:gridCol w="1998191"/>
                <a:gridCol w="239783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점검항목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확인여부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 GOV ExtraBold"/>
                          <a:ea typeface="Pretendard GOV ExtraBold"/>
                          <a:cs typeface="Pretendard GOV ExtraBol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8F99AF"/>
                    </a:solidFill>
                  </a:tcPr>
                </a:tc>
              </a:tr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보안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취약점 점검 조치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✓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최종 조치완료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개인정보 처리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✓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DPIA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성능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부하테스트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진행중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2E46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3차 테스트 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장애대응 체계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예정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6975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매뉴얼 작성 예정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  <a:tr h="5029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7682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운영 매뉴얼 수립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✓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배포 완료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교육·이관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예정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6975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Pretendard GOV SemiBold"/>
                          <a:ea typeface="Pretendard GOV SemiBold"/>
                          <a:cs typeface="Pretendard GOV SemiBold"/>
                        </a:rPr>
                        <a:t>착수 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8F99AF"/>
                      </a:solidFill>
                    </a:lnL>
                    <a:lnR w="9525" cap="flat">
                      <a:solidFill>
                        <a:srgbClr val="8F99AF"/>
                      </a:solidFill>
                    </a:lnR>
                    <a:lnT w="9525" cap="flat">
                      <a:solidFill>
                        <a:srgbClr val="8F99AF"/>
                      </a:solidFill>
                    </a:lnT>
                    <a:lnB w="9525" cap="flat">
                      <a:solidFill>
                        <a:srgbClr val="8F99AF"/>
                      </a:solidFill>
                    </a:lnB>
                    <a:solidFill>
                      <a:srgbClr val="E9EA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TBL-206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