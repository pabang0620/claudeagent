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그린 에너지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teal_500</a:t>
            </a:r>
          </a:p>
        </p:txBody>
      </p:sp>
      <p:graphicFrame>
        <p:nvGraphicFramePr>
          <p:cNvPr id="4" name="asset:TBL-181"/>
          <p:cNvGraphicFramePr>
            <a:graphicFrameLocks noGrp="1"/>
          </p:cNvGraphicFramePr>
          <p:nvPr/>
        </p:nvGraphicFramePr>
        <p:xfrm>
          <a:off x="914400" y="1417320"/>
          <a:ext cx="1036015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위험 관리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M3~M4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핀테크 서비스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purple_600</a:t>
            </a:r>
          </a:p>
        </p:txBody>
      </p:sp>
      <p:graphicFrame>
        <p:nvGraphicFramePr>
          <p:cNvPr id="4" name="asset:TBL-182"/>
          <p:cNvGraphicFramePr>
            <a:graphicFrameLocks noGrp="1"/>
          </p:cNvGraphicFramePr>
          <p:nvPr/>
        </p:nvGraphicFramePr>
        <p:xfrm>
          <a:off x="914400" y="1417320"/>
          <a:ext cx="10360152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M3~M4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M5~M6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M7~M9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에듀테크 플랫폼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navy_600</a:t>
            </a:r>
          </a:p>
        </p:txBody>
      </p:sp>
      <p:graphicFrame>
        <p:nvGraphicFramePr>
          <p:cNvPr id="4" name="asset:TBL-183"/>
          <p:cNvGraphicFramePr>
            <a:graphicFrameLocks noGrp="1"/>
          </p:cNvGraphicFramePr>
          <p:nvPr/>
        </p:nvGraphicFramePr>
        <p:xfrm>
          <a:off x="914400" y="1417320"/>
          <a:ext cx="1036015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매뉴얼 정비와 담당자 교육 병행 추진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분석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M3~M4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M5~M6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A4A7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M7~M9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제조 디지털전환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red_500</a:t>
            </a:r>
          </a:p>
        </p:txBody>
      </p:sp>
      <p:graphicFrame>
        <p:nvGraphicFramePr>
          <p:cNvPr id="4" name="asset:TBL-184"/>
          <p:cNvGraphicFramePr>
            <a:graphicFrameLocks noGrp="1"/>
          </p:cNvGraphicFramePr>
          <p:nvPr/>
        </p:nvGraphicFramePr>
        <p:xfrm>
          <a:off x="914400" y="1417320"/>
          <a:ext cx="10360152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C0392B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기반 성과 측정 및 개선 과제 도출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보안 점검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M3~M4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M5~M6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M7~M9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M10~M11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공공 데이터 개방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navy_800</a:t>
            </a:r>
          </a:p>
        </p:txBody>
      </p:sp>
      <p:graphicFrame>
        <p:nvGraphicFramePr>
          <p:cNvPr id="4" name="asset:TBL-185"/>
          <p:cNvGraphicFramePr>
            <a:graphicFrameLocks noGrp="1"/>
          </p:cNvGraphicFramePr>
          <p:nvPr/>
        </p:nvGraphicFramePr>
        <p:xfrm>
          <a:off x="914400" y="1417320"/>
          <a:ext cx="1036015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이해관계자 협의체 운영으로 리스크 선제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인프라 구축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M5~M6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M7~M9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M10~M11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38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메타버스 전시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blue_500</a:t>
            </a:r>
          </a:p>
        </p:txBody>
      </p:sp>
      <p:graphicFrame>
        <p:nvGraphicFramePr>
          <p:cNvPr id="4" name="asset:TBL-186"/>
          <p:cNvGraphicFramePr>
            <a:graphicFrameLocks noGrp="1"/>
          </p:cNvGraphicFramePr>
          <p:nvPr/>
        </p:nvGraphicFramePr>
        <p:xfrm>
          <a:off x="914400" y="1417320"/>
          <a:ext cx="10360152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 프로세스 정립과 자동화 도입으로 효율화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콘텐츠 제작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M7~M9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M10~M11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친환경 모빌리티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teal_500</a:t>
            </a:r>
          </a:p>
        </p:txBody>
      </p:sp>
      <p:graphicFrame>
        <p:nvGraphicFramePr>
          <p:cNvPr id="4" name="asset:TBL-187"/>
          <p:cNvGraphicFramePr>
            <a:graphicFrameLocks noGrp="1"/>
          </p:cNvGraphicFramePr>
          <p:nvPr/>
        </p:nvGraphicFramePr>
        <p:xfrm>
          <a:off x="914400" y="1417320"/>
          <a:ext cx="10360152" cy="31089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인지도 제고 및 신규 파트너 발굴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마케팅 홍보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M10~M11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교육 훈련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서비스 고도화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확장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농식품 수출 단계별 추진 일정표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914400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단계·활동·산출물·일정 · purple_600</a:t>
            </a:r>
          </a:p>
        </p:txBody>
      </p:sp>
      <p:graphicFrame>
        <p:nvGraphicFramePr>
          <p:cNvPr id="4" name="asset:TBL-188"/>
          <p:cNvGraphicFramePr>
            <a:graphicFrameLocks noGrp="1"/>
          </p:cNvGraphicFramePr>
          <p:nvPr/>
        </p:nvGraphicFramePr>
        <p:xfrm>
          <a:off x="914400" y="1417320"/>
          <a:ext cx="10360152" cy="373075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/>
                <a:gridCol w="4690872"/>
                <a:gridCol w="2468880"/>
                <a:gridCol w="1645920"/>
              </a:tblGrid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단계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주요 활동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일정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예산 집행 점검과 정산 체계 투명성 확보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파트너 협력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요구사항 정의 및 범위 확정 후 단계별 실행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1분기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3단계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유통 채널 15개국 확장 및 현지화 대응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표준화 정립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2분기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4단계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핵심 기능 개발과 외부 시스템 연동 안정화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채널 다각화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M1~M2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</a:tr>
              <a:tr h="621792"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5단계</a:t>
                      </a:r>
                    </a:p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기준 수립 및 결함 조치 프로세스 운영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2E75D6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재무 관리 산출물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00" b="1">
                          <a:solidFill>
                            <a:srgbClr val="7B2D8E"/>
                          </a:solidFill>
                          <a:latin typeface="Pretendard"/>
                          <a:ea typeface="Pretendard"/>
                          <a:cs typeface="Pretendard"/>
                        </a:rPr>
                        <a:t>M3~M4</a:t>
                      </a:r>
                    </a:p>
                  </a:txBody>
                  <a:tcPr anchor="ctr" marL="63500" marR="63500" marT="25400" marB="25400">
                    <a:lnL w="9525" cap="flat">
                      <a:solidFill>
                        <a:srgbClr val="D9D9D9"/>
                      </a:solidFill>
                    </a:lnL>
                    <a:lnR w="9525" cap="flat">
                      <a:solidFill>
                        <a:srgbClr val="D9D9D9"/>
                      </a:solidFill>
                    </a:lnR>
                    <a:lnT w="9525" cap="flat">
                      <a:solidFill>
                        <a:srgbClr val="D9D9D9"/>
                      </a:solidFill>
                    </a:lnT>
                    <a:lnB w="9525" cap="flat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TBL-188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