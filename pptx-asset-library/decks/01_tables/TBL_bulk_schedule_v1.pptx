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그린 에너지 단계별 추진 일정표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단계·활동·산출물·일정 · teal_500</a:t>
            </a:r>
          </a:p>
        </p:txBody>
      </p:sp>
      <p:graphicFrame>
        <p:nvGraphicFramePr>
          <p:cNvPr id="4" name="asset:TBL-181"/>
          <p:cNvGraphicFramePr>
            <a:graphicFrameLocks noGrp="1"/>
          </p:cNvGraphicFramePr>
          <p:nvPr/>
        </p:nvGraphicFramePr>
        <p:xfrm>
          <a:off x="914400" y="1417320"/>
          <a:ext cx="10360152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4690872"/>
                <a:gridCol w="2468880"/>
                <a:gridCol w="1645920"/>
              </a:tblGrid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활동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M3~M4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TBL-181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핀테크 서비스 단계별 추진 일정표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단계·활동·산출물·일정 · purple_600</a:t>
            </a:r>
          </a:p>
        </p:txBody>
      </p:sp>
      <p:graphicFrame>
        <p:nvGraphicFramePr>
          <p:cNvPr id="4" name="asset:TBL-182"/>
          <p:cNvGraphicFramePr>
            <a:graphicFrameLocks noGrp="1"/>
          </p:cNvGraphicFramePr>
          <p:nvPr/>
        </p:nvGraphicFramePr>
        <p:xfrm>
          <a:off x="914400" y="1417320"/>
          <a:ext cx="10360152" cy="37307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4690872"/>
                <a:gridCol w="2468880"/>
                <a:gridCol w="1645920"/>
              </a:tblGrid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활동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M3~M4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M5~M6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5단계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M7~M9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TBL-182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에듀테크 플랫폼 단계별 추진 일정표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단계·활동·산출물·일정 · navy_600</a:t>
            </a:r>
          </a:p>
        </p:txBody>
      </p:sp>
      <p:graphicFrame>
        <p:nvGraphicFramePr>
          <p:cNvPr id="4" name="asset:TBL-183"/>
          <p:cNvGraphicFramePr>
            <a:graphicFrameLocks noGrp="1"/>
          </p:cNvGraphicFramePr>
          <p:nvPr/>
        </p:nvGraphicFramePr>
        <p:xfrm>
          <a:off x="914400" y="1417320"/>
          <a:ext cx="10360152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4690872"/>
                <a:gridCol w="2468880"/>
                <a:gridCol w="1645920"/>
              </a:tblGrid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활동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M3~M4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M5~M6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M7~M9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TBL-183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제조 디지털전환 단계별 추진 일정표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단계·활동·산출물·일정 · red_500</a:t>
            </a:r>
          </a:p>
        </p:txBody>
      </p:sp>
      <p:graphicFrame>
        <p:nvGraphicFramePr>
          <p:cNvPr id="4" name="asset:TBL-184"/>
          <p:cNvGraphicFramePr>
            <a:graphicFrameLocks noGrp="1"/>
          </p:cNvGraphicFramePr>
          <p:nvPr/>
        </p:nvGraphicFramePr>
        <p:xfrm>
          <a:off x="914400" y="1417320"/>
          <a:ext cx="10360152" cy="37307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4690872"/>
                <a:gridCol w="2468880"/>
                <a:gridCol w="1645920"/>
              </a:tblGrid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활동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M3~M4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M5~M6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M7~M9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M10~M11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5단계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TBL-184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공공 데이터 개방 단계별 추진 일정표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단계·활동·산출물·일정 · navy_800</a:t>
            </a:r>
          </a:p>
        </p:txBody>
      </p:sp>
      <p:graphicFrame>
        <p:nvGraphicFramePr>
          <p:cNvPr id="4" name="asset:TBL-185"/>
          <p:cNvGraphicFramePr>
            <a:graphicFrameLocks noGrp="1"/>
          </p:cNvGraphicFramePr>
          <p:nvPr/>
        </p:nvGraphicFramePr>
        <p:xfrm>
          <a:off x="914400" y="1417320"/>
          <a:ext cx="10360152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4690872"/>
                <a:gridCol w="2468880"/>
                <a:gridCol w="1645920"/>
              </a:tblGrid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활동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M5~M6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M7~M9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M10~M11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TBL-185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메타버스 전시 단계별 추진 일정표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단계·활동·산출물·일정 · blue_500</a:t>
            </a:r>
          </a:p>
        </p:txBody>
      </p:sp>
      <p:graphicFrame>
        <p:nvGraphicFramePr>
          <p:cNvPr id="4" name="asset:TBL-186"/>
          <p:cNvGraphicFramePr>
            <a:graphicFrameLocks noGrp="1"/>
          </p:cNvGraphicFramePr>
          <p:nvPr/>
        </p:nvGraphicFramePr>
        <p:xfrm>
          <a:off x="914400" y="1417320"/>
          <a:ext cx="10360152" cy="37307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4690872"/>
                <a:gridCol w="2468880"/>
                <a:gridCol w="1645920"/>
              </a:tblGrid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활동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M7~M9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M10~M11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5단계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TBL-186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친환경 모빌리티 단계별 추진 일정표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단계·활동·산출물·일정 · teal_500</a:t>
            </a:r>
          </a:p>
        </p:txBody>
      </p:sp>
      <p:graphicFrame>
        <p:nvGraphicFramePr>
          <p:cNvPr id="4" name="asset:TBL-187"/>
          <p:cNvGraphicFramePr>
            <a:graphicFrameLocks noGrp="1"/>
          </p:cNvGraphicFramePr>
          <p:nvPr/>
        </p:nvGraphicFramePr>
        <p:xfrm>
          <a:off x="914400" y="1417320"/>
          <a:ext cx="10360152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4690872"/>
                <a:gridCol w="2468880"/>
                <a:gridCol w="1645920"/>
              </a:tblGrid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활동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M10~M11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TBL-187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농식품 수출 단계별 추진 일정표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단계·활동·산출물·일정 · purple_600</a:t>
            </a:r>
          </a:p>
        </p:txBody>
      </p:sp>
      <p:graphicFrame>
        <p:nvGraphicFramePr>
          <p:cNvPr id="4" name="asset:TBL-188"/>
          <p:cNvGraphicFramePr>
            <a:graphicFrameLocks noGrp="1"/>
          </p:cNvGraphicFramePr>
          <p:nvPr/>
        </p:nvGraphicFramePr>
        <p:xfrm>
          <a:off x="914400" y="1417320"/>
          <a:ext cx="10360152" cy="37307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4690872"/>
                <a:gridCol w="2468880"/>
                <a:gridCol w="1645920"/>
              </a:tblGrid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활동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5단계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M3~M4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TBL-188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