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바이오 소재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navy_800</a:t>
            </a:r>
          </a:p>
        </p:txBody>
      </p:sp>
      <p:graphicFrame>
        <p:nvGraphicFramePr>
          <p:cNvPr id="4" name="asset:TBL-095"/>
          <p:cNvGraphicFramePr>
            <a:graphicFrameLocks noGrp="1"/>
          </p:cNvGraphicFramePr>
          <p:nvPr/>
        </p:nvGraphicFramePr>
        <p:xfrm>
          <a:off x="914400" y="1417320"/>
          <a:ext cx="10360152" cy="30723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범주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해외진출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스마트 물류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4,679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TBL-095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콘텐츠 해외진출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blue_500</a:t>
            </a:r>
          </a:p>
        </p:txBody>
      </p:sp>
      <p:graphicFrame>
        <p:nvGraphicFramePr>
          <p:cNvPr id="4" name="asset:TBL-096"/>
          <p:cNvGraphicFramePr>
            <a:graphicFrameLocks noGrp="1"/>
          </p:cNvGraphicFramePr>
          <p:nvPr/>
        </p:nvGraphicFramePr>
        <p:xfrm>
          <a:off x="914400" y="1417320"/>
          <a:ext cx="10360152" cy="35844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구분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스마트 물류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통합 플랫폼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4,716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4,769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TBL-096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스마트 물류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teal_500</a:t>
            </a:r>
          </a:p>
        </p:txBody>
      </p:sp>
      <p:graphicFrame>
        <p:nvGraphicFramePr>
          <p:cNvPr id="4" name="asset:TBL-097"/>
          <p:cNvGraphicFramePr>
            <a:graphicFrameLocks noGrp="1"/>
          </p:cNvGraphicFramePr>
          <p:nvPr/>
        </p:nvGraphicFramePr>
        <p:xfrm>
          <a:off x="914400" y="1417320"/>
          <a:ext cx="10360152" cy="4096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항목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통합 플랫폼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 관광 활성화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하반기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사업 기획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4,753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4,864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4,917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TBL-097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AI 통합 플랫폼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purple_600</a:t>
            </a:r>
          </a:p>
        </p:txBody>
      </p:sp>
      <p:graphicFrame>
        <p:nvGraphicFramePr>
          <p:cNvPr id="4" name="asset:TBL-098"/>
          <p:cNvGraphicFramePr>
            <a:graphicFrameLocks noGrp="1"/>
          </p:cNvGraphicFramePr>
          <p:nvPr/>
        </p:nvGraphicFramePr>
        <p:xfrm>
          <a:off x="914400" y="1417320"/>
          <a:ext cx="10360152" cy="30723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영역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지역 관광 활성화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디지털 헬스케어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누적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4,790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4,848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4,843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4,954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TBL-098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지역 관광 활성화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navy_600</a:t>
            </a:r>
          </a:p>
        </p:txBody>
      </p:sp>
      <p:graphicFrame>
        <p:nvGraphicFramePr>
          <p:cNvPr id="4" name="asset:TBL-099"/>
          <p:cNvGraphicFramePr>
            <a:graphicFrameLocks noGrp="1"/>
          </p:cNvGraphicFramePr>
          <p:nvPr/>
        </p:nvGraphicFramePr>
        <p:xfrm>
          <a:off x="914400" y="1417320"/>
          <a:ext cx="10360152" cy="35844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과업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디지털 헬스케어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그린 에너지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목표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정보구조 설계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4,885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TBL-099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디지털 헬스케어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red_500</a:t>
            </a:r>
          </a:p>
        </p:txBody>
      </p:sp>
      <p:graphicFrame>
        <p:nvGraphicFramePr>
          <p:cNvPr id="4" name="asset:TBL-100"/>
          <p:cNvGraphicFramePr>
            <a:graphicFrameLocks noGrp="1"/>
          </p:cNvGraphicFramePr>
          <p:nvPr/>
        </p:nvGraphicFramePr>
        <p:xfrm>
          <a:off x="914400" y="1417320"/>
          <a:ext cx="10360152" cy="4096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지표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그린 에너지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핀테크 서비스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4,864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4,917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TBL-100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그린 에너지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navy_800</a:t>
            </a:r>
          </a:p>
        </p:txBody>
      </p:sp>
      <p:graphicFrame>
        <p:nvGraphicFramePr>
          <p:cNvPr id="4" name="asset:TBL-101"/>
          <p:cNvGraphicFramePr>
            <a:graphicFrameLocks noGrp="1"/>
          </p:cNvGraphicFramePr>
          <p:nvPr/>
        </p:nvGraphicFramePr>
        <p:xfrm>
          <a:off x="914400" y="1417320"/>
          <a:ext cx="10360152" cy="30723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핀테크 서비스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에듀테크 플랫폼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증감률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4,954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TBL-101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핀테크 서비스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blue_500</a:t>
            </a:r>
          </a:p>
        </p:txBody>
      </p:sp>
      <p:graphicFrame>
        <p:nvGraphicFramePr>
          <p:cNvPr id="4" name="asset:TBL-102"/>
          <p:cNvGraphicFramePr>
            <a:graphicFrameLocks noGrp="1"/>
          </p:cNvGraphicFramePr>
          <p:nvPr/>
        </p:nvGraphicFramePr>
        <p:xfrm>
          <a:off x="914400" y="1417320"/>
          <a:ext cx="10360152" cy="35844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에듀테크 플랫폼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제조 디지털전환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2024년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통합 테스트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4,938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4,991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TBL-102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teal_500</a:t>
            </a:r>
          </a:p>
        </p:txBody>
      </p:sp>
      <p:graphicFrame>
        <p:nvGraphicFramePr>
          <p:cNvPr id="4" name="asset:TBL-103"/>
          <p:cNvGraphicFramePr>
            <a:graphicFrameLocks noGrp="1"/>
          </p:cNvGraphicFramePr>
          <p:nvPr/>
        </p:nvGraphicFramePr>
        <p:xfrm>
          <a:off x="914400" y="1417320"/>
          <a:ext cx="10360152" cy="4096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분류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제조 디지털전환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공공 데이터 개방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2025년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검증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4,975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5,033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5,134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5,187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purple_600</a:t>
            </a:r>
          </a:p>
        </p:txBody>
      </p:sp>
      <p:graphicFrame>
        <p:nvGraphicFramePr>
          <p:cNvPr id="4" name="asset:TBL-104"/>
          <p:cNvGraphicFramePr>
            <a:graphicFrameLocks noGrp="1"/>
          </p:cNvGraphicFramePr>
          <p:nvPr/>
        </p:nvGraphicFramePr>
        <p:xfrm>
          <a:off x="914400" y="1417320"/>
          <a:ext cx="10360152" cy="3072384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요소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공공 데이터 개방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메타버스 전시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2026년(E)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이관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5,070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5,065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5,118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5,171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5,229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공공 데이터 개방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navy_600</a:t>
            </a:r>
          </a:p>
        </p:txBody>
      </p:sp>
      <p:graphicFrame>
        <p:nvGraphicFramePr>
          <p:cNvPr id="4" name="asset:TBL-105"/>
          <p:cNvGraphicFramePr>
            <a:graphicFrameLocks noGrp="1"/>
          </p:cNvGraphicFramePr>
          <p:nvPr/>
        </p:nvGraphicFramePr>
        <p:xfrm>
          <a:off x="914400" y="1417320"/>
          <a:ext cx="10360152" cy="358444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메타버스 전시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친환경 모빌리티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성과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106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5,049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5,107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5,102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137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5,160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5,155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5,213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5,208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5,266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5,261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188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5,319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메타버스 전시 실적 비교표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2단 그룹헤더 · 5열 · red_500</a:t>
            </a:r>
          </a:p>
        </p:txBody>
      </p:sp>
      <p:graphicFrame>
        <p:nvGraphicFramePr>
          <p:cNvPr id="4" name="asset:TBL-106"/>
          <p:cNvGraphicFramePr>
            <a:graphicFrameLocks noGrp="1"/>
          </p:cNvGraphicFramePr>
          <p:nvPr/>
        </p:nvGraphicFramePr>
        <p:xfrm>
          <a:off x="914400" y="1417320"/>
          <a:ext cx="10360152" cy="409651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313432"/>
                <a:gridCol w="2011680"/>
                <a:gridCol w="2011680"/>
                <a:gridCol w="2011680"/>
                <a:gridCol w="2011680"/>
              </a:tblGrid>
              <a:tr h="512064">
                <a:tc row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대상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친환경 모빌리티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 gridSpan="2"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농식품 수출 부문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</a:tr>
              <a:tr h="512064">
                <a:tc vMerge="1">
                  <a:txBody>
                    <a:bodyPr/>
                    <a:lstStyle/>
                    <a:p/>
                  </a:txBody>
                  <a:tcPr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상반기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5,086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5,144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128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5,139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5,197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5,192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159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5,250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162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5,245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5,303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179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5,298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193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5,356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196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5,351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210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5,409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