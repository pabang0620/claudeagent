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ORG-153 · 추진위원회 구조 · 분과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추진위원회 구조 · 분과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위원장 · 사무국(간사) · 분과위원회 2 운영 (navy)</a:t>
            </a:r>
          </a:p>
        </p:txBody>
      </p:sp>
      <p:grpSp>
        <p:nvGrpSpPr>
          <p:cNvPr id="18" name="asset:ORG-153"/>
          <p:cNvGrpSpPr/>
          <p:nvPr/>
        </p:nvGrpSpPr>
        <p:grpSpPr>
          <a:xfrm>
            <a:off x="2849727" y="1234440"/>
            <a:ext cx="8123073" cy="3931920"/>
            <a:chOff x="2849727" y="1234440"/>
            <a:chExt cx="8123073" cy="3931920"/>
          </a:xfrm>
        </p:grpSpPr>
        <p:cxnSp>
          <p:nvCxnSpPr>
            <p:cNvPr id="11" name="Connector 10"/>
            <p:cNvCxnSpPr/>
            <p:nvPr/>
          </p:nvCxnSpPr>
          <p:spPr>
            <a:xfrm>
              <a:off x="7269480" y="1554480"/>
              <a:ext cx="1783080" cy="0"/>
            </a:xfrm>
            <a:prstGeom prst="line">
              <a:avLst/>
            </a:prstGeom>
            <a:ln w="17780">
              <a:solidFill>
                <a:srgbClr val="59595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103620" y="1874519"/>
              <a:ext cx="0" cy="457201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404207" y="2331720"/>
              <a:ext cx="3383279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40420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7787486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440420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787486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31720" cy="640080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추진위원장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052560" y="1280160"/>
              <a:ext cx="1920240" cy="548640"/>
            </a:xfrm>
            <a:prstGeom prst="roundRect">
              <a:avLst>
                <a:gd name="adj" fmla="val 10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사무국(간사)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84972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 분과위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84972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시스템·인프라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보안·품질 기준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기술 자문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콘텐츠 분과위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23300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콘텐츠 기획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현지화 방향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저작권 검토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ORG-154 · 추진위원회 구조 · 분과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추진위원회 구조 · 분과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위원장 · 사무국(간사) · 분과위원회 3 운영 (blue)</a:t>
            </a:r>
          </a:p>
        </p:txBody>
      </p:sp>
      <p:grpSp>
        <p:nvGrpSpPr>
          <p:cNvPr id="22" name="asset:ORG-154"/>
          <p:cNvGrpSpPr/>
          <p:nvPr/>
        </p:nvGrpSpPr>
        <p:grpSpPr>
          <a:xfrm>
            <a:off x="1158087" y="1234440"/>
            <a:ext cx="9875520" cy="3931920"/>
            <a:chOff x="1158087" y="1234440"/>
            <a:chExt cx="9875520" cy="3931920"/>
          </a:xfrm>
        </p:grpSpPr>
        <p:cxnSp>
          <p:nvCxnSpPr>
            <p:cNvPr id="13" name="Connector 12"/>
            <p:cNvCxnSpPr/>
            <p:nvPr/>
          </p:nvCxnSpPr>
          <p:spPr>
            <a:xfrm>
              <a:off x="7269480" y="1554480"/>
              <a:ext cx="1783080" cy="0"/>
            </a:xfrm>
            <a:prstGeom prst="line">
              <a:avLst/>
            </a:prstGeom>
            <a:ln w="17780">
              <a:solidFill>
                <a:srgbClr val="59595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6103620" y="1874519"/>
              <a:ext cx="0" cy="457201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2712567" y="2331720"/>
              <a:ext cx="6766559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271256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09584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9479126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271256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09584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9479126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31720" cy="64008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추진위원장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052560" y="1280160"/>
              <a:ext cx="1920240" cy="548640"/>
            </a:xfrm>
            <a:prstGeom prst="roundRect">
              <a:avLst>
                <a:gd name="adj" fmla="val 10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사무국(간사)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5808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 분과위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5808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시스템·인프라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보안·품질 기준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기술 자문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54136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콘텐츠 분과위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54136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콘텐츠 기획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현지화 방향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저작권 검토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92464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분과위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92464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운영 점검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예산·일정 조정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평가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ORG-155 · 추진위원회 구조 · 분과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추진위원회 구조 · 분과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위원장 · 사무국(간사) · 분과위원회 4 운영 (purple)</a:t>
            </a:r>
          </a:p>
        </p:txBody>
      </p:sp>
      <p:grpSp>
        <p:nvGrpSpPr>
          <p:cNvPr id="26" name="asset:ORG-155"/>
          <p:cNvGrpSpPr/>
          <p:nvPr/>
        </p:nvGrpSpPr>
        <p:grpSpPr>
          <a:xfrm>
            <a:off x="426567" y="1234440"/>
            <a:ext cx="11338560" cy="3931920"/>
            <a:chOff x="426567" y="1234440"/>
            <a:chExt cx="11338560" cy="3931920"/>
          </a:xfrm>
        </p:grpSpPr>
        <p:cxnSp>
          <p:nvCxnSpPr>
            <p:cNvPr id="15" name="Connector 14"/>
            <p:cNvCxnSpPr/>
            <p:nvPr/>
          </p:nvCxnSpPr>
          <p:spPr>
            <a:xfrm>
              <a:off x="7269480" y="1554480"/>
              <a:ext cx="1783080" cy="0"/>
            </a:xfrm>
            <a:prstGeom prst="line">
              <a:avLst/>
            </a:prstGeom>
            <a:ln w="17780">
              <a:solidFill>
                <a:srgbClr val="59595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6103620" y="1874519"/>
              <a:ext cx="0" cy="457201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1741017" y="2331720"/>
              <a:ext cx="870966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174101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464423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754745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1045067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174101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464423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754745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045067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31720" cy="6400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추진위원장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052560" y="1280160"/>
              <a:ext cx="1920240" cy="548640"/>
            </a:xfrm>
            <a:prstGeom prst="roundRect">
              <a:avLst>
                <a:gd name="adj" fmla="val 10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사무국(간사)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2656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 분과위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2656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시스템·인프라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보안·품질 기준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기술 자문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32978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콘텐츠 분과위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32978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콘텐츠 기획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현지화 방향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저작권 검토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23300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분과위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3300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운영 점검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예산·일정 조정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평가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3622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평가 분과위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13622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지표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품질 평가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개선 권고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ORG-156 · 추진위원회 구조 · 분과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추진위원회 구조 · 분과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위원장 · 사무국(간사) · 분과위원회 2 운영 (ink)</a:t>
            </a:r>
          </a:p>
        </p:txBody>
      </p:sp>
      <p:grpSp>
        <p:nvGrpSpPr>
          <p:cNvPr id="18" name="asset:ORG-156"/>
          <p:cNvGrpSpPr/>
          <p:nvPr/>
        </p:nvGrpSpPr>
        <p:grpSpPr>
          <a:xfrm>
            <a:off x="2849727" y="1234440"/>
            <a:ext cx="8123073" cy="3931920"/>
            <a:chOff x="2849727" y="1234440"/>
            <a:chExt cx="8123073" cy="3931920"/>
          </a:xfrm>
        </p:grpSpPr>
        <p:cxnSp>
          <p:nvCxnSpPr>
            <p:cNvPr id="11" name="Connector 10"/>
            <p:cNvCxnSpPr/>
            <p:nvPr/>
          </p:nvCxnSpPr>
          <p:spPr>
            <a:xfrm>
              <a:off x="7269480" y="1554480"/>
              <a:ext cx="1783080" cy="0"/>
            </a:xfrm>
            <a:prstGeom prst="line">
              <a:avLst/>
            </a:prstGeom>
            <a:ln w="17780">
              <a:solidFill>
                <a:srgbClr val="59595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103620" y="1874519"/>
              <a:ext cx="0" cy="457201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404207" y="2331720"/>
              <a:ext cx="3383279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40420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7787486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440420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787486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31720" cy="640080"/>
            </a:xfrm>
            <a:prstGeom prst="roundRect">
              <a:avLst>
                <a:gd name="adj" fmla="val 10000"/>
              </a:avLst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추진위원장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052560" y="1280160"/>
              <a:ext cx="1920240" cy="548640"/>
            </a:xfrm>
            <a:prstGeom prst="roundRect">
              <a:avLst>
                <a:gd name="adj" fmla="val 10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사무국(간사)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84972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 분과위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84972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시스템·인프라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보안·품질 기준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기술 자문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콘텐츠 분과위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23300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콘텐츠 기획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현지화 방향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저작권 검토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ORG-157 · 추진위원회 구조 · 분과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추진위원회 구조 · 분과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위원장 · 사무국(간사) · 분과위원회 3 운영 (teal)</a:t>
            </a:r>
          </a:p>
        </p:txBody>
      </p:sp>
      <p:grpSp>
        <p:nvGrpSpPr>
          <p:cNvPr id="22" name="asset:ORG-157"/>
          <p:cNvGrpSpPr/>
          <p:nvPr/>
        </p:nvGrpSpPr>
        <p:grpSpPr>
          <a:xfrm>
            <a:off x="1158087" y="1234440"/>
            <a:ext cx="9875520" cy="3931920"/>
            <a:chOff x="1158087" y="1234440"/>
            <a:chExt cx="9875520" cy="3931920"/>
          </a:xfrm>
        </p:grpSpPr>
        <p:cxnSp>
          <p:nvCxnSpPr>
            <p:cNvPr id="13" name="Connector 12"/>
            <p:cNvCxnSpPr/>
            <p:nvPr/>
          </p:nvCxnSpPr>
          <p:spPr>
            <a:xfrm>
              <a:off x="7269480" y="1554480"/>
              <a:ext cx="1783080" cy="0"/>
            </a:xfrm>
            <a:prstGeom prst="line">
              <a:avLst/>
            </a:prstGeom>
            <a:ln w="17780">
              <a:solidFill>
                <a:srgbClr val="59595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6103620" y="1874519"/>
              <a:ext cx="0" cy="457201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2712567" y="2331720"/>
              <a:ext cx="6766559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271256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09584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9479126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271256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09584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9479126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31720" cy="6400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추진위원장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052560" y="1280160"/>
              <a:ext cx="1920240" cy="548640"/>
            </a:xfrm>
            <a:prstGeom prst="roundRect">
              <a:avLst>
                <a:gd name="adj" fmla="val 10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사무국(간사)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5808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 분과위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5808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시스템·인프라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보안·품질 기준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기술 자문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54136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콘텐츠 분과위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54136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콘텐츠 기획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현지화 방향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저작권 검토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92464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분과위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92464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운영 점검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예산·일정 조정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평가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ORG-158 · 추진위원회 구조 · 분과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추진위원회 구조 · 분과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위원장 · 사무국(간사) · 분과위원회 4 운영 (steel)</a:t>
            </a:r>
          </a:p>
        </p:txBody>
      </p:sp>
      <p:grpSp>
        <p:nvGrpSpPr>
          <p:cNvPr id="26" name="asset:ORG-158"/>
          <p:cNvGrpSpPr/>
          <p:nvPr/>
        </p:nvGrpSpPr>
        <p:grpSpPr>
          <a:xfrm>
            <a:off x="426567" y="1234440"/>
            <a:ext cx="11338560" cy="3931920"/>
            <a:chOff x="426567" y="1234440"/>
            <a:chExt cx="11338560" cy="3931920"/>
          </a:xfrm>
        </p:grpSpPr>
        <p:cxnSp>
          <p:nvCxnSpPr>
            <p:cNvPr id="15" name="Connector 14"/>
            <p:cNvCxnSpPr/>
            <p:nvPr/>
          </p:nvCxnSpPr>
          <p:spPr>
            <a:xfrm>
              <a:off x="7269480" y="1554480"/>
              <a:ext cx="1783080" cy="0"/>
            </a:xfrm>
            <a:prstGeom prst="line">
              <a:avLst/>
            </a:prstGeom>
            <a:ln w="17780">
              <a:solidFill>
                <a:srgbClr val="59595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6103620" y="1874519"/>
              <a:ext cx="0" cy="457201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1741017" y="2331720"/>
              <a:ext cx="870966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174101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464423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754745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1045067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174101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464423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754745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045067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31720" cy="64008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추진위원장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052560" y="1280160"/>
              <a:ext cx="1920240" cy="548640"/>
            </a:xfrm>
            <a:prstGeom prst="roundRect">
              <a:avLst>
                <a:gd name="adj" fmla="val 10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사무국(간사)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2656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 분과위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2656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시스템·인프라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보안·품질 기준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기술 자문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32978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콘텐츠 분과위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32978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콘텐츠 기획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현지화 방향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저작권 검토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23300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분과위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3300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운영 점검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예산·일정 조정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평가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3622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평가 분과위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13622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지표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품질 평가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개선 권고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ORG-159 · 추진위원회 구조 · 분과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추진위원회 구조 · 분과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위원장 · 사무국(간사) · 분과위원회 2 운영 (navy)</a:t>
            </a:r>
          </a:p>
        </p:txBody>
      </p:sp>
      <p:grpSp>
        <p:nvGrpSpPr>
          <p:cNvPr id="18" name="asset:ORG-159"/>
          <p:cNvGrpSpPr/>
          <p:nvPr/>
        </p:nvGrpSpPr>
        <p:grpSpPr>
          <a:xfrm>
            <a:off x="2849727" y="1234440"/>
            <a:ext cx="8123073" cy="3931920"/>
            <a:chOff x="2849727" y="1234440"/>
            <a:chExt cx="8123073" cy="3931920"/>
          </a:xfrm>
        </p:grpSpPr>
        <p:cxnSp>
          <p:nvCxnSpPr>
            <p:cNvPr id="11" name="Connector 10"/>
            <p:cNvCxnSpPr/>
            <p:nvPr/>
          </p:nvCxnSpPr>
          <p:spPr>
            <a:xfrm>
              <a:off x="7269480" y="1554480"/>
              <a:ext cx="1783080" cy="0"/>
            </a:xfrm>
            <a:prstGeom prst="line">
              <a:avLst/>
            </a:prstGeom>
            <a:ln w="17780">
              <a:solidFill>
                <a:srgbClr val="59595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103620" y="1874519"/>
              <a:ext cx="0" cy="457201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404207" y="2331720"/>
              <a:ext cx="3383279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40420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7787486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440420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787486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31720" cy="640080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추진위원장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052560" y="1280160"/>
              <a:ext cx="1920240" cy="548640"/>
            </a:xfrm>
            <a:prstGeom prst="roundRect">
              <a:avLst>
                <a:gd name="adj" fmla="val 10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사무국(간사)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84972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 분과위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84972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시스템·인프라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보안·품질 기준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기술 자문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콘텐츠 분과위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23300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콘텐츠 기획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현지화 방향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저작권 검토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ORG-160 · 추진위원회 구조 · 분과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추진위원회 구조 · 분과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위원장 · 사무국(간사) · 분과위원회 3 운영 (blue)</a:t>
            </a:r>
          </a:p>
        </p:txBody>
      </p:sp>
      <p:grpSp>
        <p:nvGrpSpPr>
          <p:cNvPr id="22" name="asset:ORG-160"/>
          <p:cNvGrpSpPr/>
          <p:nvPr/>
        </p:nvGrpSpPr>
        <p:grpSpPr>
          <a:xfrm>
            <a:off x="1158087" y="1234440"/>
            <a:ext cx="9875520" cy="3931920"/>
            <a:chOff x="1158087" y="1234440"/>
            <a:chExt cx="9875520" cy="3931920"/>
          </a:xfrm>
        </p:grpSpPr>
        <p:cxnSp>
          <p:nvCxnSpPr>
            <p:cNvPr id="13" name="Connector 12"/>
            <p:cNvCxnSpPr/>
            <p:nvPr/>
          </p:nvCxnSpPr>
          <p:spPr>
            <a:xfrm>
              <a:off x="7269480" y="1554480"/>
              <a:ext cx="1783080" cy="0"/>
            </a:xfrm>
            <a:prstGeom prst="line">
              <a:avLst/>
            </a:prstGeom>
            <a:ln w="17780">
              <a:solidFill>
                <a:srgbClr val="59595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6103620" y="1874519"/>
              <a:ext cx="0" cy="457201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2712567" y="2331720"/>
              <a:ext cx="6766559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271256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09584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9479126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271256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09584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9479126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31720" cy="64008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추진위원장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052560" y="1280160"/>
              <a:ext cx="1920240" cy="548640"/>
            </a:xfrm>
            <a:prstGeom prst="roundRect">
              <a:avLst>
                <a:gd name="adj" fmla="val 10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사무국(간사)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5808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 분과위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5808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시스템·인프라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보안·품질 기준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기술 자문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54136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콘텐츠 분과위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54136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콘텐츠 기획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현지화 방향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저작권 검토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92464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분과위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92464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운영 점검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예산·일정 조정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평가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ORG-161 · 추진위원회 구조 · 분과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추진위원회 구조 · 분과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위원장 · 사무국(간사) · 분과위원회 4 운영 (purple)</a:t>
            </a:r>
          </a:p>
        </p:txBody>
      </p:sp>
      <p:grpSp>
        <p:nvGrpSpPr>
          <p:cNvPr id="26" name="asset:ORG-161"/>
          <p:cNvGrpSpPr/>
          <p:nvPr/>
        </p:nvGrpSpPr>
        <p:grpSpPr>
          <a:xfrm>
            <a:off x="426567" y="1234440"/>
            <a:ext cx="11338560" cy="3931920"/>
            <a:chOff x="426567" y="1234440"/>
            <a:chExt cx="11338560" cy="3931920"/>
          </a:xfrm>
        </p:grpSpPr>
        <p:cxnSp>
          <p:nvCxnSpPr>
            <p:cNvPr id="15" name="Connector 14"/>
            <p:cNvCxnSpPr/>
            <p:nvPr/>
          </p:nvCxnSpPr>
          <p:spPr>
            <a:xfrm>
              <a:off x="7269480" y="1554480"/>
              <a:ext cx="1783080" cy="0"/>
            </a:xfrm>
            <a:prstGeom prst="line">
              <a:avLst/>
            </a:prstGeom>
            <a:ln w="17780">
              <a:solidFill>
                <a:srgbClr val="59595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6103620" y="1874519"/>
              <a:ext cx="0" cy="457201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1741017" y="2331720"/>
              <a:ext cx="870966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174101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464423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754745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1045067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174101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464423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754745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045067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31720" cy="6400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추진위원장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052560" y="1280160"/>
              <a:ext cx="1920240" cy="548640"/>
            </a:xfrm>
            <a:prstGeom prst="roundRect">
              <a:avLst>
                <a:gd name="adj" fmla="val 10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사무국(간사)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2656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 분과위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2656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시스템·인프라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보안·품질 기준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기술 자문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32978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콘텐츠 분과위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32978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콘텐츠 기획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현지화 방향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저작권 검토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23300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분과위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3300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운영 점검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예산·일정 조정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평가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3622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평가 분과위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13622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지표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품질 평가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개선 권고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ORG-162 · 추진위원회 구조 · 분과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추진위원회 구조 · 분과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위원장 · 사무국(간사) · 분과위원회 2 운영 (ink)</a:t>
            </a:r>
          </a:p>
        </p:txBody>
      </p:sp>
      <p:grpSp>
        <p:nvGrpSpPr>
          <p:cNvPr id="18" name="asset:ORG-162"/>
          <p:cNvGrpSpPr/>
          <p:nvPr/>
        </p:nvGrpSpPr>
        <p:grpSpPr>
          <a:xfrm>
            <a:off x="2849727" y="1234440"/>
            <a:ext cx="8123073" cy="3931920"/>
            <a:chOff x="2849727" y="1234440"/>
            <a:chExt cx="8123073" cy="3931920"/>
          </a:xfrm>
        </p:grpSpPr>
        <p:cxnSp>
          <p:nvCxnSpPr>
            <p:cNvPr id="11" name="Connector 10"/>
            <p:cNvCxnSpPr/>
            <p:nvPr/>
          </p:nvCxnSpPr>
          <p:spPr>
            <a:xfrm>
              <a:off x="7269480" y="1554480"/>
              <a:ext cx="1783080" cy="0"/>
            </a:xfrm>
            <a:prstGeom prst="line">
              <a:avLst/>
            </a:prstGeom>
            <a:ln w="17780">
              <a:solidFill>
                <a:srgbClr val="59595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103620" y="1874519"/>
              <a:ext cx="0" cy="457201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404207" y="2331720"/>
              <a:ext cx="3383279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40420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7787486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440420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787486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31720" cy="640080"/>
            </a:xfrm>
            <a:prstGeom prst="roundRect">
              <a:avLst>
                <a:gd name="adj" fmla="val 10000"/>
              </a:avLst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추진위원장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052560" y="1280160"/>
              <a:ext cx="1920240" cy="548640"/>
            </a:xfrm>
            <a:prstGeom prst="roundRect">
              <a:avLst>
                <a:gd name="adj" fmla="val 10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사무국(간사)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84972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 분과위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84972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시스템·인프라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보안·품질 기준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기술 자문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콘텐츠 분과위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23300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콘텐츠 기획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현지화 방향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저작권 검토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ORG-163 · 추진위원회 구조 · 분과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추진위원회 구조 · 분과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위원장 · 사무국(간사) · 분과위원회 3 운영 (teal)</a:t>
            </a:r>
          </a:p>
        </p:txBody>
      </p:sp>
      <p:grpSp>
        <p:nvGrpSpPr>
          <p:cNvPr id="22" name="asset:ORG-163"/>
          <p:cNvGrpSpPr/>
          <p:nvPr/>
        </p:nvGrpSpPr>
        <p:grpSpPr>
          <a:xfrm>
            <a:off x="1158087" y="1234440"/>
            <a:ext cx="9875520" cy="3931920"/>
            <a:chOff x="1158087" y="1234440"/>
            <a:chExt cx="9875520" cy="3931920"/>
          </a:xfrm>
        </p:grpSpPr>
        <p:cxnSp>
          <p:nvCxnSpPr>
            <p:cNvPr id="13" name="Connector 12"/>
            <p:cNvCxnSpPr/>
            <p:nvPr/>
          </p:nvCxnSpPr>
          <p:spPr>
            <a:xfrm>
              <a:off x="7269480" y="1554480"/>
              <a:ext cx="1783080" cy="0"/>
            </a:xfrm>
            <a:prstGeom prst="line">
              <a:avLst/>
            </a:prstGeom>
            <a:ln w="17780">
              <a:solidFill>
                <a:srgbClr val="59595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6103620" y="1874519"/>
              <a:ext cx="0" cy="457201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2712567" y="2331720"/>
              <a:ext cx="6766559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271256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09584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9479126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271256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09584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9479126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31720" cy="6400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추진위원장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052560" y="1280160"/>
              <a:ext cx="1920240" cy="548640"/>
            </a:xfrm>
            <a:prstGeom prst="roundRect">
              <a:avLst>
                <a:gd name="adj" fmla="val 10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사무국(간사)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5808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 분과위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5808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시스템·인프라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보안·품질 기준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기술 자문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54136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콘텐츠 분과위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54136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콘텐츠 기획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현지화 방향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저작권 검토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92464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분과위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92464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운영 점검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예산·일정 조정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평가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ORG-164 · 추진위원회 구조 · 분과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추진위원회 구조 · 분과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위원장 · 사무국(간사) · 분과위원회 4 운영 (steel)</a:t>
            </a:r>
          </a:p>
        </p:txBody>
      </p:sp>
      <p:grpSp>
        <p:nvGrpSpPr>
          <p:cNvPr id="26" name="asset:ORG-164"/>
          <p:cNvGrpSpPr/>
          <p:nvPr/>
        </p:nvGrpSpPr>
        <p:grpSpPr>
          <a:xfrm>
            <a:off x="426567" y="1234440"/>
            <a:ext cx="11338560" cy="3931920"/>
            <a:chOff x="426567" y="1234440"/>
            <a:chExt cx="11338560" cy="3931920"/>
          </a:xfrm>
        </p:grpSpPr>
        <p:cxnSp>
          <p:nvCxnSpPr>
            <p:cNvPr id="15" name="Connector 14"/>
            <p:cNvCxnSpPr/>
            <p:nvPr/>
          </p:nvCxnSpPr>
          <p:spPr>
            <a:xfrm>
              <a:off x="7269480" y="1554480"/>
              <a:ext cx="1783080" cy="0"/>
            </a:xfrm>
            <a:prstGeom prst="line">
              <a:avLst/>
            </a:prstGeom>
            <a:ln w="17780">
              <a:solidFill>
                <a:srgbClr val="59595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6103620" y="1874519"/>
              <a:ext cx="0" cy="457201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1741017" y="2331720"/>
              <a:ext cx="870966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174101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464423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754745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1045067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174101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464423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754745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045067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31720" cy="64008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추진위원장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052560" y="1280160"/>
              <a:ext cx="1920240" cy="548640"/>
            </a:xfrm>
            <a:prstGeom prst="roundRect">
              <a:avLst>
                <a:gd name="adj" fmla="val 10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사무국(간사)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2656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 분과위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2656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시스템·인프라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보안·품질 기준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기술 자문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32978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콘텐츠 분과위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32978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콘텐츠 기획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현지화 방향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저작권 검토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23300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분과위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3300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운영 점검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예산·일정 조정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평가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3622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평가 분과위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13622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지표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품질 평가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개선 권고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ORG-165 · 추진위원회 구조 · 분과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추진위원회 구조 · 분과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위원장 · 사무국(간사) · 분과위원회 2 운영 (navy)</a:t>
            </a:r>
          </a:p>
        </p:txBody>
      </p:sp>
      <p:grpSp>
        <p:nvGrpSpPr>
          <p:cNvPr id="18" name="asset:ORG-165"/>
          <p:cNvGrpSpPr/>
          <p:nvPr/>
        </p:nvGrpSpPr>
        <p:grpSpPr>
          <a:xfrm>
            <a:off x="2849727" y="1234440"/>
            <a:ext cx="8123073" cy="3931920"/>
            <a:chOff x="2849727" y="1234440"/>
            <a:chExt cx="8123073" cy="3931920"/>
          </a:xfrm>
        </p:grpSpPr>
        <p:cxnSp>
          <p:nvCxnSpPr>
            <p:cNvPr id="11" name="Connector 10"/>
            <p:cNvCxnSpPr/>
            <p:nvPr/>
          </p:nvCxnSpPr>
          <p:spPr>
            <a:xfrm>
              <a:off x="7269480" y="1554480"/>
              <a:ext cx="1783080" cy="0"/>
            </a:xfrm>
            <a:prstGeom prst="line">
              <a:avLst/>
            </a:prstGeom>
            <a:ln w="17780">
              <a:solidFill>
                <a:srgbClr val="59595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103620" y="1874519"/>
              <a:ext cx="0" cy="457201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404207" y="2331720"/>
              <a:ext cx="3383279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40420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7787486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440420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787486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31720" cy="640080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추진위원장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052560" y="1280160"/>
              <a:ext cx="1920240" cy="548640"/>
            </a:xfrm>
            <a:prstGeom prst="roundRect">
              <a:avLst>
                <a:gd name="adj" fmla="val 10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사무국(간사)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84972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 분과위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84972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시스템·인프라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보안·품질 기준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기술 자문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콘텐츠 분과위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23300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콘텐츠 기획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현지화 방향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저작권 검토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ORG-166 · 추진위원회 구조 · 분과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추진위원회 구조 · 분과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위원장 · 사무국(간사) · 분과위원회 3 운영 (blue)</a:t>
            </a:r>
          </a:p>
        </p:txBody>
      </p:sp>
      <p:grpSp>
        <p:nvGrpSpPr>
          <p:cNvPr id="22" name="asset:ORG-166"/>
          <p:cNvGrpSpPr/>
          <p:nvPr/>
        </p:nvGrpSpPr>
        <p:grpSpPr>
          <a:xfrm>
            <a:off x="1158087" y="1234440"/>
            <a:ext cx="9875520" cy="3931920"/>
            <a:chOff x="1158087" y="1234440"/>
            <a:chExt cx="9875520" cy="3931920"/>
          </a:xfrm>
        </p:grpSpPr>
        <p:cxnSp>
          <p:nvCxnSpPr>
            <p:cNvPr id="13" name="Connector 12"/>
            <p:cNvCxnSpPr/>
            <p:nvPr/>
          </p:nvCxnSpPr>
          <p:spPr>
            <a:xfrm>
              <a:off x="7269480" y="1554480"/>
              <a:ext cx="1783080" cy="0"/>
            </a:xfrm>
            <a:prstGeom prst="line">
              <a:avLst/>
            </a:prstGeom>
            <a:ln w="17780">
              <a:solidFill>
                <a:srgbClr val="59595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6103620" y="1874519"/>
              <a:ext cx="0" cy="457201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2712567" y="2331720"/>
              <a:ext cx="6766559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271256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09584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9479126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271256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09584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9479126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31720" cy="64008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추진위원장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052560" y="1280160"/>
              <a:ext cx="1920240" cy="548640"/>
            </a:xfrm>
            <a:prstGeom prst="roundRect">
              <a:avLst>
                <a:gd name="adj" fmla="val 10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사무국(간사)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5808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 분과위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15808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시스템·인프라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보안·품질 기준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기술 자문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54136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콘텐츠 분과위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54136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콘텐츠 기획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현지화 방향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저작권 검토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92464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분과위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92464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운영 점검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예산·일정 조정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평가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ORG-167 · 추진위원회 구조 · 분과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추진위원회 구조 · 분과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위원장 · 사무국(간사) · 분과위원회 4 운영 (purple)</a:t>
            </a:r>
          </a:p>
        </p:txBody>
      </p:sp>
      <p:grpSp>
        <p:nvGrpSpPr>
          <p:cNvPr id="26" name="asset:ORG-167"/>
          <p:cNvGrpSpPr/>
          <p:nvPr/>
        </p:nvGrpSpPr>
        <p:grpSpPr>
          <a:xfrm>
            <a:off x="426567" y="1234440"/>
            <a:ext cx="11338560" cy="3931920"/>
            <a:chOff x="426567" y="1234440"/>
            <a:chExt cx="11338560" cy="3931920"/>
          </a:xfrm>
        </p:grpSpPr>
        <p:cxnSp>
          <p:nvCxnSpPr>
            <p:cNvPr id="15" name="Connector 14"/>
            <p:cNvCxnSpPr/>
            <p:nvPr/>
          </p:nvCxnSpPr>
          <p:spPr>
            <a:xfrm>
              <a:off x="7269480" y="1554480"/>
              <a:ext cx="1783080" cy="0"/>
            </a:xfrm>
            <a:prstGeom prst="line">
              <a:avLst/>
            </a:prstGeom>
            <a:ln w="17780">
              <a:solidFill>
                <a:srgbClr val="59595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6103620" y="1874519"/>
              <a:ext cx="0" cy="457201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1741017" y="2331720"/>
              <a:ext cx="8709660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174101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464423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754745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1045067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174101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464423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754745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045067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31720" cy="6400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추진위원장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052560" y="1280160"/>
              <a:ext cx="1920240" cy="548640"/>
            </a:xfrm>
            <a:prstGeom prst="roundRect">
              <a:avLst>
                <a:gd name="adj" fmla="val 10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사무국(간사)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2656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 분과위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2656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시스템·인프라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보안·품질 기준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기술 자문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32978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콘텐츠 분과위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32978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콘텐츠 기획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현지화 방향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저작권 검토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23300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분과위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3300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사업 운영 점검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예산·일정 조정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평가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36227" y="2743200"/>
              <a:ext cx="2628900" cy="603504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평가 분과위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136227" y="3520440"/>
              <a:ext cx="262890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지표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품질 평가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개선 권고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ORG-168 · 추진위원회 구조 · 분과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추진위원회 구조 · 분과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위원장 · 사무국(간사) · 분과위원회 2 운영 (ink)</a:t>
            </a:r>
          </a:p>
        </p:txBody>
      </p:sp>
      <p:grpSp>
        <p:nvGrpSpPr>
          <p:cNvPr id="18" name="asset:ORG-168"/>
          <p:cNvGrpSpPr/>
          <p:nvPr/>
        </p:nvGrpSpPr>
        <p:grpSpPr>
          <a:xfrm>
            <a:off x="2849727" y="1234440"/>
            <a:ext cx="8123073" cy="3931920"/>
            <a:chOff x="2849727" y="1234440"/>
            <a:chExt cx="8123073" cy="3931920"/>
          </a:xfrm>
        </p:grpSpPr>
        <p:cxnSp>
          <p:nvCxnSpPr>
            <p:cNvPr id="11" name="Connector 10"/>
            <p:cNvCxnSpPr/>
            <p:nvPr/>
          </p:nvCxnSpPr>
          <p:spPr>
            <a:xfrm>
              <a:off x="7269480" y="1554480"/>
              <a:ext cx="1783080" cy="0"/>
            </a:xfrm>
            <a:prstGeom prst="line">
              <a:avLst/>
            </a:prstGeom>
            <a:ln w="17780">
              <a:solidFill>
                <a:srgbClr val="59595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103620" y="1874519"/>
              <a:ext cx="0" cy="457201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404207" y="2331720"/>
              <a:ext cx="3383279" cy="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404207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7787486" y="2331720"/>
              <a:ext cx="0" cy="41148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4404207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787486" y="3346704"/>
              <a:ext cx="0" cy="173736"/>
            </a:xfrm>
            <a:prstGeom prst="line">
              <a:avLst/>
            </a:prstGeom>
            <a:ln w="1524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4937760" y="1234440"/>
              <a:ext cx="2331720" cy="640080"/>
            </a:xfrm>
            <a:prstGeom prst="roundRect">
              <a:avLst>
                <a:gd name="adj" fmla="val 10000"/>
              </a:avLst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추진위원장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052560" y="1280160"/>
              <a:ext cx="1920240" cy="548640"/>
            </a:xfrm>
            <a:prstGeom prst="roundRect">
              <a:avLst>
                <a:gd name="adj" fmla="val 10000"/>
              </a:avLst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사무국(간사)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84972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 분과위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84972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시스템·인프라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보안·품질 기준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기술 자문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2743200"/>
              <a:ext cx="3108960" cy="603504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콘텐츠 분과위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233007" y="3520440"/>
              <a:ext cx="3108960" cy="164592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/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콘텐츠 기획 심의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현지화 방향</a:t>
              </a:r>
            </a:p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저작권 검토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