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ORG-123 · 컨소시엄 구성도 · 참여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2 역할·분담율 구성 (navy)</a:t>
            </a:r>
          </a:p>
        </p:txBody>
      </p:sp>
      <p:grpSp>
        <p:nvGrpSpPr>
          <p:cNvPr id="16" name="asset:ORG-123"/>
          <p:cNvGrpSpPr/>
          <p:nvPr/>
        </p:nvGrpSpPr>
        <p:grpSpPr>
          <a:xfrm>
            <a:off x="3124047" y="1234440"/>
            <a:ext cx="5943600" cy="3474720"/>
            <a:chOff x="3124047" y="1234440"/>
            <a:chExt cx="5943600" cy="3474720"/>
          </a:xfrm>
        </p:grpSpPr>
        <p:cxnSp>
          <p:nvCxnSpPr>
            <p:cNvPr id="12" name="Connector 11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541367" y="2926080"/>
              <a:ext cx="310896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54136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65032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12404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24047" y="3246120"/>
              <a:ext cx="283464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12404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55%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33007" y="3246120"/>
              <a:ext cx="283464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3300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45%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ORG-124 · 컨소시엄 구성도 · 참여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3 역할·분담율 구성 (blue)</a:t>
            </a:r>
          </a:p>
        </p:txBody>
      </p:sp>
      <p:grpSp>
        <p:nvGrpSpPr>
          <p:cNvPr id="20" name="asset:ORG-124"/>
          <p:cNvGrpSpPr/>
          <p:nvPr/>
        </p:nvGrpSpPr>
        <p:grpSpPr>
          <a:xfrm>
            <a:off x="1569567" y="1234440"/>
            <a:ext cx="9052560" cy="3474720"/>
            <a:chOff x="1569567" y="1234440"/>
            <a:chExt cx="9052560" cy="3474720"/>
          </a:xfrm>
        </p:grpSpPr>
        <p:cxnSp>
          <p:nvCxnSpPr>
            <p:cNvPr id="15" name="Connector 14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986887" y="2926080"/>
              <a:ext cx="621792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298688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609584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920480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56956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569567" y="3246120"/>
              <a:ext cx="2834640" cy="4572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56956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45%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67852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78527" y="3246120"/>
              <a:ext cx="283464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7852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30%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78748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787487" y="3246120"/>
              <a:ext cx="2834640" cy="4572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78748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25%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ORG-125 · 컨소시엄 구성도 · 참여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4 역할·분담율 구성 (purple)</a:t>
            </a:r>
          </a:p>
        </p:txBody>
      </p:sp>
      <p:grpSp>
        <p:nvGrpSpPr>
          <p:cNvPr id="24" name="asset:ORG-125"/>
          <p:cNvGrpSpPr/>
          <p:nvPr/>
        </p:nvGrpSpPr>
        <p:grpSpPr>
          <a:xfrm>
            <a:off x="426567" y="1234440"/>
            <a:ext cx="11338560" cy="3474720"/>
            <a:chOff x="426567" y="1234440"/>
            <a:chExt cx="11338560" cy="3474720"/>
          </a:xfrm>
        </p:grpSpPr>
        <p:cxnSp>
          <p:nvCxnSpPr>
            <p:cNvPr id="18" name="Connector 17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741017" y="2926080"/>
              <a:ext cx="870966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174101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64423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54745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1045067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656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26567" y="3246120"/>
              <a:ext cx="262890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2656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40%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2978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29787" y="3246120"/>
              <a:ext cx="2628900" cy="4572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32978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25%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300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33007" y="3246120"/>
              <a:ext cx="262890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23300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20%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13622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136227" y="3246120"/>
              <a:ext cx="2628900" cy="4572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 ㈜가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13622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플랫폼 개발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15%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ORG-126 · 컨소시엄 구성도 · 참여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2 역할·분담율 구성 (ink)</a:t>
            </a:r>
          </a:p>
        </p:txBody>
      </p:sp>
      <p:grpSp>
        <p:nvGrpSpPr>
          <p:cNvPr id="16" name="asset:ORG-126"/>
          <p:cNvGrpSpPr/>
          <p:nvPr/>
        </p:nvGrpSpPr>
        <p:grpSpPr>
          <a:xfrm>
            <a:off x="3124047" y="1234440"/>
            <a:ext cx="5943600" cy="3474720"/>
            <a:chOff x="3124047" y="1234440"/>
            <a:chExt cx="5943600" cy="3474720"/>
          </a:xfrm>
        </p:grpSpPr>
        <p:cxnSp>
          <p:nvCxnSpPr>
            <p:cNvPr id="12" name="Connector 11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541367" y="2926080"/>
              <a:ext cx="310896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54136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65032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12404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24047" y="3246120"/>
              <a:ext cx="283464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12404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55%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33007" y="3246120"/>
              <a:ext cx="283464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3300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45%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ORG-127 · 컨소시엄 구성도 · 참여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3 역할·분담율 구성 (teal)</a:t>
            </a:r>
          </a:p>
        </p:txBody>
      </p:sp>
      <p:grpSp>
        <p:nvGrpSpPr>
          <p:cNvPr id="20" name="asset:ORG-127"/>
          <p:cNvGrpSpPr/>
          <p:nvPr/>
        </p:nvGrpSpPr>
        <p:grpSpPr>
          <a:xfrm>
            <a:off x="1569567" y="1234440"/>
            <a:ext cx="9052560" cy="3474720"/>
            <a:chOff x="1569567" y="1234440"/>
            <a:chExt cx="9052560" cy="3474720"/>
          </a:xfrm>
        </p:grpSpPr>
        <p:cxnSp>
          <p:nvCxnSpPr>
            <p:cNvPr id="15" name="Connector 14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986887" y="2926080"/>
              <a:ext cx="621792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298688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609584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920480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56956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569567" y="3246120"/>
              <a:ext cx="283464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56956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45%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67852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78527" y="3246120"/>
              <a:ext cx="2834640" cy="4572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7852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30%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78748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787487" y="3246120"/>
              <a:ext cx="2834640" cy="4572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78748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25%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ORG-128 · 컨소시엄 구성도 · 참여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4 역할·분담율 구성 (steel)</a:t>
            </a:r>
          </a:p>
        </p:txBody>
      </p:sp>
      <p:grpSp>
        <p:nvGrpSpPr>
          <p:cNvPr id="24" name="asset:ORG-128"/>
          <p:cNvGrpSpPr/>
          <p:nvPr/>
        </p:nvGrpSpPr>
        <p:grpSpPr>
          <a:xfrm>
            <a:off x="426567" y="1234440"/>
            <a:ext cx="11338560" cy="3474720"/>
            <a:chOff x="426567" y="1234440"/>
            <a:chExt cx="11338560" cy="3474720"/>
          </a:xfrm>
        </p:grpSpPr>
        <p:cxnSp>
          <p:nvCxnSpPr>
            <p:cNvPr id="18" name="Connector 17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741017" y="2926080"/>
              <a:ext cx="870966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174101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64423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54745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1045067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656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26567" y="3246120"/>
              <a:ext cx="262890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2656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40%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2978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29787" y="3246120"/>
              <a:ext cx="262890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32978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25%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300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33007" y="3246120"/>
              <a:ext cx="2628900" cy="4572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23300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20%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13622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136227" y="3246120"/>
              <a:ext cx="2628900" cy="4572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 ㈜가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13622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플랫폼 개발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15%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ORG-129 · 컨소시엄 구성도 · 참여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2 역할·분담율 구성 (navy)</a:t>
            </a:r>
          </a:p>
        </p:txBody>
      </p:sp>
      <p:grpSp>
        <p:nvGrpSpPr>
          <p:cNvPr id="16" name="asset:ORG-129"/>
          <p:cNvGrpSpPr/>
          <p:nvPr/>
        </p:nvGrpSpPr>
        <p:grpSpPr>
          <a:xfrm>
            <a:off x="3124047" y="1234440"/>
            <a:ext cx="5943600" cy="3474720"/>
            <a:chOff x="3124047" y="1234440"/>
            <a:chExt cx="5943600" cy="3474720"/>
          </a:xfrm>
        </p:grpSpPr>
        <p:cxnSp>
          <p:nvCxnSpPr>
            <p:cNvPr id="12" name="Connector 11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541367" y="2926080"/>
              <a:ext cx="310896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54136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65032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12404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24047" y="3246120"/>
              <a:ext cx="283464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12404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55%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33007" y="3246120"/>
              <a:ext cx="283464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3300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45%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ORG-130 · 컨소시엄 구성도 · 참여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3 역할·분담율 구성 (blue)</a:t>
            </a:r>
          </a:p>
        </p:txBody>
      </p:sp>
      <p:grpSp>
        <p:nvGrpSpPr>
          <p:cNvPr id="20" name="asset:ORG-130"/>
          <p:cNvGrpSpPr/>
          <p:nvPr/>
        </p:nvGrpSpPr>
        <p:grpSpPr>
          <a:xfrm>
            <a:off x="1569567" y="1234440"/>
            <a:ext cx="9052560" cy="3474720"/>
            <a:chOff x="1569567" y="1234440"/>
            <a:chExt cx="9052560" cy="3474720"/>
          </a:xfrm>
        </p:grpSpPr>
        <p:cxnSp>
          <p:nvCxnSpPr>
            <p:cNvPr id="15" name="Connector 14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986887" y="2926080"/>
              <a:ext cx="621792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298688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609584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920480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56956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569567" y="3246120"/>
              <a:ext cx="2834640" cy="4572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56956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45%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67852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78527" y="3246120"/>
              <a:ext cx="283464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7852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30%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78748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787487" y="3246120"/>
              <a:ext cx="2834640" cy="4572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78748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25%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ORG-131 · 컨소시엄 구성도 · 참여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4 역할·분담율 구성 (purple)</a:t>
            </a:r>
          </a:p>
        </p:txBody>
      </p:sp>
      <p:grpSp>
        <p:nvGrpSpPr>
          <p:cNvPr id="24" name="asset:ORG-131"/>
          <p:cNvGrpSpPr/>
          <p:nvPr/>
        </p:nvGrpSpPr>
        <p:grpSpPr>
          <a:xfrm>
            <a:off x="426567" y="1234440"/>
            <a:ext cx="11338560" cy="3474720"/>
            <a:chOff x="426567" y="1234440"/>
            <a:chExt cx="11338560" cy="3474720"/>
          </a:xfrm>
        </p:grpSpPr>
        <p:cxnSp>
          <p:nvCxnSpPr>
            <p:cNvPr id="18" name="Connector 17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741017" y="2926080"/>
              <a:ext cx="870966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174101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64423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54745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1045067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656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26567" y="3246120"/>
              <a:ext cx="262890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2656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40%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2978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29787" y="3246120"/>
              <a:ext cx="2628900" cy="4572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32978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25%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300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33007" y="3246120"/>
              <a:ext cx="262890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23300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20%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13622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136227" y="3246120"/>
              <a:ext cx="2628900" cy="4572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 ㈜가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13622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플랫폼 개발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15%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ORG-132 · 컨소시엄 구성도 · 참여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2 역할·분담율 구성 (ink)</a:t>
            </a:r>
          </a:p>
        </p:txBody>
      </p:sp>
      <p:grpSp>
        <p:nvGrpSpPr>
          <p:cNvPr id="16" name="asset:ORG-132"/>
          <p:cNvGrpSpPr/>
          <p:nvPr/>
        </p:nvGrpSpPr>
        <p:grpSpPr>
          <a:xfrm>
            <a:off x="3124047" y="1234440"/>
            <a:ext cx="5943600" cy="3474720"/>
            <a:chOff x="3124047" y="1234440"/>
            <a:chExt cx="5943600" cy="3474720"/>
          </a:xfrm>
        </p:grpSpPr>
        <p:cxnSp>
          <p:nvCxnSpPr>
            <p:cNvPr id="12" name="Connector 11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541367" y="2926080"/>
              <a:ext cx="310896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54136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65032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12404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24047" y="3246120"/>
              <a:ext cx="283464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12404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55%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33007" y="3246120"/>
              <a:ext cx="283464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3300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45%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ORG-133 · 컨소시엄 구성도 · 참여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3 역할·분담율 구성 (teal)</a:t>
            </a:r>
          </a:p>
        </p:txBody>
      </p:sp>
      <p:grpSp>
        <p:nvGrpSpPr>
          <p:cNvPr id="20" name="asset:ORG-133"/>
          <p:cNvGrpSpPr/>
          <p:nvPr/>
        </p:nvGrpSpPr>
        <p:grpSpPr>
          <a:xfrm>
            <a:off x="1569567" y="1234440"/>
            <a:ext cx="9052560" cy="3474720"/>
            <a:chOff x="1569567" y="1234440"/>
            <a:chExt cx="9052560" cy="3474720"/>
          </a:xfrm>
        </p:grpSpPr>
        <p:cxnSp>
          <p:nvCxnSpPr>
            <p:cNvPr id="15" name="Connector 14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986887" y="2926080"/>
              <a:ext cx="621792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298688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609584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920480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56956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569567" y="3246120"/>
              <a:ext cx="283464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56956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45%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67852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78527" y="3246120"/>
              <a:ext cx="2834640" cy="4572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7852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30%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78748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787487" y="3246120"/>
              <a:ext cx="2834640" cy="4572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78748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25%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ORG-134 · 컨소시엄 구성도 · 참여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4 역할·분담율 구성 (steel)</a:t>
            </a:r>
          </a:p>
        </p:txBody>
      </p:sp>
      <p:grpSp>
        <p:nvGrpSpPr>
          <p:cNvPr id="24" name="asset:ORG-134"/>
          <p:cNvGrpSpPr/>
          <p:nvPr/>
        </p:nvGrpSpPr>
        <p:grpSpPr>
          <a:xfrm>
            <a:off x="426567" y="1234440"/>
            <a:ext cx="11338560" cy="3474720"/>
            <a:chOff x="426567" y="1234440"/>
            <a:chExt cx="11338560" cy="3474720"/>
          </a:xfrm>
        </p:grpSpPr>
        <p:cxnSp>
          <p:nvCxnSpPr>
            <p:cNvPr id="18" name="Connector 17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741017" y="2926080"/>
              <a:ext cx="870966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174101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64423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54745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1045067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656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26567" y="3246120"/>
              <a:ext cx="262890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2656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40%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2978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29787" y="3246120"/>
              <a:ext cx="262890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32978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25%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300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33007" y="3246120"/>
              <a:ext cx="2628900" cy="4572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23300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20%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13622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136227" y="3246120"/>
              <a:ext cx="2628900" cy="4572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 ㈜가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13622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플랫폼 개발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15%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ORG-135 · 컨소시엄 구성도 · 참여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2 역할·분담율 구성 (navy)</a:t>
            </a:r>
          </a:p>
        </p:txBody>
      </p:sp>
      <p:grpSp>
        <p:nvGrpSpPr>
          <p:cNvPr id="16" name="asset:ORG-135"/>
          <p:cNvGrpSpPr/>
          <p:nvPr/>
        </p:nvGrpSpPr>
        <p:grpSpPr>
          <a:xfrm>
            <a:off x="3124047" y="1234440"/>
            <a:ext cx="5943600" cy="3474720"/>
            <a:chOff x="3124047" y="1234440"/>
            <a:chExt cx="5943600" cy="3474720"/>
          </a:xfrm>
        </p:grpSpPr>
        <p:cxnSp>
          <p:nvCxnSpPr>
            <p:cNvPr id="12" name="Connector 11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4541367" y="2926080"/>
              <a:ext cx="310896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>
              <a:off x="454136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>
              <a:off x="765032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12404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124047" y="3246120"/>
              <a:ext cx="283464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12404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55%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3300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6233007" y="3246120"/>
              <a:ext cx="283464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23300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45%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ORG-136 · 컨소시엄 구성도 · 참여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3 역할·분담율 구성 (blue)</a:t>
            </a:r>
          </a:p>
        </p:txBody>
      </p:sp>
      <p:grpSp>
        <p:nvGrpSpPr>
          <p:cNvPr id="20" name="asset:ORG-136"/>
          <p:cNvGrpSpPr/>
          <p:nvPr/>
        </p:nvGrpSpPr>
        <p:grpSpPr>
          <a:xfrm>
            <a:off x="1569567" y="1234440"/>
            <a:ext cx="9052560" cy="3474720"/>
            <a:chOff x="1569567" y="1234440"/>
            <a:chExt cx="9052560" cy="3474720"/>
          </a:xfrm>
        </p:grpSpPr>
        <p:cxnSp>
          <p:nvCxnSpPr>
            <p:cNvPr id="15" name="Connector 14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>
              <a:off x="2986887" y="2926080"/>
              <a:ext cx="621792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298688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609584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920480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56956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569567" y="3246120"/>
              <a:ext cx="2834640" cy="4572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56956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45%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67852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78527" y="3246120"/>
              <a:ext cx="283464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7852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30%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7787487" y="3246120"/>
              <a:ext cx="283464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787487" y="3246120"/>
              <a:ext cx="2834640" cy="4572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787487" y="3749039"/>
              <a:ext cx="283464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25%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ORG-137 · 컨소시엄 구성도 · 참여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컨소시엄 구성도 · 참여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주관사 + 참여사 4 역할·분담율 구성 (purple)</a:t>
            </a:r>
          </a:p>
        </p:txBody>
      </p:sp>
      <p:grpSp>
        <p:nvGrpSpPr>
          <p:cNvPr id="24" name="asset:ORG-137"/>
          <p:cNvGrpSpPr/>
          <p:nvPr/>
        </p:nvGrpSpPr>
        <p:grpSpPr>
          <a:xfrm>
            <a:off x="426567" y="1234440"/>
            <a:ext cx="11338560" cy="3474720"/>
            <a:chOff x="426567" y="1234440"/>
            <a:chExt cx="11338560" cy="3474720"/>
          </a:xfrm>
        </p:grpSpPr>
        <p:cxnSp>
          <p:nvCxnSpPr>
            <p:cNvPr id="18" name="Connector 17"/>
            <p:cNvCxnSpPr/>
            <p:nvPr/>
          </p:nvCxnSpPr>
          <p:spPr>
            <a:xfrm>
              <a:off x="6099048" y="2057400"/>
              <a:ext cx="0" cy="86868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8"/>
            <p:cNvCxnSpPr/>
            <p:nvPr/>
          </p:nvCxnSpPr>
          <p:spPr>
            <a:xfrm>
              <a:off x="1741017" y="2926080"/>
              <a:ext cx="8709660" cy="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174101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64423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54745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10450677" y="2926080"/>
              <a:ext cx="0" cy="320040"/>
            </a:xfrm>
            <a:prstGeom prst="line">
              <a:avLst/>
            </a:prstGeom>
            <a:ln w="22225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ounded Rectangle 4"/>
            <p:cNvSpPr/>
            <p:nvPr/>
          </p:nvSpPr>
          <p:spPr>
            <a:xfrm>
              <a:off x="3813048" y="1234440"/>
              <a:ext cx="4572000" cy="822960"/>
            </a:xfrm>
            <a:prstGeom prst="roundRect">
              <a:avLst>
                <a:gd name="adj" fmla="val 1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(사업 총괄·계약 주체)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2656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26567" y="3246120"/>
              <a:ext cx="2628900" cy="45720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㈜나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42656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현지화·운영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40%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32978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329787" y="3246120"/>
              <a:ext cx="2628900" cy="457200"/>
            </a:xfrm>
            <a:prstGeom prst="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㈜다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32978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마케팅·배급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25%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3300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233007" y="3246120"/>
              <a:ext cx="2628900" cy="45720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참여사 ㈜라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23300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품질·검수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20%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136227" y="3246120"/>
              <a:ext cx="2628900" cy="1463040"/>
            </a:xfrm>
            <a:prstGeom prst="roundRect">
              <a:avLst>
                <a:gd name="adj" fmla="val 6000"/>
              </a:avLst>
            </a:prstGeom>
            <a:solidFill>
              <a:srgbClr val="F7F9FC"/>
            </a:solidFill>
            <a:ln w="1016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136227" y="3246120"/>
              <a:ext cx="2628900" cy="457200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주관사 ㈜가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136227" y="3749039"/>
              <a:ext cx="2628900" cy="914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플랫폼 개발</a:t>
              </a:r>
            </a:p>
            <a:p>
              <a:pPr algn="ctr"/>
              <a:r>
                <a:rPr sz="11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분담 15%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