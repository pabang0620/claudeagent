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ORG-046 · R&amp;R 역할·책임 카드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2 (navy)</a:t>
            </a:r>
          </a:p>
        </p:txBody>
      </p:sp>
      <p:grpSp>
        <p:nvGrpSpPr>
          <p:cNvPr id="16" name="asset:ORG-046"/>
          <p:cNvGrpSpPr/>
          <p:nvPr/>
        </p:nvGrpSpPr>
        <p:grpSpPr>
          <a:xfrm>
            <a:off x="3489807" y="1234440"/>
            <a:ext cx="5212080" cy="3200400"/>
            <a:chOff x="3489807" y="1234440"/>
            <a:chExt cx="5212080" cy="320040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724247" y="2331720"/>
              <a:ext cx="27432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ORG-047 · R&amp;R 역할·책임 카드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3 (blue)</a:t>
            </a:r>
          </a:p>
        </p:txBody>
      </p:sp>
      <p:grpSp>
        <p:nvGrpSpPr>
          <p:cNvPr id="20" name="asset:ORG-047"/>
          <p:cNvGrpSpPr/>
          <p:nvPr/>
        </p:nvGrpSpPr>
        <p:grpSpPr>
          <a:xfrm>
            <a:off x="2118207" y="1234440"/>
            <a:ext cx="7955280" cy="3200400"/>
            <a:chOff x="2118207" y="1234440"/>
            <a:chExt cx="7955280" cy="320040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352647" y="2331720"/>
              <a:ext cx="54864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3352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839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18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8207" y="2651760"/>
              <a:ext cx="246888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27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614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614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711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604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6046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4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ORG-048 · R&amp;R 역할·책임 카드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4 (purple)</a:t>
            </a:r>
          </a:p>
        </p:txBody>
      </p:sp>
      <p:grpSp>
        <p:nvGrpSpPr>
          <p:cNvPr id="24" name="asset:ORG-048"/>
          <p:cNvGrpSpPr/>
          <p:nvPr/>
        </p:nvGrpSpPr>
        <p:grpSpPr>
          <a:xfrm>
            <a:off x="746607" y="1234440"/>
            <a:ext cx="10698480" cy="3200400"/>
            <a:chOff x="746607" y="1234440"/>
            <a:chExt cx="10698480" cy="320040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981047" y="2331720"/>
              <a:ext cx="82296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981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210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46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66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6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976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76207" y="2651760"/>
              <a:ext cx="246888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85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ORG-049 · R&amp;R 역할·책임 카드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5 (ink)</a:t>
            </a:r>
          </a:p>
        </p:txBody>
      </p:sp>
      <p:grpSp>
        <p:nvGrpSpPr>
          <p:cNvPr id="28" name="asset:ORG-049"/>
          <p:cNvGrpSpPr/>
          <p:nvPr/>
        </p:nvGrpSpPr>
        <p:grpSpPr>
          <a:xfrm>
            <a:off x="426567" y="1234440"/>
            <a:ext cx="11338560" cy="3200400"/>
            <a:chOff x="426567" y="1234440"/>
            <a:chExt cx="11338560" cy="3200400"/>
          </a:xfrm>
        </p:grpSpPr>
        <p:cxnSp>
          <p:nvCxnSpPr>
            <p:cNvPr id="21" name="Connector 20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450695" y="2331720"/>
              <a:ext cx="9290304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450695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73271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418423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740999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2651760"/>
              <a:ext cx="2048256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6295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9143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49143" y="2651760"/>
              <a:ext cx="2048256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58871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1719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71719" y="2651760"/>
              <a:ext cx="2048256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81447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394295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94295" y="2651760"/>
              <a:ext cx="2048256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504023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16871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716871" y="2651760"/>
              <a:ext cx="2048256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운영지원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826599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운영 모니터링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장애 대응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관리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ORG-050 · R&amp;R 역할·책임 카드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2 (teal)</a:t>
            </a:r>
          </a:p>
        </p:txBody>
      </p:sp>
      <p:grpSp>
        <p:nvGrpSpPr>
          <p:cNvPr id="16" name="asset:ORG-050"/>
          <p:cNvGrpSpPr/>
          <p:nvPr/>
        </p:nvGrpSpPr>
        <p:grpSpPr>
          <a:xfrm>
            <a:off x="3489807" y="1234440"/>
            <a:ext cx="5212080" cy="3200400"/>
            <a:chOff x="3489807" y="1234440"/>
            <a:chExt cx="5212080" cy="320040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724247" y="2331720"/>
              <a:ext cx="27432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ORG-051 · R&amp;R 역할·책임 카드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3 (steel)</a:t>
            </a:r>
          </a:p>
        </p:txBody>
      </p:sp>
      <p:grpSp>
        <p:nvGrpSpPr>
          <p:cNvPr id="20" name="asset:ORG-051"/>
          <p:cNvGrpSpPr/>
          <p:nvPr/>
        </p:nvGrpSpPr>
        <p:grpSpPr>
          <a:xfrm>
            <a:off x="2118207" y="1234440"/>
            <a:ext cx="7955280" cy="3200400"/>
            <a:chOff x="2118207" y="1234440"/>
            <a:chExt cx="7955280" cy="320040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352647" y="2331720"/>
              <a:ext cx="54864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3352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839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18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82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27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614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614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711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604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6046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4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ORG-052 · R&amp;R 역할·책임 카드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4 (navy)</a:t>
            </a:r>
          </a:p>
        </p:txBody>
      </p:sp>
      <p:grpSp>
        <p:nvGrpSpPr>
          <p:cNvPr id="24" name="asset:ORG-052"/>
          <p:cNvGrpSpPr/>
          <p:nvPr/>
        </p:nvGrpSpPr>
        <p:grpSpPr>
          <a:xfrm>
            <a:off x="746607" y="1234440"/>
            <a:ext cx="10698480" cy="3200400"/>
            <a:chOff x="746607" y="1234440"/>
            <a:chExt cx="10698480" cy="320040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981047" y="2331720"/>
              <a:ext cx="82296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981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210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46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66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6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976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762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85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ORG-053 · R&amp;R 역할·책임 카드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5 (blue)</a:t>
            </a:r>
          </a:p>
        </p:txBody>
      </p:sp>
      <p:grpSp>
        <p:nvGrpSpPr>
          <p:cNvPr id="28" name="asset:ORG-053"/>
          <p:cNvGrpSpPr/>
          <p:nvPr/>
        </p:nvGrpSpPr>
        <p:grpSpPr>
          <a:xfrm>
            <a:off x="426567" y="1234440"/>
            <a:ext cx="11338560" cy="3200400"/>
            <a:chOff x="426567" y="1234440"/>
            <a:chExt cx="11338560" cy="3200400"/>
          </a:xfrm>
        </p:grpSpPr>
        <p:cxnSp>
          <p:nvCxnSpPr>
            <p:cNvPr id="21" name="Connector 20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450695" y="2331720"/>
              <a:ext cx="9290304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450695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73271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418423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740999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2651760"/>
              <a:ext cx="2048256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6295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9143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49143" y="2651760"/>
              <a:ext cx="2048256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58871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1719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71719" y="2651760"/>
              <a:ext cx="2048256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81447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394295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94295" y="2651760"/>
              <a:ext cx="2048256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504023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16871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716871" y="2651760"/>
              <a:ext cx="2048256" cy="402336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운영지원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826599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운영 모니터링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장애 대응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관리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ORG-054 · R&amp;R 역할·책임 카드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2 (purple)</a:t>
            </a:r>
          </a:p>
        </p:txBody>
      </p:sp>
      <p:grpSp>
        <p:nvGrpSpPr>
          <p:cNvPr id="16" name="asset:ORG-054"/>
          <p:cNvGrpSpPr/>
          <p:nvPr/>
        </p:nvGrpSpPr>
        <p:grpSpPr>
          <a:xfrm>
            <a:off x="3489807" y="1234440"/>
            <a:ext cx="5212080" cy="3200400"/>
            <a:chOff x="3489807" y="1234440"/>
            <a:chExt cx="5212080" cy="320040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724247" y="2331720"/>
              <a:ext cx="27432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ORG-055 · R&amp;R 역할·책임 카드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3 (ink)</a:t>
            </a:r>
          </a:p>
        </p:txBody>
      </p:sp>
      <p:grpSp>
        <p:nvGrpSpPr>
          <p:cNvPr id="20" name="asset:ORG-055"/>
          <p:cNvGrpSpPr/>
          <p:nvPr/>
        </p:nvGrpSpPr>
        <p:grpSpPr>
          <a:xfrm>
            <a:off x="2118207" y="1234440"/>
            <a:ext cx="7955280" cy="3200400"/>
            <a:chOff x="2118207" y="1234440"/>
            <a:chExt cx="7955280" cy="320040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352647" y="2331720"/>
              <a:ext cx="54864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3352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839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18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82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27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614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614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711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604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6046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4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ORG-056 · R&amp;R 역할·책임 카드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4 (teal)</a:t>
            </a:r>
          </a:p>
        </p:txBody>
      </p:sp>
      <p:grpSp>
        <p:nvGrpSpPr>
          <p:cNvPr id="24" name="asset:ORG-056"/>
          <p:cNvGrpSpPr/>
          <p:nvPr/>
        </p:nvGrpSpPr>
        <p:grpSpPr>
          <a:xfrm>
            <a:off x="746607" y="1234440"/>
            <a:ext cx="10698480" cy="3200400"/>
            <a:chOff x="746607" y="1234440"/>
            <a:chExt cx="10698480" cy="320040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981047" y="2331720"/>
              <a:ext cx="82296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981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210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46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66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6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976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76207" y="2651760"/>
              <a:ext cx="246888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85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ORG-057 · R&amp;R 역할·책임 카드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5 (steel)</a:t>
            </a:r>
          </a:p>
        </p:txBody>
      </p:sp>
      <p:grpSp>
        <p:nvGrpSpPr>
          <p:cNvPr id="28" name="asset:ORG-057"/>
          <p:cNvGrpSpPr/>
          <p:nvPr/>
        </p:nvGrpSpPr>
        <p:grpSpPr>
          <a:xfrm>
            <a:off x="426567" y="1234440"/>
            <a:ext cx="11338560" cy="3200400"/>
            <a:chOff x="426567" y="1234440"/>
            <a:chExt cx="11338560" cy="3200400"/>
          </a:xfrm>
        </p:grpSpPr>
        <p:cxnSp>
          <p:nvCxnSpPr>
            <p:cNvPr id="21" name="Connector 20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450695" y="2331720"/>
              <a:ext cx="9290304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450695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73271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418423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740999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2651760"/>
              <a:ext cx="2048256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6295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9143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49143" y="2651760"/>
              <a:ext cx="2048256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58871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1719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71719" y="2651760"/>
              <a:ext cx="2048256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81447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394295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94295" y="2651760"/>
              <a:ext cx="2048256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504023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16871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716871" y="2651760"/>
              <a:ext cx="2048256" cy="402336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운영지원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826599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운영 모니터링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장애 대응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관리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ORG-058 · R&amp;R 역할·책임 카드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2 (navy)</a:t>
            </a:r>
          </a:p>
        </p:txBody>
      </p:sp>
      <p:grpSp>
        <p:nvGrpSpPr>
          <p:cNvPr id="16" name="asset:ORG-058"/>
          <p:cNvGrpSpPr/>
          <p:nvPr/>
        </p:nvGrpSpPr>
        <p:grpSpPr>
          <a:xfrm>
            <a:off x="3489807" y="1234440"/>
            <a:ext cx="5212080" cy="3200400"/>
            <a:chOff x="3489807" y="1234440"/>
            <a:chExt cx="5212080" cy="320040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724247" y="2331720"/>
              <a:ext cx="27432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ORG-059 · R&amp;R 역할·책임 카드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3 (blue)</a:t>
            </a:r>
          </a:p>
        </p:txBody>
      </p:sp>
      <p:grpSp>
        <p:nvGrpSpPr>
          <p:cNvPr id="20" name="asset:ORG-059"/>
          <p:cNvGrpSpPr/>
          <p:nvPr/>
        </p:nvGrpSpPr>
        <p:grpSpPr>
          <a:xfrm>
            <a:off x="2118207" y="1234440"/>
            <a:ext cx="7955280" cy="3200400"/>
            <a:chOff x="2118207" y="1234440"/>
            <a:chExt cx="7955280" cy="320040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352647" y="2331720"/>
              <a:ext cx="54864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3352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839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18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8207" y="2651760"/>
              <a:ext cx="246888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27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614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614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711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604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604607" y="2651760"/>
              <a:ext cx="246888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4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ORG-060 · R&amp;R 역할·책임 카드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4 (purple)</a:t>
            </a:r>
          </a:p>
        </p:txBody>
      </p:sp>
      <p:grpSp>
        <p:nvGrpSpPr>
          <p:cNvPr id="24" name="asset:ORG-060"/>
          <p:cNvGrpSpPr/>
          <p:nvPr/>
        </p:nvGrpSpPr>
        <p:grpSpPr>
          <a:xfrm>
            <a:off x="746607" y="1234440"/>
            <a:ext cx="10698480" cy="3200400"/>
            <a:chOff x="746607" y="1234440"/>
            <a:chExt cx="10698480" cy="320040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981047" y="2331720"/>
              <a:ext cx="82296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9810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7242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4674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2106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466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6607" y="2651760"/>
              <a:ext cx="2468880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63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898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89807" y="2651760"/>
              <a:ext cx="246888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995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2651760"/>
              <a:ext cx="246888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427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976207" y="2651760"/>
              <a:ext cx="246888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76207" y="2651760"/>
              <a:ext cx="246888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85935" y="3145536"/>
              <a:ext cx="2249424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ORG-061 · R&amp;R 역할·책임 카드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R&amp;R 역할·책임 카드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총괄PM + 역할별 책임(R&amp;R) 카드 5 (ink)</a:t>
            </a:r>
          </a:p>
        </p:txBody>
      </p:sp>
      <p:grpSp>
        <p:nvGrpSpPr>
          <p:cNvPr id="28" name="asset:ORG-061"/>
          <p:cNvGrpSpPr/>
          <p:nvPr/>
        </p:nvGrpSpPr>
        <p:grpSpPr>
          <a:xfrm>
            <a:off x="426567" y="1234440"/>
            <a:ext cx="11338560" cy="3200400"/>
            <a:chOff x="426567" y="1234440"/>
            <a:chExt cx="11338560" cy="3200400"/>
          </a:xfrm>
        </p:grpSpPr>
        <p:cxnSp>
          <p:nvCxnSpPr>
            <p:cNvPr id="21" name="Connector 20"/>
            <p:cNvCxnSpPr/>
            <p:nvPr/>
          </p:nvCxnSpPr>
          <p:spPr>
            <a:xfrm>
              <a:off x="6099048" y="1819656"/>
              <a:ext cx="0" cy="512064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450695" y="2331720"/>
              <a:ext cx="9290304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450695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73271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095847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418423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740999" y="233172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727448" y="12344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2651760"/>
              <a:ext cx="2048256" cy="40233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6295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총괄 관리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일정·리스크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발주처 협의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9143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49143" y="2651760"/>
              <a:ext cx="2048256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58871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플랫폼 구축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API 연동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인프라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71719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71719" y="2651760"/>
              <a:ext cx="2048256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81447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다국어 번역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문화 현지화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 검수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394295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94295" y="2651760"/>
              <a:ext cx="2048256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504023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QA 테스트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산출물 검수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안정화 지원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16871" y="2651760"/>
              <a:ext cx="2048256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716871" y="2651760"/>
              <a:ext cx="2048256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운영지원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826599" y="3145536"/>
              <a:ext cx="1828800" cy="12344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운영 모니터링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장애 대응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관리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