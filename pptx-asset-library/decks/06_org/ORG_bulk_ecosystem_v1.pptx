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ORG-169 · 파트너 생태계 · 계층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파트너 생태계 · 계층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중앙 플랫폼 + 계층별 파트너군 2 협력 구조 (navy)</a:t>
            </a:r>
          </a:p>
        </p:txBody>
      </p:sp>
      <p:grpSp>
        <p:nvGrpSpPr>
          <p:cNvPr id="17" name="asset:ORG-169"/>
          <p:cNvGrpSpPr/>
          <p:nvPr/>
        </p:nvGrpSpPr>
        <p:grpSpPr>
          <a:xfrm>
            <a:off x="548640" y="868680"/>
            <a:ext cx="7178040" cy="5440680"/>
            <a:chOff x="548640" y="868680"/>
            <a:chExt cx="7178040" cy="5440680"/>
          </a:xfrm>
        </p:grpSpPr>
        <p:cxnSp>
          <p:nvCxnSpPr>
            <p:cNvPr id="15" name="Connector 14"/>
            <p:cNvCxnSpPr/>
            <p:nvPr/>
          </p:nvCxnSpPr>
          <p:spPr>
            <a:xfrm flipH="1" flipV="1">
              <a:off x="6080759" y="1554480"/>
              <a:ext cx="18289" cy="1943100"/>
            </a:xfrm>
            <a:prstGeom prst="line">
              <a:avLst/>
            </a:prstGeom>
            <a:ln w="20320">
              <a:solidFill>
                <a:srgbClr val="2E75D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or 15"/>
            <p:cNvCxnSpPr/>
            <p:nvPr/>
          </p:nvCxnSpPr>
          <p:spPr>
            <a:xfrm flipH="1">
              <a:off x="2446020" y="3497580"/>
              <a:ext cx="3653028" cy="1965960"/>
            </a:xfrm>
            <a:prstGeom prst="line">
              <a:avLst/>
            </a:prstGeom>
            <a:ln w="20320">
              <a:solidFill>
                <a:srgbClr val="2E75D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Rounded Rectangle 5"/>
            <p:cNvSpPr/>
            <p:nvPr/>
          </p:nvSpPr>
          <p:spPr>
            <a:xfrm>
              <a:off x="4434840" y="868680"/>
              <a:ext cx="3291840" cy="1371600"/>
            </a:xfrm>
            <a:prstGeom prst="roundRect">
              <a:avLst>
                <a:gd name="adj" fmla="val 6000"/>
              </a:avLst>
            </a:prstGeom>
            <a:solidFill>
              <a:srgbClr val="F7F9FC"/>
            </a:solidFill>
            <a:ln w="1143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4434840" y="868680"/>
              <a:ext cx="3291840" cy="384048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1계층 · 핵심 파트너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4572000" y="1380744"/>
              <a:ext cx="1440180" cy="713232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글로벌 OTT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6149340" y="1380744"/>
              <a:ext cx="1440180" cy="713232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메이저 배급사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548640" y="4617720"/>
              <a:ext cx="3794760" cy="1691640"/>
            </a:xfrm>
            <a:prstGeom prst="roundRect">
              <a:avLst>
                <a:gd name="adj" fmla="val 6000"/>
              </a:avLst>
            </a:prstGeom>
            <a:solidFill>
              <a:srgbClr val="F7F9FC"/>
            </a:solidFill>
            <a:ln w="1143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548640" y="4617720"/>
              <a:ext cx="3794760" cy="384048"/>
            </a:xfrm>
            <a:prstGeom prst="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2계층 · 전략 파트너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685800" y="5129783"/>
              <a:ext cx="1082040" cy="1033272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제작 스튜디오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1905000" y="5129783"/>
              <a:ext cx="1082040" cy="1033272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마케팅 대행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3124200" y="5129783"/>
              <a:ext cx="1082040" cy="1033272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번역 전문</a:t>
              </a:r>
            </a:p>
          </p:txBody>
        </p:sp>
        <p:sp>
          <p:nvSpPr>
            <p:cNvPr id="5" name="Oval 4"/>
            <p:cNvSpPr/>
            <p:nvPr/>
          </p:nvSpPr>
          <p:spPr>
            <a:xfrm>
              <a:off x="5001768" y="2880360"/>
              <a:ext cx="2194560" cy="1234440"/>
            </a:xfrm>
            <a:prstGeom prst="ellipse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</a:t>
              </a:r>
            </a:p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플랫폼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ORG-170 · 파트너 생태계 · 계층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파트너 생태계 · 계층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중앙 플랫폼 + 계층별 파트너군 3 협력 구조 (blue)</a:t>
            </a:r>
          </a:p>
        </p:txBody>
      </p:sp>
      <p:grpSp>
        <p:nvGrpSpPr>
          <p:cNvPr id="23" name="asset:ORG-170"/>
          <p:cNvGrpSpPr/>
          <p:nvPr/>
        </p:nvGrpSpPr>
        <p:grpSpPr>
          <a:xfrm>
            <a:off x="548640" y="868680"/>
            <a:ext cx="11109960" cy="5440680"/>
            <a:chOff x="548640" y="868680"/>
            <a:chExt cx="11109960" cy="5440680"/>
          </a:xfrm>
        </p:grpSpPr>
        <p:cxnSp>
          <p:nvCxnSpPr>
            <p:cNvPr id="20" name="Connector 19"/>
            <p:cNvCxnSpPr/>
            <p:nvPr/>
          </p:nvCxnSpPr>
          <p:spPr>
            <a:xfrm flipH="1" flipV="1">
              <a:off x="6080759" y="1554480"/>
              <a:ext cx="18289" cy="1943100"/>
            </a:xfrm>
            <a:prstGeom prst="line">
              <a:avLst/>
            </a:prstGeom>
            <a:ln w="20320">
              <a:solidFill>
                <a:srgbClr val="2E75D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 20"/>
            <p:cNvCxnSpPr/>
            <p:nvPr/>
          </p:nvCxnSpPr>
          <p:spPr>
            <a:xfrm flipH="1">
              <a:off x="2446020" y="3497580"/>
              <a:ext cx="3653028" cy="1965960"/>
            </a:xfrm>
            <a:prstGeom prst="line">
              <a:avLst/>
            </a:prstGeom>
            <a:ln w="20320">
              <a:solidFill>
                <a:srgbClr val="2E75D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or 21"/>
            <p:cNvCxnSpPr/>
            <p:nvPr/>
          </p:nvCxnSpPr>
          <p:spPr>
            <a:xfrm>
              <a:off x="6099048" y="3497580"/>
              <a:ext cx="3662172" cy="1965960"/>
            </a:xfrm>
            <a:prstGeom prst="line">
              <a:avLst/>
            </a:prstGeom>
            <a:ln w="20320">
              <a:solidFill>
                <a:srgbClr val="2E75D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Rounded Rectangle 5"/>
            <p:cNvSpPr/>
            <p:nvPr/>
          </p:nvSpPr>
          <p:spPr>
            <a:xfrm>
              <a:off x="4434840" y="868680"/>
              <a:ext cx="3291840" cy="1371600"/>
            </a:xfrm>
            <a:prstGeom prst="roundRect">
              <a:avLst>
                <a:gd name="adj" fmla="val 6000"/>
              </a:avLst>
            </a:prstGeom>
            <a:solidFill>
              <a:srgbClr val="F7F9FC"/>
            </a:solidFill>
            <a:ln w="1143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4434840" y="868680"/>
              <a:ext cx="3291840" cy="384048"/>
            </a:xfrm>
            <a:prstGeom prst="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1계층 · 핵심 파트너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4572000" y="1380744"/>
              <a:ext cx="1440180" cy="713232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12700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글로벌 OTT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6149340" y="1380744"/>
              <a:ext cx="1440180" cy="713232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12700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메이저 배급사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548640" y="4617720"/>
              <a:ext cx="3794760" cy="1691640"/>
            </a:xfrm>
            <a:prstGeom prst="roundRect">
              <a:avLst>
                <a:gd name="adj" fmla="val 6000"/>
              </a:avLst>
            </a:prstGeom>
            <a:solidFill>
              <a:srgbClr val="F7F9FC"/>
            </a:solidFill>
            <a:ln w="1143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548640" y="4617720"/>
              <a:ext cx="3794760" cy="384048"/>
            </a:xfrm>
            <a:prstGeom prst="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2계층 · 전략 파트너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685800" y="5129783"/>
              <a:ext cx="1082040" cy="1033272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제작 스튜디오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1905000" y="5129783"/>
              <a:ext cx="1082040" cy="1033272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마케팅 대행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3124200" y="5129783"/>
              <a:ext cx="1082040" cy="1033272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번역 전문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7863840" y="4617720"/>
              <a:ext cx="3794760" cy="1691640"/>
            </a:xfrm>
            <a:prstGeom prst="roundRect">
              <a:avLst>
                <a:gd name="adj" fmla="val 6000"/>
              </a:avLst>
            </a:prstGeom>
            <a:solidFill>
              <a:srgbClr val="F7F9FC"/>
            </a:solidFill>
            <a:ln w="1143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7863840" y="4617720"/>
              <a:ext cx="3794760" cy="384048"/>
            </a:xfrm>
            <a:prstGeom prst="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3계층 · 협력 파트너</a:t>
              </a:r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8001000" y="5129783"/>
              <a:ext cx="1082040" cy="1033272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법무·자문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9220200" y="5129783"/>
              <a:ext cx="1082040" cy="1033272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결제 PG사</a:t>
              </a:r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10439400" y="5129783"/>
              <a:ext cx="1082040" cy="1033272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데이터 분석</a:t>
              </a:r>
            </a:p>
          </p:txBody>
        </p:sp>
        <p:sp>
          <p:nvSpPr>
            <p:cNvPr id="5" name="Oval 4"/>
            <p:cNvSpPr/>
            <p:nvPr/>
          </p:nvSpPr>
          <p:spPr>
            <a:xfrm>
              <a:off x="5001768" y="2880360"/>
              <a:ext cx="2194560" cy="1234440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</a:t>
              </a:r>
            </a:p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플랫폼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ORG-171 · 파트너 생태계 · 계층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파트너 생태계 · 계층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중앙 플랫폼 + 계층별 파트너군 2 협력 구조 (purple)</a:t>
            </a:r>
          </a:p>
        </p:txBody>
      </p:sp>
      <p:grpSp>
        <p:nvGrpSpPr>
          <p:cNvPr id="17" name="asset:ORG-171"/>
          <p:cNvGrpSpPr/>
          <p:nvPr/>
        </p:nvGrpSpPr>
        <p:grpSpPr>
          <a:xfrm>
            <a:off x="548640" y="868680"/>
            <a:ext cx="7178040" cy="5440680"/>
            <a:chOff x="548640" y="868680"/>
            <a:chExt cx="7178040" cy="5440680"/>
          </a:xfrm>
        </p:grpSpPr>
        <p:cxnSp>
          <p:nvCxnSpPr>
            <p:cNvPr id="15" name="Connector 14"/>
            <p:cNvCxnSpPr/>
            <p:nvPr/>
          </p:nvCxnSpPr>
          <p:spPr>
            <a:xfrm flipH="1" flipV="1">
              <a:off x="6080759" y="1554480"/>
              <a:ext cx="18289" cy="1943100"/>
            </a:xfrm>
            <a:prstGeom prst="line">
              <a:avLst/>
            </a:prstGeom>
            <a:ln w="20320">
              <a:solidFill>
                <a:srgbClr val="2E75D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or 15"/>
            <p:cNvCxnSpPr/>
            <p:nvPr/>
          </p:nvCxnSpPr>
          <p:spPr>
            <a:xfrm flipH="1">
              <a:off x="2446020" y="3497580"/>
              <a:ext cx="3653028" cy="1965960"/>
            </a:xfrm>
            <a:prstGeom prst="line">
              <a:avLst/>
            </a:prstGeom>
            <a:ln w="20320">
              <a:solidFill>
                <a:srgbClr val="2E75D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Rounded Rectangle 5"/>
            <p:cNvSpPr/>
            <p:nvPr/>
          </p:nvSpPr>
          <p:spPr>
            <a:xfrm>
              <a:off x="4434840" y="868680"/>
              <a:ext cx="3291840" cy="1371600"/>
            </a:xfrm>
            <a:prstGeom prst="roundRect">
              <a:avLst>
                <a:gd name="adj" fmla="val 6000"/>
              </a:avLst>
            </a:prstGeom>
            <a:solidFill>
              <a:srgbClr val="F7F9FC"/>
            </a:solidFill>
            <a:ln w="1143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4434840" y="868680"/>
              <a:ext cx="3291840" cy="384048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1계층 · 핵심 파트너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4572000" y="1380744"/>
              <a:ext cx="1440180" cy="713232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글로벌 OTT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6149340" y="1380744"/>
              <a:ext cx="1440180" cy="713232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메이저 배급사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548640" y="4617720"/>
              <a:ext cx="3794760" cy="1691640"/>
            </a:xfrm>
            <a:prstGeom prst="roundRect">
              <a:avLst>
                <a:gd name="adj" fmla="val 6000"/>
              </a:avLst>
            </a:prstGeom>
            <a:solidFill>
              <a:srgbClr val="F7F9FC"/>
            </a:solidFill>
            <a:ln w="1143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548640" y="4617720"/>
              <a:ext cx="3794760" cy="384048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2계층 · 전략 파트너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685800" y="5129783"/>
              <a:ext cx="1082040" cy="1033272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제작 스튜디오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1905000" y="5129783"/>
              <a:ext cx="1082040" cy="1033272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마케팅 대행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3124200" y="5129783"/>
              <a:ext cx="1082040" cy="1033272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번역 전문</a:t>
              </a:r>
            </a:p>
          </p:txBody>
        </p:sp>
        <p:sp>
          <p:nvSpPr>
            <p:cNvPr id="5" name="Oval 4"/>
            <p:cNvSpPr/>
            <p:nvPr/>
          </p:nvSpPr>
          <p:spPr>
            <a:xfrm>
              <a:off x="5001768" y="2880360"/>
              <a:ext cx="2194560" cy="1234440"/>
            </a:xfrm>
            <a:prstGeom prst="ellipse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</a:t>
              </a:r>
            </a:p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플랫폼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ORG-172 · 파트너 생태계 · 계층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파트너 생태계 · 계층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중앙 플랫폼 + 계층별 파트너군 3 협력 구조 (ink)</a:t>
            </a:r>
          </a:p>
        </p:txBody>
      </p:sp>
      <p:grpSp>
        <p:nvGrpSpPr>
          <p:cNvPr id="23" name="asset:ORG-172"/>
          <p:cNvGrpSpPr/>
          <p:nvPr/>
        </p:nvGrpSpPr>
        <p:grpSpPr>
          <a:xfrm>
            <a:off x="548640" y="868680"/>
            <a:ext cx="11109960" cy="5440680"/>
            <a:chOff x="548640" y="868680"/>
            <a:chExt cx="11109960" cy="5440680"/>
          </a:xfrm>
        </p:grpSpPr>
        <p:cxnSp>
          <p:nvCxnSpPr>
            <p:cNvPr id="20" name="Connector 19"/>
            <p:cNvCxnSpPr/>
            <p:nvPr/>
          </p:nvCxnSpPr>
          <p:spPr>
            <a:xfrm flipH="1" flipV="1">
              <a:off x="6080759" y="1554480"/>
              <a:ext cx="18289" cy="1943100"/>
            </a:xfrm>
            <a:prstGeom prst="line">
              <a:avLst/>
            </a:prstGeom>
            <a:ln w="20320">
              <a:solidFill>
                <a:srgbClr val="2E75D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 20"/>
            <p:cNvCxnSpPr/>
            <p:nvPr/>
          </p:nvCxnSpPr>
          <p:spPr>
            <a:xfrm flipH="1">
              <a:off x="2446020" y="3497580"/>
              <a:ext cx="3653028" cy="1965960"/>
            </a:xfrm>
            <a:prstGeom prst="line">
              <a:avLst/>
            </a:prstGeom>
            <a:ln w="20320">
              <a:solidFill>
                <a:srgbClr val="2E75D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or 21"/>
            <p:cNvCxnSpPr/>
            <p:nvPr/>
          </p:nvCxnSpPr>
          <p:spPr>
            <a:xfrm>
              <a:off x="6099048" y="3497580"/>
              <a:ext cx="3662172" cy="1965960"/>
            </a:xfrm>
            <a:prstGeom prst="line">
              <a:avLst/>
            </a:prstGeom>
            <a:ln w="20320">
              <a:solidFill>
                <a:srgbClr val="2E75D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Rounded Rectangle 5"/>
            <p:cNvSpPr/>
            <p:nvPr/>
          </p:nvSpPr>
          <p:spPr>
            <a:xfrm>
              <a:off x="4434840" y="868680"/>
              <a:ext cx="3291840" cy="1371600"/>
            </a:xfrm>
            <a:prstGeom prst="roundRect">
              <a:avLst>
                <a:gd name="adj" fmla="val 6000"/>
              </a:avLst>
            </a:prstGeom>
            <a:solidFill>
              <a:srgbClr val="F7F9FC"/>
            </a:solidFill>
            <a:ln w="1143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4434840" y="868680"/>
              <a:ext cx="3291840" cy="384048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1계층 · 핵심 파트너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4572000" y="1380744"/>
              <a:ext cx="1440180" cy="713232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글로벌 OTT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6149340" y="1380744"/>
              <a:ext cx="1440180" cy="713232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메이저 배급사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548640" y="4617720"/>
              <a:ext cx="3794760" cy="1691640"/>
            </a:xfrm>
            <a:prstGeom prst="roundRect">
              <a:avLst>
                <a:gd name="adj" fmla="val 6000"/>
              </a:avLst>
            </a:prstGeom>
            <a:solidFill>
              <a:srgbClr val="F7F9FC"/>
            </a:solidFill>
            <a:ln w="1143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548640" y="4617720"/>
              <a:ext cx="3794760" cy="384048"/>
            </a:xfrm>
            <a:prstGeom prst="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2계층 · 전략 파트너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685800" y="5129783"/>
              <a:ext cx="1082040" cy="1033272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제작 스튜디오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1905000" y="5129783"/>
              <a:ext cx="1082040" cy="1033272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마케팅 대행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3124200" y="5129783"/>
              <a:ext cx="1082040" cy="1033272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번역 전문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7863840" y="4617720"/>
              <a:ext cx="3794760" cy="1691640"/>
            </a:xfrm>
            <a:prstGeom prst="roundRect">
              <a:avLst>
                <a:gd name="adj" fmla="val 6000"/>
              </a:avLst>
            </a:prstGeom>
            <a:solidFill>
              <a:srgbClr val="F7F9FC"/>
            </a:solidFill>
            <a:ln w="1143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7863840" y="4617720"/>
              <a:ext cx="3794760" cy="384048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3계층 · 협력 파트너</a:t>
              </a:r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8001000" y="5129783"/>
              <a:ext cx="1082040" cy="1033272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법무·자문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9220200" y="5129783"/>
              <a:ext cx="1082040" cy="1033272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결제 PG사</a:t>
              </a:r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10439400" y="5129783"/>
              <a:ext cx="1082040" cy="1033272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데이터 분석</a:t>
              </a:r>
            </a:p>
          </p:txBody>
        </p:sp>
        <p:sp>
          <p:nvSpPr>
            <p:cNvPr id="5" name="Oval 4"/>
            <p:cNvSpPr/>
            <p:nvPr/>
          </p:nvSpPr>
          <p:spPr>
            <a:xfrm>
              <a:off x="5001768" y="2880360"/>
              <a:ext cx="2194560" cy="1234440"/>
            </a:xfrm>
            <a:prstGeom prst="ellipse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</a:t>
              </a:r>
            </a:p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플랫폼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ORG-173 · 파트너 생태계 · 계층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파트너 생태계 · 계층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중앙 플랫폼 + 계층별 파트너군 2 협력 구조 (teal)</a:t>
            </a:r>
          </a:p>
        </p:txBody>
      </p:sp>
      <p:grpSp>
        <p:nvGrpSpPr>
          <p:cNvPr id="17" name="asset:ORG-173"/>
          <p:cNvGrpSpPr/>
          <p:nvPr/>
        </p:nvGrpSpPr>
        <p:grpSpPr>
          <a:xfrm>
            <a:off x="548640" y="868680"/>
            <a:ext cx="7178040" cy="5440680"/>
            <a:chOff x="548640" y="868680"/>
            <a:chExt cx="7178040" cy="5440680"/>
          </a:xfrm>
        </p:grpSpPr>
        <p:cxnSp>
          <p:nvCxnSpPr>
            <p:cNvPr id="15" name="Connector 14"/>
            <p:cNvCxnSpPr/>
            <p:nvPr/>
          </p:nvCxnSpPr>
          <p:spPr>
            <a:xfrm flipH="1" flipV="1">
              <a:off x="6080759" y="1554480"/>
              <a:ext cx="18289" cy="1943100"/>
            </a:xfrm>
            <a:prstGeom prst="line">
              <a:avLst/>
            </a:prstGeom>
            <a:ln w="20320">
              <a:solidFill>
                <a:srgbClr val="2E75D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or 15"/>
            <p:cNvCxnSpPr/>
            <p:nvPr/>
          </p:nvCxnSpPr>
          <p:spPr>
            <a:xfrm flipH="1">
              <a:off x="2446020" y="3497580"/>
              <a:ext cx="3653028" cy="1965960"/>
            </a:xfrm>
            <a:prstGeom prst="line">
              <a:avLst/>
            </a:prstGeom>
            <a:ln w="20320">
              <a:solidFill>
                <a:srgbClr val="2E75D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Rounded Rectangle 5"/>
            <p:cNvSpPr/>
            <p:nvPr/>
          </p:nvSpPr>
          <p:spPr>
            <a:xfrm>
              <a:off x="4434840" y="868680"/>
              <a:ext cx="3291840" cy="1371600"/>
            </a:xfrm>
            <a:prstGeom prst="roundRect">
              <a:avLst>
                <a:gd name="adj" fmla="val 6000"/>
              </a:avLst>
            </a:prstGeom>
            <a:solidFill>
              <a:srgbClr val="F7F9FC"/>
            </a:solidFill>
            <a:ln w="1143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4434840" y="868680"/>
              <a:ext cx="3291840" cy="384048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1계층 · 핵심 파트너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4572000" y="1380744"/>
              <a:ext cx="1440180" cy="713232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글로벌 OTT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6149340" y="1380744"/>
              <a:ext cx="1440180" cy="713232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메이저 배급사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548640" y="4617720"/>
              <a:ext cx="3794760" cy="1691640"/>
            </a:xfrm>
            <a:prstGeom prst="roundRect">
              <a:avLst>
                <a:gd name="adj" fmla="val 6000"/>
              </a:avLst>
            </a:prstGeom>
            <a:solidFill>
              <a:srgbClr val="F7F9FC"/>
            </a:solidFill>
            <a:ln w="1143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548640" y="4617720"/>
              <a:ext cx="3794760" cy="384048"/>
            </a:xfrm>
            <a:prstGeom prst="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2계층 · 전략 파트너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685800" y="5129783"/>
              <a:ext cx="1082040" cy="1033272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제작 스튜디오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1905000" y="5129783"/>
              <a:ext cx="1082040" cy="1033272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마케팅 대행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3124200" y="5129783"/>
              <a:ext cx="1082040" cy="1033272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번역 전문</a:t>
              </a:r>
            </a:p>
          </p:txBody>
        </p:sp>
        <p:sp>
          <p:nvSpPr>
            <p:cNvPr id="5" name="Oval 4"/>
            <p:cNvSpPr/>
            <p:nvPr/>
          </p:nvSpPr>
          <p:spPr>
            <a:xfrm>
              <a:off x="5001768" y="2880360"/>
              <a:ext cx="2194560" cy="1234440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</a:t>
              </a:r>
            </a:p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플랫폼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ORG-174 · 파트너 생태계 · 계층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파트너 생태계 · 계층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중앙 플랫폼 + 계층별 파트너군 3 협력 구조 (steel)</a:t>
            </a:r>
          </a:p>
        </p:txBody>
      </p:sp>
      <p:grpSp>
        <p:nvGrpSpPr>
          <p:cNvPr id="23" name="asset:ORG-174"/>
          <p:cNvGrpSpPr/>
          <p:nvPr/>
        </p:nvGrpSpPr>
        <p:grpSpPr>
          <a:xfrm>
            <a:off x="548640" y="868680"/>
            <a:ext cx="11109960" cy="5440680"/>
            <a:chOff x="548640" y="868680"/>
            <a:chExt cx="11109960" cy="5440680"/>
          </a:xfrm>
        </p:grpSpPr>
        <p:cxnSp>
          <p:nvCxnSpPr>
            <p:cNvPr id="20" name="Connector 19"/>
            <p:cNvCxnSpPr/>
            <p:nvPr/>
          </p:nvCxnSpPr>
          <p:spPr>
            <a:xfrm flipH="1" flipV="1">
              <a:off x="6080759" y="1554480"/>
              <a:ext cx="18289" cy="1943100"/>
            </a:xfrm>
            <a:prstGeom prst="line">
              <a:avLst/>
            </a:prstGeom>
            <a:ln w="20320">
              <a:solidFill>
                <a:srgbClr val="2E75D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 20"/>
            <p:cNvCxnSpPr/>
            <p:nvPr/>
          </p:nvCxnSpPr>
          <p:spPr>
            <a:xfrm flipH="1">
              <a:off x="2446020" y="3497580"/>
              <a:ext cx="3653028" cy="1965960"/>
            </a:xfrm>
            <a:prstGeom prst="line">
              <a:avLst/>
            </a:prstGeom>
            <a:ln w="20320">
              <a:solidFill>
                <a:srgbClr val="2E75D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or 21"/>
            <p:cNvCxnSpPr/>
            <p:nvPr/>
          </p:nvCxnSpPr>
          <p:spPr>
            <a:xfrm>
              <a:off x="6099048" y="3497580"/>
              <a:ext cx="3662172" cy="1965960"/>
            </a:xfrm>
            <a:prstGeom prst="line">
              <a:avLst/>
            </a:prstGeom>
            <a:ln w="20320">
              <a:solidFill>
                <a:srgbClr val="2E75D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Rounded Rectangle 5"/>
            <p:cNvSpPr/>
            <p:nvPr/>
          </p:nvSpPr>
          <p:spPr>
            <a:xfrm>
              <a:off x="4434840" y="868680"/>
              <a:ext cx="3291840" cy="1371600"/>
            </a:xfrm>
            <a:prstGeom prst="roundRect">
              <a:avLst>
                <a:gd name="adj" fmla="val 6000"/>
              </a:avLst>
            </a:prstGeom>
            <a:solidFill>
              <a:srgbClr val="F7F9FC"/>
            </a:solidFill>
            <a:ln w="1143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4434840" y="868680"/>
              <a:ext cx="3291840" cy="384048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1계층 · 핵심 파트너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4572000" y="1380744"/>
              <a:ext cx="1440180" cy="713232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글로벌 OTT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6149340" y="1380744"/>
              <a:ext cx="1440180" cy="713232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메이저 배급사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548640" y="4617720"/>
              <a:ext cx="3794760" cy="1691640"/>
            </a:xfrm>
            <a:prstGeom prst="roundRect">
              <a:avLst>
                <a:gd name="adj" fmla="val 6000"/>
              </a:avLst>
            </a:prstGeom>
            <a:solidFill>
              <a:srgbClr val="F7F9FC"/>
            </a:solidFill>
            <a:ln w="1143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548640" y="4617720"/>
              <a:ext cx="3794760" cy="384048"/>
            </a:xfrm>
            <a:prstGeom prst="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2계층 · 전략 파트너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685800" y="5129783"/>
              <a:ext cx="1082040" cy="1033272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제작 스튜디오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1905000" y="5129783"/>
              <a:ext cx="1082040" cy="1033272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마케팅 대행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3124200" y="5129783"/>
              <a:ext cx="1082040" cy="1033272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번역 전문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7863840" y="4617720"/>
              <a:ext cx="3794760" cy="1691640"/>
            </a:xfrm>
            <a:prstGeom prst="roundRect">
              <a:avLst>
                <a:gd name="adj" fmla="val 6000"/>
              </a:avLst>
            </a:prstGeom>
            <a:solidFill>
              <a:srgbClr val="F7F9FC"/>
            </a:solidFill>
            <a:ln w="1143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7863840" y="4617720"/>
              <a:ext cx="3794760" cy="384048"/>
            </a:xfrm>
            <a:prstGeom prst="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3계층 · 협력 파트너</a:t>
              </a:r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8001000" y="5129783"/>
              <a:ext cx="1082040" cy="1033272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법무·자문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9220200" y="5129783"/>
              <a:ext cx="1082040" cy="1033272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결제 PG사</a:t>
              </a:r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10439400" y="5129783"/>
              <a:ext cx="1082040" cy="1033272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데이터 분석</a:t>
              </a:r>
            </a:p>
          </p:txBody>
        </p:sp>
        <p:sp>
          <p:nvSpPr>
            <p:cNvPr id="5" name="Oval 4"/>
            <p:cNvSpPr/>
            <p:nvPr/>
          </p:nvSpPr>
          <p:spPr>
            <a:xfrm>
              <a:off x="5001768" y="2880360"/>
              <a:ext cx="2194560" cy="1234440"/>
            </a:xfrm>
            <a:prstGeom prst="ellipse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</a:t>
              </a:r>
            </a:p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플랫폼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ORG-175 · 파트너 생태계 · 계층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파트너 생태계 · 계층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중앙 플랫폼 + 계층별 파트너군 2 협력 구조 (navy)</a:t>
            </a:r>
          </a:p>
        </p:txBody>
      </p:sp>
      <p:grpSp>
        <p:nvGrpSpPr>
          <p:cNvPr id="17" name="asset:ORG-175"/>
          <p:cNvGrpSpPr/>
          <p:nvPr/>
        </p:nvGrpSpPr>
        <p:grpSpPr>
          <a:xfrm>
            <a:off x="548640" y="868680"/>
            <a:ext cx="7178040" cy="5440680"/>
            <a:chOff x="548640" y="868680"/>
            <a:chExt cx="7178040" cy="5440680"/>
          </a:xfrm>
        </p:grpSpPr>
        <p:cxnSp>
          <p:nvCxnSpPr>
            <p:cNvPr id="15" name="Connector 14"/>
            <p:cNvCxnSpPr/>
            <p:nvPr/>
          </p:nvCxnSpPr>
          <p:spPr>
            <a:xfrm flipH="1" flipV="1">
              <a:off x="6080759" y="1554480"/>
              <a:ext cx="18289" cy="1943100"/>
            </a:xfrm>
            <a:prstGeom prst="line">
              <a:avLst/>
            </a:prstGeom>
            <a:ln w="20320">
              <a:solidFill>
                <a:srgbClr val="2E75D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or 15"/>
            <p:cNvCxnSpPr/>
            <p:nvPr/>
          </p:nvCxnSpPr>
          <p:spPr>
            <a:xfrm flipH="1">
              <a:off x="2446020" y="3497580"/>
              <a:ext cx="3653028" cy="1965960"/>
            </a:xfrm>
            <a:prstGeom prst="line">
              <a:avLst/>
            </a:prstGeom>
            <a:ln w="20320">
              <a:solidFill>
                <a:srgbClr val="2E75D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Rounded Rectangle 5"/>
            <p:cNvSpPr/>
            <p:nvPr/>
          </p:nvSpPr>
          <p:spPr>
            <a:xfrm>
              <a:off x="4434840" y="868680"/>
              <a:ext cx="3291840" cy="1371600"/>
            </a:xfrm>
            <a:prstGeom prst="roundRect">
              <a:avLst>
                <a:gd name="adj" fmla="val 6000"/>
              </a:avLst>
            </a:prstGeom>
            <a:solidFill>
              <a:srgbClr val="F7F9FC"/>
            </a:solidFill>
            <a:ln w="1143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4434840" y="868680"/>
              <a:ext cx="3291840" cy="384048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1계층 · 핵심 파트너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4572000" y="1380744"/>
              <a:ext cx="1440180" cy="713232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글로벌 OTT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6149340" y="1380744"/>
              <a:ext cx="1440180" cy="713232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메이저 배급사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548640" y="4617720"/>
              <a:ext cx="3794760" cy="1691640"/>
            </a:xfrm>
            <a:prstGeom prst="roundRect">
              <a:avLst>
                <a:gd name="adj" fmla="val 6000"/>
              </a:avLst>
            </a:prstGeom>
            <a:solidFill>
              <a:srgbClr val="F7F9FC"/>
            </a:solidFill>
            <a:ln w="1143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548640" y="4617720"/>
              <a:ext cx="3794760" cy="384048"/>
            </a:xfrm>
            <a:prstGeom prst="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2계층 · 전략 파트너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685800" y="5129783"/>
              <a:ext cx="1082040" cy="1033272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제작 스튜디오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1905000" y="5129783"/>
              <a:ext cx="1082040" cy="1033272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마케팅 대행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3124200" y="5129783"/>
              <a:ext cx="1082040" cy="1033272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번역 전문</a:t>
              </a:r>
            </a:p>
          </p:txBody>
        </p:sp>
        <p:sp>
          <p:nvSpPr>
            <p:cNvPr id="5" name="Oval 4"/>
            <p:cNvSpPr/>
            <p:nvPr/>
          </p:nvSpPr>
          <p:spPr>
            <a:xfrm>
              <a:off x="5001768" y="2880360"/>
              <a:ext cx="2194560" cy="1234440"/>
            </a:xfrm>
            <a:prstGeom prst="ellipse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</a:t>
              </a:r>
            </a:p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플랫폼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ORG-176 · 파트너 생태계 · 계층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파트너 생태계 · 계층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중앙 플랫폼 + 계층별 파트너군 3 협력 구조 (blue)</a:t>
            </a:r>
          </a:p>
        </p:txBody>
      </p:sp>
      <p:grpSp>
        <p:nvGrpSpPr>
          <p:cNvPr id="23" name="asset:ORG-176"/>
          <p:cNvGrpSpPr/>
          <p:nvPr/>
        </p:nvGrpSpPr>
        <p:grpSpPr>
          <a:xfrm>
            <a:off x="548640" y="868680"/>
            <a:ext cx="11109960" cy="5440680"/>
            <a:chOff x="548640" y="868680"/>
            <a:chExt cx="11109960" cy="5440680"/>
          </a:xfrm>
        </p:grpSpPr>
        <p:cxnSp>
          <p:nvCxnSpPr>
            <p:cNvPr id="20" name="Connector 19"/>
            <p:cNvCxnSpPr/>
            <p:nvPr/>
          </p:nvCxnSpPr>
          <p:spPr>
            <a:xfrm flipH="1" flipV="1">
              <a:off x="6080759" y="1554480"/>
              <a:ext cx="18289" cy="1943100"/>
            </a:xfrm>
            <a:prstGeom prst="line">
              <a:avLst/>
            </a:prstGeom>
            <a:ln w="20320">
              <a:solidFill>
                <a:srgbClr val="2E75D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 20"/>
            <p:cNvCxnSpPr/>
            <p:nvPr/>
          </p:nvCxnSpPr>
          <p:spPr>
            <a:xfrm flipH="1">
              <a:off x="2446020" y="3497580"/>
              <a:ext cx="3653028" cy="1965960"/>
            </a:xfrm>
            <a:prstGeom prst="line">
              <a:avLst/>
            </a:prstGeom>
            <a:ln w="20320">
              <a:solidFill>
                <a:srgbClr val="2E75D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or 21"/>
            <p:cNvCxnSpPr/>
            <p:nvPr/>
          </p:nvCxnSpPr>
          <p:spPr>
            <a:xfrm>
              <a:off x="6099048" y="3497580"/>
              <a:ext cx="3662172" cy="1965960"/>
            </a:xfrm>
            <a:prstGeom prst="line">
              <a:avLst/>
            </a:prstGeom>
            <a:ln w="20320">
              <a:solidFill>
                <a:srgbClr val="2E75D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Rounded Rectangle 5"/>
            <p:cNvSpPr/>
            <p:nvPr/>
          </p:nvSpPr>
          <p:spPr>
            <a:xfrm>
              <a:off x="4434840" y="868680"/>
              <a:ext cx="3291840" cy="1371600"/>
            </a:xfrm>
            <a:prstGeom prst="roundRect">
              <a:avLst>
                <a:gd name="adj" fmla="val 6000"/>
              </a:avLst>
            </a:prstGeom>
            <a:solidFill>
              <a:srgbClr val="F7F9FC"/>
            </a:solidFill>
            <a:ln w="1143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4434840" y="868680"/>
              <a:ext cx="3291840" cy="384048"/>
            </a:xfrm>
            <a:prstGeom prst="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1계층 · 핵심 파트너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4572000" y="1380744"/>
              <a:ext cx="1440180" cy="713232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12700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글로벌 OTT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6149340" y="1380744"/>
              <a:ext cx="1440180" cy="713232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12700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메이저 배급사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548640" y="4617720"/>
              <a:ext cx="3794760" cy="1691640"/>
            </a:xfrm>
            <a:prstGeom prst="roundRect">
              <a:avLst>
                <a:gd name="adj" fmla="val 6000"/>
              </a:avLst>
            </a:prstGeom>
            <a:solidFill>
              <a:srgbClr val="F7F9FC"/>
            </a:solidFill>
            <a:ln w="1143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548640" y="4617720"/>
              <a:ext cx="3794760" cy="384048"/>
            </a:xfrm>
            <a:prstGeom prst="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2계층 · 전략 파트너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685800" y="5129783"/>
              <a:ext cx="1082040" cy="1033272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제작 스튜디오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1905000" y="5129783"/>
              <a:ext cx="1082040" cy="1033272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마케팅 대행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3124200" y="5129783"/>
              <a:ext cx="1082040" cy="1033272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번역 전문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7863840" y="4617720"/>
              <a:ext cx="3794760" cy="1691640"/>
            </a:xfrm>
            <a:prstGeom prst="roundRect">
              <a:avLst>
                <a:gd name="adj" fmla="val 6000"/>
              </a:avLst>
            </a:prstGeom>
            <a:solidFill>
              <a:srgbClr val="F7F9FC"/>
            </a:solidFill>
            <a:ln w="1143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7863840" y="4617720"/>
              <a:ext cx="3794760" cy="384048"/>
            </a:xfrm>
            <a:prstGeom prst="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3계층 · 협력 파트너</a:t>
              </a:r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8001000" y="5129783"/>
              <a:ext cx="1082040" cy="1033272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법무·자문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9220200" y="5129783"/>
              <a:ext cx="1082040" cy="1033272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결제 PG사</a:t>
              </a:r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10439400" y="5129783"/>
              <a:ext cx="1082040" cy="1033272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데이터 분석</a:t>
              </a:r>
            </a:p>
          </p:txBody>
        </p:sp>
        <p:sp>
          <p:nvSpPr>
            <p:cNvPr id="5" name="Oval 4"/>
            <p:cNvSpPr/>
            <p:nvPr/>
          </p:nvSpPr>
          <p:spPr>
            <a:xfrm>
              <a:off x="5001768" y="2880360"/>
              <a:ext cx="2194560" cy="1234440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</a:t>
              </a:r>
            </a:p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플랫폼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ORG-177 · 파트너 생태계 · 계층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파트너 생태계 · 계층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중앙 플랫폼 + 계층별 파트너군 2 협력 구조 (purple)</a:t>
            </a:r>
          </a:p>
        </p:txBody>
      </p:sp>
      <p:grpSp>
        <p:nvGrpSpPr>
          <p:cNvPr id="17" name="asset:ORG-177"/>
          <p:cNvGrpSpPr/>
          <p:nvPr/>
        </p:nvGrpSpPr>
        <p:grpSpPr>
          <a:xfrm>
            <a:off x="548640" y="868680"/>
            <a:ext cx="7178040" cy="5440680"/>
            <a:chOff x="548640" y="868680"/>
            <a:chExt cx="7178040" cy="5440680"/>
          </a:xfrm>
        </p:grpSpPr>
        <p:cxnSp>
          <p:nvCxnSpPr>
            <p:cNvPr id="15" name="Connector 14"/>
            <p:cNvCxnSpPr/>
            <p:nvPr/>
          </p:nvCxnSpPr>
          <p:spPr>
            <a:xfrm flipH="1" flipV="1">
              <a:off x="6080759" y="1554480"/>
              <a:ext cx="18289" cy="1943100"/>
            </a:xfrm>
            <a:prstGeom prst="line">
              <a:avLst/>
            </a:prstGeom>
            <a:ln w="20320">
              <a:solidFill>
                <a:srgbClr val="2E75D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or 15"/>
            <p:cNvCxnSpPr/>
            <p:nvPr/>
          </p:nvCxnSpPr>
          <p:spPr>
            <a:xfrm flipH="1">
              <a:off x="2446020" y="3497580"/>
              <a:ext cx="3653028" cy="1965960"/>
            </a:xfrm>
            <a:prstGeom prst="line">
              <a:avLst/>
            </a:prstGeom>
            <a:ln w="20320">
              <a:solidFill>
                <a:srgbClr val="2E75D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Rounded Rectangle 5"/>
            <p:cNvSpPr/>
            <p:nvPr/>
          </p:nvSpPr>
          <p:spPr>
            <a:xfrm>
              <a:off x="4434840" y="868680"/>
              <a:ext cx="3291840" cy="1371600"/>
            </a:xfrm>
            <a:prstGeom prst="roundRect">
              <a:avLst>
                <a:gd name="adj" fmla="val 6000"/>
              </a:avLst>
            </a:prstGeom>
            <a:solidFill>
              <a:srgbClr val="F7F9FC"/>
            </a:solidFill>
            <a:ln w="1143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4434840" y="868680"/>
              <a:ext cx="3291840" cy="384048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1계층 · 핵심 파트너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4572000" y="1380744"/>
              <a:ext cx="1440180" cy="713232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글로벌 OTT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6149340" y="1380744"/>
              <a:ext cx="1440180" cy="713232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메이저 배급사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548640" y="4617720"/>
              <a:ext cx="3794760" cy="1691640"/>
            </a:xfrm>
            <a:prstGeom prst="roundRect">
              <a:avLst>
                <a:gd name="adj" fmla="val 6000"/>
              </a:avLst>
            </a:prstGeom>
            <a:solidFill>
              <a:srgbClr val="F7F9FC"/>
            </a:solidFill>
            <a:ln w="1143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548640" y="4617720"/>
              <a:ext cx="3794760" cy="384048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2계층 · 전략 파트너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685800" y="5129783"/>
              <a:ext cx="1082040" cy="1033272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제작 스튜디오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1905000" y="5129783"/>
              <a:ext cx="1082040" cy="1033272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마케팅 대행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3124200" y="5129783"/>
              <a:ext cx="1082040" cy="1033272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번역 전문</a:t>
              </a:r>
            </a:p>
          </p:txBody>
        </p:sp>
        <p:sp>
          <p:nvSpPr>
            <p:cNvPr id="5" name="Oval 4"/>
            <p:cNvSpPr/>
            <p:nvPr/>
          </p:nvSpPr>
          <p:spPr>
            <a:xfrm>
              <a:off x="5001768" y="2880360"/>
              <a:ext cx="2194560" cy="1234440"/>
            </a:xfrm>
            <a:prstGeom prst="ellipse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</a:t>
              </a:r>
            </a:p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플랫폼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ORG-178 · 파트너 생태계 · 계층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파트너 생태계 · 계층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중앙 플랫폼 + 계층별 파트너군 3 협력 구조 (ink)</a:t>
            </a:r>
          </a:p>
        </p:txBody>
      </p:sp>
      <p:grpSp>
        <p:nvGrpSpPr>
          <p:cNvPr id="23" name="asset:ORG-178"/>
          <p:cNvGrpSpPr/>
          <p:nvPr/>
        </p:nvGrpSpPr>
        <p:grpSpPr>
          <a:xfrm>
            <a:off x="548640" y="868680"/>
            <a:ext cx="11109960" cy="5440680"/>
            <a:chOff x="548640" y="868680"/>
            <a:chExt cx="11109960" cy="5440680"/>
          </a:xfrm>
        </p:grpSpPr>
        <p:cxnSp>
          <p:nvCxnSpPr>
            <p:cNvPr id="20" name="Connector 19"/>
            <p:cNvCxnSpPr/>
            <p:nvPr/>
          </p:nvCxnSpPr>
          <p:spPr>
            <a:xfrm flipH="1" flipV="1">
              <a:off x="6080759" y="1554480"/>
              <a:ext cx="18289" cy="1943100"/>
            </a:xfrm>
            <a:prstGeom prst="line">
              <a:avLst/>
            </a:prstGeom>
            <a:ln w="20320">
              <a:solidFill>
                <a:srgbClr val="2E75D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 20"/>
            <p:cNvCxnSpPr/>
            <p:nvPr/>
          </p:nvCxnSpPr>
          <p:spPr>
            <a:xfrm flipH="1">
              <a:off x="2446020" y="3497580"/>
              <a:ext cx="3653028" cy="1965960"/>
            </a:xfrm>
            <a:prstGeom prst="line">
              <a:avLst/>
            </a:prstGeom>
            <a:ln w="20320">
              <a:solidFill>
                <a:srgbClr val="2E75D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or 21"/>
            <p:cNvCxnSpPr/>
            <p:nvPr/>
          </p:nvCxnSpPr>
          <p:spPr>
            <a:xfrm>
              <a:off x="6099048" y="3497580"/>
              <a:ext cx="3662172" cy="1965960"/>
            </a:xfrm>
            <a:prstGeom prst="line">
              <a:avLst/>
            </a:prstGeom>
            <a:ln w="20320">
              <a:solidFill>
                <a:srgbClr val="2E75D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Rounded Rectangle 5"/>
            <p:cNvSpPr/>
            <p:nvPr/>
          </p:nvSpPr>
          <p:spPr>
            <a:xfrm>
              <a:off x="4434840" y="868680"/>
              <a:ext cx="3291840" cy="1371600"/>
            </a:xfrm>
            <a:prstGeom prst="roundRect">
              <a:avLst>
                <a:gd name="adj" fmla="val 6000"/>
              </a:avLst>
            </a:prstGeom>
            <a:solidFill>
              <a:srgbClr val="F7F9FC"/>
            </a:solidFill>
            <a:ln w="1143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4434840" y="868680"/>
              <a:ext cx="3291840" cy="384048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1계층 · 핵심 파트너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4572000" y="1380744"/>
              <a:ext cx="1440180" cy="713232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글로벌 OTT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6149340" y="1380744"/>
              <a:ext cx="1440180" cy="713232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메이저 배급사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548640" y="4617720"/>
              <a:ext cx="3794760" cy="1691640"/>
            </a:xfrm>
            <a:prstGeom prst="roundRect">
              <a:avLst>
                <a:gd name="adj" fmla="val 6000"/>
              </a:avLst>
            </a:prstGeom>
            <a:solidFill>
              <a:srgbClr val="F7F9FC"/>
            </a:solidFill>
            <a:ln w="1143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548640" y="4617720"/>
              <a:ext cx="3794760" cy="384048"/>
            </a:xfrm>
            <a:prstGeom prst="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2계층 · 전략 파트너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685800" y="5129783"/>
              <a:ext cx="1082040" cy="1033272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제작 스튜디오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1905000" y="5129783"/>
              <a:ext cx="1082040" cy="1033272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마케팅 대행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3124200" y="5129783"/>
              <a:ext cx="1082040" cy="1033272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번역 전문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7863840" y="4617720"/>
              <a:ext cx="3794760" cy="1691640"/>
            </a:xfrm>
            <a:prstGeom prst="roundRect">
              <a:avLst>
                <a:gd name="adj" fmla="val 6000"/>
              </a:avLst>
            </a:prstGeom>
            <a:solidFill>
              <a:srgbClr val="F7F9FC"/>
            </a:solidFill>
            <a:ln w="1143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7863840" y="4617720"/>
              <a:ext cx="3794760" cy="384048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3계층 · 협력 파트너</a:t>
              </a:r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8001000" y="5129783"/>
              <a:ext cx="1082040" cy="1033272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법무·자문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9220200" y="5129783"/>
              <a:ext cx="1082040" cy="1033272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결제 PG사</a:t>
              </a:r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10439400" y="5129783"/>
              <a:ext cx="1082040" cy="1033272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데이터 분석</a:t>
              </a:r>
            </a:p>
          </p:txBody>
        </p:sp>
        <p:sp>
          <p:nvSpPr>
            <p:cNvPr id="5" name="Oval 4"/>
            <p:cNvSpPr/>
            <p:nvPr/>
          </p:nvSpPr>
          <p:spPr>
            <a:xfrm>
              <a:off x="5001768" y="2880360"/>
              <a:ext cx="2194560" cy="1234440"/>
            </a:xfrm>
            <a:prstGeom prst="ellipse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</a:t>
              </a:r>
            </a:p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플랫폼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ORG-179 · 파트너 생태계 · 계층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파트너 생태계 · 계층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중앙 플랫폼 + 계층별 파트너군 2 협력 구조 (teal)</a:t>
            </a:r>
          </a:p>
        </p:txBody>
      </p:sp>
      <p:grpSp>
        <p:nvGrpSpPr>
          <p:cNvPr id="17" name="asset:ORG-179"/>
          <p:cNvGrpSpPr/>
          <p:nvPr/>
        </p:nvGrpSpPr>
        <p:grpSpPr>
          <a:xfrm>
            <a:off x="548640" y="868680"/>
            <a:ext cx="7178040" cy="5440680"/>
            <a:chOff x="548640" y="868680"/>
            <a:chExt cx="7178040" cy="5440680"/>
          </a:xfrm>
        </p:grpSpPr>
        <p:cxnSp>
          <p:nvCxnSpPr>
            <p:cNvPr id="15" name="Connector 14"/>
            <p:cNvCxnSpPr/>
            <p:nvPr/>
          </p:nvCxnSpPr>
          <p:spPr>
            <a:xfrm flipH="1" flipV="1">
              <a:off x="6080759" y="1554480"/>
              <a:ext cx="18289" cy="1943100"/>
            </a:xfrm>
            <a:prstGeom prst="line">
              <a:avLst/>
            </a:prstGeom>
            <a:ln w="20320">
              <a:solidFill>
                <a:srgbClr val="2E75D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or 15"/>
            <p:cNvCxnSpPr/>
            <p:nvPr/>
          </p:nvCxnSpPr>
          <p:spPr>
            <a:xfrm flipH="1">
              <a:off x="2446020" y="3497580"/>
              <a:ext cx="3653028" cy="1965960"/>
            </a:xfrm>
            <a:prstGeom prst="line">
              <a:avLst/>
            </a:prstGeom>
            <a:ln w="20320">
              <a:solidFill>
                <a:srgbClr val="2E75D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Rounded Rectangle 5"/>
            <p:cNvSpPr/>
            <p:nvPr/>
          </p:nvSpPr>
          <p:spPr>
            <a:xfrm>
              <a:off x="4434840" y="868680"/>
              <a:ext cx="3291840" cy="1371600"/>
            </a:xfrm>
            <a:prstGeom prst="roundRect">
              <a:avLst>
                <a:gd name="adj" fmla="val 6000"/>
              </a:avLst>
            </a:prstGeom>
            <a:solidFill>
              <a:srgbClr val="F7F9FC"/>
            </a:solidFill>
            <a:ln w="1143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4434840" y="868680"/>
              <a:ext cx="3291840" cy="384048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1계층 · 핵심 파트너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4572000" y="1380744"/>
              <a:ext cx="1440180" cy="713232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글로벌 OTT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6149340" y="1380744"/>
              <a:ext cx="1440180" cy="713232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메이저 배급사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548640" y="4617720"/>
              <a:ext cx="3794760" cy="1691640"/>
            </a:xfrm>
            <a:prstGeom prst="roundRect">
              <a:avLst>
                <a:gd name="adj" fmla="val 6000"/>
              </a:avLst>
            </a:prstGeom>
            <a:solidFill>
              <a:srgbClr val="F7F9FC"/>
            </a:solidFill>
            <a:ln w="1143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548640" y="4617720"/>
              <a:ext cx="3794760" cy="384048"/>
            </a:xfrm>
            <a:prstGeom prst="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2계층 · 전략 파트너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685800" y="5129783"/>
              <a:ext cx="1082040" cy="1033272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제작 스튜디오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1905000" y="5129783"/>
              <a:ext cx="1082040" cy="1033272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마케팅 대행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3124200" y="5129783"/>
              <a:ext cx="1082040" cy="1033272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번역 전문</a:t>
              </a:r>
            </a:p>
          </p:txBody>
        </p:sp>
        <p:sp>
          <p:nvSpPr>
            <p:cNvPr id="5" name="Oval 4"/>
            <p:cNvSpPr/>
            <p:nvPr/>
          </p:nvSpPr>
          <p:spPr>
            <a:xfrm>
              <a:off x="5001768" y="2880360"/>
              <a:ext cx="2194560" cy="1234440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</a:t>
              </a:r>
            </a:p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플랫폼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ORG-180 · 파트너 생태계 · 계층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파트너 생태계 · 계층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중앙 플랫폼 + 계층별 파트너군 3 협력 구조 (steel)</a:t>
            </a:r>
          </a:p>
        </p:txBody>
      </p:sp>
      <p:grpSp>
        <p:nvGrpSpPr>
          <p:cNvPr id="23" name="asset:ORG-180"/>
          <p:cNvGrpSpPr/>
          <p:nvPr/>
        </p:nvGrpSpPr>
        <p:grpSpPr>
          <a:xfrm>
            <a:off x="548640" y="868680"/>
            <a:ext cx="11109960" cy="5440680"/>
            <a:chOff x="548640" y="868680"/>
            <a:chExt cx="11109960" cy="5440680"/>
          </a:xfrm>
        </p:grpSpPr>
        <p:cxnSp>
          <p:nvCxnSpPr>
            <p:cNvPr id="20" name="Connector 19"/>
            <p:cNvCxnSpPr/>
            <p:nvPr/>
          </p:nvCxnSpPr>
          <p:spPr>
            <a:xfrm flipH="1" flipV="1">
              <a:off x="6080759" y="1554480"/>
              <a:ext cx="18289" cy="1943100"/>
            </a:xfrm>
            <a:prstGeom prst="line">
              <a:avLst/>
            </a:prstGeom>
            <a:ln w="20320">
              <a:solidFill>
                <a:srgbClr val="2E75D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 20"/>
            <p:cNvCxnSpPr/>
            <p:nvPr/>
          </p:nvCxnSpPr>
          <p:spPr>
            <a:xfrm flipH="1">
              <a:off x="2446020" y="3497580"/>
              <a:ext cx="3653028" cy="1965960"/>
            </a:xfrm>
            <a:prstGeom prst="line">
              <a:avLst/>
            </a:prstGeom>
            <a:ln w="20320">
              <a:solidFill>
                <a:srgbClr val="2E75D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or 21"/>
            <p:cNvCxnSpPr/>
            <p:nvPr/>
          </p:nvCxnSpPr>
          <p:spPr>
            <a:xfrm>
              <a:off x="6099048" y="3497580"/>
              <a:ext cx="3662172" cy="1965960"/>
            </a:xfrm>
            <a:prstGeom prst="line">
              <a:avLst/>
            </a:prstGeom>
            <a:ln w="20320">
              <a:solidFill>
                <a:srgbClr val="2E75D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Rounded Rectangle 5"/>
            <p:cNvSpPr/>
            <p:nvPr/>
          </p:nvSpPr>
          <p:spPr>
            <a:xfrm>
              <a:off x="4434840" y="868680"/>
              <a:ext cx="3291840" cy="1371600"/>
            </a:xfrm>
            <a:prstGeom prst="roundRect">
              <a:avLst>
                <a:gd name="adj" fmla="val 6000"/>
              </a:avLst>
            </a:prstGeom>
            <a:solidFill>
              <a:srgbClr val="F7F9FC"/>
            </a:solidFill>
            <a:ln w="1143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4434840" y="868680"/>
              <a:ext cx="3291840" cy="384048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1계층 · 핵심 파트너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4572000" y="1380744"/>
              <a:ext cx="1440180" cy="713232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글로벌 OTT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6149340" y="1380744"/>
              <a:ext cx="1440180" cy="713232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메이저 배급사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548640" y="4617720"/>
              <a:ext cx="3794760" cy="1691640"/>
            </a:xfrm>
            <a:prstGeom prst="roundRect">
              <a:avLst>
                <a:gd name="adj" fmla="val 6000"/>
              </a:avLst>
            </a:prstGeom>
            <a:solidFill>
              <a:srgbClr val="F7F9FC"/>
            </a:solidFill>
            <a:ln w="1143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548640" y="4617720"/>
              <a:ext cx="3794760" cy="384048"/>
            </a:xfrm>
            <a:prstGeom prst="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2계층 · 전략 파트너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685800" y="5129783"/>
              <a:ext cx="1082040" cy="1033272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제작 스튜디오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1905000" y="5129783"/>
              <a:ext cx="1082040" cy="1033272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마케팅 대행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3124200" y="5129783"/>
              <a:ext cx="1082040" cy="1033272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번역 전문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7863840" y="4617720"/>
              <a:ext cx="3794760" cy="1691640"/>
            </a:xfrm>
            <a:prstGeom prst="roundRect">
              <a:avLst>
                <a:gd name="adj" fmla="val 6000"/>
              </a:avLst>
            </a:prstGeom>
            <a:solidFill>
              <a:srgbClr val="F7F9FC"/>
            </a:solidFill>
            <a:ln w="1143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7863840" y="4617720"/>
              <a:ext cx="3794760" cy="384048"/>
            </a:xfrm>
            <a:prstGeom prst="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3계층 · 협력 파트너</a:t>
              </a:r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8001000" y="5129783"/>
              <a:ext cx="1082040" cy="1033272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법무·자문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9220200" y="5129783"/>
              <a:ext cx="1082040" cy="1033272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결제 PG사</a:t>
              </a:r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10439400" y="5129783"/>
              <a:ext cx="1082040" cy="1033272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데이터 분석</a:t>
              </a:r>
            </a:p>
          </p:txBody>
        </p:sp>
        <p:sp>
          <p:nvSpPr>
            <p:cNvPr id="5" name="Oval 4"/>
            <p:cNvSpPr/>
            <p:nvPr/>
          </p:nvSpPr>
          <p:spPr>
            <a:xfrm>
              <a:off x="5001768" y="2880360"/>
              <a:ext cx="2194560" cy="1234440"/>
            </a:xfrm>
            <a:prstGeom prst="ellipse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</a:t>
              </a:r>
            </a:p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플랫폼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ORG-181 · 파트너 생태계 · 계층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파트너 생태계 · 계층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중앙 플랫폼 + 계층별 파트너군 2 협력 구조 (navy)</a:t>
            </a:r>
          </a:p>
        </p:txBody>
      </p:sp>
      <p:grpSp>
        <p:nvGrpSpPr>
          <p:cNvPr id="17" name="asset:ORG-181"/>
          <p:cNvGrpSpPr/>
          <p:nvPr/>
        </p:nvGrpSpPr>
        <p:grpSpPr>
          <a:xfrm>
            <a:off x="548640" y="868680"/>
            <a:ext cx="7178040" cy="5440680"/>
            <a:chOff x="548640" y="868680"/>
            <a:chExt cx="7178040" cy="5440680"/>
          </a:xfrm>
        </p:grpSpPr>
        <p:cxnSp>
          <p:nvCxnSpPr>
            <p:cNvPr id="15" name="Connector 14"/>
            <p:cNvCxnSpPr/>
            <p:nvPr/>
          </p:nvCxnSpPr>
          <p:spPr>
            <a:xfrm flipH="1" flipV="1">
              <a:off x="6080759" y="1554480"/>
              <a:ext cx="18289" cy="1943100"/>
            </a:xfrm>
            <a:prstGeom prst="line">
              <a:avLst/>
            </a:prstGeom>
            <a:ln w="20320">
              <a:solidFill>
                <a:srgbClr val="2E75D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or 15"/>
            <p:cNvCxnSpPr/>
            <p:nvPr/>
          </p:nvCxnSpPr>
          <p:spPr>
            <a:xfrm flipH="1">
              <a:off x="2446020" y="3497580"/>
              <a:ext cx="3653028" cy="1965960"/>
            </a:xfrm>
            <a:prstGeom prst="line">
              <a:avLst/>
            </a:prstGeom>
            <a:ln w="20320">
              <a:solidFill>
                <a:srgbClr val="2E75D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Rounded Rectangle 5"/>
            <p:cNvSpPr/>
            <p:nvPr/>
          </p:nvSpPr>
          <p:spPr>
            <a:xfrm>
              <a:off x="4434840" y="868680"/>
              <a:ext cx="3291840" cy="1371600"/>
            </a:xfrm>
            <a:prstGeom prst="roundRect">
              <a:avLst>
                <a:gd name="adj" fmla="val 6000"/>
              </a:avLst>
            </a:prstGeom>
            <a:solidFill>
              <a:srgbClr val="F7F9FC"/>
            </a:solidFill>
            <a:ln w="1143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4434840" y="868680"/>
              <a:ext cx="3291840" cy="384048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1계층 · 핵심 파트너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4572000" y="1380744"/>
              <a:ext cx="1440180" cy="713232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글로벌 OTT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6149340" y="1380744"/>
              <a:ext cx="1440180" cy="713232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메이저 배급사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548640" y="4617720"/>
              <a:ext cx="3794760" cy="1691640"/>
            </a:xfrm>
            <a:prstGeom prst="roundRect">
              <a:avLst>
                <a:gd name="adj" fmla="val 6000"/>
              </a:avLst>
            </a:prstGeom>
            <a:solidFill>
              <a:srgbClr val="F7F9FC"/>
            </a:solidFill>
            <a:ln w="1143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548640" y="4617720"/>
              <a:ext cx="3794760" cy="384048"/>
            </a:xfrm>
            <a:prstGeom prst="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2계층 · 전략 파트너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685800" y="5129783"/>
              <a:ext cx="1082040" cy="1033272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제작 스튜디오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1905000" y="5129783"/>
              <a:ext cx="1082040" cy="1033272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마케팅 대행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3124200" y="5129783"/>
              <a:ext cx="1082040" cy="1033272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번역 전문</a:t>
              </a:r>
            </a:p>
          </p:txBody>
        </p:sp>
        <p:sp>
          <p:nvSpPr>
            <p:cNvPr id="5" name="Oval 4"/>
            <p:cNvSpPr/>
            <p:nvPr/>
          </p:nvSpPr>
          <p:spPr>
            <a:xfrm>
              <a:off x="5001768" y="2880360"/>
              <a:ext cx="2194560" cy="1234440"/>
            </a:xfrm>
            <a:prstGeom prst="ellipse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</a:t>
              </a:r>
            </a:p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플랫폼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ORG-182 · 파트너 생태계 · 계층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파트너 생태계 · 계층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중앙 플랫폼 + 계층별 파트너군 3 협력 구조 (blue)</a:t>
            </a:r>
          </a:p>
        </p:txBody>
      </p:sp>
      <p:grpSp>
        <p:nvGrpSpPr>
          <p:cNvPr id="23" name="asset:ORG-182"/>
          <p:cNvGrpSpPr/>
          <p:nvPr/>
        </p:nvGrpSpPr>
        <p:grpSpPr>
          <a:xfrm>
            <a:off x="548640" y="868680"/>
            <a:ext cx="11109960" cy="5440680"/>
            <a:chOff x="548640" y="868680"/>
            <a:chExt cx="11109960" cy="5440680"/>
          </a:xfrm>
        </p:grpSpPr>
        <p:cxnSp>
          <p:nvCxnSpPr>
            <p:cNvPr id="20" name="Connector 19"/>
            <p:cNvCxnSpPr/>
            <p:nvPr/>
          </p:nvCxnSpPr>
          <p:spPr>
            <a:xfrm flipH="1" flipV="1">
              <a:off x="6080759" y="1554480"/>
              <a:ext cx="18289" cy="1943100"/>
            </a:xfrm>
            <a:prstGeom prst="line">
              <a:avLst/>
            </a:prstGeom>
            <a:ln w="20320">
              <a:solidFill>
                <a:srgbClr val="2E75D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 20"/>
            <p:cNvCxnSpPr/>
            <p:nvPr/>
          </p:nvCxnSpPr>
          <p:spPr>
            <a:xfrm flipH="1">
              <a:off x="2446020" y="3497580"/>
              <a:ext cx="3653028" cy="1965960"/>
            </a:xfrm>
            <a:prstGeom prst="line">
              <a:avLst/>
            </a:prstGeom>
            <a:ln w="20320">
              <a:solidFill>
                <a:srgbClr val="2E75D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or 21"/>
            <p:cNvCxnSpPr/>
            <p:nvPr/>
          </p:nvCxnSpPr>
          <p:spPr>
            <a:xfrm>
              <a:off x="6099048" y="3497580"/>
              <a:ext cx="3662172" cy="1965960"/>
            </a:xfrm>
            <a:prstGeom prst="line">
              <a:avLst/>
            </a:prstGeom>
            <a:ln w="20320">
              <a:solidFill>
                <a:srgbClr val="2E75D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Rounded Rectangle 5"/>
            <p:cNvSpPr/>
            <p:nvPr/>
          </p:nvSpPr>
          <p:spPr>
            <a:xfrm>
              <a:off x="4434840" y="868680"/>
              <a:ext cx="3291840" cy="1371600"/>
            </a:xfrm>
            <a:prstGeom prst="roundRect">
              <a:avLst>
                <a:gd name="adj" fmla="val 6000"/>
              </a:avLst>
            </a:prstGeom>
            <a:solidFill>
              <a:srgbClr val="F7F9FC"/>
            </a:solidFill>
            <a:ln w="1143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4434840" y="868680"/>
              <a:ext cx="3291840" cy="384048"/>
            </a:xfrm>
            <a:prstGeom prst="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1계층 · 핵심 파트너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4572000" y="1380744"/>
              <a:ext cx="1440180" cy="713232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12700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글로벌 OTT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6149340" y="1380744"/>
              <a:ext cx="1440180" cy="713232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12700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메이저 배급사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548640" y="4617720"/>
              <a:ext cx="3794760" cy="1691640"/>
            </a:xfrm>
            <a:prstGeom prst="roundRect">
              <a:avLst>
                <a:gd name="adj" fmla="val 6000"/>
              </a:avLst>
            </a:prstGeom>
            <a:solidFill>
              <a:srgbClr val="F7F9FC"/>
            </a:solidFill>
            <a:ln w="1143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548640" y="4617720"/>
              <a:ext cx="3794760" cy="384048"/>
            </a:xfrm>
            <a:prstGeom prst="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2계층 · 전략 파트너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685800" y="5129783"/>
              <a:ext cx="1082040" cy="1033272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제작 스튜디오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1905000" y="5129783"/>
              <a:ext cx="1082040" cy="1033272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마케팅 대행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3124200" y="5129783"/>
              <a:ext cx="1082040" cy="1033272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번역 전문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7863840" y="4617720"/>
              <a:ext cx="3794760" cy="1691640"/>
            </a:xfrm>
            <a:prstGeom prst="roundRect">
              <a:avLst>
                <a:gd name="adj" fmla="val 6000"/>
              </a:avLst>
            </a:prstGeom>
            <a:solidFill>
              <a:srgbClr val="F7F9FC"/>
            </a:solidFill>
            <a:ln w="1143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7863840" y="4617720"/>
              <a:ext cx="3794760" cy="384048"/>
            </a:xfrm>
            <a:prstGeom prst="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3계층 · 협력 파트너</a:t>
              </a:r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8001000" y="5129783"/>
              <a:ext cx="1082040" cy="1033272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법무·자문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9220200" y="5129783"/>
              <a:ext cx="1082040" cy="1033272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결제 PG사</a:t>
              </a:r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10439400" y="5129783"/>
              <a:ext cx="1082040" cy="1033272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데이터 분석</a:t>
              </a:r>
            </a:p>
          </p:txBody>
        </p:sp>
        <p:sp>
          <p:nvSpPr>
            <p:cNvPr id="5" name="Oval 4"/>
            <p:cNvSpPr/>
            <p:nvPr/>
          </p:nvSpPr>
          <p:spPr>
            <a:xfrm>
              <a:off x="5001768" y="2880360"/>
              <a:ext cx="2194560" cy="1234440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</a:t>
              </a:r>
            </a:p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플랫폼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ORG-183 · 파트너 생태계 · 계층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파트너 생태계 · 계층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중앙 플랫폼 + 계층별 파트너군 2 협력 구조 (purple)</a:t>
            </a:r>
          </a:p>
        </p:txBody>
      </p:sp>
      <p:grpSp>
        <p:nvGrpSpPr>
          <p:cNvPr id="17" name="asset:ORG-183"/>
          <p:cNvGrpSpPr/>
          <p:nvPr/>
        </p:nvGrpSpPr>
        <p:grpSpPr>
          <a:xfrm>
            <a:off x="548640" y="868680"/>
            <a:ext cx="7178040" cy="5440680"/>
            <a:chOff x="548640" y="868680"/>
            <a:chExt cx="7178040" cy="5440680"/>
          </a:xfrm>
        </p:grpSpPr>
        <p:cxnSp>
          <p:nvCxnSpPr>
            <p:cNvPr id="15" name="Connector 14"/>
            <p:cNvCxnSpPr/>
            <p:nvPr/>
          </p:nvCxnSpPr>
          <p:spPr>
            <a:xfrm flipH="1" flipV="1">
              <a:off x="6080759" y="1554480"/>
              <a:ext cx="18289" cy="1943100"/>
            </a:xfrm>
            <a:prstGeom prst="line">
              <a:avLst/>
            </a:prstGeom>
            <a:ln w="20320">
              <a:solidFill>
                <a:srgbClr val="2E75D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or 15"/>
            <p:cNvCxnSpPr/>
            <p:nvPr/>
          </p:nvCxnSpPr>
          <p:spPr>
            <a:xfrm flipH="1">
              <a:off x="2446020" y="3497580"/>
              <a:ext cx="3653028" cy="1965960"/>
            </a:xfrm>
            <a:prstGeom prst="line">
              <a:avLst/>
            </a:prstGeom>
            <a:ln w="20320">
              <a:solidFill>
                <a:srgbClr val="2E75D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Rounded Rectangle 5"/>
            <p:cNvSpPr/>
            <p:nvPr/>
          </p:nvSpPr>
          <p:spPr>
            <a:xfrm>
              <a:off x="4434840" y="868680"/>
              <a:ext cx="3291840" cy="1371600"/>
            </a:xfrm>
            <a:prstGeom prst="roundRect">
              <a:avLst>
                <a:gd name="adj" fmla="val 6000"/>
              </a:avLst>
            </a:prstGeom>
            <a:solidFill>
              <a:srgbClr val="F7F9FC"/>
            </a:solidFill>
            <a:ln w="1143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4434840" y="868680"/>
              <a:ext cx="3291840" cy="384048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1계층 · 핵심 파트너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4572000" y="1380744"/>
              <a:ext cx="1440180" cy="713232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글로벌 OTT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6149340" y="1380744"/>
              <a:ext cx="1440180" cy="713232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메이저 배급사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548640" y="4617720"/>
              <a:ext cx="3794760" cy="1691640"/>
            </a:xfrm>
            <a:prstGeom prst="roundRect">
              <a:avLst>
                <a:gd name="adj" fmla="val 6000"/>
              </a:avLst>
            </a:prstGeom>
            <a:solidFill>
              <a:srgbClr val="F7F9FC"/>
            </a:solidFill>
            <a:ln w="1143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548640" y="4617720"/>
              <a:ext cx="3794760" cy="384048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2계층 · 전략 파트너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685800" y="5129783"/>
              <a:ext cx="1082040" cy="1033272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제작 스튜디오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1905000" y="5129783"/>
              <a:ext cx="1082040" cy="1033272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마케팅 대행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3124200" y="5129783"/>
              <a:ext cx="1082040" cy="1033272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번역 전문</a:t>
              </a:r>
            </a:p>
          </p:txBody>
        </p:sp>
        <p:sp>
          <p:nvSpPr>
            <p:cNvPr id="5" name="Oval 4"/>
            <p:cNvSpPr/>
            <p:nvPr/>
          </p:nvSpPr>
          <p:spPr>
            <a:xfrm>
              <a:off x="5001768" y="2880360"/>
              <a:ext cx="2194560" cy="1234440"/>
            </a:xfrm>
            <a:prstGeom prst="ellipse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</a:t>
              </a:r>
            </a:p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플랫폼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ORG-184 · 파트너 생태계 · 계층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파트너 생태계 · 계층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중앙 플랫폼 + 계층별 파트너군 3 협력 구조 (ink)</a:t>
            </a:r>
          </a:p>
        </p:txBody>
      </p:sp>
      <p:grpSp>
        <p:nvGrpSpPr>
          <p:cNvPr id="23" name="asset:ORG-184"/>
          <p:cNvGrpSpPr/>
          <p:nvPr/>
        </p:nvGrpSpPr>
        <p:grpSpPr>
          <a:xfrm>
            <a:off x="548640" y="868680"/>
            <a:ext cx="11109960" cy="5440680"/>
            <a:chOff x="548640" y="868680"/>
            <a:chExt cx="11109960" cy="5440680"/>
          </a:xfrm>
        </p:grpSpPr>
        <p:cxnSp>
          <p:nvCxnSpPr>
            <p:cNvPr id="20" name="Connector 19"/>
            <p:cNvCxnSpPr/>
            <p:nvPr/>
          </p:nvCxnSpPr>
          <p:spPr>
            <a:xfrm flipH="1" flipV="1">
              <a:off x="6080759" y="1554480"/>
              <a:ext cx="18289" cy="1943100"/>
            </a:xfrm>
            <a:prstGeom prst="line">
              <a:avLst/>
            </a:prstGeom>
            <a:ln w="20320">
              <a:solidFill>
                <a:srgbClr val="2E75D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 20"/>
            <p:cNvCxnSpPr/>
            <p:nvPr/>
          </p:nvCxnSpPr>
          <p:spPr>
            <a:xfrm flipH="1">
              <a:off x="2446020" y="3497580"/>
              <a:ext cx="3653028" cy="1965960"/>
            </a:xfrm>
            <a:prstGeom prst="line">
              <a:avLst/>
            </a:prstGeom>
            <a:ln w="20320">
              <a:solidFill>
                <a:srgbClr val="2E75D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or 21"/>
            <p:cNvCxnSpPr/>
            <p:nvPr/>
          </p:nvCxnSpPr>
          <p:spPr>
            <a:xfrm>
              <a:off x="6099048" y="3497580"/>
              <a:ext cx="3662172" cy="1965960"/>
            </a:xfrm>
            <a:prstGeom prst="line">
              <a:avLst/>
            </a:prstGeom>
            <a:ln w="20320">
              <a:solidFill>
                <a:srgbClr val="2E75D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Rounded Rectangle 5"/>
            <p:cNvSpPr/>
            <p:nvPr/>
          </p:nvSpPr>
          <p:spPr>
            <a:xfrm>
              <a:off x="4434840" y="868680"/>
              <a:ext cx="3291840" cy="1371600"/>
            </a:xfrm>
            <a:prstGeom prst="roundRect">
              <a:avLst>
                <a:gd name="adj" fmla="val 6000"/>
              </a:avLst>
            </a:prstGeom>
            <a:solidFill>
              <a:srgbClr val="F7F9FC"/>
            </a:solidFill>
            <a:ln w="1143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4434840" y="868680"/>
              <a:ext cx="3291840" cy="384048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1계층 · 핵심 파트너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4572000" y="1380744"/>
              <a:ext cx="1440180" cy="713232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글로벌 OTT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6149340" y="1380744"/>
              <a:ext cx="1440180" cy="713232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메이저 배급사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548640" y="4617720"/>
              <a:ext cx="3794760" cy="1691640"/>
            </a:xfrm>
            <a:prstGeom prst="roundRect">
              <a:avLst>
                <a:gd name="adj" fmla="val 6000"/>
              </a:avLst>
            </a:prstGeom>
            <a:solidFill>
              <a:srgbClr val="F7F9FC"/>
            </a:solidFill>
            <a:ln w="1143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548640" y="4617720"/>
              <a:ext cx="3794760" cy="384048"/>
            </a:xfrm>
            <a:prstGeom prst="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2계층 · 전략 파트너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685800" y="5129783"/>
              <a:ext cx="1082040" cy="1033272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제작 스튜디오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1905000" y="5129783"/>
              <a:ext cx="1082040" cy="1033272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마케팅 대행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3124200" y="5129783"/>
              <a:ext cx="1082040" cy="1033272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번역 전문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7863840" y="4617720"/>
              <a:ext cx="3794760" cy="1691640"/>
            </a:xfrm>
            <a:prstGeom prst="roundRect">
              <a:avLst>
                <a:gd name="adj" fmla="val 6000"/>
              </a:avLst>
            </a:prstGeom>
            <a:solidFill>
              <a:srgbClr val="F7F9FC"/>
            </a:solidFill>
            <a:ln w="1143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7863840" y="4617720"/>
              <a:ext cx="3794760" cy="384048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3계층 · 협력 파트너</a:t>
              </a:r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8001000" y="5129783"/>
              <a:ext cx="1082040" cy="1033272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법무·자문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9220200" y="5129783"/>
              <a:ext cx="1082040" cy="1033272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결제 PG사</a:t>
              </a:r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10439400" y="5129783"/>
              <a:ext cx="1082040" cy="1033272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데이터 분석</a:t>
              </a:r>
            </a:p>
          </p:txBody>
        </p:sp>
        <p:sp>
          <p:nvSpPr>
            <p:cNvPr id="5" name="Oval 4"/>
            <p:cNvSpPr/>
            <p:nvPr/>
          </p:nvSpPr>
          <p:spPr>
            <a:xfrm>
              <a:off x="5001768" y="2880360"/>
              <a:ext cx="2194560" cy="1234440"/>
            </a:xfrm>
            <a:prstGeom prst="ellipse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</a:t>
              </a:r>
            </a:p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플랫폼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