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ORG-185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(navy)</a:t>
            </a:r>
          </a:p>
        </p:txBody>
      </p:sp>
      <p:grpSp>
        <p:nvGrpSpPr>
          <p:cNvPr id="14" name="asset:ORG-185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ORG-186 · 이슈 에스컬레이션 체계 ·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4 (blue)</a:t>
            </a:r>
          </a:p>
        </p:txBody>
      </p:sp>
      <p:grpSp>
        <p:nvGrpSpPr>
          <p:cNvPr id="17" name="asset:ORG-186"/>
          <p:cNvGrpSpPr/>
          <p:nvPr/>
        </p:nvGrpSpPr>
        <p:grpSpPr>
          <a:xfrm>
            <a:off x="1005840" y="2404872"/>
            <a:ext cx="10424159" cy="3785616"/>
            <a:chOff x="1005840" y="2404872"/>
            <a:chExt cx="10424159" cy="3785616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05840" y="2404872"/>
              <a:ext cx="1234440" cy="3785615"/>
            </a:xfrm>
            <a:prstGeom prst="up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ORG-187 · 이슈 에스컬레이션 체계 ·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5 (purple)</a:t>
            </a:r>
          </a:p>
        </p:txBody>
      </p:sp>
      <p:grpSp>
        <p:nvGrpSpPr>
          <p:cNvPr id="20" name="asset:ORG-187"/>
          <p:cNvGrpSpPr/>
          <p:nvPr/>
        </p:nvGrpSpPr>
        <p:grpSpPr>
          <a:xfrm>
            <a:off x="1005840" y="1362456"/>
            <a:ext cx="10424159" cy="4828032"/>
            <a:chOff x="1005840" y="1362456"/>
            <a:chExt cx="10424159" cy="4828032"/>
          </a:xfrm>
        </p:grpSpPr>
        <p:cxnSp>
          <p:nvCxnSpPr>
            <p:cNvPr id="15" name="Connector 14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5440679" y="2020824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7520" y="1362456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· 이사회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83879" y="1408176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최상위 · 전략·투자 판단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1005840" y="1362456"/>
              <a:ext cx="1234440" cy="4828031"/>
            </a:xfrm>
            <a:prstGeom prst="up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ORG-188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(ink)</a:t>
            </a:r>
          </a:p>
        </p:txBody>
      </p:sp>
      <p:grpSp>
        <p:nvGrpSpPr>
          <p:cNvPr id="14" name="asset:ORG-188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ORG-189 · 이슈 에스컬레이션 체계 ·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4 (teal)</a:t>
            </a:r>
          </a:p>
        </p:txBody>
      </p:sp>
      <p:grpSp>
        <p:nvGrpSpPr>
          <p:cNvPr id="17" name="asset:ORG-189"/>
          <p:cNvGrpSpPr/>
          <p:nvPr/>
        </p:nvGrpSpPr>
        <p:grpSpPr>
          <a:xfrm>
            <a:off x="1005840" y="2404872"/>
            <a:ext cx="10424159" cy="3785616"/>
            <a:chOff x="1005840" y="2404872"/>
            <a:chExt cx="10424159" cy="3785616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05840" y="2404872"/>
              <a:ext cx="1234440" cy="3785615"/>
            </a:xfrm>
            <a:prstGeom prst="up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ORG-190 · 이슈 에스컬레이션 체계 ·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5 (steel)</a:t>
            </a:r>
          </a:p>
        </p:txBody>
      </p:sp>
      <p:grpSp>
        <p:nvGrpSpPr>
          <p:cNvPr id="20" name="asset:ORG-190"/>
          <p:cNvGrpSpPr/>
          <p:nvPr/>
        </p:nvGrpSpPr>
        <p:grpSpPr>
          <a:xfrm>
            <a:off x="1005840" y="1362456"/>
            <a:ext cx="10424159" cy="4828032"/>
            <a:chOff x="1005840" y="1362456"/>
            <a:chExt cx="10424159" cy="4828032"/>
          </a:xfrm>
        </p:grpSpPr>
        <p:cxnSp>
          <p:nvCxnSpPr>
            <p:cNvPr id="15" name="Connector 14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5440679" y="2020824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7520" y="1362456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· 이사회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83879" y="1408176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최상위 · 전략·투자 판단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1005840" y="1362456"/>
              <a:ext cx="1234440" cy="4828031"/>
            </a:xfrm>
            <a:prstGeom prst="up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ORG-191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(navy)</a:t>
            </a:r>
          </a:p>
        </p:txBody>
      </p:sp>
      <p:grpSp>
        <p:nvGrpSpPr>
          <p:cNvPr id="14" name="asset:ORG-191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ORG-192 · 이슈 에스컬레이션 체계 ·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4 (blue)</a:t>
            </a:r>
          </a:p>
        </p:txBody>
      </p:sp>
      <p:grpSp>
        <p:nvGrpSpPr>
          <p:cNvPr id="17" name="asset:ORG-192"/>
          <p:cNvGrpSpPr/>
          <p:nvPr/>
        </p:nvGrpSpPr>
        <p:grpSpPr>
          <a:xfrm>
            <a:off x="1005840" y="2404872"/>
            <a:ext cx="10424159" cy="3785616"/>
            <a:chOff x="1005840" y="2404872"/>
            <a:chExt cx="10424159" cy="3785616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05840" y="2404872"/>
              <a:ext cx="1234440" cy="3785615"/>
            </a:xfrm>
            <a:prstGeom prst="up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ORG-193 · 이슈 에스컬레이션 체계 ·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5 (purple)</a:t>
            </a:r>
          </a:p>
        </p:txBody>
      </p:sp>
      <p:grpSp>
        <p:nvGrpSpPr>
          <p:cNvPr id="20" name="asset:ORG-193"/>
          <p:cNvGrpSpPr/>
          <p:nvPr/>
        </p:nvGrpSpPr>
        <p:grpSpPr>
          <a:xfrm>
            <a:off x="1005840" y="1362456"/>
            <a:ext cx="10424159" cy="4828032"/>
            <a:chOff x="1005840" y="1362456"/>
            <a:chExt cx="10424159" cy="4828032"/>
          </a:xfrm>
        </p:grpSpPr>
        <p:cxnSp>
          <p:nvCxnSpPr>
            <p:cNvPr id="15" name="Connector 14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5440679" y="2020824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7520" y="1362456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· 이사회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83879" y="1408176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최상위 · 전략·투자 판단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1005840" y="1362456"/>
              <a:ext cx="1234440" cy="4828031"/>
            </a:xfrm>
            <a:prstGeom prst="up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ORG-194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(ink)</a:t>
            </a:r>
          </a:p>
        </p:txBody>
      </p:sp>
      <p:grpSp>
        <p:nvGrpSpPr>
          <p:cNvPr id="14" name="asset:ORG-194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ORG-195 · 이슈 에스컬레이션 체계 ·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4 (teal)</a:t>
            </a:r>
          </a:p>
        </p:txBody>
      </p:sp>
      <p:grpSp>
        <p:nvGrpSpPr>
          <p:cNvPr id="17" name="asset:ORG-195"/>
          <p:cNvGrpSpPr/>
          <p:nvPr/>
        </p:nvGrpSpPr>
        <p:grpSpPr>
          <a:xfrm>
            <a:off x="1005840" y="2404872"/>
            <a:ext cx="10424159" cy="3785616"/>
            <a:chOff x="1005840" y="2404872"/>
            <a:chExt cx="10424159" cy="3785616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05840" y="2404872"/>
              <a:ext cx="1234440" cy="3785615"/>
            </a:xfrm>
            <a:prstGeom prst="up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ORG-196 · 이슈 에스컬레이션 체계 ·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5 (steel)</a:t>
            </a:r>
          </a:p>
        </p:txBody>
      </p:sp>
      <p:grpSp>
        <p:nvGrpSpPr>
          <p:cNvPr id="20" name="asset:ORG-196"/>
          <p:cNvGrpSpPr/>
          <p:nvPr/>
        </p:nvGrpSpPr>
        <p:grpSpPr>
          <a:xfrm>
            <a:off x="1005840" y="1362456"/>
            <a:ext cx="10424159" cy="4828032"/>
            <a:chOff x="1005840" y="1362456"/>
            <a:chExt cx="10424159" cy="4828032"/>
          </a:xfrm>
        </p:grpSpPr>
        <p:cxnSp>
          <p:nvCxnSpPr>
            <p:cNvPr id="15" name="Connector 14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5440679" y="2020824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7520" y="1362456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· 이사회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83879" y="1408176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최상위 · 전략·투자 판단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1005840" y="1362456"/>
              <a:ext cx="1234440" cy="4828031"/>
            </a:xfrm>
            <a:prstGeom prst="up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ORG-197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(navy)</a:t>
            </a:r>
          </a:p>
        </p:txBody>
      </p:sp>
      <p:grpSp>
        <p:nvGrpSpPr>
          <p:cNvPr id="14" name="asset:ORG-197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ORG-198 · 이슈 에스컬레이션 체계 ·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4 (blue)</a:t>
            </a:r>
          </a:p>
        </p:txBody>
      </p:sp>
      <p:grpSp>
        <p:nvGrpSpPr>
          <p:cNvPr id="17" name="asset:ORG-198"/>
          <p:cNvGrpSpPr/>
          <p:nvPr/>
        </p:nvGrpSpPr>
        <p:grpSpPr>
          <a:xfrm>
            <a:off x="1005840" y="2404872"/>
            <a:ext cx="10424159" cy="3785616"/>
            <a:chOff x="1005840" y="2404872"/>
            <a:chExt cx="10424159" cy="3785616"/>
          </a:xfrm>
        </p:grpSpPr>
        <p:cxnSp>
          <p:nvCxnSpPr>
            <p:cNvPr id="13" name="Connector 12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6" name="Up Arrow 15"/>
            <p:cNvSpPr/>
            <p:nvPr/>
          </p:nvSpPr>
          <p:spPr>
            <a:xfrm>
              <a:off x="1005840" y="2404872"/>
              <a:ext cx="1234440" cy="3785615"/>
            </a:xfrm>
            <a:prstGeom prst="up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ORG-199 · 이슈 에스컬레이션 체계 ·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5 (purple)</a:t>
            </a:r>
          </a:p>
        </p:txBody>
      </p:sp>
      <p:grpSp>
        <p:nvGrpSpPr>
          <p:cNvPr id="20" name="asset:ORG-199"/>
          <p:cNvGrpSpPr/>
          <p:nvPr/>
        </p:nvGrpSpPr>
        <p:grpSpPr>
          <a:xfrm>
            <a:off x="1005840" y="1362456"/>
            <a:ext cx="10424159" cy="4828032"/>
            <a:chOff x="1005840" y="1362456"/>
            <a:chExt cx="10424159" cy="4828032"/>
          </a:xfrm>
        </p:grpSpPr>
        <p:cxnSp>
          <p:nvCxnSpPr>
            <p:cNvPr id="15" name="Connector 14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5440679" y="3063239"/>
              <a:ext cx="0" cy="384049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5440679" y="2020824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17520" y="2404872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 · 운영위원회 대응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017520" y="1362456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 · 이사회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83879" y="2450591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중대 이슈 · 계약·정책 결정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83879" y="1408176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최상위 · 전략·투자 판단</a:t>
              </a:r>
            </a:p>
          </p:txBody>
        </p:sp>
        <p:sp>
          <p:nvSpPr>
            <p:cNvPr id="19" name="Up Arrow 18"/>
            <p:cNvSpPr/>
            <p:nvPr/>
          </p:nvSpPr>
          <p:spPr>
            <a:xfrm>
              <a:off x="1005840" y="1362456"/>
              <a:ext cx="1234440" cy="4828031"/>
            </a:xfrm>
            <a:prstGeom prst="up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ORG-200 · 이슈 에스컬레이션 체계 ·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이슈 에스컬레이션 체계 ·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미해결 이슈의 단계별 대응 주체 상향 3 (ink)</a:t>
            </a:r>
          </a:p>
        </p:txBody>
      </p:sp>
      <p:grpSp>
        <p:nvGrpSpPr>
          <p:cNvPr id="14" name="asset:ORG-200"/>
          <p:cNvGrpSpPr/>
          <p:nvPr/>
        </p:nvGrpSpPr>
        <p:grpSpPr>
          <a:xfrm>
            <a:off x="1005840" y="3447288"/>
            <a:ext cx="10424159" cy="2743200"/>
            <a:chOff x="1005840" y="3447288"/>
            <a:chExt cx="10424159" cy="2743200"/>
          </a:xfrm>
        </p:grpSpPr>
        <p:cxnSp>
          <p:nvCxnSpPr>
            <p:cNvPr id="11" name="Connector 10"/>
            <p:cNvCxnSpPr/>
            <p:nvPr/>
          </p:nvCxnSpPr>
          <p:spPr>
            <a:xfrm flipV="1">
              <a:off x="5440679" y="5148072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5440679" y="4105656"/>
              <a:ext cx="0" cy="384048"/>
            </a:xfrm>
            <a:prstGeom prst="line">
              <a:avLst/>
            </a:prstGeom>
            <a:ln w="27940">
              <a:solidFill>
                <a:srgbClr val="C0392B"/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017520" y="5532120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 · 담당자 대응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7520" y="4489704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 · 팀장 대응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47288"/>
              <a:ext cx="4846320" cy="658368"/>
            </a:xfrm>
            <a:prstGeom prst="roundRect">
              <a:avLst>
                <a:gd name="adj" fmla="val 1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 · 총괄PM 대응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183879" y="5577840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이내 · 현장 1차 조치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535424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4시간 초과 · 자원 재배치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83879" y="3493008"/>
              <a:ext cx="3246120" cy="566928"/>
            </a:xfrm>
            <a:prstGeom prst="roundRect">
              <a:avLst>
                <a:gd name="adj" fmla="val 8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24시간 초과 · 범위·일정 조정</a:t>
              </a:r>
            </a:p>
          </p:txBody>
        </p:sp>
        <p:sp>
          <p:nvSpPr>
            <p:cNvPr id="13" name="Up Arrow 12"/>
            <p:cNvSpPr/>
            <p:nvPr/>
          </p:nvSpPr>
          <p:spPr>
            <a:xfrm>
              <a:off x="1005840" y="3447288"/>
              <a:ext cx="1234440" cy="2743199"/>
            </a:xfrm>
            <a:prstGeom prst="upArrow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대응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