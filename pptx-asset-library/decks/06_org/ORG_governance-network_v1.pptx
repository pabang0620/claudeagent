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3" name="asset:ORG-003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ORG-003 · 추진체계도 (발주처-수행사-협력사)</a:t>
              </a:r>
            </a:p>
          </p:txBody>
        </p:sp>
        <p:sp>
          <p:nvSpPr>
            <p:cNvPr id="3" name="ORG-003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822960" y="2834640"/>
              <a:ext cx="2743200" cy="105156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발주처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발주·관리)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727448" y="2834640"/>
              <a:ext cx="2743200" cy="105156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수행사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(총괄 수행)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622792" y="2834640"/>
              <a:ext cx="2743200" cy="10515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협력사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(분야 협력)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566160" y="3360420"/>
              <a:ext cx="1161288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3584448" y="2903220"/>
              <a:ext cx="112471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보고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584448" y="3525012"/>
              <a:ext cx="112471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검수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7470648" y="3360420"/>
              <a:ext cx="1152144" cy="0"/>
            </a:xfrm>
            <a:prstGeom prst="line">
              <a:avLst/>
            </a:prstGeom>
            <a:ln w="22225">
              <a:solidFill>
                <a:srgbClr val="595959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488936" y="2903220"/>
              <a:ext cx="1115567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위탁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88936" y="3525012"/>
              <a:ext cx="1115567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납품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6" name="asset:ORG-004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ORG-004 · 자문위원회 포함형</a:t>
              </a:r>
            </a:p>
          </p:txBody>
        </p:sp>
        <p:sp>
          <p:nvSpPr>
            <p:cNvPr id="3" name="ORG-004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2651760" y="105156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651760" y="251460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4114800"/>
              <a:ext cx="237744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기술지원팀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846320" y="4114800"/>
              <a:ext cx="237744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4023360" y="1709928"/>
              <a:ext cx="0" cy="80467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4023360" y="3172968"/>
              <a:ext cx="0" cy="41148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2011680" y="3584448"/>
              <a:ext cx="40233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2011680" y="3584448"/>
              <a:ext cx="0" cy="53035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35040" y="3584448"/>
              <a:ext cx="0" cy="53035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ounded Rectangle 12"/>
            <p:cNvSpPr/>
            <p:nvPr/>
          </p:nvSpPr>
          <p:spPr>
            <a:xfrm>
              <a:off x="8595360" y="2377440"/>
              <a:ext cx="2834640" cy="96012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자문위원회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(전문가 자문·검토)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394960" y="2843784"/>
              <a:ext cx="3200400" cy="13716"/>
            </a:xfrm>
            <a:prstGeom prst="line">
              <a:avLst/>
            </a:prstGeom>
            <a:ln w="22225">
              <a:solidFill>
                <a:srgbClr val="C0392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5440680" y="2459736"/>
              <a:ext cx="31089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5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자문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8" name="asset:ORG-007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ORG-007 · 협업 네트워크형 (허브+방사형 파트너)</a:t>
              </a:r>
            </a:p>
          </p:txBody>
        </p:sp>
        <p:sp>
          <p:nvSpPr>
            <p:cNvPr id="3" name="ORG-007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5227624" y="3123590"/>
              <a:ext cx="1737360" cy="1250899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5136184" y="1113739"/>
              <a:ext cx="1920240" cy="777240"/>
            </a:xfrm>
            <a:prstGeom prst="roundRect">
              <a:avLst>
                <a:gd name="adj" fmla="val 1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파트너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503712" y="2237079"/>
              <a:ext cx="1920240" cy="777240"/>
            </a:xfrm>
            <a:prstGeom prst="roundRect">
              <a:avLst>
                <a:gd name="adj" fmla="val 12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배급사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503712" y="4483760"/>
              <a:ext cx="1920240" cy="777240"/>
            </a:xfrm>
            <a:prstGeom prst="roundRect">
              <a:avLst>
                <a:gd name="adj" fmla="val 12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136184" y="5607100"/>
              <a:ext cx="1920240" cy="777240"/>
            </a:xfrm>
            <a:prstGeom prst="roundRect">
              <a:avLst>
                <a:gd name="adj" fmla="val 12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768657" y="4483760"/>
              <a:ext cx="1920240" cy="777240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768657" y="2237079"/>
              <a:ext cx="1920240" cy="777240"/>
            </a:xfrm>
            <a:prstGeom prst="roundRect">
              <a:avLst>
                <a:gd name="adj" fmla="val 12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 flipV="1">
              <a:off x="6096304" y="1502359"/>
              <a:ext cx="0" cy="224668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6096304" y="2625699"/>
              <a:ext cx="3367528" cy="112334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6304" y="3749039"/>
              <a:ext cx="3367528" cy="112334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6304" y="3749039"/>
              <a:ext cx="0" cy="224668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728777" y="3749039"/>
              <a:ext cx="3367527" cy="112334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H="1" flipV="1">
              <a:off x="2728777" y="2625699"/>
              <a:ext cx="3367527" cy="112334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5227624" y="3123590"/>
              <a:ext cx="1737360" cy="1250899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2" name="asset:ORG-008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ORG-008 · 컨소시엄 구성도 (주관사+참여사 분담)</a:t>
              </a:r>
            </a:p>
          </p:txBody>
        </p:sp>
        <p:sp>
          <p:nvSpPr>
            <p:cNvPr id="3" name="ORG-008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13048" y="1097280"/>
              <a:ext cx="4572000" cy="8686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주관사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총괄·계약 주체)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386687" y="329184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386687" y="3291840"/>
              <a:ext cx="2834640" cy="4572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A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386687" y="3840480"/>
              <a:ext cx="28346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개발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6687" y="4224528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분담 40%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678527" y="329184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78527" y="3291840"/>
              <a:ext cx="2834640" cy="4572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B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678527" y="3840480"/>
              <a:ext cx="28346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678527" y="4224528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분담 35%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970367" y="3291840"/>
              <a:ext cx="2834640" cy="1463040"/>
            </a:xfrm>
            <a:prstGeom prst="roundRect">
              <a:avLst>
                <a:gd name="adj" fmla="val 6000"/>
              </a:avLst>
            </a:prstGeom>
            <a:solidFill>
              <a:srgbClr val="F7F9FC"/>
            </a:solidFill>
            <a:ln w="1143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970367" y="3291840"/>
              <a:ext cx="2834640" cy="4572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참여사 C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970367" y="3840480"/>
              <a:ext cx="283464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마케팅·배급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970367" y="4224528"/>
              <a:ext cx="28346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분담 25%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099048" y="1965960"/>
              <a:ext cx="0" cy="10058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2804007" y="2971800"/>
              <a:ext cx="6583680" cy="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804007" y="297180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297180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387687" y="2971800"/>
              <a:ext cx="0" cy="3200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