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" name="asset:ORG-003"/>
          <p:cNvGrpSpPr/>
          <p:nvPr/>
        </p:nvGrpSpPr>
        <p:grpSpPr>
          <a:xfrm>
            <a:off x="137160" y="73152"/>
            <a:ext cx="11594592" cy="6510528"/>
            <a:chOff x="137160" y="73152"/>
            <a:chExt cx="11594592" cy="6510528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ORG-003 · 추진체계도 (발주처-수행사-협력사)</a:t>
              </a:r>
            </a:p>
          </p:txBody>
        </p:sp>
        <p:sp>
          <p:nvSpPr>
            <p:cNvPr id="3" name="ORG-003_bg"/>
            <p:cNvSpPr/>
            <p:nvPr/>
          </p:nvSpPr>
          <p:spPr>
            <a:xfrm>
              <a:off x="457200" y="822960"/>
              <a:ext cx="11274552" cy="57607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822960" y="2834640"/>
              <a:ext cx="2743200" cy="105156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발주·관리)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727448" y="2834640"/>
              <a:ext cx="2743200" cy="105156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622792" y="2834640"/>
              <a:ext cx="2743200" cy="10515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3566160" y="3360420"/>
              <a:ext cx="1161288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584448" y="2903220"/>
              <a:ext cx="112471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584448" y="3525012"/>
              <a:ext cx="1124712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7470648" y="3360420"/>
              <a:ext cx="1152144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7488936" y="2903220"/>
              <a:ext cx="1115567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88936" y="3525012"/>
              <a:ext cx="1115567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" name="asset:ORG-004"/>
          <p:cNvGrpSpPr/>
          <p:nvPr/>
        </p:nvGrpSpPr>
        <p:grpSpPr>
          <a:xfrm>
            <a:off x="137160" y="73152"/>
            <a:ext cx="11594592" cy="6510528"/>
            <a:chOff x="137160" y="73152"/>
            <a:chExt cx="11594592" cy="6510528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ORG-004 · 자문위원회 포함형</a:t>
              </a:r>
            </a:p>
          </p:txBody>
        </p:sp>
        <p:sp>
          <p:nvSpPr>
            <p:cNvPr id="3" name="ORG-004_bg"/>
            <p:cNvSpPr/>
            <p:nvPr/>
          </p:nvSpPr>
          <p:spPr>
            <a:xfrm>
              <a:off x="457200" y="822960"/>
              <a:ext cx="11274552" cy="57607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2651760" y="105156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651760" y="251460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4114800"/>
              <a:ext cx="2377440" cy="82296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기술지원팀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846320" y="4114800"/>
              <a:ext cx="237744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4023360" y="1709928"/>
              <a:ext cx="0" cy="804672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4023360" y="3172968"/>
              <a:ext cx="0" cy="41148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2011680" y="3584448"/>
              <a:ext cx="40233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2011680" y="3584448"/>
              <a:ext cx="0" cy="53035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035040" y="3584448"/>
              <a:ext cx="0" cy="53035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8595360" y="2377440"/>
              <a:ext cx="2834640" cy="960120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자문위원회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(전문가 자문·검토)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394960" y="2843784"/>
              <a:ext cx="3200400" cy="13716"/>
            </a:xfrm>
            <a:prstGeom prst="line">
              <a:avLst/>
            </a:prstGeom>
            <a:ln w="22225">
              <a:solidFill>
                <a:srgbClr val="C0392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440680" y="2459736"/>
              <a:ext cx="31089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자문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8" name="asset:ORG-007"/>
          <p:cNvGrpSpPr/>
          <p:nvPr/>
        </p:nvGrpSpPr>
        <p:grpSpPr>
          <a:xfrm>
            <a:off x="137160" y="73152"/>
            <a:ext cx="11594592" cy="6510528"/>
            <a:chOff x="137160" y="73152"/>
            <a:chExt cx="11594592" cy="6510528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ORG-007 · 협업 네트워크형 (허브+방사형 파트너)</a:t>
              </a:r>
            </a:p>
          </p:txBody>
        </p:sp>
        <p:sp>
          <p:nvSpPr>
            <p:cNvPr id="3" name="ORG-007_bg"/>
            <p:cNvSpPr/>
            <p:nvPr/>
          </p:nvSpPr>
          <p:spPr>
            <a:xfrm>
              <a:off x="457200" y="822960"/>
              <a:ext cx="11274552" cy="57607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5227624" y="3123590"/>
              <a:ext cx="1737360" cy="1250899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136184" y="1113739"/>
              <a:ext cx="1920240" cy="777240"/>
            </a:xfrm>
            <a:prstGeom prst="roundRect">
              <a:avLst>
                <a:gd name="adj" fmla="val 1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파트너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503712" y="2237079"/>
              <a:ext cx="1920240" cy="777240"/>
            </a:xfrm>
            <a:prstGeom prst="roundRect">
              <a:avLst>
                <a:gd name="adj" fmla="val 12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배급사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503712" y="4483760"/>
              <a:ext cx="1920240" cy="777240"/>
            </a:xfrm>
            <a:prstGeom prst="roundRect">
              <a:avLst>
                <a:gd name="adj" fmla="val 12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제작 스튜디오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136184" y="5607100"/>
              <a:ext cx="1920240" cy="777240"/>
            </a:xfrm>
            <a:prstGeom prst="roundRect">
              <a:avLst>
                <a:gd name="adj" fmla="val 12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마케팅 대행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768657" y="4483760"/>
              <a:ext cx="1920240" cy="777240"/>
            </a:xfrm>
            <a:prstGeom prst="roundRect">
              <a:avLst>
                <a:gd name="adj" fmla="val 1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 전문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768657" y="2237079"/>
              <a:ext cx="1920240" cy="777240"/>
            </a:xfrm>
            <a:prstGeom prst="roundRect">
              <a:avLst>
                <a:gd name="adj" fmla="val 12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법무·자문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V="1">
              <a:off x="6096304" y="1502359"/>
              <a:ext cx="0" cy="224668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V="1">
              <a:off x="6096304" y="2625699"/>
              <a:ext cx="3367528" cy="112334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96304" y="3749039"/>
              <a:ext cx="3367528" cy="112334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096304" y="3749039"/>
              <a:ext cx="0" cy="224668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2728777" y="3749039"/>
              <a:ext cx="3367527" cy="112334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 flipV="1">
              <a:off x="2728777" y="2625699"/>
              <a:ext cx="3367527" cy="112334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5227624" y="3123590"/>
              <a:ext cx="1737360" cy="1250899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2" name="asset:ORG-008"/>
          <p:cNvGrpSpPr/>
          <p:nvPr/>
        </p:nvGrpSpPr>
        <p:grpSpPr>
          <a:xfrm>
            <a:off x="137160" y="73152"/>
            <a:ext cx="11594592" cy="6510528"/>
            <a:chOff x="137160" y="73152"/>
            <a:chExt cx="11594592" cy="6510528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ORG-008 · 컨소시엄 구성도 (주관사+참여사 분담)</a:t>
              </a:r>
            </a:p>
          </p:txBody>
        </p:sp>
        <p:sp>
          <p:nvSpPr>
            <p:cNvPr id="3" name="ORG-008_bg"/>
            <p:cNvSpPr/>
            <p:nvPr/>
          </p:nvSpPr>
          <p:spPr>
            <a:xfrm>
              <a:off x="457200" y="822960"/>
              <a:ext cx="11274552" cy="57607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13048" y="1097280"/>
              <a:ext cx="4572000" cy="86868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386687" y="329184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386687" y="3291840"/>
              <a:ext cx="283464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86687" y="3840480"/>
              <a:ext cx="28346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플랫폼 개발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86687" y="4224528"/>
              <a:ext cx="28346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분담 40%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678527" y="329184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78527" y="3291840"/>
              <a:ext cx="283464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B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78527" y="3840480"/>
              <a:ext cx="28346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678527" y="4224528"/>
              <a:ext cx="28346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분담 35%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970367" y="329184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143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970367" y="3291840"/>
              <a:ext cx="2834640" cy="4572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C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970367" y="3840480"/>
              <a:ext cx="283464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970367" y="4224528"/>
              <a:ext cx="283464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분담 25%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6099048" y="1965960"/>
              <a:ext cx="0" cy="10058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2804007" y="2971800"/>
              <a:ext cx="658368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804007" y="297180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95847" y="297180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387687" y="297180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