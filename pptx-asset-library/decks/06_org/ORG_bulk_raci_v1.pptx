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ORG-138 · RACI 책임 배분표 · 5업무×3역할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RACI 책임 배분표 · 5업무×3역할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핵심 업무 5 × 역할 3 책임(R/A/C/I) 정의 (navy)</a:t>
            </a:r>
          </a:p>
        </p:txBody>
      </p:sp>
      <p:graphicFrame>
        <p:nvGraphicFramePr>
          <p:cNvPr id="5" name="asset:ORG-138"/>
          <p:cNvGraphicFramePr>
            <a:graphicFrameLocks noGrp="1"/>
          </p:cNvGraphicFramePr>
          <p:nvPr/>
        </p:nvGraphicFramePr>
        <p:xfrm>
          <a:off x="640080" y="1463040"/>
          <a:ext cx="7863840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1828800"/>
                <a:gridCol w="1828800"/>
                <a:gridCol w="18288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업무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총괄PM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기획팀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개발팀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착수·킥오프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정의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플랫폼 설계·개발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콘텐츠 현지화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통합 QA 테스트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457200">
                <a:tc gridSpan="4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R 실무 담당 · A 최종 책임 · C 자문 · I 결과 공유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ORG-139 · RACI 책임 배분표 · 6업무×4역할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RACI 책임 배분표 · 6업무×4역할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핵심 업무 6 × 역할 4 책임(R/A/C/I) 정의 (blue)</a:t>
            </a:r>
          </a:p>
        </p:txBody>
      </p:sp>
      <p:graphicFrame>
        <p:nvGraphicFramePr>
          <p:cNvPr id="5" name="asset:ORG-139"/>
          <p:cNvGraphicFramePr>
            <a:graphicFrameLocks noGrp="1"/>
          </p:cNvGraphicFramePr>
          <p:nvPr/>
        </p:nvGraphicFramePr>
        <p:xfrm>
          <a:off x="640080" y="1463040"/>
          <a:ext cx="9692640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1828800"/>
                <a:gridCol w="1828800"/>
                <a:gridCol w="1828800"/>
                <a:gridCol w="18288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업무</a:t>
                      </a:r>
                    </a:p>
                  </a:txBody>
                  <a:tcPr anchor="ctr" marL="63500" marR="63500" marT="38100" marB="38100"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총괄PM</a:t>
                      </a:r>
                    </a:p>
                  </a:txBody>
                  <a:tcPr anchor="ctr" marL="63500" marR="63500" marT="38100" marB="38100"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기획팀</a:t>
                      </a:r>
                    </a:p>
                  </a:txBody>
                  <a:tcPr anchor="ctr" marL="63500" marR="63500" marT="38100" marB="38100"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개발팀</a:t>
                      </a:r>
                    </a:p>
                  </a:txBody>
                  <a:tcPr anchor="ctr" marL="63500" marR="63500" marT="38100" marB="38100"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현지화팀</a:t>
                      </a:r>
                    </a:p>
                  </a:txBody>
                  <a:tcPr anchor="ctr" marL="63500" marR="63500" marT="38100" marB="38100">
                    <a:solidFill>
                      <a:srgbClr val="2E75D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착수·킥오프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정의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플랫폼 설계·개발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콘텐츠 현지화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통합 QA 테스트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발주처 보고·검수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457200">
                <a:tc gridSpan="5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R 실무 담당 · A 최종 책임 · C 자문 · I 결과 공유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ORG-140 · RACI 책임 배분표 · 7업무×5역할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RACI 책임 배분표 · 7업무×5역할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핵심 업무 7 × 역할 5 책임(R/A/C/I) 정의 (purple)</a:t>
            </a:r>
          </a:p>
        </p:txBody>
      </p:sp>
      <p:graphicFrame>
        <p:nvGraphicFramePr>
          <p:cNvPr id="5" name="asset:ORG-140"/>
          <p:cNvGraphicFramePr>
            <a:graphicFrameLocks noGrp="1"/>
          </p:cNvGraphicFramePr>
          <p:nvPr/>
        </p:nvGraphicFramePr>
        <p:xfrm>
          <a:off x="640080" y="1463040"/>
          <a:ext cx="10789915" cy="411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1682495"/>
                <a:gridCol w="1682495"/>
                <a:gridCol w="1682495"/>
                <a:gridCol w="1682495"/>
                <a:gridCol w="1682495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업무</a:t>
                      </a:r>
                    </a:p>
                  </a:txBody>
                  <a:tcPr anchor="ctr" marL="63500" marR="63500" marT="38100" marB="38100"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총괄PM</a:t>
                      </a:r>
                    </a:p>
                  </a:txBody>
                  <a:tcPr anchor="ctr" marL="63500" marR="63500" marT="38100" marB="38100"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기획팀</a:t>
                      </a:r>
                    </a:p>
                  </a:txBody>
                  <a:tcPr anchor="ctr" marL="63500" marR="63500" marT="38100" marB="38100"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개발팀</a:t>
                      </a:r>
                    </a:p>
                  </a:txBody>
                  <a:tcPr anchor="ctr" marL="63500" marR="63500" marT="38100" marB="38100"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현지화팀</a:t>
                      </a:r>
                    </a:p>
                  </a:txBody>
                  <a:tcPr anchor="ctr" marL="63500" marR="63500" marT="38100" marB="38100"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품질(QA)</a:t>
                      </a:r>
                    </a:p>
                  </a:txBody>
                  <a:tcPr anchor="ctr" marL="63500" marR="63500" marT="38100" marB="38100">
                    <a:solidFill>
                      <a:srgbClr val="7B2D8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착수·킥오프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정의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플랫폼 설계·개발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콘텐츠 현지화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통합 QA 테스트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발주처 보고·검수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안정화·운영 이관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457200">
                <a:tc gridSpan="6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R 실무 담당 · A 최종 책임 · C 자문 · I 결과 공유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ORG-141 · RACI 책임 배분표 · 8업무×3역할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RACI 책임 배분표 · 8업무×3역할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핵심 업무 8 × 역할 3 책임(R/A/C/I) 정의 (ink)</a:t>
            </a:r>
          </a:p>
        </p:txBody>
      </p:sp>
      <p:graphicFrame>
        <p:nvGraphicFramePr>
          <p:cNvPr id="5" name="asset:ORG-141"/>
          <p:cNvGraphicFramePr>
            <a:graphicFrameLocks noGrp="1"/>
          </p:cNvGraphicFramePr>
          <p:nvPr/>
        </p:nvGraphicFramePr>
        <p:xfrm>
          <a:off x="640080" y="1463040"/>
          <a:ext cx="7863840" cy="457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1828800"/>
                <a:gridCol w="1828800"/>
                <a:gridCol w="18288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업무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총괄PM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기획팀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개발팀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착수·킥오프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정의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플랫폼 설계·개발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콘텐츠 현지화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통합 QA 테스트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발주처 보고·검수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안정화·운영 이관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성과 정산·종료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457200">
                <a:tc gridSpan="4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R 실무 담당 · A 최종 책임 · C 자문 · I 결과 공유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ORG-142 · RACI 책임 배분표 · 5업무×4역할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RACI 책임 배분표 · 5업무×4역할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핵심 업무 5 × 역할 4 책임(R/A/C/I) 정의 (teal)</a:t>
            </a:r>
          </a:p>
        </p:txBody>
      </p:sp>
      <p:graphicFrame>
        <p:nvGraphicFramePr>
          <p:cNvPr id="5" name="asset:ORG-142"/>
          <p:cNvGraphicFramePr>
            <a:graphicFrameLocks noGrp="1"/>
          </p:cNvGraphicFramePr>
          <p:nvPr/>
        </p:nvGraphicFramePr>
        <p:xfrm>
          <a:off x="640080" y="1463040"/>
          <a:ext cx="9692640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1828800"/>
                <a:gridCol w="1828800"/>
                <a:gridCol w="1828800"/>
                <a:gridCol w="18288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업무</a:t>
                      </a:r>
                    </a:p>
                  </a:txBody>
                  <a:tcPr anchor="ctr" marL="63500" marR="63500" marT="38100" marB="38100"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총괄PM</a:t>
                      </a:r>
                    </a:p>
                  </a:txBody>
                  <a:tcPr anchor="ctr" marL="63500" marR="63500" marT="38100" marB="38100"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기획팀</a:t>
                      </a:r>
                    </a:p>
                  </a:txBody>
                  <a:tcPr anchor="ctr" marL="63500" marR="63500" marT="38100" marB="38100"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개발팀</a:t>
                      </a:r>
                    </a:p>
                  </a:txBody>
                  <a:tcPr anchor="ctr" marL="63500" marR="63500" marT="38100" marB="38100"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현지화팀</a:t>
                      </a:r>
                    </a:p>
                  </a:txBody>
                  <a:tcPr anchor="ctr" marL="63500" marR="63500" marT="38100" marB="38100">
                    <a:solidFill>
                      <a:srgbClr val="1F9E8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착수·킥오프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정의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플랫폼 설계·개발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콘텐츠 현지화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통합 QA 테스트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457200">
                <a:tc gridSpan="5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R 실무 담당 · A 최종 책임 · C 자문 · I 결과 공유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ORG-143 · RACI 책임 배분표 · 6업무×5역할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RACI 책임 배분표 · 6업무×5역할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핵심 업무 6 × 역할 5 책임(R/A/C/I) 정의 (steel)</a:t>
            </a:r>
          </a:p>
        </p:txBody>
      </p:sp>
      <p:graphicFrame>
        <p:nvGraphicFramePr>
          <p:cNvPr id="5" name="asset:ORG-143"/>
          <p:cNvGraphicFramePr>
            <a:graphicFrameLocks noGrp="1"/>
          </p:cNvGraphicFramePr>
          <p:nvPr/>
        </p:nvGraphicFramePr>
        <p:xfrm>
          <a:off x="640080" y="1463040"/>
          <a:ext cx="10789915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1682495"/>
                <a:gridCol w="1682495"/>
                <a:gridCol w="1682495"/>
                <a:gridCol w="1682495"/>
                <a:gridCol w="1682495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업무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총괄PM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기획팀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개발팀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현지화팀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품질(QA)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착수·킥오프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정의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플랫폼 설계·개발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콘텐츠 현지화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통합 QA 테스트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발주처 보고·검수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457200">
                <a:tc gridSpan="6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R 실무 담당 · A 최종 책임 · C 자문 · I 결과 공유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ORG-144 · RACI 책임 배분표 · 7업무×3역할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RACI 책임 배분표 · 7업무×3역할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핵심 업무 7 × 역할 3 책임(R/A/C/I) 정의 (navy)</a:t>
            </a:r>
          </a:p>
        </p:txBody>
      </p:sp>
      <p:graphicFrame>
        <p:nvGraphicFramePr>
          <p:cNvPr id="5" name="asset:ORG-144"/>
          <p:cNvGraphicFramePr>
            <a:graphicFrameLocks noGrp="1"/>
          </p:cNvGraphicFramePr>
          <p:nvPr/>
        </p:nvGraphicFramePr>
        <p:xfrm>
          <a:off x="640080" y="1463040"/>
          <a:ext cx="7863840" cy="411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1828800"/>
                <a:gridCol w="1828800"/>
                <a:gridCol w="18288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업무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총괄PM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기획팀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개발팀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착수·킥오프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정의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플랫폼 설계·개발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콘텐츠 현지화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통합 QA 테스트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발주처 보고·검수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안정화·운영 이관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457200">
                <a:tc gridSpan="4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R 실무 담당 · A 최종 책임 · C 자문 · I 결과 공유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ORG-145 · RACI 책임 배분표 · 8업무×4역할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RACI 책임 배분표 · 8업무×4역할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핵심 업무 8 × 역할 4 책임(R/A/C/I) 정의 (blue)</a:t>
            </a:r>
          </a:p>
        </p:txBody>
      </p:sp>
      <p:graphicFrame>
        <p:nvGraphicFramePr>
          <p:cNvPr id="5" name="asset:ORG-145"/>
          <p:cNvGraphicFramePr>
            <a:graphicFrameLocks noGrp="1"/>
          </p:cNvGraphicFramePr>
          <p:nvPr/>
        </p:nvGraphicFramePr>
        <p:xfrm>
          <a:off x="640080" y="1463040"/>
          <a:ext cx="9692640" cy="457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1828800"/>
                <a:gridCol w="1828800"/>
                <a:gridCol w="1828800"/>
                <a:gridCol w="18288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업무</a:t>
                      </a:r>
                    </a:p>
                  </a:txBody>
                  <a:tcPr anchor="ctr" marL="63500" marR="63500" marT="38100" marB="38100"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총괄PM</a:t>
                      </a:r>
                    </a:p>
                  </a:txBody>
                  <a:tcPr anchor="ctr" marL="63500" marR="63500" marT="38100" marB="38100"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기획팀</a:t>
                      </a:r>
                    </a:p>
                  </a:txBody>
                  <a:tcPr anchor="ctr" marL="63500" marR="63500" marT="38100" marB="38100"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개발팀</a:t>
                      </a:r>
                    </a:p>
                  </a:txBody>
                  <a:tcPr anchor="ctr" marL="63500" marR="63500" marT="38100" marB="38100"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현지화팀</a:t>
                      </a:r>
                    </a:p>
                  </a:txBody>
                  <a:tcPr anchor="ctr" marL="63500" marR="63500" marT="38100" marB="38100">
                    <a:solidFill>
                      <a:srgbClr val="2E75D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착수·킥오프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정의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플랫폼 설계·개발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콘텐츠 현지화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통합 QA 테스트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발주처 보고·검수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안정화·운영 이관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성과 정산·종료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457200">
                <a:tc gridSpan="5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R 실무 담당 · A 최종 책임 · C 자문 · I 결과 공유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ORG-146 · RACI 책임 배분표 · 5업무×5역할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RACI 책임 배분표 · 5업무×5역할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핵심 업무 5 × 역할 5 책임(R/A/C/I) 정의 (purple)</a:t>
            </a:r>
          </a:p>
        </p:txBody>
      </p:sp>
      <p:graphicFrame>
        <p:nvGraphicFramePr>
          <p:cNvPr id="5" name="asset:ORG-146"/>
          <p:cNvGraphicFramePr>
            <a:graphicFrameLocks noGrp="1"/>
          </p:cNvGraphicFramePr>
          <p:nvPr/>
        </p:nvGraphicFramePr>
        <p:xfrm>
          <a:off x="640080" y="1463040"/>
          <a:ext cx="10789915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1682495"/>
                <a:gridCol w="1682495"/>
                <a:gridCol w="1682495"/>
                <a:gridCol w="1682495"/>
                <a:gridCol w="1682495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업무</a:t>
                      </a:r>
                    </a:p>
                  </a:txBody>
                  <a:tcPr anchor="ctr" marL="63500" marR="63500" marT="38100" marB="38100"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총괄PM</a:t>
                      </a:r>
                    </a:p>
                  </a:txBody>
                  <a:tcPr anchor="ctr" marL="63500" marR="63500" marT="38100" marB="38100"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기획팀</a:t>
                      </a:r>
                    </a:p>
                  </a:txBody>
                  <a:tcPr anchor="ctr" marL="63500" marR="63500" marT="38100" marB="38100"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개발팀</a:t>
                      </a:r>
                    </a:p>
                  </a:txBody>
                  <a:tcPr anchor="ctr" marL="63500" marR="63500" marT="38100" marB="38100"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현지화팀</a:t>
                      </a:r>
                    </a:p>
                  </a:txBody>
                  <a:tcPr anchor="ctr" marL="63500" marR="63500" marT="38100" marB="38100"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품질(QA)</a:t>
                      </a:r>
                    </a:p>
                  </a:txBody>
                  <a:tcPr anchor="ctr" marL="63500" marR="63500" marT="38100" marB="38100">
                    <a:solidFill>
                      <a:srgbClr val="7B2D8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착수·킥오프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정의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플랫폼 설계·개발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콘텐츠 현지화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통합 QA 테스트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457200">
                <a:tc gridSpan="6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R 실무 담당 · A 최종 책임 · C 자문 · I 결과 공유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ORG-147 · RACI 책임 배분표 · 6업무×3역할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RACI 책임 배분표 · 6업무×3역할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핵심 업무 6 × 역할 3 책임(R/A/C/I) 정의 (ink)</a:t>
            </a:r>
          </a:p>
        </p:txBody>
      </p:sp>
      <p:graphicFrame>
        <p:nvGraphicFramePr>
          <p:cNvPr id="5" name="asset:ORG-147"/>
          <p:cNvGraphicFramePr>
            <a:graphicFrameLocks noGrp="1"/>
          </p:cNvGraphicFramePr>
          <p:nvPr/>
        </p:nvGraphicFramePr>
        <p:xfrm>
          <a:off x="640080" y="1463040"/>
          <a:ext cx="7863840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1828800"/>
                <a:gridCol w="1828800"/>
                <a:gridCol w="18288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업무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총괄PM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기획팀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개발팀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착수·킥오프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정의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플랫폼 설계·개발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콘텐츠 현지화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통합 QA 테스트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발주처 보고·검수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457200">
                <a:tc gridSpan="4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R 실무 담당 · A 최종 책임 · C 자문 · I 결과 공유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ORG-148 · RACI 책임 배분표 · 7업무×4역할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RACI 책임 배분표 · 7업무×4역할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핵심 업무 7 × 역할 4 책임(R/A/C/I) 정의 (teal)</a:t>
            </a:r>
          </a:p>
        </p:txBody>
      </p:sp>
      <p:graphicFrame>
        <p:nvGraphicFramePr>
          <p:cNvPr id="5" name="asset:ORG-148"/>
          <p:cNvGraphicFramePr>
            <a:graphicFrameLocks noGrp="1"/>
          </p:cNvGraphicFramePr>
          <p:nvPr/>
        </p:nvGraphicFramePr>
        <p:xfrm>
          <a:off x="640080" y="1463040"/>
          <a:ext cx="9692640" cy="411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1828800"/>
                <a:gridCol w="1828800"/>
                <a:gridCol w="1828800"/>
                <a:gridCol w="18288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업무</a:t>
                      </a:r>
                    </a:p>
                  </a:txBody>
                  <a:tcPr anchor="ctr" marL="63500" marR="63500" marT="38100" marB="38100"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총괄PM</a:t>
                      </a:r>
                    </a:p>
                  </a:txBody>
                  <a:tcPr anchor="ctr" marL="63500" marR="63500" marT="38100" marB="38100"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기획팀</a:t>
                      </a:r>
                    </a:p>
                  </a:txBody>
                  <a:tcPr anchor="ctr" marL="63500" marR="63500" marT="38100" marB="38100"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개발팀</a:t>
                      </a:r>
                    </a:p>
                  </a:txBody>
                  <a:tcPr anchor="ctr" marL="63500" marR="63500" marT="38100" marB="38100"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현지화팀</a:t>
                      </a:r>
                    </a:p>
                  </a:txBody>
                  <a:tcPr anchor="ctr" marL="63500" marR="63500" marT="38100" marB="38100">
                    <a:solidFill>
                      <a:srgbClr val="1F9E8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착수·킥오프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정의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플랫폼 설계·개발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콘텐츠 현지화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통합 QA 테스트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발주처 보고·검수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안정화·운영 이관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457200">
                <a:tc gridSpan="5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R 실무 담당 · A 최종 책임 · C 자문 · I 결과 공유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ORG-149 · RACI 책임 배분표 · 8업무×5역할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RACI 책임 배분표 · 8업무×5역할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핵심 업무 8 × 역할 5 책임(R/A/C/I) 정의 (steel)</a:t>
            </a:r>
          </a:p>
        </p:txBody>
      </p:sp>
      <p:graphicFrame>
        <p:nvGraphicFramePr>
          <p:cNvPr id="5" name="asset:ORG-149"/>
          <p:cNvGraphicFramePr>
            <a:graphicFrameLocks noGrp="1"/>
          </p:cNvGraphicFramePr>
          <p:nvPr/>
        </p:nvGraphicFramePr>
        <p:xfrm>
          <a:off x="640080" y="1463040"/>
          <a:ext cx="10789915" cy="457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1682495"/>
                <a:gridCol w="1682495"/>
                <a:gridCol w="1682495"/>
                <a:gridCol w="1682495"/>
                <a:gridCol w="1682495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업무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총괄PM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기획팀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개발팀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현지화팀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품질(QA)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착수·킥오프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정의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플랫폼 설계·개발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콘텐츠 현지화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통합 QA 테스트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발주처 보고·검수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안정화·운영 이관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성과 정산·종료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457200">
                <a:tc gridSpan="6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R 실무 담당 · A 최종 책임 · C 자문 · I 결과 공유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ORG-150 · RACI 책임 배분표 · 5업무×3역할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RACI 책임 배분표 · 5업무×3역할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핵심 업무 5 × 역할 3 책임(R/A/C/I) 정의 (navy)</a:t>
            </a:r>
          </a:p>
        </p:txBody>
      </p:sp>
      <p:graphicFrame>
        <p:nvGraphicFramePr>
          <p:cNvPr id="5" name="asset:ORG-150"/>
          <p:cNvGraphicFramePr>
            <a:graphicFrameLocks noGrp="1"/>
          </p:cNvGraphicFramePr>
          <p:nvPr/>
        </p:nvGraphicFramePr>
        <p:xfrm>
          <a:off x="640080" y="1463040"/>
          <a:ext cx="7863840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1828800"/>
                <a:gridCol w="1828800"/>
                <a:gridCol w="18288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업무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총괄PM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기획팀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개발팀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착수·킥오프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정의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플랫폼 설계·개발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콘텐츠 현지화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통합 QA 테스트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457200">
                <a:tc gridSpan="4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R 실무 담당 · A 최종 책임 · C 자문 · I 결과 공유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ORG-151 · RACI 책임 배분표 · 6업무×4역할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RACI 책임 배분표 · 6업무×4역할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핵심 업무 6 × 역할 4 책임(R/A/C/I) 정의 (blue)</a:t>
            </a:r>
          </a:p>
        </p:txBody>
      </p:sp>
      <p:graphicFrame>
        <p:nvGraphicFramePr>
          <p:cNvPr id="5" name="asset:ORG-151"/>
          <p:cNvGraphicFramePr>
            <a:graphicFrameLocks noGrp="1"/>
          </p:cNvGraphicFramePr>
          <p:nvPr/>
        </p:nvGraphicFramePr>
        <p:xfrm>
          <a:off x="640080" y="1463040"/>
          <a:ext cx="9692640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1828800"/>
                <a:gridCol w="1828800"/>
                <a:gridCol w="1828800"/>
                <a:gridCol w="18288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업무</a:t>
                      </a:r>
                    </a:p>
                  </a:txBody>
                  <a:tcPr anchor="ctr" marL="63500" marR="63500" marT="38100" marB="38100"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총괄PM</a:t>
                      </a:r>
                    </a:p>
                  </a:txBody>
                  <a:tcPr anchor="ctr" marL="63500" marR="63500" marT="38100" marB="38100"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기획팀</a:t>
                      </a:r>
                    </a:p>
                  </a:txBody>
                  <a:tcPr anchor="ctr" marL="63500" marR="63500" marT="38100" marB="38100"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개발팀</a:t>
                      </a:r>
                    </a:p>
                  </a:txBody>
                  <a:tcPr anchor="ctr" marL="63500" marR="63500" marT="38100" marB="38100"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현지화팀</a:t>
                      </a:r>
                    </a:p>
                  </a:txBody>
                  <a:tcPr anchor="ctr" marL="63500" marR="63500" marT="38100" marB="38100">
                    <a:solidFill>
                      <a:srgbClr val="2E75D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착수·킥오프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정의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플랫폼 설계·개발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콘텐츠 현지화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통합 QA 테스트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발주처 보고·검수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457200">
                <a:tc gridSpan="5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R 실무 담당 · A 최종 책임 · C 자문 · I 결과 공유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ORG-152 · RACI 책임 배분표 · 7업무×5역할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RACI 책임 배분표 · 7업무×5역할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핵심 업무 7 × 역할 5 책임(R/A/C/I) 정의 (purple)</a:t>
            </a:r>
          </a:p>
        </p:txBody>
      </p:sp>
      <p:graphicFrame>
        <p:nvGraphicFramePr>
          <p:cNvPr id="5" name="asset:ORG-152"/>
          <p:cNvGraphicFramePr>
            <a:graphicFrameLocks noGrp="1"/>
          </p:cNvGraphicFramePr>
          <p:nvPr/>
        </p:nvGraphicFramePr>
        <p:xfrm>
          <a:off x="640080" y="1463040"/>
          <a:ext cx="10789915" cy="411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1682495"/>
                <a:gridCol w="1682495"/>
                <a:gridCol w="1682495"/>
                <a:gridCol w="1682495"/>
                <a:gridCol w="1682495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업무</a:t>
                      </a:r>
                    </a:p>
                  </a:txBody>
                  <a:tcPr anchor="ctr" marL="63500" marR="63500" marT="38100" marB="38100"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총괄PM</a:t>
                      </a:r>
                    </a:p>
                  </a:txBody>
                  <a:tcPr anchor="ctr" marL="63500" marR="63500" marT="38100" marB="38100"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기획팀</a:t>
                      </a:r>
                    </a:p>
                  </a:txBody>
                  <a:tcPr anchor="ctr" marL="63500" marR="63500" marT="38100" marB="38100"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개발팀</a:t>
                      </a:r>
                    </a:p>
                  </a:txBody>
                  <a:tcPr anchor="ctr" marL="63500" marR="63500" marT="38100" marB="38100"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현지화팀</a:t>
                      </a:r>
                    </a:p>
                  </a:txBody>
                  <a:tcPr anchor="ctr" marL="63500" marR="63500" marT="38100" marB="38100"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품질(QA)</a:t>
                      </a:r>
                    </a:p>
                  </a:txBody>
                  <a:tcPr anchor="ctr" marL="63500" marR="63500" marT="38100" marB="38100">
                    <a:solidFill>
                      <a:srgbClr val="7B2D8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착수·킥오프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정의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플랫폼 설계·개발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콘텐츠 현지화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통합 QA 테스트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발주처 보고·검수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안정화·운영 이관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457200">
                <a:tc gridSpan="6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R 실무 담당 · A 최종 책임 · C 자문 · I 결과 공유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