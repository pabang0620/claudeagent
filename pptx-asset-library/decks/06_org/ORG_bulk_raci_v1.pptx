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ORG-138 · RACI 책임 배분표 · 5업무×3역할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5업무×3역할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5 × 역할 3 책임(R/A/C/I) 정의 (navy)</a:t>
            </a:r>
          </a:p>
        </p:txBody>
      </p:sp>
      <p:graphicFrame>
        <p:nvGraphicFramePr>
          <p:cNvPr id="5" name="asset:ORG-138"/>
          <p:cNvGraphicFramePr>
            <a:graphicFrameLocks noGrp="1"/>
          </p:cNvGraphicFramePr>
          <p:nvPr/>
        </p:nvGraphicFramePr>
        <p:xfrm>
          <a:off x="640080" y="1463040"/>
          <a:ext cx="786384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ORG-139 · RACI 책임 배분표 · 6업무×4역할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6업무×4역할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6 × 역할 4 책임(R/A/C/I) 정의 (blue)</a:t>
            </a:r>
          </a:p>
        </p:txBody>
      </p:sp>
      <p:graphicFrame>
        <p:nvGraphicFramePr>
          <p:cNvPr id="5" name="asset:ORG-139"/>
          <p:cNvGraphicFramePr>
            <a:graphicFrameLocks noGrp="1"/>
          </p:cNvGraphicFramePr>
          <p:nvPr/>
        </p:nvGraphicFramePr>
        <p:xfrm>
          <a:off x="640080" y="1463040"/>
          <a:ext cx="969264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ORG-140 · RACI 책임 배분표 · 7업무×5역할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7업무×5역할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7 × 역할 5 책임(R/A/C/I) 정의 (purple)</a:t>
            </a:r>
          </a:p>
        </p:txBody>
      </p:sp>
      <p:graphicFrame>
        <p:nvGraphicFramePr>
          <p:cNvPr id="5" name="asset:ORG-140"/>
          <p:cNvGraphicFramePr>
            <a:graphicFrameLocks noGrp="1"/>
          </p:cNvGraphicFramePr>
          <p:nvPr/>
        </p:nvGraphicFramePr>
        <p:xfrm>
          <a:off x="640080" y="1463040"/>
          <a:ext cx="10789915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682495"/>
                <a:gridCol w="1682495"/>
                <a:gridCol w="1682495"/>
                <a:gridCol w="1682495"/>
                <a:gridCol w="16824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품질(QA)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안정화·운영 이관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ORG-141 · RACI 책임 배분표 · 8업무×3역할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8업무×3역할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8 × 역할 3 책임(R/A/C/I) 정의 (ink)</a:t>
            </a:r>
          </a:p>
        </p:txBody>
      </p:sp>
      <p:graphicFrame>
        <p:nvGraphicFramePr>
          <p:cNvPr id="5" name="asset:ORG-141"/>
          <p:cNvGraphicFramePr>
            <a:graphicFrameLocks noGrp="1"/>
          </p:cNvGraphicFramePr>
          <p:nvPr/>
        </p:nvGraphicFramePr>
        <p:xfrm>
          <a:off x="640080" y="1463040"/>
          <a:ext cx="786384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안정화·운영 이관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정산·종료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ORG-142 · RACI 책임 배분표 · 5업무×4역할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5업무×4역할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5 × 역할 4 책임(R/A/C/I) 정의 (teal)</a:t>
            </a:r>
          </a:p>
        </p:txBody>
      </p:sp>
      <p:graphicFrame>
        <p:nvGraphicFramePr>
          <p:cNvPr id="5" name="asset:ORG-142"/>
          <p:cNvGraphicFramePr>
            <a:graphicFrameLocks noGrp="1"/>
          </p:cNvGraphicFramePr>
          <p:nvPr/>
        </p:nvGraphicFramePr>
        <p:xfrm>
          <a:off x="640080" y="1463040"/>
          <a:ext cx="969264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ORG-143 · RACI 책임 배분표 · 6업무×5역할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6업무×5역할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6 × 역할 5 책임(R/A/C/I) 정의 (steel)</a:t>
            </a:r>
          </a:p>
        </p:txBody>
      </p:sp>
      <p:graphicFrame>
        <p:nvGraphicFramePr>
          <p:cNvPr id="5" name="asset:ORG-143"/>
          <p:cNvGraphicFramePr>
            <a:graphicFrameLocks noGrp="1"/>
          </p:cNvGraphicFramePr>
          <p:nvPr/>
        </p:nvGraphicFramePr>
        <p:xfrm>
          <a:off x="640080" y="1463040"/>
          <a:ext cx="10789915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682495"/>
                <a:gridCol w="1682495"/>
                <a:gridCol w="1682495"/>
                <a:gridCol w="1682495"/>
                <a:gridCol w="16824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품질(QA)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ORG-144 · RACI 책임 배분표 · 7업무×3역할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7업무×3역할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7 × 역할 3 책임(R/A/C/I) 정의 (navy)</a:t>
            </a:r>
          </a:p>
        </p:txBody>
      </p:sp>
      <p:graphicFrame>
        <p:nvGraphicFramePr>
          <p:cNvPr id="5" name="asset:ORG-144"/>
          <p:cNvGraphicFramePr>
            <a:graphicFrameLocks noGrp="1"/>
          </p:cNvGraphicFramePr>
          <p:nvPr/>
        </p:nvGraphicFramePr>
        <p:xfrm>
          <a:off x="640080" y="1463040"/>
          <a:ext cx="786384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안정화·운영 이관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ORG-145 · RACI 책임 배분표 · 8업무×4역할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8업무×4역할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8 × 역할 4 책임(R/A/C/I) 정의 (blue)</a:t>
            </a:r>
          </a:p>
        </p:txBody>
      </p:sp>
      <p:graphicFrame>
        <p:nvGraphicFramePr>
          <p:cNvPr id="5" name="asset:ORG-145"/>
          <p:cNvGraphicFramePr>
            <a:graphicFrameLocks noGrp="1"/>
          </p:cNvGraphicFramePr>
          <p:nvPr/>
        </p:nvGraphicFramePr>
        <p:xfrm>
          <a:off x="640080" y="1463040"/>
          <a:ext cx="969264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안정화·운영 이관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정산·종료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ORG-146 · RACI 책임 배분표 · 5업무×5역할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5업무×5역할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5 × 역할 5 책임(R/A/C/I) 정의 (purple)</a:t>
            </a:r>
          </a:p>
        </p:txBody>
      </p:sp>
      <p:graphicFrame>
        <p:nvGraphicFramePr>
          <p:cNvPr id="5" name="asset:ORG-146"/>
          <p:cNvGraphicFramePr>
            <a:graphicFrameLocks noGrp="1"/>
          </p:cNvGraphicFramePr>
          <p:nvPr/>
        </p:nvGraphicFramePr>
        <p:xfrm>
          <a:off x="640080" y="1463040"/>
          <a:ext cx="10789915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682495"/>
                <a:gridCol w="1682495"/>
                <a:gridCol w="1682495"/>
                <a:gridCol w="1682495"/>
                <a:gridCol w="16824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품질(QA)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ORG-147 · RACI 책임 배분표 · 6업무×3역할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6업무×3역할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6 × 역할 3 책임(R/A/C/I) 정의 (ink)</a:t>
            </a:r>
          </a:p>
        </p:txBody>
      </p:sp>
      <p:graphicFrame>
        <p:nvGraphicFramePr>
          <p:cNvPr id="5" name="asset:ORG-147"/>
          <p:cNvGraphicFramePr>
            <a:graphicFrameLocks noGrp="1"/>
          </p:cNvGraphicFramePr>
          <p:nvPr/>
        </p:nvGraphicFramePr>
        <p:xfrm>
          <a:off x="640080" y="1463040"/>
          <a:ext cx="786384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ORG-148 · RACI 책임 배분표 · 7업무×4역할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7업무×4역할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7 × 역할 4 책임(R/A/C/I) 정의 (teal)</a:t>
            </a:r>
          </a:p>
        </p:txBody>
      </p:sp>
      <p:graphicFrame>
        <p:nvGraphicFramePr>
          <p:cNvPr id="5" name="asset:ORG-148"/>
          <p:cNvGraphicFramePr>
            <a:graphicFrameLocks noGrp="1"/>
          </p:cNvGraphicFramePr>
          <p:nvPr/>
        </p:nvGraphicFramePr>
        <p:xfrm>
          <a:off x="640080" y="1463040"/>
          <a:ext cx="969264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1F9E8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안정화·운영 이관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ORG-149 · RACI 책임 배분표 · 8업무×5역할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8업무×5역할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8 × 역할 5 책임(R/A/C/I) 정의 (steel)</a:t>
            </a:r>
          </a:p>
        </p:txBody>
      </p:sp>
      <p:graphicFrame>
        <p:nvGraphicFramePr>
          <p:cNvPr id="5" name="asset:ORG-149"/>
          <p:cNvGraphicFramePr>
            <a:graphicFrameLocks noGrp="1"/>
          </p:cNvGraphicFramePr>
          <p:nvPr/>
        </p:nvGraphicFramePr>
        <p:xfrm>
          <a:off x="640080" y="1463040"/>
          <a:ext cx="10789915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682495"/>
                <a:gridCol w="1682495"/>
                <a:gridCol w="1682495"/>
                <a:gridCol w="1682495"/>
                <a:gridCol w="16824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품질(QA)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안정화·운영 이관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정산·종료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ORG-150 · RACI 책임 배분표 · 5업무×3역할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5업무×3역할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5 × 역할 3 책임(R/A/C/I) 정의 (navy)</a:t>
            </a:r>
          </a:p>
        </p:txBody>
      </p:sp>
      <p:graphicFrame>
        <p:nvGraphicFramePr>
          <p:cNvPr id="5" name="asset:ORG-150"/>
          <p:cNvGraphicFramePr>
            <a:graphicFrameLocks noGrp="1"/>
          </p:cNvGraphicFramePr>
          <p:nvPr/>
        </p:nvGraphicFramePr>
        <p:xfrm>
          <a:off x="640080" y="1463040"/>
          <a:ext cx="786384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ORG-151 · RACI 책임 배분표 · 6업무×4역할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6업무×4역할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6 × 역할 4 책임(R/A/C/I) 정의 (blue)</a:t>
            </a:r>
          </a:p>
        </p:txBody>
      </p:sp>
      <p:graphicFrame>
        <p:nvGraphicFramePr>
          <p:cNvPr id="5" name="asset:ORG-151"/>
          <p:cNvGraphicFramePr>
            <a:graphicFrameLocks noGrp="1"/>
          </p:cNvGraphicFramePr>
          <p:nvPr/>
        </p:nvGraphicFramePr>
        <p:xfrm>
          <a:off x="640080" y="1463040"/>
          <a:ext cx="969264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ORG-152 · RACI 책임 배분표 · 7업무×5역할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배분표 · 7업무×5역할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 7 × 역할 5 책임(R/A/C/I) 정의 (purple)</a:t>
            </a:r>
          </a:p>
        </p:txBody>
      </p:sp>
      <p:graphicFrame>
        <p:nvGraphicFramePr>
          <p:cNvPr id="5" name="asset:ORG-152"/>
          <p:cNvGraphicFramePr>
            <a:graphicFrameLocks noGrp="1"/>
          </p:cNvGraphicFramePr>
          <p:nvPr/>
        </p:nvGraphicFramePr>
        <p:xfrm>
          <a:off x="640080" y="1463040"/>
          <a:ext cx="10789915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682495"/>
                <a:gridCol w="1682495"/>
                <a:gridCol w="1682495"/>
                <a:gridCol w="1682495"/>
                <a:gridCol w="16824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품질(QA)</a:t>
                      </a:r>
                    </a:p>
                  </a:txBody>
                  <a:tcPr anchor="ctr" marL="63500" marR="63500" marT="38100" marB="38100">
                    <a:solidFill>
                      <a:srgbClr val="7B2D8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안정화·운영 이관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 · A 최종 책임 · C 자문 · I 결과 공유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