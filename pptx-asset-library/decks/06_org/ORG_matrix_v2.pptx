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ORG-009 · RACI 책임 배분표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업무별 역할 책임(R/A/C/I) 정의 — 제안 수행조직</a:t>
            </a:r>
          </a:p>
        </p:txBody>
      </p:sp>
      <p:graphicFrame>
        <p:nvGraphicFramePr>
          <p:cNvPr id="5" name="asset:ORG-009"/>
          <p:cNvGraphicFramePr>
            <a:graphicFrameLocks noGrp="1"/>
          </p:cNvGraphicFramePr>
          <p:nvPr/>
        </p:nvGraphicFramePr>
        <p:xfrm>
          <a:off x="640080" y="1417320"/>
          <a:ext cx="108356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91640"/>
                <a:gridCol w="1691640"/>
                <a:gridCol w="1691640"/>
                <a:gridCol w="169164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담당(Responsible)   ·   A 최종 책임(Accountable)   ·   C 자문(Consulted)   ·   I 결과 공유(Informed)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ORG-010 · 기능별 매트릭스 조직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기능별 매트릭스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기능(수직) × 사업(수평) 이중 보고 체계 — 매트릭스 조직</a:t>
            </a:r>
          </a:p>
        </p:txBody>
      </p:sp>
      <p:grpSp>
        <p:nvGrpSpPr>
          <p:cNvPr id="39" name="asset:ORG-010"/>
          <p:cNvGrpSpPr/>
          <p:nvPr/>
        </p:nvGrpSpPr>
        <p:grpSpPr>
          <a:xfrm>
            <a:off x="548640" y="1097280"/>
            <a:ext cx="10195560" cy="4434840"/>
            <a:chOff x="548640" y="1097280"/>
            <a:chExt cx="10195560" cy="4434840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737360"/>
              <a:ext cx="0" cy="25603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5669280" y="1993391"/>
              <a:ext cx="42062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669280" y="1993391"/>
              <a:ext cx="0" cy="15544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772400" y="1993391"/>
              <a:ext cx="0" cy="15544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875519" y="1993391"/>
              <a:ext cx="0" cy="15544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2377440" y="1417319"/>
              <a:ext cx="25603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77440" y="1417319"/>
              <a:ext cx="0" cy="384048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669280" y="2715768"/>
              <a:ext cx="0" cy="2816352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772400" y="2715768"/>
              <a:ext cx="0" cy="2816352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9875520" y="2715768"/>
              <a:ext cx="0" cy="2816352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77440" y="3200400"/>
              <a:ext cx="7909560" cy="0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77440" y="3886200"/>
              <a:ext cx="7909560" cy="0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77440" y="4572000"/>
              <a:ext cx="7909560" cy="0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77440" y="5257800"/>
              <a:ext cx="7909560" cy="0"/>
            </a:xfrm>
            <a:prstGeom prst="line">
              <a:avLst/>
            </a:prstGeom>
            <a:ln w="15875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097280"/>
              <a:ext cx="2377440" cy="6400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800600" y="2148840"/>
              <a:ext cx="1737360" cy="56692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A권역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903720" y="2148840"/>
              <a:ext cx="1737360" cy="56692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B권역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006840" y="2148840"/>
              <a:ext cx="1737360" cy="56692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48640" y="2944368"/>
              <a:ext cx="1828800" cy="51206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3630168"/>
              <a:ext cx="1828800" cy="512064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8640" y="4315968"/>
              <a:ext cx="1828800" cy="51206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48640" y="5001768"/>
              <a:ext cx="1828800" cy="51206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5522976" y="30540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522976" y="37398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522976" y="44256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522976" y="51114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626096" y="30540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626096" y="37398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626096" y="44256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626096" y="51114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9729216" y="30540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9729216" y="37398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9729216" y="44256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9729216" y="51114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ORG-013 · 컨소시엄 역할분담표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역할분담표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주관사·참여사 × 업무분장(WBS)별 담당·분담율</a:t>
            </a:r>
          </a:p>
        </p:txBody>
      </p:sp>
      <p:graphicFrame>
        <p:nvGraphicFramePr>
          <p:cNvPr id="5" name="asset:ORG-013"/>
          <p:cNvGraphicFramePr>
            <a:graphicFrameLocks noGrp="1"/>
          </p:cNvGraphicFramePr>
          <p:nvPr/>
        </p:nvGraphicFramePr>
        <p:xfrm>
          <a:off x="822960" y="1463040"/>
          <a:ext cx="10424160" cy="3410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28016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WP1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개발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WP2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WP3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마케팅·배급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WP4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운영·유지보수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분담율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주관사 ㈜가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◎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◎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참여사 ㈜나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◎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참여사 ㈜다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◎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참여사 ㈜라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◎ 주관 담당    ●  공동 참여    –  미참여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