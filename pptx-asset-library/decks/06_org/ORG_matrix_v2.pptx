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" name="asset:ORG-009"/>
          <p:cNvGrpSpPr/>
          <p:nvPr/>
        </p:nvGrpSpPr>
        <p:grpSpPr>
          <a:xfrm>
            <a:off x="137160" y="73152"/>
            <a:ext cx="11521440" cy="5458968"/>
            <a:chOff x="137160" y="73152"/>
            <a:chExt cx="11521440" cy="5458968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ORG-009 · RACI 책임 배분표</a:t>
              </a:r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RACI 책임 배분 매트릭스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핵심 업무별 역할 책임(R/A/C/I) 정의 — 제안 수행조직</a:t>
              </a:r>
            </a:p>
          </p:txBody>
        </p:sp>
        <p:graphicFrame>
          <p:nvGraphicFramePr>
            <p:cNvPr id="5" name="ORG-009_bg"/>
            <p:cNvGraphicFramePr>
              <a:graphicFrameLocks noGrp="1"/>
            </p:cNvGraphicFramePr>
            <p:nvPr/>
          </p:nvGraphicFramePr>
          <p:xfrm>
            <a:off x="640080" y="1417320"/>
            <a:ext cx="10835640" cy="4114800"/>
          </p:xfrm>
          <a:graphic>
            <a:graphicData uri="http://schemas.openxmlformats.org/drawingml/2006/table">
              <a:tbl>
                <a:tblPr>
                  <a:tableStyleId>{5C22544A-7EE6-4342-B048-85BDC9FD1C3A}</a:tableStyleId>
                </a:tblPr>
                <a:tblGrid>
                  <a:gridCol w="2377440"/>
                  <a:gridCol w="1691640"/>
                  <a:gridCol w="1691640"/>
                  <a:gridCol w="1691640"/>
                  <a:gridCol w="1691640"/>
                  <a:gridCol w="1691640"/>
                </a:tblGrid>
                <a:tr h="45720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핵심 업무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총괄PM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기획팀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개발팀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현지화팀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품질(QA)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</a:tr>
                <a:tr h="45720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사업 착수·킥오프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A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R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0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C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I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I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</a:tr>
                <a:tr h="45720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요구사항 정의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A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R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0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C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0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C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I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</a:tr>
                <a:tr h="45720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플랫폼 설계·개발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A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0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C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R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I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0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C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</a:tr>
                <a:tr h="45720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콘텐츠 현지화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A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I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0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C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R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0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C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</a:tr>
                <a:tr h="45720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통합 QA 테스트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A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I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0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C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0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C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R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</a:tr>
                <a:tr h="45720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발주처 보고·검수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A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R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I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I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I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</a:tr>
                <a:tr h="45720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안정화·운영 이관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A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I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R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0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C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3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R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</a:tr>
                <a:tr h="457200">
                  <a:tc gridSpan="6">
                    <a:txBody>
                      <a:bodyPr wrap="square"/>
                      <a:lstStyle/>
                      <a:p>
                        <a:pPr algn="ctr"/>
                        <a:r>
                          <a:rPr sz="1000" b="1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R 실무 담당(Responsible)   ·   A 최종 책임(Accountable)   ·   C 자문(Consulted)   ·   I 결과 공유(Informed)</a:t>
                        </a:r>
                      </a:p>
                    </a:txBody>
                    <a:tcPr anchor="ctr" marL="63500" marR="63500" marT="38100" marB="38100">
                      <a:solidFill>
                        <a:srgbClr val="F7F9FC"/>
                      </a:solidFill>
                    </a:tcPr>
                  </a:tc>
                  <a:tc hMerge="1">
                    <a:txBody>
                      <a:bodyPr/>
                      <a:lstStyle/>
                      <a:p/>
                    </a:txBody>
                    <a:tcPr/>
                  </a:tc>
                  <a:tc hMerge="1">
                    <a:txBody>
                      <a:bodyPr/>
                      <a:lstStyle/>
                      <a:p/>
                    </a:txBody>
                    <a:tcPr/>
                  </a:tc>
                  <a:tc hMerge="1">
                    <a:txBody>
                      <a:bodyPr/>
                      <a:lstStyle/>
                      <a:p/>
                    </a:txBody>
                    <a:tcPr/>
                  </a:tc>
                  <a:tc hMerge="1">
                    <a:txBody>
                      <a:bodyPr/>
                      <a:lstStyle/>
                      <a:p/>
                    </a:txBody>
                    <a:tcPr/>
                  </a:tc>
                  <a:tc hMerge="1">
                    <a:txBody>
                      <a:bodyPr/>
                      <a:lstStyle/>
                      <a:p/>
                    </a:txBody>
                    <a:tcPr/>
                  </a:tc>
                </a:tr>
              </a:tbl>
            </a:graphicData>
          </a:graphic>
        </p:graphicFrame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ORG-010 · 기능별 매트릭스 조직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기능별 매트릭스 조직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기능(수직) × 사업(수평) 이중 보고 체계 — 매트릭스 조직</a:t>
            </a:r>
          </a:p>
        </p:txBody>
      </p:sp>
      <p:grpSp>
        <p:nvGrpSpPr>
          <p:cNvPr id="39" name="asset:ORG-010"/>
          <p:cNvGrpSpPr/>
          <p:nvPr/>
        </p:nvGrpSpPr>
        <p:grpSpPr>
          <a:xfrm>
            <a:off x="548640" y="1097280"/>
            <a:ext cx="10195560" cy="4434840"/>
            <a:chOff x="548640" y="1097280"/>
            <a:chExt cx="10195560" cy="4434840"/>
          </a:xfrm>
        </p:grpSpPr>
        <p:cxnSp>
          <p:nvCxnSpPr>
            <p:cNvPr id="13" name="Connector 12"/>
            <p:cNvCxnSpPr/>
            <p:nvPr/>
          </p:nvCxnSpPr>
          <p:spPr>
            <a:xfrm>
              <a:off x="6126480" y="1737360"/>
              <a:ext cx="0" cy="256031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>
              <a:off x="5669280" y="1993391"/>
              <a:ext cx="4206239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>
              <a:off x="5669280" y="1993391"/>
              <a:ext cx="0" cy="15544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>
              <a:off x="7772400" y="1993391"/>
              <a:ext cx="0" cy="15544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>
              <a:off x="9875519" y="1993391"/>
              <a:ext cx="0" cy="155449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 flipH="1">
              <a:off x="2377440" y="1417319"/>
              <a:ext cx="2560320" cy="0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18"/>
            <p:cNvCxnSpPr/>
            <p:nvPr/>
          </p:nvCxnSpPr>
          <p:spPr>
            <a:xfrm>
              <a:off x="2377440" y="1417319"/>
              <a:ext cx="0" cy="3840481"/>
            </a:xfrm>
            <a:prstGeom prst="line">
              <a:avLst/>
            </a:prstGeom>
            <a:ln w="2032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>
              <a:off x="5669280" y="2715768"/>
              <a:ext cx="0" cy="2816352"/>
            </a:xfrm>
            <a:prstGeom prst="line">
              <a:avLst/>
            </a:prstGeom>
            <a:ln w="15875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20"/>
            <p:cNvCxnSpPr/>
            <p:nvPr/>
          </p:nvCxnSpPr>
          <p:spPr>
            <a:xfrm>
              <a:off x="7772400" y="2715768"/>
              <a:ext cx="0" cy="2816352"/>
            </a:xfrm>
            <a:prstGeom prst="line">
              <a:avLst/>
            </a:prstGeom>
            <a:ln w="15875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>
              <a:off x="9875520" y="2715768"/>
              <a:ext cx="0" cy="2816352"/>
            </a:xfrm>
            <a:prstGeom prst="line">
              <a:avLst/>
            </a:prstGeom>
            <a:ln w="15875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2377440" y="3200400"/>
              <a:ext cx="7909560" cy="0"/>
            </a:xfrm>
            <a:prstGeom prst="line">
              <a:avLst/>
            </a:prstGeom>
            <a:ln w="15875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2377440" y="3886200"/>
              <a:ext cx="7909560" cy="0"/>
            </a:xfrm>
            <a:prstGeom prst="line">
              <a:avLst/>
            </a:prstGeom>
            <a:ln w="15875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2377440" y="4572000"/>
              <a:ext cx="7909560" cy="0"/>
            </a:xfrm>
            <a:prstGeom prst="line">
              <a:avLst/>
            </a:prstGeom>
            <a:ln w="15875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2377440" y="5257800"/>
              <a:ext cx="7909560" cy="0"/>
            </a:xfrm>
            <a:prstGeom prst="line">
              <a:avLst/>
            </a:prstGeom>
            <a:ln w="15875">
              <a:solidFill>
                <a:srgbClr val="D9D9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4937760" y="1097280"/>
              <a:ext cx="2377440" cy="640080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총괄 PMO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(사업 총괄)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4800600" y="2148840"/>
              <a:ext cx="1737360" cy="566928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A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해외 A권역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903720" y="2148840"/>
              <a:ext cx="1737360" cy="56692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B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해외 B권역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006840" y="2148840"/>
              <a:ext cx="1737360" cy="56692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C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신흥시장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48640" y="2944368"/>
              <a:ext cx="1828800" cy="512064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기획본부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48640" y="3630168"/>
              <a:ext cx="1828800" cy="512064"/>
            </a:xfrm>
            <a:prstGeom prst="roundRect">
              <a:avLst>
                <a:gd name="adj" fmla="val 1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개발본부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48640" y="4315968"/>
              <a:ext cx="1828800" cy="512064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현지화본부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548640" y="5001768"/>
              <a:ext cx="1828800" cy="512064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품질본부</a:t>
              </a:r>
            </a:p>
          </p:txBody>
        </p:sp>
        <p:sp>
          <p:nvSpPr>
            <p:cNvPr id="27" name="Oval 26"/>
            <p:cNvSpPr/>
            <p:nvPr/>
          </p:nvSpPr>
          <p:spPr>
            <a:xfrm>
              <a:off x="5522976" y="3054096"/>
              <a:ext cx="292608" cy="292608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Oval 27"/>
            <p:cNvSpPr/>
            <p:nvPr/>
          </p:nvSpPr>
          <p:spPr>
            <a:xfrm>
              <a:off x="5522976" y="3739896"/>
              <a:ext cx="292608" cy="292608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Oval 28"/>
            <p:cNvSpPr/>
            <p:nvPr/>
          </p:nvSpPr>
          <p:spPr>
            <a:xfrm>
              <a:off x="5522976" y="4425696"/>
              <a:ext cx="292608" cy="292608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Oval 29"/>
            <p:cNvSpPr/>
            <p:nvPr/>
          </p:nvSpPr>
          <p:spPr>
            <a:xfrm>
              <a:off x="5522976" y="5111496"/>
              <a:ext cx="292608" cy="292608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Oval 30"/>
            <p:cNvSpPr/>
            <p:nvPr/>
          </p:nvSpPr>
          <p:spPr>
            <a:xfrm>
              <a:off x="7626096" y="3054096"/>
              <a:ext cx="292608" cy="292608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7626096" y="3739896"/>
              <a:ext cx="292608" cy="292608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Oval 32"/>
            <p:cNvSpPr/>
            <p:nvPr/>
          </p:nvSpPr>
          <p:spPr>
            <a:xfrm>
              <a:off x="7626096" y="4425696"/>
              <a:ext cx="292608" cy="292608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Oval 33"/>
            <p:cNvSpPr/>
            <p:nvPr/>
          </p:nvSpPr>
          <p:spPr>
            <a:xfrm>
              <a:off x="7626096" y="5111496"/>
              <a:ext cx="292608" cy="292608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Oval 34"/>
            <p:cNvSpPr/>
            <p:nvPr/>
          </p:nvSpPr>
          <p:spPr>
            <a:xfrm>
              <a:off x="9729216" y="3054096"/>
              <a:ext cx="292608" cy="292608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Oval 35"/>
            <p:cNvSpPr/>
            <p:nvPr/>
          </p:nvSpPr>
          <p:spPr>
            <a:xfrm>
              <a:off x="9729216" y="3739896"/>
              <a:ext cx="292608" cy="292608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Oval 36"/>
            <p:cNvSpPr/>
            <p:nvPr/>
          </p:nvSpPr>
          <p:spPr>
            <a:xfrm>
              <a:off x="9729216" y="4425696"/>
              <a:ext cx="292608" cy="292608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9729216" y="5111496"/>
              <a:ext cx="292608" cy="292608"/>
            </a:xfrm>
            <a:prstGeom prst="ellipse">
              <a:avLst/>
            </a:prstGeom>
            <a:solidFill>
              <a:srgbClr val="2E75D6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" name="asset:ORG-013"/>
          <p:cNvGrpSpPr/>
          <p:nvPr/>
        </p:nvGrpSpPr>
        <p:grpSpPr>
          <a:xfrm>
            <a:off x="137160" y="73152"/>
            <a:ext cx="11521440" cy="4800600"/>
            <a:chOff x="137160" y="73152"/>
            <a:chExt cx="11521440" cy="48006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ORG-013 · 컨소시엄 역할분담표</a:t>
              </a:r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컨소시엄 역할분담표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주관사·참여사 × 업무분장(WBS)별 담당·분담율</a:t>
              </a:r>
            </a:p>
          </p:txBody>
        </p:sp>
        <p:graphicFrame>
          <p:nvGraphicFramePr>
            <p:cNvPr id="5" name="ORG-013_bg"/>
            <p:cNvGraphicFramePr>
              <a:graphicFrameLocks noGrp="1"/>
            </p:cNvGraphicFramePr>
            <p:nvPr/>
          </p:nvGraphicFramePr>
          <p:xfrm>
            <a:off x="822960" y="1463040"/>
            <a:ext cx="10424160" cy="3410712"/>
          </p:xfrm>
          <a:graphic>
            <a:graphicData uri="http://schemas.openxmlformats.org/drawingml/2006/table">
              <a:tbl>
                <a:tblPr>
                  <a:tableStyleId>{5C22544A-7EE6-4342-B048-85BDC9FD1C3A}</a:tableStyleId>
                </a:tblPr>
                <a:tblGrid>
                  <a:gridCol w="1828800"/>
                  <a:gridCol w="1828800"/>
                  <a:gridCol w="1828800"/>
                  <a:gridCol w="1828800"/>
                  <a:gridCol w="1828800"/>
                  <a:gridCol w="1280160"/>
                </a:tblGrid>
                <a:tr h="640080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구분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WP1</a:t>
                        </a:r>
                      </a:p>
                      <a:p>
                        <a:pPr algn="ctr"/>
                        <a:r>
                          <a:rPr sz="11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플랫폼 개발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WP2</a:t>
                        </a:r>
                      </a:p>
                      <a:p>
                        <a:pPr algn="ctr"/>
                        <a:r>
                          <a:rPr sz="11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현지화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WP3</a:t>
                        </a:r>
                      </a:p>
                      <a:p>
                        <a:pPr algn="ctr"/>
                        <a:r>
                          <a:rPr sz="11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마케팅·배급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WP4</a:t>
                        </a:r>
                      </a:p>
                      <a:p>
                        <a:pPr algn="ctr"/>
                        <a:r>
                          <a:rPr sz="11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운영·유지보수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분담율</a:t>
                        </a:r>
                      </a:p>
                    </a:txBody>
                    <a:tcPr anchor="ctr" marL="63500" marR="63500" marT="38100" marB="38100">
                      <a:solidFill>
                        <a:srgbClr val="1F3864"/>
                      </a:solidFill>
                    </a:tcPr>
                  </a:tc>
                </a:tr>
                <a:tr h="566928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1F3864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주관사 ㈜가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◎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●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–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◎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40%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</a:tr>
                <a:tr h="566928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참여사 ㈜나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●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◎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–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●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25%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</a:tr>
                <a:tr h="566928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참여사 ㈜다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–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●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◎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–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20%</a:t>
                        </a:r>
                      </a:p>
                    </a:txBody>
                    <a:tcPr anchor="ctr" marL="63500" marR="63500" marT="38100" marB="38100">
                      <a:solidFill>
                        <a:srgbClr val="FFFFFF"/>
                      </a:solidFill>
                    </a:tcPr>
                  </a:tc>
                </a:tr>
                <a:tr h="566928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참여사 ㈜라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–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–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●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4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●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15%</a:t>
                        </a:r>
                      </a:p>
                    </a:txBody>
                    <a:tcPr anchor="ctr" marL="63500" marR="63500" marT="38100" marB="38100">
                      <a:solidFill>
                        <a:srgbClr val="F2F2F2"/>
                      </a:solidFill>
                    </a:tcPr>
                  </a:tc>
                </a:tr>
                <a:tr h="502920"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합계</a:t>
                        </a:r>
                      </a:p>
                    </a:txBody>
                    <a:tcPr anchor="ctr" marL="63500" marR="63500" marT="38100" marB="38100">
                      <a:solidFill>
                        <a:srgbClr val="2A4A7F"/>
                      </a:solidFill>
                    </a:tcPr>
                  </a:tc>
                  <a:tc gridSpan="4">
                    <a:txBody>
                      <a:bodyPr wrap="square"/>
                      <a:lstStyle/>
                      <a:p>
                        <a:pPr algn="ctr"/>
                        <a:r>
                          <a:rPr sz="1050" b="1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◎ 주관 담당    ●  공동 참여    –  미참여</a:t>
                        </a:r>
                      </a:p>
                    </a:txBody>
                    <a:tcPr anchor="ctr" marL="63500" marR="63500" marT="38100" marB="38100">
                      <a:solidFill>
                        <a:srgbClr val="F7F9FC"/>
                      </a:solidFill>
                    </a:tcPr>
                  </a:tc>
                  <a:tc hMerge="1">
                    <a:txBody>
                      <a:bodyPr/>
                      <a:lstStyle/>
                      <a:p/>
                    </a:txBody>
                    <a:tcPr/>
                  </a:tc>
                  <a:tc hMerge="1">
                    <a:txBody>
                      <a:bodyPr/>
                      <a:lstStyle/>
                      <a:p/>
                    </a:txBody>
                    <a:tcPr/>
                  </a:tc>
                  <a:tc hMerge="1">
                    <a:txBody>
                      <a:bodyPr/>
                      <a:lstStyle/>
                      <a:p/>
                    </a:txBody>
                    <a:tcPr/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100%</a:t>
                        </a:r>
                      </a:p>
                    </a:txBody>
                    <a:tcPr anchor="ctr" marL="63500" marR="63500" marT="38100" marB="38100">
                      <a:solidFill>
                        <a:srgbClr val="2A4A7F"/>
                      </a:solidFill>
                    </a:tcPr>
                  </a:tc>
                </a:tr>
              </a:tbl>
            </a:graphicData>
          </a:graphic>
        </p:graphicFrame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