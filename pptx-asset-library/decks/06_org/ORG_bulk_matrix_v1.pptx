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ORG-031 · 매트릭스 조직 · 3×2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매트릭스 조직 · 3×2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기능축 3 × 사업축 2 이중 보고 체계 (navy)</a:t>
            </a:r>
          </a:p>
        </p:txBody>
      </p:sp>
      <p:grpSp>
        <p:nvGrpSpPr>
          <p:cNvPr id="28" name="asset:ORG-031"/>
          <p:cNvGrpSpPr/>
          <p:nvPr/>
        </p:nvGrpSpPr>
        <p:grpSpPr>
          <a:xfrm>
            <a:off x="502920" y="1234440"/>
            <a:ext cx="7741767" cy="3648456"/>
            <a:chOff x="502920" y="1234440"/>
            <a:chExt cx="7741767" cy="3648456"/>
          </a:xfrm>
        </p:grpSpPr>
        <p:cxnSp>
          <p:nvCxnSpPr>
            <p:cNvPr id="11" name="Connector 10"/>
            <p:cNvCxnSpPr/>
            <p:nvPr/>
          </p:nvCxnSpPr>
          <p:spPr>
            <a:xfrm>
              <a:off x="6126480" y="1837944"/>
              <a:ext cx="0" cy="256032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ctor 11"/>
            <p:cNvCxnSpPr/>
            <p:nvPr/>
          </p:nvCxnSpPr>
          <p:spPr>
            <a:xfrm>
              <a:off x="4952847" y="2093976"/>
              <a:ext cx="2286000" cy="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ctor 12"/>
            <p:cNvCxnSpPr/>
            <p:nvPr/>
          </p:nvCxnSpPr>
          <p:spPr>
            <a:xfrm>
              <a:off x="4952847" y="2093976"/>
              <a:ext cx="0" cy="54864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or 13"/>
            <p:cNvCxnSpPr/>
            <p:nvPr/>
          </p:nvCxnSpPr>
          <p:spPr>
            <a:xfrm>
              <a:off x="7238847" y="2093976"/>
              <a:ext cx="0" cy="54864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4"/>
            <p:cNvCxnSpPr/>
            <p:nvPr/>
          </p:nvCxnSpPr>
          <p:spPr>
            <a:xfrm flipH="1">
              <a:off x="2331720" y="1536192"/>
              <a:ext cx="2606040" cy="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/>
            <p:nvPr/>
          </p:nvCxnSpPr>
          <p:spPr>
            <a:xfrm>
              <a:off x="2331720" y="1536192"/>
              <a:ext cx="0" cy="3026664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 16"/>
            <p:cNvCxnSpPr/>
            <p:nvPr/>
          </p:nvCxnSpPr>
          <p:spPr>
            <a:xfrm>
              <a:off x="4952847" y="2697480"/>
              <a:ext cx="0" cy="2185416"/>
            </a:xfrm>
            <a:prstGeom prst="line">
              <a:avLst/>
            </a:prstGeom>
            <a:ln w="15240">
              <a:solidFill>
                <a:srgbClr val="D9D9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or 17"/>
            <p:cNvCxnSpPr/>
            <p:nvPr/>
          </p:nvCxnSpPr>
          <p:spPr>
            <a:xfrm>
              <a:off x="7238847" y="2697480"/>
              <a:ext cx="0" cy="2185416"/>
            </a:xfrm>
            <a:prstGeom prst="line">
              <a:avLst/>
            </a:prstGeom>
            <a:ln w="15240">
              <a:solidFill>
                <a:srgbClr val="D9D9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or 18"/>
            <p:cNvCxnSpPr/>
            <p:nvPr/>
          </p:nvCxnSpPr>
          <p:spPr>
            <a:xfrm>
              <a:off x="2331720" y="3063240"/>
              <a:ext cx="5272887" cy="0"/>
            </a:xfrm>
            <a:prstGeom prst="line">
              <a:avLst/>
            </a:prstGeom>
            <a:ln w="15240">
              <a:solidFill>
                <a:srgbClr val="D9D9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/>
            <p:nvPr/>
          </p:nvCxnSpPr>
          <p:spPr>
            <a:xfrm>
              <a:off x="2331720" y="3813048"/>
              <a:ext cx="5272887" cy="0"/>
            </a:xfrm>
            <a:prstGeom prst="line">
              <a:avLst/>
            </a:prstGeom>
            <a:ln w="15240">
              <a:solidFill>
                <a:srgbClr val="D9D9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>
              <a:off x="2331720" y="4562856"/>
              <a:ext cx="5272887" cy="0"/>
            </a:xfrm>
            <a:prstGeom prst="line">
              <a:avLst/>
            </a:prstGeom>
            <a:ln w="15240">
              <a:solidFill>
                <a:srgbClr val="D9D9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4937760" y="1234440"/>
              <a:ext cx="2377440" cy="603504"/>
            </a:xfrm>
            <a:prstGeom prst="roundRect">
              <a:avLst>
                <a:gd name="adj" fmla="val 10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총괄 PMO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3947007" y="2148840"/>
              <a:ext cx="2011680" cy="548640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사업 A</a:t>
              </a:r>
            </a:p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주력시장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6233007" y="2148840"/>
              <a:ext cx="2011680" cy="548640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사업 B</a:t>
              </a:r>
            </a:p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신흥시장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502920" y="2825496"/>
              <a:ext cx="1828800" cy="475488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기획본부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502920" y="3575304"/>
              <a:ext cx="1828800" cy="475488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개발본부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502920" y="4325112"/>
              <a:ext cx="1828800" cy="475488"/>
            </a:xfrm>
            <a:prstGeom prst="roundRect">
              <a:avLst>
                <a:gd name="adj" fmla="val 1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현지화본부</a:t>
              </a:r>
            </a:p>
          </p:txBody>
        </p:sp>
        <p:sp>
          <p:nvSpPr>
            <p:cNvPr id="22" name="Oval 21"/>
            <p:cNvSpPr/>
            <p:nvPr/>
          </p:nvSpPr>
          <p:spPr>
            <a:xfrm>
              <a:off x="4815687" y="2926080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Oval 22"/>
            <p:cNvSpPr/>
            <p:nvPr/>
          </p:nvSpPr>
          <p:spPr>
            <a:xfrm>
              <a:off x="4815687" y="3675887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Oval 23"/>
            <p:cNvSpPr/>
            <p:nvPr/>
          </p:nvSpPr>
          <p:spPr>
            <a:xfrm>
              <a:off x="4815687" y="4425696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Oval 24"/>
            <p:cNvSpPr/>
            <p:nvPr/>
          </p:nvSpPr>
          <p:spPr>
            <a:xfrm>
              <a:off x="7101687" y="2926080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Oval 25"/>
            <p:cNvSpPr/>
            <p:nvPr/>
          </p:nvSpPr>
          <p:spPr>
            <a:xfrm>
              <a:off x="7101687" y="3675887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Oval 26"/>
            <p:cNvSpPr/>
            <p:nvPr/>
          </p:nvSpPr>
          <p:spPr>
            <a:xfrm>
              <a:off x="7101687" y="4425696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ORG-032 · 매트릭스 조직 · 4×3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매트릭스 조직 · 4×3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기능축 4 × 사업축 3 이중 보고 체계 (blue)</a:t>
            </a:r>
          </a:p>
        </p:txBody>
      </p:sp>
      <p:grpSp>
        <p:nvGrpSpPr>
          <p:cNvPr id="39" name="asset:ORG-032"/>
          <p:cNvGrpSpPr/>
          <p:nvPr/>
        </p:nvGrpSpPr>
        <p:grpSpPr>
          <a:xfrm>
            <a:off x="502920" y="1234440"/>
            <a:ext cx="8884767" cy="4398264"/>
            <a:chOff x="502920" y="1234440"/>
            <a:chExt cx="8884767" cy="4398264"/>
          </a:xfrm>
        </p:grpSpPr>
        <p:cxnSp>
          <p:nvCxnSpPr>
            <p:cNvPr id="13" name="Connector 12"/>
            <p:cNvCxnSpPr/>
            <p:nvPr/>
          </p:nvCxnSpPr>
          <p:spPr>
            <a:xfrm>
              <a:off x="6126480" y="1837944"/>
              <a:ext cx="0" cy="256032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or 13"/>
            <p:cNvCxnSpPr/>
            <p:nvPr/>
          </p:nvCxnSpPr>
          <p:spPr>
            <a:xfrm>
              <a:off x="3809846" y="2093976"/>
              <a:ext cx="4572001" cy="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4"/>
            <p:cNvCxnSpPr/>
            <p:nvPr/>
          </p:nvCxnSpPr>
          <p:spPr>
            <a:xfrm>
              <a:off x="3809846" y="2093976"/>
              <a:ext cx="0" cy="54864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/>
            <p:nvPr/>
          </p:nvCxnSpPr>
          <p:spPr>
            <a:xfrm>
              <a:off x="6095847" y="2093976"/>
              <a:ext cx="0" cy="54864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 16"/>
            <p:cNvCxnSpPr/>
            <p:nvPr/>
          </p:nvCxnSpPr>
          <p:spPr>
            <a:xfrm>
              <a:off x="8381847" y="2093976"/>
              <a:ext cx="0" cy="54864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or 17"/>
            <p:cNvCxnSpPr/>
            <p:nvPr/>
          </p:nvCxnSpPr>
          <p:spPr>
            <a:xfrm flipH="1">
              <a:off x="2331720" y="1536192"/>
              <a:ext cx="2606040" cy="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or 18"/>
            <p:cNvCxnSpPr/>
            <p:nvPr/>
          </p:nvCxnSpPr>
          <p:spPr>
            <a:xfrm>
              <a:off x="2331720" y="1536192"/>
              <a:ext cx="0" cy="3776472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/>
            <p:nvPr/>
          </p:nvCxnSpPr>
          <p:spPr>
            <a:xfrm>
              <a:off x="3809847" y="2697480"/>
              <a:ext cx="0" cy="2935224"/>
            </a:xfrm>
            <a:prstGeom prst="line">
              <a:avLst/>
            </a:prstGeom>
            <a:ln w="15240">
              <a:solidFill>
                <a:srgbClr val="D9D9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>
              <a:off x="6095847" y="2697480"/>
              <a:ext cx="0" cy="2935224"/>
            </a:xfrm>
            <a:prstGeom prst="line">
              <a:avLst/>
            </a:prstGeom>
            <a:ln w="15240">
              <a:solidFill>
                <a:srgbClr val="D9D9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 21"/>
            <p:cNvCxnSpPr/>
            <p:nvPr/>
          </p:nvCxnSpPr>
          <p:spPr>
            <a:xfrm>
              <a:off x="8381847" y="2697480"/>
              <a:ext cx="0" cy="2935224"/>
            </a:xfrm>
            <a:prstGeom prst="line">
              <a:avLst/>
            </a:prstGeom>
            <a:ln w="15240">
              <a:solidFill>
                <a:srgbClr val="D9D9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or 22"/>
            <p:cNvCxnSpPr/>
            <p:nvPr/>
          </p:nvCxnSpPr>
          <p:spPr>
            <a:xfrm>
              <a:off x="2331720" y="3063240"/>
              <a:ext cx="6415887" cy="0"/>
            </a:xfrm>
            <a:prstGeom prst="line">
              <a:avLst/>
            </a:prstGeom>
            <a:ln w="15240">
              <a:solidFill>
                <a:srgbClr val="D9D9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or 23"/>
            <p:cNvCxnSpPr/>
            <p:nvPr/>
          </p:nvCxnSpPr>
          <p:spPr>
            <a:xfrm>
              <a:off x="2331720" y="3813048"/>
              <a:ext cx="6415887" cy="0"/>
            </a:xfrm>
            <a:prstGeom prst="line">
              <a:avLst/>
            </a:prstGeom>
            <a:ln w="15240">
              <a:solidFill>
                <a:srgbClr val="D9D9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 24"/>
            <p:cNvCxnSpPr/>
            <p:nvPr/>
          </p:nvCxnSpPr>
          <p:spPr>
            <a:xfrm>
              <a:off x="2331720" y="4562856"/>
              <a:ext cx="6415887" cy="0"/>
            </a:xfrm>
            <a:prstGeom prst="line">
              <a:avLst/>
            </a:prstGeom>
            <a:ln w="15240">
              <a:solidFill>
                <a:srgbClr val="D9D9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ctor 25"/>
            <p:cNvCxnSpPr/>
            <p:nvPr/>
          </p:nvCxnSpPr>
          <p:spPr>
            <a:xfrm>
              <a:off x="2331720" y="5312664"/>
              <a:ext cx="6415887" cy="0"/>
            </a:xfrm>
            <a:prstGeom prst="line">
              <a:avLst/>
            </a:prstGeom>
            <a:ln w="15240">
              <a:solidFill>
                <a:srgbClr val="D9D9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4937760" y="1234440"/>
              <a:ext cx="2377440" cy="603504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총괄 PMO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2804007" y="2148840"/>
              <a:ext cx="2011680" cy="548640"/>
            </a:xfrm>
            <a:prstGeom prst="roundRect">
              <a:avLst>
                <a:gd name="adj" fmla="val 10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사업 A</a:t>
              </a:r>
            </a:p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주력시장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5090007" y="2148840"/>
              <a:ext cx="2011680" cy="548640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사업 B</a:t>
              </a:r>
            </a:p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신흥시장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7376007" y="2148840"/>
              <a:ext cx="2011680" cy="548640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사업 C</a:t>
              </a:r>
            </a:p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전략시장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502920" y="2825496"/>
              <a:ext cx="1828800" cy="475488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기획본부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502920" y="3575304"/>
              <a:ext cx="1828800" cy="475488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개발본부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502920" y="4325112"/>
              <a:ext cx="1828800" cy="475488"/>
            </a:xfrm>
            <a:prstGeom prst="roundRect">
              <a:avLst>
                <a:gd name="adj" fmla="val 1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현지화본부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502920" y="5074920"/>
              <a:ext cx="1828800" cy="475488"/>
            </a:xfrm>
            <a:prstGeom prst="roundRect">
              <a:avLst>
                <a:gd name="adj" fmla="val 10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품질본부</a:t>
              </a:r>
            </a:p>
          </p:txBody>
        </p:sp>
        <p:sp>
          <p:nvSpPr>
            <p:cNvPr id="27" name="Oval 26"/>
            <p:cNvSpPr/>
            <p:nvPr/>
          </p:nvSpPr>
          <p:spPr>
            <a:xfrm>
              <a:off x="3672687" y="2926080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Oval 27"/>
            <p:cNvSpPr/>
            <p:nvPr/>
          </p:nvSpPr>
          <p:spPr>
            <a:xfrm>
              <a:off x="3672687" y="3675887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Oval 28"/>
            <p:cNvSpPr/>
            <p:nvPr/>
          </p:nvSpPr>
          <p:spPr>
            <a:xfrm>
              <a:off x="3672687" y="4425696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Oval 29"/>
            <p:cNvSpPr/>
            <p:nvPr/>
          </p:nvSpPr>
          <p:spPr>
            <a:xfrm>
              <a:off x="3672687" y="5175504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Oval 30"/>
            <p:cNvSpPr/>
            <p:nvPr/>
          </p:nvSpPr>
          <p:spPr>
            <a:xfrm>
              <a:off x="5958687" y="2926080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Oval 31"/>
            <p:cNvSpPr/>
            <p:nvPr/>
          </p:nvSpPr>
          <p:spPr>
            <a:xfrm>
              <a:off x="5958687" y="3675887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Oval 32"/>
            <p:cNvSpPr/>
            <p:nvPr/>
          </p:nvSpPr>
          <p:spPr>
            <a:xfrm>
              <a:off x="5958687" y="4425696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Oval 33"/>
            <p:cNvSpPr/>
            <p:nvPr/>
          </p:nvSpPr>
          <p:spPr>
            <a:xfrm>
              <a:off x="5958687" y="5175504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Oval 34"/>
            <p:cNvSpPr/>
            <p:nvPr/>
          </p:nvSpPr>
          <p:spPr>
            <a:xfrm>
              <a:off x="8244687" y="2926080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Oval 35"/>
            <p:cNvSpPr/>
            <p:nvPr/>
          </p:nvSpPr>
          <p:spPr>
            <a:xfrm>
              <a:off x="8244687" y="3675887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Oval 36"/>
            <p:cNvSpPr/>
            <p:nvPr/>
          </p:nvSpPr>
          <p:spPr>
            <a:xfrm>
              <a:off x="8244687" y="4425696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Oval 37"/>
            <p:cNvSpPr/>
            <p:nvPr/>
          </p:nvSpPr>
          <p:spPr>
            <a:xfrm>
              <a:off x="8244687" y="5175504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ORG-033 · 매트릭스 조직 · 3×4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매트릭스 조직 · 3×4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기능축 3 × 사업축 4 이중 보고 체계 (purple)</a:t>
            </a:r>
          </a:p>
        </p:txBody>
      </p:sp>
      <p:grpSp>
        <p:nvGrpSpPr>
          <p:cNvPr id="40" name="asset:ORG-033"/>
          <p:cNvGrpSpPr/>
          <p:nvPr/>
        </p:nvGrpSpPr>
        <p:grpSpPr>
          <a:xfrm>
            <a:off x="502920" y="1234440"/>
            <a:ext cx="9250527" cy="3648456"/>
            <a:chOff x="502920" y="1234440"/>
            <a:chExt cx="9250527" cy="3648456"/>
          </a:xfrm>
        </p:grpSpPr>
        <p:cxnSp>
          <p:nvCxnSpPr>
            <p:cNvPr id="13" name="Connector 12"/>
            <p:cNvCxnSpPr/>
            <p:nvPr/>
          </p:nvCxnSpPr>
          <p:spPr>
            <a:xfrm>
              <a:off x="6126480" y="1837944"/>
              <a:ext cx="0" cy="256032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or 13"/>
            <p:cNvCxnSpPr/>
            <p:nvPr/>
          </p:nvCxnSpPr>
          <p:spPr>
            <a:xfrm>
              <a:off x="3249777" y="2093976"/>
              <a:ext cx="5692139" cy="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4"/>
            <p:cNvCxnSpPr/>
            <p:nvPr/>
          </p:nvCxnSpPr>
          <p:spPr>
            <a:xfrm>
              <a:off x="3249777" y="2093976"/>
              <a:ext cx="0" cy="54864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/>
            <p:nvPr/>
          </p:nvCxnSpPr>
          <p:spPr>
            <a:xfrm>
              <a:off x="5147157" y="2093976"/>
              <a:ext cx="0" cy="54864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 16"/>
            <p:cNvCxnSpPr/>
            <p:nvPr/>
          </p:nvCxnSpPr>
          <p:spPr>
            <a:xfrm>
              <a:off x="7044537" y="2093976"/>
              <a:ext cx="0" cy="54864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or 17"/>
            <p:cNvCxnSpPr/>
            <p:nvPr/>
          </p:nvCxnSpPr>
          <p:spPr>
            <a:xfrm>
              <a:off x="8941916" y="2093976"/>
              <a:ext cx="0" cy="54864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or 18"/>
            <p:cNvCxnSpPr/>
            <p:nvPr/>
          </p:nvCxnSpPr>
          <p:spPr>
            <a:xfrm flipH="1">
              <a:off x="2331720" y="1536192"/>
              <a:ext cx="2606040" cy="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/>
            <p:nvPr/>
          </p:nvCxnSpPr>
          <p:spPr>
            <a:xfrm>
              <a:off x="2331720" y="1536192"/>
              <a:ext cx="0" cy="3026664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>
              <a:off x="3249777" y="2697480"/>
              <a:ext cx="0" cy="2185416"/>
            </a:xfrm>
            <a:prstGeom prst="line">
              <a:avLst/>
            </a:prstGeom>
            <a:ln w="15240">
              <a:solidFill>
                <a:srgbClr val="D9D9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 21"/>
            <p:cNvCxnSpPr/>
            <p:nvPr/>
          </p:nvCxnSpPr>
          <p:spPr>
            <a:xfrm>
              <a:off x="5147157" y="2697480"/>
              <a:ext cx="0" cy="2185416"/>
            </a:xfrm>
            <a:prstGeom prst="line">
              <a:avLst/>
            </a:prstGeom>
            <a:ln w="15240">
              <a:solidFill>
                <a:srgbClr val="D9D9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or 22"/>
            <p:cNvCxnSpPr/>
            <p:nvPr/>
          </p:nvCxnSpPr>
          <p:spPr>
            <a:xfrm>
              <a:off x="7044537" y="2697480"/>
              <a:ext cx="0" cy="2185416"/>
            </a:xfrm>
            <a:prstGeom prst="line">
              <a:avLst/>
            </a:prstGeom>
            <a:ln w="15240">
              <a:solidFill>
                <a:srgbClr val="D9D9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or 23"/>
            <p:cNvCxnSpPr/>
            <p:nvPr/>
          </p:nvCxnSpPr>
          <p:spPr>
            <a:xfrm>
              <a:off x="8941917" y="2697480"/>
              <a:ext cx="0" cy="2185416"/>
            </a:xfrm>
            <a:prstGeom prst="line">
              <a:avLst/>
            </a:prstGeom>
            <a:ln w="15240">
              <a:solidFill>
                <a:srgbClr val="D9D9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 24"/>
            <p:cNvCxnSpPr/>
            <p:nvPr/>
          </p:nvCxnSpPr>
          <p:spPr>
            <a:xfrm>
              <a:off x="2331720" y="3063240"/>
              <a:ext cx="6975957" cy="0"/>
            </a:xfrm>
            <a:prstGeom prst="line">
              <a:avLst/>
            </a:prstGeom>
            <a:ln w="15240">
              <a:solidFill>
                <a:srgbClr val="D9D9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ctor 25"/>
            <p:cNvCxnSpPr/>
            <p:nvPr/>
          </p:nvCxnSpPr>
          <p:spPr>
            <a:xfrm>
              <a:off x="2331720" y="3813048"/>
              <a:ext cx="6975957" cy="0"/>
            </a:xfrm>
            <a:prstGeom prst="line">
              <a:avLst/>
            </a:prstGeom>
            <a:ln w="15240">
              <a:solidFill>
                <a:srgbClr val="D9D9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or 26"/>
            <p:cNvCxnSpPr/>
            <p:nvPr/>
          </p:nvCxnSpPr>
          <p:spPr>
            <a:xfrm>
              <a:off x="2331720" y="4562856"/>
              <a:ext cx="6975957" cy="0"/>
            </a:xfrm>
            <a:prstGeom prst="line">
              <a:avLst/>
            </a:prstGeom>
            <a:ln w="15240">
              <a:solidFill>
                <a:srgbClr val="D9D9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4937760" y="1234440"/>
              <a:ext cx="2377440" cy="603504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총괄 PMO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2438247" y="2148840"/>
              <a:ext cx="1623060" cy="548640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사업 A</a:t>
              </a:r>
            </a:p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주력시장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4335627" y="2148840"/>
              <a:ext cx="1623060" cy="548640"/>
            </a:xfrm>
            <a:prstGeom prst="roundRect">
              <a:avLst>
                <a:gd name="adj" fmla="val 1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사업 B</a:t>
              </a:r>
            </a:p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신흥시장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6233007" y="2148840"/>
              <a:ext cx="1623060" cy="548640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사업 C</a:t>
              </a:r>
            </a:p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전략시장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8130387" y="2148840"/>
              <a:ext cx="1623060" cy="548640"/>
            </a:xfrm>
            <a:prstGeom prst="roundRect">
              <a:avLst>
                <a:gd name="adj" fmla="val 10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사업 D</a:t>
              </a:r>
            </a:p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협력시장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502920" y="2825496"/>
              <a:ext cx="1828800" cy="475488"/>
            </a:xfrm>
            <a:prstGeom prst="roundRect">
              <a:avLst>
                <a:gd name="adj" fmla="val 1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기획본부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502920" y="3575304"/>
              <a:ext cx="1828800" cy="475488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개발본부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502920" y="4325112"/>
              <a:ext cx="1828800" cy="475488"/>
            </a:xfrm>
            <a:prstGeom prst="roundRect">
              <a:avLst>
                <a:gd name="adj" fmla="val 10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현지화본부</a:t>
              </a:r>
            </a:p>
          </p:txBody>
        </p:sp>
        <p:sp>
          <p:nvSpPr>
            <p:cNvPr id="28" name="Oval 27"/>
            <p:cNvSpPr/>
            <p:nvPr/>
          </p:nvSpPr>
          <p:spPr>
            <a:xfrm>
              <a:off x="3112617" y="2926080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Oval 28"/>
            <p:cNvSpPr/>
            <p:nvPr/>
          </p:nvSpPr>
          <p:spPr>
            <a:xfrm>
              <a:off x="3112617" y="3675887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Oval 29"/>
            <p:cNvSpPr/>
            <p:nvPr/>
          </p:nvSpPr>
          <p:spPr>
            <a:xfrm>
              <a:off x="3112617" y="4425696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Oval 30"/>
            <p:cNvSpPr/>
            <p:nvPr/>
          </p:nvSpPr>
          <p:spPr>
            <a:xfrm>
              <a:off x="5009997" y="2926080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Oval 31"/>
            <p:cNvSpPr/>
            <p:nvPr/>
          </p:nvSpPr>
          <p:spPr>
            <a:xfrm>
              <a:off x="5009997" y="3675887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Oval 32"/>
            <p:cNvSpPr/>
            <p:nvPr/>
          </p:nvSpPr>
          <p:spPr>
            <a:xfrm>
              <a:off x="5009997" y="4425696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Oval 33"/>
            <p:cNvSpPr/>
            <p:nvPr/>
          </p:nvSpPr>
          <p:spPr>
            <a:xfrm>
              <a:off x="6907377" y="2926080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Oval 34"/>
            <p:cNvSpPr/>
            <p:nvPr/>
          </p:nvSpPr>
          <p:spPr>
            <a:xfrm>
              <a:off x="6907377" y="3675887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Oval 35"/>
            <p:cNvSpPr/>
            <p:nvPr/>
          </p:nvSpPr>
          <p:spPr>
            <a:xfrm>
              <a:off x="6907377" y="4425696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Oval 36"/>
            <p:cNvSpPr/>
            <p:nvPr/>
          </p:nvSpPr>
          <p:spPr>
            <a:xfrm>
              <a:off x="8804757" y="2926080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Oval 37"/>
            <p:cNvSpPr/>
            <p:nvPr/>
          </p:nvSpPr>
          <p:spPr>
            <a:xfrm>
              <a:off x="8804757" y="3675887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Oval 38"/>
            <p:cNvSpPr/>
            <p:nvPr/>
          </p:nvSpPr>
          <p:spPr>
            <a:xfrm>
              <a:off x="8804757" y="4425696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ORG-034 · 매트릭스 조직 · 4×2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매트릭스 조직 · 4×2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기능축 4 × 사업축 2 이중 보고 체계 (ink)</a:t>
            </a:r>
          </a:p>
        </p:txBody>
      </p:sp>
      <p:grpSp>
        <p:nvGrpSpPr>
          <p:cNvPr id="32" name="asset:ORG-034"/>
          <p:cNvGrpSpPr/>
          <p:nvPr/>
        </p:nvGrpSpPr>
        <p:grpSpPr>
          <a:xfrm>
            <a:off x="502920" y="1234440"/>
            <a:ext cx="7741767" cy="4398264"/>
            <a:chOff x="502920" y="1234440"/>
            <a:chExt cx="7741767" cy="4398264"/>
          </a:xfrm>
        </p:grpSpPr>
        <p:cxnSp>
          <p:nvCxnSpPr>
            <p:cNvPr id="12" name="Connector 11"/>
            <p:cNvCxnSpPr/>
            <p:nvPr/>
          </p:nvCxnSpPr>
          <p:spPr>
            <a:xfrm>
              <a:off x="6126480" y="1837944"/>
              <a:ext cx="0" cy="256032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ctor 12"/>
            <p:cNvCxnSpPr/>
            <p:nvPr/>
          </p:nvCxnSpPr>
          <p:spPr>
            <a:xfrm>
              <a:off x="4952847" y="2093976"/>
              <a:ext cx="2286000" cy="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or 13"/>
            <p:cNvCxnSpPr/>
            <p:nvPr/>
          </p:nvCxnSpPr>
          <p:spPr>
            <a:xfrm>
              <a:off x="4952847" y="2093976"/>
              <a:ext cx="0" cy="54864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4"/>
            <p:cNvCxnSpPr/>
            <p:nvPr/>
          </p:nvCxnSpPr>
          <p:spPr>
            <a:xfrm>
              <a:off x="7238847" y="2093976"/>
              <a:ext cx="0" cy="54864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/>
            <p:nvPr/>
          </p:nvCxnSpPr>
          <p:spPr>
            <a:xfrm flipH="1">
              <a:off x="2331720" y="1536192"/>
              <a:ext cx="2606040" cy="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 16"/>
            <p:cNvCxnSpPr/>
            <p:nvPr/>
          </p:nvCxnSpPr>
          <p:spPr>
            <a:xfrm>
              <a:off x="2331720" y="1536192"/>
              <a:ext cx="0" cy="3776472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or 17"/>
            <p:cNvCxnSpPr/>
            <p:nvPr/>
          </p:nvCxnSpPr>
          <p:spPr>
            <a:xfrm>
              <a:off x="4952847" y="2697480"/>
              <a:ext cx="0" cy="2935224"/>
            </a:xfrm>
            <a:prstGeom prst="line">
              <a:avLst/>
            </a:prstGeom>
            <a:ln w="15240">
              <a:solidFill>
                <a:srgbClr val="D9D9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or 18"/>
            <p:cNvCxnSpPr/>
            <p:nvPr/>
          </p:nvCxnSpPr>
          <p:spPr>
            <a:xfrm>
              <a:off x="7238847" y="2697480"/>
              <a:ext cx="0" cy="2935224"/>
            </a:xfrm>
            <a:prstGeom prst="line">
              <a:avLst/>
            </a:prstGeom>
            <a:ln w="15240">
              <a:solidFill>
                <a:srgbClr val="D9D9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/>
            <p:nvPr/>
          </p:nvCxnSpPr>
          <p:spPr>
            <a:xfrm>
              <a:off x="2331720" y="3063240"/>
              <a:ext cx="5272887" cy="0"/>
            </a:xfrm>
            <a:prstGeom prst="line">
              <a:avLst/>
            </a:prstGeom>
            <a:ln w="15240">
              <a:solidFill>
                <a:srgbClr val="D9D9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>
              <a:off x="2331720" y="3813048"/>
              <a:ext cx="5272887" cy="0"/>
            </a:xfrm>
            <a:prstGeom prst="line">
              <a:avLst/>
            </a:prstGeom>
            <a:ln w="15240">
              <a:solidFill>
                <a:srgbClr val="D9D9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 21"/>
            <p:cNvCxnSpPr/>
            <p:nvPr/>
          </p:nvCxnSpPr>
          <p:spPr>
            <a:xfrm>
              <a:off x="2331720" y="4562856"/>
              <a:ext cx="5272887" cy="0"/>
            </a:xfrm>
            <a:prstGeom prst="line">
              <a:avLst/>
            </a:prstGeom>
            <a:ln w="15240">
              <a:solidFill>
                <a:srgbClr val="D9D9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or 22"/>
            <p:cNvCxnSpPr/>
            <p:nvPr/>
          </p:nvCxnSpPr>
          <p:spPr>
            <a:xfrm>
              <a:off x="2331720" y="5312664"/>
              <a:ext cx="5272887" cy="0"/>
            </a:xfrm>
            <a:prstGeom prst="line">
              <a:avLst/>
            </a:prstGeom>
            <a:ln w="15240">
              <a:solidFill>
                <a:srgbClr val="D9D9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4937760" y="1234440"/>
              <a:ext cx="2377440" cy="603504"/>
            </a:xfrm>
            <a:prstGeom prst="roundRect">
              <a:avLst>
                <a:gd name="adj" fmla="val 10000"/>
              </a:avLst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총괄 PMO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3947007" y="2148840"/>
              <a:ext cx="2011680" cy="548640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사업 A</a:t>
              </a:r>
            </a:p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주력시장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6233007" y="2148840"/>
              <a:ext cx="2011680" cy="548640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사업 B</a:t>
              </a:r>
            </a:p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신흥시장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502920" y="2825496"/>
              <a:ext cx="1828800" cy="475488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기획본부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502920" y="3575304"/>
              <a:ext cx="1828800" cy="475488"/>
            </a:xfrm>
            <a:prstGeom prst="roundRect">
              <a:avLst>
                <a:gd name="adj" fmla="val 1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개발본부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502920" y="4325112"/>
              <a:ext cx="1828800" cy="475488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현지화본부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502920" y="5074920"/>
              <a:ext cx="1828800" cy="475488"/>
            </a:xfrm>
            <a:prstGeom prst="roundRect">
              <a:avLst>
                <a:gd name="adj" fmla="val 10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품질본부</a:t>
              </a:r>
            </a:p>
          </p:txBody>
        </p:sp>
        <p:sp>
          <p:nvSpPr>
            <p:cNvPr id="24" name="Oval 23"/>
            <p:cNvSpPr/>
            <p:nvPr/>
          </p:nvSpPr>
          <p:spPr>
            <a:xfrm>
              <a:off x="4815687" y="2926080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Oval 24"/>
            <p:cNvSpPr/>
            <p:nvPr/>
          </p:nvSpPr>
          <p:spPr>
            <a:xfrm>
              <a:off x="4815687" y="3675887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Oval 25"/>
            <p:cNvSpPr/>
            <p:nvPr/>
          </p:nvSpPr>
          <p:spPr>
            <a:xfrm>
              <a:off x="4815687" y="4425696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Oval 26"/>
            <p:cNvSpPr/>
            <p:nvPr/>
          </p:nvSpPr>
          <p:spPr>
            <a:xfrm>
              <a:off x="4815687" y="5175504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Oval 27"/>
            <p:cNvSpPr/>
            <p:nvPr/>
          </p:nvSpPr>
          <p:spPr>
            <a:xfrm>
              <a:off x="7101687" y="2926080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Oval 28"/>
            <p:cNvSpPr/>
            <p:nvPr/>
          </p:nvSpPr>
          <p:spPr>
            <a:xfrm>
              <a:off x="7101687" y="3675887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Oval 29"/>
            <p:cNvSpPr/>
            <p:nvPr/>
          </p:nvSpPr>
          <p:spPr>
            <a:xfrm>
              <a:off x="7101687" y="4425696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Oval 30"/>
            <p:cNvSpPr/>
            <p:nvPr/>
          </p:nvSpPr>
          <p:spPr>
            <a:xfrm>
              <a:off x="7101687" y="5175504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ORG-035 · 매트릭스 조직 · 3×3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매트릭스 조직 · 3×3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기능축 3 × 사업축 3 이중 보고 체계 (teal)</a:t>
            </a:r>
          </a:p>
        </p:txBody>
      </p:sp>
      <p:grpSp>
        <p:nvGrpSpPr>
          <p:cNvPr id="34" name="asset:ORG-035"/>
          <p:cNvGrpSpPr/>
          <p:nvPr/>
        </p:nvGrpSpPr>
        <p:grpSpPr>
          <a:xfrm>
            <a:off x="502920" y="1234440"/>
            <a:ext cx="8884767" cy="3648456"/>
            <a:chOff x="502920" y="1234440"/>
            <a:chExt cx="8884767" cy="3648456"/>
          </a:xfrm>
        </p:grpSpPr>
        <p:cxnSp>
          <p:nvCxnSpPr>
            <p:cNvPr id="12" name="Connector 11"/>
            <p:cNvCxnSpPr/>
            <p:nvPr/>
          </p:nvCxnSpPr>
          <p:spPr>
            <a:xfrm>
              <a:off x="6126480" y="1837944"/>
              <a:ext cx="0" cy="256032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ctor 12"/>
            <p:cNvCxnSpPr/>
            <p:nvPr/>
          </p:nvCxnSpPr>
          <p:spPr>
            <a:xfrm>
              <a:off x="3809846" y="2093976"/>
              <a:ext cx="4572001" cy="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or 13"/>
            <p:cNvCxnSpPr/>
            <p:nvPr/>
          </p:nvCxnSpPr>
          <p:spPr>
            <a:xfrm>
              <a:off x="3809846" y="2093976"/>
              <a:ext cx="0" cy="54864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4"/>
            <p:cNvCxnSpPr/>
            <p:nvPr/>
          </p:nvCxnSpPr>
          <p:spPr>
            <a:xfrm>
              <a:off x="6095847" y="2093976"/>
              <a:ext cx="0" cy="54864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/>
            <p:nvPr/>
          </p:nvCxnSpPr>
          <p:spPr>
            <a:xfrm>
              <a:off x="8381847" y="2093976"/>
              <a:ext cx="0" cy="54864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 16"/>
            <p:cNvCxnSpPr/>
            <p:nvPr/>
          </p:nvCxnSpPr>
          <p:spPr>
            <a:xfrm flipH="1">
              <a:off x="2331720" y="1536192"/>
              <a:ext cx="2606040" cy="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or 17"/>
            <p:cNvCxnSpPr/>
            <p:nvPr/>
          </p:nvCxnSpPr>
          <p:spPr>
            <a:xfrm>
              <a:off x="2331720" y="1536192"/>
              <a:ext cx="0" cy="3026664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or 18"/>
            <p:cNvCxnSpPr/>
            <p:nvPr/>
          </p:nvCxnSpPr>
          <p:spPr>
            <a:xfrm>
              <a:off x="3809847" y="2697480"/>
              <a:ext cx="0" cy="2185416"/>
            </a:xfrm>
            <a:prstGeom prst="line">
              <a:avLst/>
            </a:prstGeom>
            <a:ln w="15240">
              <a:solidFill>
                <a:srgbClr val="D9D9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/>
            <p:nvPr/>
          </p:nvCxnSpPr>
          <p:spPr>
            <a:xfrm>
              <a:off x="6095847" y="2697480"/>
              <a:ext cx="0" cy="2185416"/>
            </a:xfrm>
            <a:prstGeom prst="line">
              <a:avLst/>
            </a:prstGeom>
            <a:ln w="15240">
              <a:solidFill>
                <a:srgbClr val="D9D9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>
              <a:off x="8381847" y="2697480"/>
              <a:ext cx="0" cy="2185416"/>
            </a:xfrm>
            <a:prstGeom prst="line">
              <a:avLst/>
            </a:prstGeom>
            <a:ln w="15240">
              <a:solidFill>
                <a:srgbClr val="D9D9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 21"/>
            <p:cNvCxnSpPr/>
            <p:nvPr/>
          </p:nvCxnSpPr>
          <p:spPr>
            <a:xfrm>
              <a:off x="2331720" y="3063240"/>
              <a:ext cx="6415887" cy="0"/>
            </a:xfrm>
            <a:prstGeom prst="line">
              <a:avLst/>
            </a:prstGeom>
            <a:ln w="15240">
              <a:solidFill>
                <a:srgbClr val="D9D9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or 22"/>
            <p:cNvCxnSpPr/>
            <p:nvPr/>
          </p:nvCxnSpPr>
          <p:spPr>
            <a:xfrm>
              <a:off x="2331720" y="3813048"/>
              <a:ext cx="6415887" cy="0"/>
            </a:xfrm>
            <a:prstGeom prst="line">
              <a:avLst/>
            </a:prstGeom>
            <a:ln w="15240">
              <a:solidFill>
                <a:srgbClr val="D9D9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or 23"/>
            <p:cNvCxnSpPr/>
            <p:nvPr/>
          </p:nvCxnSpPr>
          <p:spPr>
            <a:xfrm>
              <a:off x="2331720" y="4562856"/>
              <a:ext cx="6415887" cy="0"/>
            </a:xfrm>
            <a:prstGeom prst="line">
              <a:avLst/>
            </a:prstGeom>
            <a:ln w="15240">
              <a:solidFill>
                <a:srgbClr val="D9D9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4937760" y="1234440"/>
              <a:ext cx="2377440" cy="603504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총괄 PMO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2804007" y="2148840"/>
              <a:ext cx="2011680" cy="548640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사업 A</a:t>
              </a:r>
            </a:p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주력시장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5090007" y="2148840"/>
              <a:ext cx="2011680" cy="548640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사업 B</a:t>
              </a:r>
            </a:p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신흥시장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7376007" y="2148840"/>
              <a:ext cx="2011680" cy="548640"/>
            </a:xfrm>
            <a:prstGeom prst="roundRect">
              <a:avLst>
                <a:gd name="adj" fmla="val 1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사업 C</a:t>
              </a:r>
            </a:p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전략시장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502920" y="2825496"/>
              <a:ext cx="1828800" cy="475488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기획본부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502920" y="3575304"/>
              <a:ext cx="1828800" cy="475488"/>
            </a:xfrm>
            <a:prstGeom prst="roundRect">
              <a:avLst>
                <a:gd name="adj" fmla="val 1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개발본부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502920" y="4325112"/>
              <a:ext cx="1828800" cy="475488"/>
            </a:xfrm>
            <a:prstGeom prst="roundRect">
              <a:avLst>
                <a:gd name="adj" fmla="val 10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현지화본부</a:t>
              </a:r>
            </a:p>
          </p:txBody>
        </p:sp>
        <p:sp>
          <p:nvSpPr>
            <p:cNvPr id="25" name="Oval 24"/>
            <p:cNvSpPr/>
            <p:nvPr/>
          </p:nvSpPr>
          <p:spPr>
            <a:xfrm>
              <a:off x="3672687" y="2926080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Oval 25"/>
            <p:cNvSpPr/>
            <p:nvPr/>
          </p:nvSpPr>
          <p:spPr>
            <a:xfrm>
              <a:off x="3672687" y="3675887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Oval 26"/>
            <p:cNvSpPr/>
            <p:nvPr/>
          </p:nvSpPr>
          <p:spPr>
            <a:xfrm>
              <a:off x="3672687" y="4425696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Oval 27"/>
            <p:cNvSpPr/>
            <p:nvPr/>
          </p:nvSpPr>
          <p:spPr>
            <a:xfrm>
              <a:off x="5958687" y="2926080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Oval 28"/>
            <p:cNvSpPr/>
            <p:nvPr/>
          </p:nvSpPr>
          <p:spPr>
            <a:xfrm>
              <a:off x="5958687" y="3675887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Oval 29"/>
            <p:cNvSpPr/>
            <p:nvPr/>
          </p:nvSpPr>
          <p:spPr>
            <a:xfrm>
              <a:off x="5958687" y="4425696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Oval 30"/>
            <p:cNvSpPr/>
            <p:nvPr/>
          </p:nvSpPr>
          <p:spPr>
            <a:xfrm>
              <a:off x="8244687" y="2926080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Oval 31"/>
            <p:cNvSpPr/>
            <p:nvPr/>
          </p:nvSpPr>
          <p:spPr>
            <a:xfrm>
              <a:off x="8244687" y="3675887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Oval 32"/>
            <p:cNvSpPr/>
            <p:nvPr/>
          </p:nvSpPr>
          <p:spPr>
            <a:xfrm>
              <a:off x="8244687" y="4425696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ORG-036 · 매트릭스 조직 · 4×4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매트릭스 조직 · 4×4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기능축 4 × 사업축 4 이중 보고 체계 (steel)</a:t>
            </a:r>
          </a:p>
        </p:txBody>
      </p:sp>
      <p:grpSp>
        <p:nvGrpSpPr>
          <p:cNvPr id="46" name="asset:ORG-036"/>
          <p:cNvGrpSpPr/>
          <p:nvPr/>
        </p:nvGrpSpPr>
        <p:grpSpPr>
          <a:xfrm>
            <a:off x="502920" y="1234440"/>
            <a:ext cx="9250527" cy="4398264"/>
            <a:chOff x="502920" y="1234440"/>
            <a:chExt cx="9250527" cy="4398264"/>
          </a:xfrm>
        </p:grpSpPr>
        <p:cxnSp>
          <p:nvCxnSpPr>
            <p:cNvPr id="14" name="Connector 13"/>
            <p:cNvCxnSpPr/>
            <p:nvPr/>
          </p:nvCxnSpPr>
          <p:spPr>
            <a:xfrm>
              <a:off x="6126480" y="1837944"/>
              <a:ext cx="0" cy="256032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4"/>
            <p:cNvCxnSpPr/>
            <p:nvPr/>
          </p:nvCxnSpPr>
          <p:spPr>
            <a:xfrm>
              <a:off x="3249777" y="2093976"/>
              <a:ext cx="5692139" cy="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/>
            <p:nvPr/>
          </p:nvCxnSpPr>
          <p:spPr>
            <a:xfrm>
              <a:off x="3249777" y="2093976"/>
              <a:ext cx="0" cy="54864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 16"/>
            <p:cNvCxnSpPr/>
            <p:nvPr/>
          </p:nvCxnSpPr>
          <p:spPr>
            <a:xfrm>
              <a:off x="5147157" y="2093976"/>
              <a:ext cx="0" cy="54864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or 17"/>
            <p:cNvCxnSpPr/>
            <p:nvPr/>
          </p:nvCxnSpPr>
          <p:spPr>
            <a:xfrm>
              <a:off x="7044537" y="2093976"/>
              <a:ext cx="0" cy="54864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or 18"/>
            <p:cNvCxnSpPr/>
            <p:nvPr/>
          </p:nvCxnSpPr>
          <p:spPr>
            <a:xfrm>
              <a:off x="8941916" y="2093976"/>
              <a:ext cx="0" cy="54864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/>
            <p:nvPr/>
          </p:nvCxnSpPr>
          <p:spPr>
            <a:xfrm flipH="1">
              <a:off x="2331720" y="1536192"/>
              <a:ext cx="2606040" cy="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>
              <a:off x="2331720" y="1536192"/>
              <a:ext cx="0" cy="3776472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 21"/>
            <p:cNvCxnSpPr/>
            <p:nvPr/>
          </p:nvCxnSpPr>
          <p:spPr>
            <a:xfrm>
              <a:off x="3249777" y="2697480"/>
              <a:ext cx="0" cy="2935224"/>
            </a:xfrm>
            <a:prstGeom prst="line">
              <a:avLst/>
            </a:prstGeom>
            <a:ln w="15240">
              <a:solidFill>
                <a:srgbClr val="D9D9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or 22"/>
            <p:cNvCxnSpPr/>
            <p:nvPr/>
          </p:nvCxnSpPr>
          <p:spPr>
            <a:xfrm>
              <a:off x="5147157" y="2697480"/>
              <a:ext cx="0" cy="2935224"/>
            </a:xfrm>
            <a:prstGeom prst="line">
              <a:avLst/>
            </a:prstGeom>
            <a:ln w="15240">
              <a:solidFill>
                <a:srgbClr val="D9D9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or 23"/>
            <p:cNvCxnSpPr/>
            <p:nvPr/>
          </p:nvCxnSpPr>
          <p:spPr>
            <a:xfrm>
              <a:off x="7044537" y="2697480"/>
              <a:ext cx="0" cy="2935224"/>
            </a:xfrm>
            <a:prstGeom prst="line">
              <a:avLst/>
            </a:prstGeom>
            <a:ln w="15240">
              <a:solidFill>
                <a:srgbClr val="D9D9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 24"/>
            <p:cNvCxnSpPr/>
            <p:nvPr/>
          </p:nvCxnSpPr>
          <p:spPr>
            <a:xfrm>
              <a:off x="8941917" y="2697480"/>
              <a:ext cx="0" cy="2935224"/>
            </a:xfrm>
            <a:prstGeom prst="line">
              <a:avLst/>
            </a:prstGeom>
            <a:ln w="15240">
              <a:solidFill>
                <a:srgbClr val="D9D9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ctor 25"/>
            <p:cNvCxnSpPr/>
            <p:nvPr/>
          </p:nvCxnSpPr>
          <p:spPr>
            <a:xfrm>
              <a:off x="2331720" y="3063240"/>
              <a:ext cx="6975957" cy="0"/>
            </a:xfrm>
            <a:prstGeom prst="line">
              <a:avLst/>
            </a:prstGeom>
            <a:ln w="15240">
              <a:solidFill>
                <a:srgbClr val="D9D9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or 26"/>
            <p:cNvCxnSpPr/>
            <p:nvPr/>
          </p:nvCxnSpPr>
          <p:spPr>
            <a:xfrm>
              <a:off x="2331720" y="3813048"/>
              <a:ext cx="6975957" cy="0"/>
            </a:xfrm>
            <a:prstGeom prst="line">
              <a:avLst/>
            </a:prstGeom>
            <a:ln w="15240">
              <a:solidFill>
                <a:srgbClr val="D9D9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nector 27"/>
            <p:cNvCxnSpPr/>
            <p:nvPr/>
          </p:nvCxnSpPr>
          <p:spPr>
            <a:xfrm>
              <a:off x="2331720" y="4562856"/>
              <a:ext cx="6975957" cy="0"/>
            </a:xfrm>
            <a:prstGeom prst="line">
              <a:avLst/>
            </a:prstGeom>
            <a:ln w="15240">
              <a:solidFill>
                <a:srgbClr val="D9D9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or 28"/>
            <p:cNvCxnSpPr/>
            <p:nvPr/>
          </p:nvCxnSpPr>
          <p:spPr>
            <a:xfrm>
              <a:off x="2331720" y="5312664"/>
              <a:ext cx="6975957" cy="0"/>
            </a:xfrm>
            <a:prstGeom prst="line">
              <a:avLst/>
            </a:prstGeom>
            <a:ln w="15240">
              <a:solidFill>
                <a:srgbClr val="D9D9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4937760" y="1234440"/>
              <a:ext cx="2377440" cy="603504"/>
            </a:xfrm>
            <a:prstGeom prst="roundRect">
              <a:avLst>
                <a:gd name="adj" fmla="val 10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총괄 PMO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2438247" y="2148840"/>
              <a:ext cx="1623060" cy="548640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사업 A</a:t>
              </a:r>
            </a:p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주력시장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4335627" y="2148840"/>
              <a:ext cx="1623060" cy="548640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사업 B</a:t>
              </a:r>
            </a:p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신흥시장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6233007" y="2148840"/>
              <a:ext cx="1623060" cy="548640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사업 C</a:t>
              </a:r>
            </a:p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전략시장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8130387" y="2148840"/>
              <a:ext cx="1623060" cy="548640"/>
            </a:xfrm>
            <a:prstGeom prst="roundRect">
              <a:avLst>
                <a:gd name="adj" fmla="val 1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사업 D</a:t>
              </a:r>
            </a:p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협력시장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502920" y="2825496"/>
              <a:ext cx="1828800" cy="475488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기획본부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502920" y="3575304"/>
              <a:ext cx="1828800" cy="475488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개발본부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502920" y="4325112"/>
              <a:ext cx="1828800" cy="475488"/>
            </a:xfrm>
            <a:prstGeom prst="roundRect">
              <a:avLst>
                <a:gd name="adj" fmla="val 1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현지화본부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502920" y="5074920"/>
              <a:ext cx="1828800" cy="475488"/>
            </a:xfrm>
            <a:prstGeom prst="roundRect">
              <a:avLst>
                <a:gd name="adj" fmla="val 10000"/>
              </a:avLst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품질본부</a:t>
              </a:r>
            </a:p>
          </p:txBody>
        </p:sp>
        <p:sp>
          <p:nvSpPr>
            <p:cNvPr id="30" name="Oval 29"/>
            <p:cNvSpPr/>
            <p:nvPr/>
          </p:nvSpPr>
          <p:spPr>
            <a:xfrm>
              <a:off x="3112617" y="2926080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Oval 30"/>
            <p:cNvSpPr/>
            <p:nvPr/>
          </p:nvSpPr>
          <p:spPr>
            <a:xfrm>
              <a:off x="3112617" y="3675887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Oval 31"/>
            <p:cNvSpPr/>
            <p:nvPr/>
          </p:nvSpPr>
          <p:spPr>
            <a:xfrm>
              <a:off x="3112617" y="4425696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Oval 32"/>
            <p:cNvSpPr/>
            <p:nvPr/>
          </p:nvSpPr>
          <p:spPr>
            <a:xfrm>
              <a:off x="3112617" y="5175504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Oval 33"/>
            <p:cNvSpPr/>
            <p:nvPr/>
          </p:nvSpPr>
          <p:spPr>
            <a:xfrm>
              <a:off x="5009997" y="2926080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Oval 34"/>
            <p:cNvSpPr/>
            <p:nvPr/>
          </p:nvSpPr>
          <p:spPr>
            <a:xfrm>
              <a:off x="5009997" y="3675887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Oval 35"/>
            <p:cNvSpPr/>
            <p:nvPr/>
          </p:nvSpPr>
          <p:spPr>
            <a:xfrm>
              <a:off x="5009997" y="4425696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Oval 36"/>
            <p:cNvSpPr/>
            <p:nvPr/>
          </p:nvSpPr>
          <p:spPr>
            <a:xfrm>
              <a:off x="5009997" y="5175504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Oval 37"/>
            <p:cNvSpPr/>
            <p:nvPr/>
          </p:nvSpPr>
          <p:spPr>
            <a:xfrm>
              <a:off x="6907377" y="2926080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Oval 38"/>
            <p:cNvSpPr/>
            <p:nvPr/>
          </p:nvSpPr>
          <p:spPr>
            <a:xfrm>
              <a:off x="6907377" y="3675887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" name="Oval 39"/>
            <p:cNvSpPr/>
            <p:nvPr/>
          </p:nvSpPr>
          <p:spPr>
            <a:xfrm>
              <a:off x="6907377" y="4425696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1" name="Oval 40"/>
            <p:cNvSpPr/>
            <p:nvPr/>
          </p:nvSpPr>
          <p:spPr>
            <a:xfrm>
              <a:off x="6907377" y="5175504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2" name="Oval 41"/>
            <p:cNvSpPr/>
            <p:nvPr/>
          </p:nvSpPr>
          <p:spPr>
            <a:xfrm>
              <a:off x="8804757" y="2926080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" name="Oval 42"/>
            <p:cNvSpPr/>
            <p:nvPr/>
          </p:nvSpPr>
          <p:spPr>
            <a:xfrm>
              <a:off x="8804757" y="3675887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4" name="Oval 43"/>
            <p:cNvSpPr/>
            <p:nvPr/>
          </p:nvSpPr>
          <p:spPr>
            <a:xfrm>
              <a:off x="8804757" y="4425696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" name="Oval 44"/>
            <p:cNvSpPr/>
            <p:nvPr/>
          </p:nvSpPr>
          <p:spPr>
            <a:xfrm>
              <a:off x="8804757" y="5175504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ORG-037 · 매트릭스 조직 · 3×2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매트릭스 조직 · 3×2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기능축 3 × 사업축 2 이중 보고 체계 (navy)</a:t>
            </a:r>
          </a:p>
        </p:txBody>
      </p:sp>
      <p:grpSp>
        <p:nvGrpSpPr>
          <p:cNvPr id="28" name="asset:ORG-037"/>
          <p:cNvGrpSpPr/>
          <p:nvPr/>
        </p:nvGrpSpPr>
        <p:grpSpPr>
          <a:xfrm>
            <a:off x="502920" y="1234440"/>
            <a:ext cx="7741767" cy="3648456"/>
            <a:chOff x="502920" y="1234440"/>
            <a:chExt cx="7741767" cy="3648456"/>
          </a:xfrm>
        </p:grpSpPr>
        <p:cxnSp>
          <p:nvCxnSpPr>
            <p:cNvPr id="11" name="Connector 10"/>
            <p:cNvCxnSpPr/>
            <p:nvPr/>
          </p:nvCxnSpPr>
          <p:spPr>
            <a:xfrm>
              <a:off x="6126480" y="1837944"/>
              <a:ext cx="0" cy="256032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ctor 11"/>
            <p:cNvCxnSpPr/>
            <p:nvPr/>
          </p:nvCxnSpPr>
          <p:spPr>
            <a:xfrm>
              <a:off x="4952847" y="2093976"/>
              <a:ext cx="2286000" cy="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ctor 12"/>
            <p:cNvCxnSpPr/>
            <p:nvPr/>
          </p:nvCxnSpPr>
          <p:spPr>
            <a:xfrm>
              <a:off x="4952847" y="2093976"/>
              <a:ext cx="0" cy="54864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or 13"/>
            <p:cNvCxnSpPr/>
            <p:nvPr/>
          </p:nvCxnSpPr>
          <p:spPr>
            <a:xfrm>
              <a:off x="7238847" y="2093976"/>
              <a:ext cx="0" cy="54864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4"/>
            <p:cNvCxnSpPr/>
            <p:nvPr/>
          </p:nvCxnSpPr>
          <p:spPr>
            <a:xfrm flipH="1">
              <a:off x="2331720" y="1536192"/>
              <a:ext cx="2606040" cy="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/>
            <p:nvPr/>
          </p:nvCxnSpPr>
          <p:spPr>
            <a:xfrm>
              <a:off x="2331720" y="1536192"/>
              <a:ext cx="0" cy="3026664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 16"/>
            <p:cNvCxnSpPr/>
            <p:nvPr/>
          </p:nvCxnSpPr>
          <p:spPr>
            <a:xfrm>
              <a:off x="4952847" y="2697480"/>
              <a:ext cx="0" cy="2185416"/>
            </a:xfrm>
            <a:prstGeom prst="line">
              <a:avLst/>
            </a:prstGeom>
            <a:ln w="15240">
              <a:solidFill>
                <a:srgbClr val="D9D9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or 17"/>
            <p:cNvCxnSpPr/>
            <p:nvPr/>
          </p:nvCxnSpPr>
          <p:spPr>
            <a:xfrm>
              <a:off x="7238847" y="2697480"/>
              <a:ext cx="0" cy="2185416"/>
            </a:xfrm>
            <a:prstGeom prst="line">
              <a:avLst/>
            </a:prstGeom>
            <a:ln w="15240">
              <a:solidFill>
                <a:srgbClr val="D9D9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or 18"/>
            <p:cNvCxnSpPr/>
            <p:nvPr/>
          </p:nvCxnSpPr>
          <p:spPr>
            <a:xfrm>
              <a:off x="2331720" y="3063240"/>
              <a:ext cx="5272887" cy="0"/>
            </a:xfrm>
            <a:prstGeom prst="line">
              <a:avLst/>
            </a:prstGeom>
            <a:ln w="15240">
              <a:solidFill>
                <a:srgbClr val="D9D9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/>
            <p:nvPr/>
          </p:nvCxnSpPr>
          <p:spPr>
            <a:xfrm>
              <a:off x="2331720" y="3813048"/>
              <a:ext cx="5272887" cy="0"/>
            </a:xfrm>
            <a:prstGeom prst="line">
              <a:avLst/>
            </a:prstGeom>
            <a:ln w="15240">
              <a:solidFill>
                <a:srgbClr val="D9D9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>
              <a:off x="2331720" y="4562856"/>
              <a:ext cx="5272887" cy="0"/>
            </a:xfrm>
            <a:prstGeom prst="line">
              <a:avLst/>
            </a:prstGeom>
            <a:ln w="15240">
              <a:solidFill>
                <a:srgbClr val="D9D9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4937760" y="1234440"/>
              <a:ext cx="2377440" cy="603504"/>
            </a:xfrm>
            <a:prstGeom prst="roundRect">
              <a:avLst>
                <a:gd name="adj" fmla="val 10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총괄 PMO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3947007" y="2148840"/>
              <a:ext cx="2011680" cy="548640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사업 A</a:t>
              </a:r>
            </a:p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주력시장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6233007" y="2148840"/>
              <a:ext cx="2011680" cy="548640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사업 B</a:t>
              </a:r>
            </a:p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신흥시장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502920" y="2825496"/>
              <a:ext cx="1828800" cy="475488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기획본부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502920" y="3575304"/>
              <a:ext cx="1828800" cy="475488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개발본부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502920" y="4325112"/>
              <a:ext cx="1828800" cy="475488"/>
            </a:xfrm>
            <a:prstGeom prst="roundRect">
              <a:avLst>
                <a:gd name="adj" fmla="val 1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현지화본부</a:t>
              </a:r>
            </a:p>
          </p:txBody>
        </p:sp>
        <p:sp>
          <p:nvSpPr>
            <p:cNvPr id="22" name="Oval 21"/>
            <p:cNvSpPr/>
            <p:nvPr/>
          </p:nvSpPr>
          <p:spPr>
            <a:xfrm>
              <a:off x="4815687" y="2926080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Oval 22"/>
            <p:cNvSpPr/>
            <p:nvPr/>
          </p:nvSpPr>
          <p:spPr>
            <a:xfrm>
              <a:off x="4815687" y="3675887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Oval 23"/>
            <p:cNvSpPr/>
            <p:nvPr/>
          </p:nvSpPr>
          <p:spPr>
            <a:xfrm>
              <a:off x="4815687" y="4425696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Oval 24"/>
            <p:cNvSpPr/>
            <p:nvPr/>
          </p:nvSpPr>
          <p:spPr>
            <a:xfrm>
              <a:off x="7101687" y="2926080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Oval 25"/>
            <p:cNvSpPr/>
            <p:nvPr/>
          </p:nvSpPr>
          <p:spPr>
            <a:xfrm>
              <a:off x="7101687" y="3675887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Oval 26"/>
            <p:cNvSpPr/>
            <p:nvPr/>
          </p:nvSpPr>
          <p:spPr>
            <a:xfrm>
              <a:off x="7101687" y="4425696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ORG-038 · 매트릭스 조직 · 4×3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매트릭스 조직 · 4×3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기능축 4 × 사업축 3 이중 보고 체계 (blue)</a:t>
            </a:r>
          </a:p>
        </p:txBody>
      </p:sp>
      <p:grpSp>
        <p:nvGrpSpPr>
          <p:cNvPr id="39" name="asset:ORG-038"/>
          <p:cNvGrpSpPr/>
          <p:nvPr/>
        </p:nvGrpSpPr>
        <p:grpSpPr>
          <a:xfrm>
            <a:off x="502920" y="1234440"/>
            <a:ext cx="8884767" cy="4398264"/>
            <a:chOff x="502920" y="1234440"/>
            <a:chExt cx="8884767" cy="4398264"/>
          </a:xfrm>
        </p:grpSpPr>
        <p:cxnSp>
          <p:nvCxnSpPr>
            <p:cNvPr id="13" name="Connector 12"/>
            <p:cNvCxnSpPr/>
            <p:nvPr/>
          </p:nvCxnSpPr>
          <p:spPr>
            <a:xfrm>
              <a:off x="6126480" y="1837944"/>
              <a:ext cx="0" cy="256032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or 13"/>
            <p:cNvCxnSpPr/>
            <p:nvPr/>
          </p:nvCxnSpPr>
          <p:spPr>
            <a:xfrm>
              <a:off x="3809846" y="2093976"/>
              <a:ext cx="4572001" cy="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4"/>
            <p:cNvCxnSpPr/>
            <p:nvPr/>
          </p:nvCxnSpPr>
          <p:spPr>
            <a:xfrm>
              <a:off x="3809846" y="2093976"/>
              <a:ext cx="0" cy="54864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/>
            <p:nvPr/>
          </p:nvCxnSpPr>
          <p:spPr>
            <a:xfrm>
              <a:off x="6095847" y="2093976"/>
              <a:ext cx="0" cy="54864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 16"/>
            <p:cNvCxnSpPr/>
            <p:nvPr/>
          </p:nvCxnSpPr>
          <p:spPr>
            <a:xfrm>
              <a:off x="8381847" y="2093976"/>
              <a:ext cx="0" cy="54864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or 17"/>
            <p:cNvCxnSpPr/>
            <p:nvPr/>
          </p:nvCxnSpPr>
          <p:spPr>
            <a:xfrm flipH="1">
              <a:off x="2331720" y="1536192"/>
              <a:ext cx="2606040" cy="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or 18"/>
            <p:cNvCxnSpPr/>
            <p:nvPr/>
          </p:nvCxnSpPr>
          <p:spPr>
            <a:xfrm>
              <a:off x="2331720" y="1536192"/>
              <a:ext cx="0" cy="3776472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/>
            <p:nvPr/>
          </p:nvCxnSpPr>
          <p:spPr>
            <a:xfrm>
              <a:off x="3809847" y="2697480"/>
              <a:ext cx="0" cy="2935224"/>
            </a:xfrm>
            <a:prstGeom prst="line">
              <a:avLst/>
            </a:prstGeom>
            <a:ln w="15240">
              <a:solidFill>
                <a:srgbClr val="D9D9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>
              <a:off x="6095847" y="2697480"/>
              <a:ext cx="0" cy="2935224"/>
            </a:xfrm>
            <a:prstGeom prst="line">
              <a:avLst/>
            </a:prstGeom>
            <a:ln w="15240">
              <a:solidFill>
                <a:srgbClr val="D9D9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 21"/>
            <p:cNvCxnSpPr/>
            <p:nvPr/>
          </p:nvCxnSpPr>
          <p:spPr>
            <a:xfrm>
              <a:off x="8381847" y="2697480"/>
              <a:ext cx="0" cy="2935224"/>
            </a:xfrm>
            <a:prstGeom prst="line">
              <a:avLst/>
            </a:prstGeom>
            <a:ln w="15240">
              <a:solidFill>
                <a:srgbClr val="D9D9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or 22"/>
            <p:cNvCxnSpPr/>
            <p:nvPr/>
          </p:nvCxnSpPr>
          <p:spPr>
            <a:xfrm>
              <a:off x="2331720" y="3063240"/>
              <a:ext cx="6415887" cy="0"/>
            </a:xfrm>
            <a:prstGeom prst="line">
              <a:avLst/>
            </a:prstGeom>
            <a:ln w="15240">
              <a:solidFill>
                <a:srgbClr val="D9D9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or 23"/>
            <p:cNvCxnSpPr/>
            <p:nvPr/>
          </p:nvCxnSpPr>
          <p:spPr>
            <a:xfrm>
              <a:off x="2331720" y="3813048"/>
              <a:ext cx="6415887" cy="0"/>
            </a:xfrm>
            <a:prstGeom prst="line">
              <a:avLst/>
            </a:prstGeom>
            <a:ln w="15240">
              <a:solidFill>
                <a:srgbClr val="D9D9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 24"/>
            <p:cNvCxnSpPr/>
            <p:nvPr/>
          </p:nvCxnSpPr>
          <p:spPr>
            <a:xfrm>
              <a:off x="2331720" y="4562856"/>
              <a:ext cx="6415887" cy="0"/>
            </a:xfrm>
            <a:prstGeom prst="line">
              <a:avLst/>
            </a:prstGeom>
            <a:ln w="15240">
              <a:solidFill>
                <a:srgbClr val="D9D9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ctor 25"/>
            <p:cNvCxnSpPr/>
            <p:nvPr/>
          </p:nvCxnSpPr>
          <p:spPr>
            <a:xfrm>
              <a:off x="2331720" y="5312664"/>
              <a:ext cx="6415887" cy="0"/>
            </a:xfrm>
            <a:prstGeom prst="line">
              <a:avLst/>
            </a:prstGeom>
            <a:ln w="15240">
              <a:solidFill>
                <a:srgbClr val="D9D9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4937760" y="1234440"/>
              <a:ext cx="2377440" cy="603504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총괄 PMO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2804007" y="2148840"/>
              <a:ext cx="2011680" cy="548640"/>
            </a:xfrm>
            <a:prstGeom prst="roundRect">
              <a:avLst>
                <a:gd name="adj" fmla="val 10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사업 A</a:t>
              </a:r>
            </a:p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주력시장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5090007" y="2148840"/>
              <a:ext cx="2011680" cy="548640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사업 B</a:t>
              </a:r>
            </a:p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신흥시장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7376007" y="2148840"/>
              <a:ext cx="2011680" cy="548640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사업 C</a:t>
              </a:r>
            </a:p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전략시장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502920" y="2825496"/>
              <a:ext cx="1828800" cy="475488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기획본부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502920" y="3575304"/>
              <a:ext cx="1828800" cy="475488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개발본부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502920" y="4325112"/>
              <a:ext cx="1828800" cy="475488"/>
            </a:xfrm>
            <a:prstGeom prst="roundRect">
              <a:avLst>
                <a:gd name="adj" fmla="val 1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현지화본부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502920" y="5074920"/>
              <a:ext cx="1828800" cy="475488"/>
            </a:xfrm>
            <a:prstGeom prst="roundRect">
              <a:avLst>
                <a:gd name="adj" fmla="val 10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품질본부</a:t>
              </a:r>
            </a:p>
          </p:txBody>
        </p:sp>
        <p:sp>
          <p:nvSpPr>
            <p:cNvPr id="27" name="Oval 26"/>
            <p:cNvSpPr/>
            <p:nvPr/>
          </p:nvSpPr>
          <p:spPr>
            <a:xfrm>
              <a:off x="3672687" y="2926080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Oval 27"/>
            <p:cNvSpPr/>
            <p:nvPr/>
          </p:nvSpPr>
          <p:spPr>
            <a:xfrm>
              <a:off x="3672687" y="3675887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Oval 28"/>
            <p:cNvSpPr/>
            <p:nvPr/>
          </p:nvSpPr>
          <p:spPr>
            <a:xfrm>
              <a:off x="3672687" y="4425696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Oval 29"/>
            <p:cNvSpPr/>
            <p:nvPr/>
          </p:nvSpPr>
          <p:spPr>
            <a:xfrm>
              <a:off x="3672687" y="5175504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Oval 30"/>
            <p:cNvSpPr/>
            <p:nvPr/>
          </p:nvSpPr>
          <p:spPr>
            <a:xfrm>
              <a:off x="5958687" y="2926080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Oval 31"/>
            <p:cNvSpPr/>
            <p:nvPr/>
          </p:nvSpPr>
          <p:spPr>
            <a:xfrm>
              <a:off x="5958687" y="3675887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Oval 32"/>
            <p:cNvSpPr/>
            <p:nvPr/>
          </p:nvSpPr>
          <p:spPr>
            <a:xfrm>
              <a:off x="5958687" y="4425696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Oval 33"/>
            <p:cNvSpPr/>
            <p:nvPr/>
          </p:nvSpPr>
          <p:spPr>
            <a:xfrm>
              <a:off x="5958687" y="5175504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Oval 34"/>
            <p:cNvSpPr/>
            <p:nvPr/>
          </p:nvSpPr>
          <p:spPr>
            <a:xfrm>
              <a:off x="8244687" y="2926080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Oval 35"/>
            <p:cNvSpPr/>
            <p:nvPr/>
          </p:nvSpPr>
          <p:spPr>
            <a:xfrm>
              <a:off x="8244687" y="3675887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Oval 36"/>
            <p:cNvSpPr/>
            <p:nvPr/>
          </p:nvSpPr>
          <p:spPr>
            <a:xfrm>
              <a:off x="8244687" y="4425696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Oval 37"/>
            <p:cNvSpPr/>
            <p:nvPr/>
          </p:nvSpPr>
          <p:spPr>
            <a:xfrm>
              <a:off x="8244687" y="5175504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ORG-039 · 매트릭스 조직 · 3×4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매트릭스 조직 · 3×4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기능축 3 × 사업축 4 이중 보고 체계 (purple)</a:t>
            </a:r>
          </a:p>
        </p:txBody>
      </p:sp>
      <p:grpSp>
        <p:nvGrpSpPr>
          <p:cNvPr id="40" name="asset:ORG-039"/>
          <p:cNvGrpSpPr/>
          <p:nvPr/>
        </p:nvGrpSpPr>
        <p:grpSpPr>
          <a:xfrm>
            <a:off x="502920" y="1234440"/>
            <a:ext cx="9250527" cy="3648456"/>
            <a:chOff x="502920" y="1234440"/>
            <a:chExt cx="9250527" cy="3648456"/>
          </a:xfrm>
        </p:grpSpPr>
        <p:cxnSp>
          <p:nvCxnSpPr>
            <p:cNvPr id="13" name="Connector 12"/>
            <p:cNvCxnSpPr/>
            <p:nvPr/>
          </p:nvCxnSpPr>
          <p:spPr>
            <a:xfrm>
              <a:off x="6126480" y="1837944"/>
              <a:ext cx="0" cy="256032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or 13"/>
            <p:cNvCxnSpPr/>
            <p:nvPr/>
          </p:nvCxnSpPr>
          <p:spPr>
            <a:xfrm>
              <a:off x="3249777" y="2093976"/>
              <a:ext cx="5692139" cy="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4"/>
            <p:cNvCxnSpPr/>
            <p:nvPr/>
          </p:nvCxnSpPr>
          <p:spPr>
            <a:xfrm>
              <a:off x="3249777" y="2093976"/>
              <a:ext cx="0" cy="54864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/>
            <p:nvPr/>
          </p:nvCxnSpPr>
          <p:spPr>
            <a:xfrm>
              <a:off x="5147157" y="2093976"/>
              <a:ext cx="0" cy="54864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 16"/>
            <p:cNvCxnSpPr/>
            <p:nvPr/>
          </p:nvCxnSpPr>
          <p:spPr>
            <a:xfrm>
              <a:off x="7044537" y="2093976"/>
              <a:ext cx="0" cy="54864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or 17"/>
            <p:cNvCxnSpPr/>
            <p:nvPr/>
          </p:nvCxnSpPr>
          <p:spPr>
            <a:xfrm>
              <a:off x="8941916" y="2093976"/>
              <a:ext cx="0" cy="54864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or 18"/>
            <p:cNvCxnSpPr/>
            <p:nvPr/>
          </p:nvCxnSpPr>
          <p:spPr>
            <a:xfrm flipH="1">
              <a:off x="2331720" y="1536192"/>
              <a:ext cx="2606040" cy="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/>
            <p:nvPr/>
          </p:nvCxnSpPr>
          <p:spPr>
            <a:xfrm>
              <a:off x="2331720" y="1536192"/>
              <a:ext cx="0" cy="3026664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>
              <a:off x="3249777" y="2697480"/>
              <a:ext cx="0" cy="2185416"/>
            </a:xfrm>
            <a:prstGeom prst="line">
              <a:avLst/>
            </a:prstGeom>
            <a:ln w="15240">
              <a:solidFill>
                <a:srgbClr val="D9D9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 21"/>
            <p:cNvCxnSpPr/>
            <p:nvPr/>
          </p:nvCxnSpPr>
          <p:spPr>
            <a:xfrm>
              <a:off x="5147157" y="2697480"/>
              <a:ext cx="0" cy="2185416"/>
            </a:xfrm>
            <a:prstGeom prst="line">
              <a:avLst/>
            </a:prstGeom>
            <a:ln w="15240">
              <a:solidFill>
                <a:srgbClr val="D9D9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or 22"/>
            <p:cNvCxnSpPr/>
            <p:nvPr/>
          </p:nvCxnSpPr>
          <p:spPr>
            <a:xfrm>
              <a:off x="7044537" y="2697480"/>
              <a:ext cx="0" cy="2185416"/>
            </a:xfrm>
            <a:prstGeom prst="line">
              <a:avLst/>
            </a:prstGeom>
            <a:ln w="15240">
              <a:solidFill>
                <a:srgbClr val="D9D9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or 23"/>
            <p:cNvCxnSpPr/>
            <p:nvPr/>
          </p:nvCxnSpPr>
          <p:spPr>
            <a:xfrm>
              <a:off x="8941917" y="2697480"/>
              <a:ext cx="0" cy="2185416"/>
            </a:xfrm>
            <a:prstGeom prst="line">
              <a:avLst/>
            </a:prstGeom>
            <a:ln w="15240">
              <a:solidFill>
                <a:srgbClr val="D9D9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 24"/>
            <p:cNvCxnSpPr/>
            <p:nvPr/>
          </p:nvCxnSpPr>
          <p:spPr>
            <a:xfrm>
              <a:off x="2331720" y="3063240"/>
              <a:ext cx="6975957" cy="0"/>
            </a:xfrm>
            <a:prstGeom prst="line">
              <a:avLst/>
            </a:prstGeom>
            <a:ln w="15240">
              <a:solidFill>
                <a:srgbClr val="D9D9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ctor 25"/>
            <p:cNvCxnSpPr/>
            <p:nvPr/>
          </p:nvCxnSpPr>
          <p:spPr>
            <a:xfrm>
              <a:off x="2331720" y="3813048"/>
              <a:ext cx="6975957" cy="0"/>
            </a:xfrm>
            <a:prstGeom prst="line">
              <a:avLst/>
            </a:prstGeom>
            <a:ln w="15240">
              <a:solidFill>
                <a:srgbClr val="D9D9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or 26"/>
            <p:cNvCxnSpPr/>
            <p:nvPr/>
          </p:nvCxnSpPr>
          <p:spPr>
            <a:xfrm>
              <a:off x="2331720" y="4562856"/>
              <a:ext cx="6975957" cy="0"/>
            </a:xfrm>
            <a:prstGeom prst="line">
              <a:avLst/>
            </a:prstGeom>
            <a:ln w="15240">
              <a:solidFill>
                <a:srgbClr val="D9D9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4937760" y="1234440"/>
              <a:ext cx="2377440" cy="603504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총괄 PMO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2438247" y="2148840"/>
              <a:ext cx="1623060" cy="548640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사업 A</a:t>
              </a:r>
            </a:p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주력시장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4335627" y="2148840"/>
              <a:ext cx="1623060" cy="548640"/>
            </a:xfrm>
            <a:prstGeom prst="roundRect">
              <a:avLst>
                <a:gd name="adj" fmla="val 1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사업 B</a:t>
              </a:r>
            </a:p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신흥시장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6233007" y="2148840"/>
              <a:ext cx="1623060" cy="548640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사업 C</a:t>
              </a:r>
            </a:p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전략시장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8130387" y="2148840"/>
              <a:ext cx="1623060" cy="548640"/>
            </a:xfrm>
            <a:prstGeom prst="roundRect">
              <a:avLst>
                <a:gd name="adj" fmla="val 10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사업 D</a:t>
              </a:r>
            </a:p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협력시장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502920" y="2825496"/>
              <a:ext cx="1828800" cy="475488"/>
            </a:xfrm>
            <a:prstGeom prst="roundRect">
              <a:avLst>
                <a:gd name="adj" fmla="val 1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기획본부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502920" y="3575304"/>
              <a:ext cx="1828800" cy="475488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개발본부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502920" y="4325112"/>
              <a:ext cx="1828800" cy="475488"/>
            </a:xfrm>
            <a:prstGeom prst="roundRect">
              <a:avLst>
                <a:gd name="adj" fmla="val 10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현지화본부</a:t>
              </a:r>
            </a:p>
          </p:txBody>
        </p:sp>
        <p:sp>
          <p:nvSpPr>
            <p:cNvPr id="28" name="Oval 27"/>
            <p:cNvSpPr/>
            <p:nvPr/>
          </p:nvSpPr>
          <p:spPr>
            <a:xfrm>
              <a:off x="3112617" y="2926080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Oval 28"/>
            <p:cNvSpPr/>
            <p:nvPr/>
          </p:nvSpPr>
          <p:spPr>
            <a:xfrm>
              <a:off x="3112617" y="3675887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Oval 29"/>
            <p:cNvSpPr/>
            <p:nvPr/>
          </p:nvSpPr>
          <p:spPr>
            <a:xfrm>
              <a:off x="3112617" y="4425696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Oval 30"/>
            <p:cNvSpPr/>
            <p:nvPr/>
          </p:nvSpPr>
          <p:spPr>
            <a:xfrm>
              <a:off x="5009997" y="2926080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Oval 31"/>
            <p:cNvSpPr/>
            <p:nvPr/>
          </p:nvSpPr>
          <p:spPr>
            <a:xfrm>
              <a:off x="5009997" y="3675887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Oval 32"/>
            <p:cNvSpPr/>
            <p:nvPr/>
          </p:nvSpPr>
          <p:spPr>
            <a:xfrm>
              <a:off x="5009997" y="4425696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Oval 33"/>
            <p:cNvSpPr/>
            <p:nvPr/>
          </p:nvSpPr>
          <p:spPr>
            <a:xfrm>
              <a:off x="6907377" y="2926080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Oval 34"/>
            <p:cNvSpPr/>
            <p:nvPr/>
          </p:nvSpPr>
          <p:spPr>
            <a:xfrm>
              <a:off x="6907377" y="3675887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Oval 35"/>
            <p:cNvSpPr/>
            <p:nvPr/>
          </p:nvSpPr>
          <p:spPr>
            <a:xfrm>
              <a:off x="6907377" y="4425696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Oval 36"/>
            <p:cNvSpPr/>
            <p:nvPr/>
          </p:nvSpPr>
          <p:spPr>
            <a:xfrm>
              <a:off x="8804757" y="2926080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Oval 37"/>
            <p:cNvSpPr/>
            <p:nvPr/>
          </p:nvSpPr>
          <p:spPr>
            <a:xfrm>
              <a:off x="8804757" y="3675887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Oval 38"/>
            <p:cNvSpPr/>
            <p:nvPr/>
          </p:nvSpPr>
          <p:spPr>
            <a:xfrm>
              <a:off x="8804757" y="4425696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ORG-040 · 매트릭스 조직 · 4×2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매트릭스 조직 · 4×2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기능축 4 × 사업축 2 이중 보고 체계 (ink)</a:t>
            </a:r>
          </a:p>
        </p:txBody>
      </p:sp>
      <p:grpSp>
        <p:nvGrpSpPr>
          <p:cNvPr id="32" name="asset:ORG-040"/>
          <p:cNvGrpSpPr/>
          <p:nvPr/>
        </p:nvGrpSpPr>
        <p:grpSpPr>
          <a:xfrm>
            <a:off x="502920" y="1234440"/>
            <a:ext cx="7741767" cy="4398264"/>
            <a:chOff x="502920" y="1234440"/>
            <a:chExt cx="7741767" cy="4398264"/>
          </a:xfrm>
        </p:grpSpPr>
        <p:cxnSp>
          <p:nvCxnSpPr>
            <p:cNvPr id="12" name="Connector 11"/>
            <p:cNvCxnSpPr/>
            <p:nvPr/>
          </p:nvCxnSpPr>
          <p:spPr>
            <a:xfrm>
              <a:off x="6126480" y="1837944"/>
              <a:ext cx="0" cy="256032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ctor 12"/>
            <p:cNvCxnSpPr/>
            <p:nvPr/>
          </p:nvCxnSpPr>
          <p:spPr>
            <a:xfrm>
              <a:off x="4952847" y="2093976"/>
              <a:ext cx="2286000" cy="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or 13"/>
            <p:cNvCxnSpPr/>
            <p:nvPr/>
          </p:nvCxnSpPr>
          <p:spPr>
            <a:xfrm>
              <a:off x="4952847" y="2093976"/>
              <a:ext cx="0" cy="54864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4"/>
            <p:cNvCxnSpPr/>
            <p:nvPr/>
          </p:nvCxnSpPr>
          <p:spPr>
            <a:xfrm>
              <a:off x="7238847" y="2093976"/>
              <a:ext cx="0" cy="54864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/>
            <p:nvPr/>
          </p:nvCxnSpPr>
          <p:spPr>
            <a:xfrm flipH="1">
              <a:off x="2331720" y="1536192"/>
              <a:ext cx="2606040" cy="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 16"/>
            <p:cNvCxnSpPr/>
            <p:nvPr/>
          </p:nvCxnSpPr>
          <p:spPr>
            <a:xfrm>
              <a:off x="2331720" y="1536192"/>
              <a:ext cx="0" cy="3776472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or 17"/>
            <p:cNvCxnSpPr/>
            <p:nvPr/>
          </p:nvCxnSpPr>
          <p:spPr>
            <a:xfrm>
              <a:off x="4952847" y="2697480"/>
              <a:ext cx="0" cy="2935224"/>
            </a:xfrm>
            <a:prstGeom prst="line">
              <a:avLst/>
            </a:prstGeom>
            <a:ln w="15240">
              <a:solidFill>
                <a:srgbClr val="D9D9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or 18"/>
            <p:cNvCxnSpPr/>
            <p:nvPr/>
          </p:nvCxnSpPr>
          <p:spPr>
            <a:xfrm>
              <a:off x="7238847" y="2697480"/>
              <a:ext cx="0" cy="2935224"/>
            </a:xfrm>
            <a:prstGeom prst="line">
              <a:avLst/>
            </a:prstGeom>
            <a:ln w="15240">
              <a:solidFill>
                <a:srgbClr val="D9D9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/>
            <p:nvPr/>
          </p:nvCxnSpPr>
          <p:spPr>
            <a:xfrm>
              <a:off x="2331720" y="3063240"/>
              <a:ext cx="5272887" cy="0"/>
            </a:xfrm>
            <a:prstGeom prst="line">
              <a:avLst/>
            </a:prstGeom>
            <a:ln w="15240">
              <a:solidFill>
                <a:srgbClr val="D9D9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>
              <a:off x="2331720" y="3813048"/>
              <a:ext cx="5272887" cy="0"/>
            </a:xfrm>
            <a:prstGeom prst="line">
              <a:avLst/>
            </a:prstGeom>
            <a:ln w="15240">
              <a:solidFill>
                <a:srgbClr val="D9D9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 21"/>
            <p:cNvCxnSpPr/>
            <p:nvPr/>
          </p:nvCxnSpPr>
          <p:spPr>
            <a:xfrm>
              <a:off x="2331720" y="4562856"/>
              <a:ext cx="5272887" cy="0"/>
            </a:xfrm>
            <a:prstGeom prst="line">
              <a:avLst/>
            </a:prstGeom>
            <a:ln w="15240">
              <a:solidFill>
                <a:srgbClr val="D9D9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or 22"/>
            <p:cNvCxnSpPr/>
            <p:nvPr/>
          </p:nvCxnSpPr>
          <p:spPr>
            <a:xfrm>
              <a:off x="2331720" y="5312664"/>
              <a:ext cx="5272887" cy="0"/>
            </a:xfrm>
            <a:prstGeom prst="line">
              <a:avLst/>
            </a:prstGeom>
            <a:ln w="15240">
              <a:solidFill>
                <a:srgbClr val="D9D9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4937760" y="1234440"/>
              <a:ext cx="2377440" cy="603504"/>
            </a:xfrm>
            <a:prstGeom prst="roundRect">
              <a:avLst>
                <a:gd name="adj" fmla="val 10000"/>
              </a:avLst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총괄 PMO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3947007" y="2148840"/>
              <a:ext cx="2011680" cy="548640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사업 A</a:t>
              </a:r>
            </a:p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주력시장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6233007" y="2148840"/>
              <a:ext cx="2011680" cy="548640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사업 B</a:t>
              </a:r>
            </a:p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신흥시장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502920" y="2825496"/>
              <a:ext cx="1828800" cy="475488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기획본부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502920" y="3575304"/>
              <a:ext cx="1828800" cy="475488"/>
            </a:xfrm>
            <a:prstGeom prst="roundRect">
              <a:avLst>
                <a:gd name="adj" fmla="val 1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개발본부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502920" y="4325112"/>
              <a:ext cx="1828800" cy="475488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현지화본부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502920" y="5074920"/>
              <a:ext cx="1828800" cy="475488"/>
            </a:xfrm>
            <a:prstGeom prst="roundRect">
              <a:avLst>
                <a:gd name="adj" fmla="val 10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품질본부</a:t>
              </a:r>
            </a:p>
          </p:txBody>
        </p:sp>
        <p:sp>
          <p:nvSpPr>
            <p:cNvPr id="24" name="Oval 23"/>
            <p:cNvSpPr/>
            <p:nvPr/>
          </p:nvSpPr>
          <p:spPr>
            <a:xfrm>
              <a:off x="4815687" y="2926080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Oval 24"/>
            <p:cNvSpPr/>
            <p:nvPr/>
          </p:nvSpPr>
          <p:spPr>
            <a:xfrm>
              <a:off x="4815687" y="3675887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Oval 25"/>
            <p:cNvSpPr/>
            <p:nvPr/>
          </p:nvSpPr>
          <p:spPr>
            <a:xfrm>
              <a:off x="4815687" y="4425696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Oval 26"/>
            <p:cNvSpPr/>
            <p:nvPr/>
          </p:nvSpPr>
          <p:spPr>
            <a:xfrm>
              <a:off x="4815687" y="5175504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Oval 27"/>
            <p:cNvSpPr/>
            <p:nvPr/>
          </p:nvSpPr>
          <p:spPr>
            <a:xfrm>
              <a:off x="7101687" y="2926080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Oval 28"/>
            <p:cNvSpPr/>
            <p:nvPr/>
          </p:nvSpPr>
          <p:spPr>
            <a:xfrm>
              <a:off x="7101687" y="3675887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Oval 29"/>
            <p:cNvSpPr/>
            <p:nvPr/>
          </p:nvSpPr>
          <p:spPr>
            <a:xfrm>
              <a:off x="7101687" y="4425696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Oval 30"/>
            <p:cNvSpPr/>
            <p:nvPr/>
          </p:nvSpPr>
          <p:spPr>
            <a:xfrm>
              <a:off x="7101687" y="5175504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ORG-041 · 매트릭스 조직 · 3×3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매트릭스 조직 · 3×3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기능축 3 × 사업축 3 이중 보고 체계 (teal)</a:t>
            </a:r>
          </a:p>
        </p:txBody>
      </p:sp>
      <p:grpSp>
        <p:nvGrpSpPr>
          <p:cNvPr id="34" name="asset:ORG-041"/>
          <p:cNvGrpSpPr/>
          <p:nvPr/>
        </p:nvGrpSpPr>
        <p:grpSpPr>
          <a:xfrm>
            <a:off x="502920" y="1234440"/>
            <a:ext cx="8884767" cy="3648456"/>
            <a:chOff x="502920" y="1234440"/>
            <a:chExt cx="8884767" cy="3648456"/>
          </a:xfrm>
        </p:grpSpPr>
        <p:cxnSp>
          <p:nvCxnSpPr>
            <p:cNvPr id="12" name="Connector 11"/>
            <p:cNvCxnSpPr/>
            <p:nvPr/>
          </p:nvCxnSpPr>
          <p:spPr>
            <a:xfrm>
              <a:off x="6126480" y="1837944"/>
              <a:ext cx="0" cy="256032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ctor 12"/>
            <p:cNvCxnSpPr/>
            <p:nvPr/>
          </p:nvCxnSpPr>
          <p:spPr>
            <a:xfrm>
              <a:off x="3809846" y="2093976"/>
              <a:ext cx="4572001" cy="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or 13"/>
            <p:cNvCxnSpPr/>
            <p:nvPr/>
          </p:nvCxnSpPr>
          <p:spPr>
            <a:xfrm>
              <a:off x="3809846" y="2093976"/>
              <a:ext cx="0" cy="54864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4"/>
            <p:cNvCxnSpPr/>
            <p:nvPr/>
          </p:nvCxnSpPr>
          <p:spPr>
            <a:xfrm>
              <a:off x="6095847" y="2093976"/>
              <a:ext cx="0" cy="54864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/>
            <p:nvPr/>
          </p:nvCxnSpPr>
          <p:spPr>
            <a:xfrm>
              <a:off x="8381847" y="2093976"/>
              <a:ext cx="0" cy="54864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 16"/>
            <p:cNvCxnSpPr/>
            <p:nvPr/>
          </p:nvCxnSpPr>
          <p:spPr>
            <a:xfrm flipH="1">
              <a:off x="2331720" y="1536192"/>
              <a:ext cx="2606040" cy="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or 17"/>
            <p:cNvCxnSpPr/>
            <p:nvPr/>
          </p:nvCxnSpPr>
          <p:spPr>
            <a:xfrm>
              <a:off x="2331720" y="1536192"/>
              <a:ext cx="0" cy="3026664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or 18"/>
            <p:cNvCxnSpPr/>
            <p:nvPr/>
          </p:nvCxnSpPr>
          <p:spPr>
            <a:xfrm>
              <a:off x="3809847" y="2697480"/>
              <a:ext cx="0" cy="2185416"/>
            </a:xfrm>
            <a:prstGeom prst="line">
              <a:avLst/>
            </a:prstGeom>
            <a:ln w="15240">
              <a:solidFill>
                <a:srgbClr val="D9D9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/>
            <p:nvPr/>
          </p:nvCxnSpPr>
          <p:spPr>
            <a:xfrm>
              <a:off x="6095847" y="2697480"/>
              <a:ext cx="0" cy="2185416"/>
            </a:xfrm>
            <a:prstGeom prst="line">
              <a:avLst/>
            </a:prstGeom>
            <a:ln w="15240">
              <a:solidFill>
                <a:srgbClr val="D9D9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>
              <a:off x="8381847" y="2697480"/>
              <a:ext cx="0" cy="2185416"/>
            </a:xfrm>
            <a:prstGeom prst="line">
              <a:avLst/>
            </a:prstGeom>
            <a:ln w="15240">
              <a:solidFill>
                <a:srgbClr val="D9D9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 21"/>
            <p:cNvCxnSpPr/>
            <p:nvPr/>
          </p:nvCxnSpPr>
          <p:spPr>
            <a:xfrm>
              <a:off x="2331720" y="3063240"/>
              <a:ext cx="6415887" cy="0"/>
            </a:xfrm>
            <a:prstGeom prst="line">
              <a:avLst/>
            </a:prstGeom>
            <a:ln w="15240">
              <a:solidFill>
                <a:srgbClr val="D9D9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or 22"/>
            <p:cNvCxnSpPr/>
            <p:nvPr/>
          </p:nvCxnSpPr>
          <p:spPr>
            <a:xfrm>
              <a:off x="2331720" y="3813048"/>
              <a:ext cx="6415887" cy="0"/>
            </a:xfrm>
            <a:prstGeom prst="line">
              <a:avLst/>
            </a:prstGeom>
            <a:ln w="15240">
              <a:solidFill>
                <a:srgbClr val="D9D9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or 23"/>
            <p:cNvCxnSpPr/>
            <p:nvPr/>
          </p:nvCxnSpPr>
          <p:spPr>
            <a:xfrm>
              <a:off x="2331720" y="4562856"/>
              <a:ext cx="6415887" cy="0"/>
            </a:xfrm>
            <a:prstGeom prst="line">
              <a:avLst/>
            </a:prstGeom>
            <a:ln w="15240">
              <a:solidFill>
                <a:srgbClr val="D9D9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4937760" y="1234440"/>
              <a:ext cx="2377440" cy="603504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총괄 PMO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2804007" y="2148840"/>
              <a:ext cx="2011680" cy="548640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사업 A</a:t>
              </a:r>
            </a:p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주력시장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5090007" y="2148840"/>
              <a:ext cx="2011680" cy="548640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사업 B</a:t>
              </a:r>
            </a:p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신흥시장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7376007" y="2148840"/>
              <a:ext cx="2011680" cy="548640"/>
            </a:xfrm>
            <a:prstGeom prst="roundRect">
              <a:avLst>
                <a:gd name="adj" fmla="val 1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사업 C</a:t>
              </a:r>
            </a:p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전략시장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502920" y="2825496"/>
              <a:ext cx="1828800" cy="475488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기획본부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502920" y="3575304"/>
              <a:ext cx="1828800" cy="475488"/>
            </a:xfrm>
            <a:prstGeom prst="roundRect">
              <a:avLst>
                <a:gd name="adj" fmla="val 1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개발본부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502920" y="4325112"/>
              <a:ext cx="1828800" cy="475488"/>
            </a:xfrm>
            <a:prstGeom prst="roundRect">
              <a:avLst>
                <a:gd name="adj" fmla="val 10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현지화본부</a:t>
              </a:r>
            </a:p>
          </p:txBody>
        </p:sp>
        <p:sp>
          <p:nvSpPr>
            <p:cNvPr id="25" name="Oval 24"/>
            <p:cNvSpPr/>
            <p:nvPr/>
          </p:nvSpPr>
          <p:spPr>
            <a:xfrm>
              <a:off x="3672687" y="2926080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Oval 25"/>
            <p:cNvSpPr/>
            <p:nvPr/>
          </p:nvSpPr>
          <p:spPr>
            <a:xfrm>
              <a:off x="3672687" y="3675887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Oval 26"/>
            <p:cNvSpPr/>
            <p:nvPr/>
          </p:nvSpPr>
          <p:spPr>
            <a:xfrm>
              <a:off x="3672687" y="4425696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Oval 27"/>
            <p:cNvSpPr/>
            <p:nvPr/>
          </p:nvSpPr>
          <p:spPr>
            <a:xfrm>
              <a:off x="5958687" y="2926080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Oval 28"/>
            <p:cNvSpPr/>
            <p:nvPr/>
          </p:nvSpPr>
          <p:spPr>
            <a:xfrm>
              <a:off x="5958687" y="3675887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Oval 29"/>
            <p:cNvSpPr/>
            <p:nvPr/>
          </p:nvSpPr>
          <p:spPr>
            <a:xfrm>
              <a:off x="5958687" y="4425696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Oval 30"/>
            <p:cNvSpPr/>
            <p:nvPr/>
          </p:nvSpPr>
          <p:spPr>
            <a:xfrm>
              <a:off x="8244687" y="2926080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Oval 31"/>
            <p:cNvSpPr/>
            <p:nvPr/>
          </p:nvSpPr>
          <p:spPr>
            <a:xfrm>
              <a:off x="8244687" y="3675887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Oval 32"/>
            <p:cNvSpPr/>
            <p:nvPr/>
          </p:nvSpPr>
          <p:spPr>
            <a:xfrm>
              <a:off x="8244687" y="4425696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ORG-042 · 매트릭스 조직 · 4×4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매트릭스 조직 · 4×4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기능축 4 × 사업축 4 이중 보고 체계 (steel)</a:t>
            </a:r>
          </a:p>
        </p:txBody>
      </p:sp>
      <p:grpSp>
        <p:nvGrpSpPr>
          <p:cNvPr id="46" name="asset:ORG-042"/>
          <p:cNvGrpSpPr/>
          <p:nvPr/>
        </p:nvGrpSpPr>
        <p:grpSpPr>
          <a:xfrm>
            <a:off x="502920" y="1234440"/>
            <a:ext cx="9250527" cy="4398264"/>
            <a:chOff x="502920" y="1234440"/>
            <a:chExt cx="9250527" cy="4398264"/>
          </a:xfrm>
        </p:grpSpPr>
        <p:cxnSp>
          <p:nvCxnSpPr>
            <p:cNvPr id="14" name="Connector 13"/>
            <p:cNvCxnSpPr/>
            <p:nvPr/>
          </p:nvCxnSpPr>
          <p:spPr>
            <a:xfrm>
              <a:off x="6126480" y="1837944"/>
              <a:ext cx="0" cy="256032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4"/>
            <p:cNvCxnSpPr/>
            <p:nvPr/>
          </p:nvCxnSpPr>
          <p:spPr>
            <a:xfrm>
              <a:off x="3249777" y="2093976"/>
              <a:ext cx="5692139" cy="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/>
            <p:nvPr/>
          </p:nvCxnSpPr>
          <p:spPr>
            <a:xfrm>
              <a:off x="3249777" y="2093976"/>
              <a:ext cx="0" cy="54864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 16"/>
            <p:cNvCxnSpPr/>
            <p:nvPr/>
          </p:nvCxnSpPr>
          <p:spPr>
            <a:xfrm>
              <a:off x="5147157" y="2093976"/>
              <a:ext cx="0" cy="54864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or 17"/>
            <p:cNvCxnSpPr/>
            <p:nvPr/>
          </p:nvCxnSpPr>
          <p:spPr>
            <a:xfrm>
              <a:off x="7044537" y="2093976"/>
              <a:ext cx="0" cy="54864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or 18"/>
            <p:cNvCxnSpPr/>
            <p:nvPr/>
          </p:nvCxnSpPr>
          <p:spPr>
            <a:xfrm>
              <a:off x="8941916" y="2093976"/>
              <a:ext cx="0" cy="54864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/>
            <p:nvPr/>
          </p:nvCxnSpPr>
          <p:spPr>
            <a:xfrm flipH="1">
              <a:off x="2331720" y="1536192"/>
              <a:ext cx="2606040" cy="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>
              <a:off x="2331720" y="1536192"/>
              <a:ext cx="0" cy="3776472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 21"/>
            <p:cNvCxnSpPr/>
            <p:nvPr/>
          </p:nvCxnSpPr>
          <p:spPr>
            <a:xfrm>
              <a:off x="3249777" y="2697480"/>
              <a:ext cx="0" cy="2935224"/>
            </a:xfrm>
            <a:prstGeom prst="line">
              <a:avLst/>
            </a:prstGeom>
            <a:ln w="15240">
              <a:solidFill>
                <a:srgbClr val="D9D9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or 22"/>
            <p:cNvCxnSpPr/>
            <p:nvPr/>
          </p:nvCxnSpPr>
          <p:spPr>
            <a:xfrm>
              <a:off x="5147157" y="2697480"/>
              <a:ext cx="0" cy="2935224"/>
            </a:xfrm>
            <a:prstGeom prst="line">
              <a:avLst/>
            </a:prstGeom>
            <a:ln w="15240">
              <a:solidFill>
                <a:srgbClr val="D9D9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or 23"/>
            <p:cNvCxnSpPr/>
            <p:nvPr/>
          </p:nvCxnSpPr>
          <p:spPr>
            <a:xfrm>
              <a:off x="7044537" y="2697480"/>
              <a:ext cx="0" cy="2935224"/>
            </a:xfrm>
            <a:prstGeom prst="line">
              <a:avLst/>
            </a:prstGeom>
            <a:ln w="15240">
              <a:solidFill>
                <a:srgbClr val="D9D9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 24"/>
            <p:cNvCxnSpPr/>
            <p:nvPr/>
          </p:nvCxnSpPr>
          <p:spPr>
            <a:xfrm>
              <a:off x="8941917" y="2697480"/>
              <a:ext cx="0" cy="2935224"/>
            </a:xfrm>
            <a:prstGeom prst="line">
              <a:avLst/>
            </a:prstGeom>
            <a:ln w="15240">
              <a:solidFill>
                <a:srgbClr val="D9D9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ctor 25"/>
            <p:cNvCxnSpPr/>
            <p:nvPr/>
          </p:nvCxnSpPr>
          <p:spPr>
            <a:xfrm>
              <a:off x="2331720" y="3063240"/>
              <a:ext cx="6975957" cy="0"/>
            </a:xfrm>
            <a:prstGeom prst="line">
              <a:avLst/>
            </a:prstGeom>
            <a:ln w="15240">
              <a:solidFill>
                <a:srgbClr val="D9D9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or 26"/>
            <p:cNvCxnSpPr/>
            <p:nvPr/>
          </p:nvCxnSpPr>
          <p:spPr>
            <a:xfrm>
              <a:off x="2331720" y="3813048"/>
              <a:ext cx="6975957" cy="0"/>
            </a:xfrm>
            <a:prstGeom prst="line">
              <a:avLst/>
            </a:prstGeom>
            <a:ln w="15240">
              <a:solidFill>
                <a:srgbClr val="D9D9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nector 27"/>
            <p:cNvCxnSpPr/>
            <p:nvPr/>
          </p:nvCxnSpPr>
          <p:spPr>
            <a:xfrm>
              <a:off x="2331720" y="4562856"/>
              <a:ext cx="6975957" cy="0"/>
            </a:xfrm>
            <a:prstGeom prst="line">
              <a:avLst/>
            </a:prstGeom>
            <a:ln w="15240">
              <a:solidFill>
                <a:srgbClr val="D9D9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or 28"/>
            <p:cNvCxnSpPr/>
            <p:nvPr/>
          </p:nvCxnSpPr>
          <p:spPr>
            <a:xfrm>
              <a:off x="2331720" y="5312664"/>
              <a:ext cx="6975957" cy="0"/>
            </a:xfrm>
            <a:prstGeom prst="line">
              <a:avLst/>
            </a:prstGeom>
            <a:ln w="15240">
              <a:solidFill>
                <a:srgbClr val="D9D9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4937760" y="1234440"/>
              <a:ext cx="2377440" cy="603504"/>
            </a:xfrm>
            <a:prstGeom prst="roundRect">
              <a:avLst>
                <a:gd name="adj" fmla="val 10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총괄 PMO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2438247" y="2148840"/>
              <a:ext cx="1623060" cy="548640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사업 A</a:t>
              </a:r>
            </a:p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주력시장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4335627" y="2148840"/>
              <a:ext cx="1623060" cy="548640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사업 B</a:t>
              </a:r>
            </a:p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신흥시장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6233007" y="2148840"/>
              <a:ext cx="1623060" cy="548640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사업 C</a:t>
              </a:r>
            </a:p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전략시장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8130387" y="2148840"/>
              <a:ext cx="1623060" cy="548640"/>
            </a:xfrm>
            <a:prstGeom prst="roundRect">
              <a:avLst>
                <a:gd name="adj" fmla="val 1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사업 D</a:t>
              </a:r>
            </a:p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협력시장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502920" y="2825496"/>
              <a:ext cx="1828800" cy="475488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기획본부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502920" y="3575304"/>
              <a:ext cx="1828800" cy="475488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개발본부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502920" y="4325112"/>
              <a:ext cx="1828800" cy="475488"/>
            </a:xfrm>
            <a:prstGeom prst="roundRect">
              <a:avLst>
                <a:gd name="adj" fmla="val 1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현지화본부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502920" y="5074920"/>
              <a:ext cx="1828800" cy="475488"/>
            </a:xfrm>
            <a:prstGeom prst="roundRect">
              <a:avLst>
                <a:gd name="adj" fmla="val 10000"/>
              </a:avLst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품질본부</a:t>
              </a:r>
            </a:p>
          </p:txBody>
        </p:sp>
        <p:sp>
          <p:nvSpPr>
            <p:cNvPr id="30" name="Oval 29"/>
            <p:cNvSpPr/>
            <p:nvPr/>
          </p:nvSpPr>
          <p:spPr>
            <a:xfrm>
              <a:off x="3112617" y="2926080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Oval 30"/>
            <p:cNvSpPr/>
            <p:nvPr/>
          </p:nvSpPr>
          <p:spPr>
            <a:xfrm>
              <a:off x="3112617" y="3675887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Oval 31"/>
            <p:cNvSpPr/>
            <p:nvPr/>
          </p:nvSpPr>
          <p:spPr>
            <a:xfrm>
              <a:off x="3112617" y="4425696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Oval 32"/>
            <p:cNvSpPr/>
            <p:nvPr/>
          </p:nvSpPr>
          <p:spPr>
            <a:xfrm>
              <a:off x="3112617" y="5175504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Oval 33"/>
            <p:cNvSpPr/>
            <p:nvPr/>
          </p:nvSpPr>
          <p:spPr>
            <a:xfrm>
              <a:off x="5009997" y="2926080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Oval 34"/>
            <p:cNvSpPr/>
            <p:nvPr/>
          </p:nvSpPr>
          <p:spPr>
            <a:xfrm>
              <a:off x="5009997" y="3675887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Oval 35"/>
            <p:cNvSpPr/>
            <p:nvPr/>
          </p:nvSpPr>
          <p:spPr>
            <a:xfrm>
              <a:off x="5009997" y="4425696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Oval 36"/>
            <p:cNvSpPr/>
            <p:nvPr/>
          </p:nvSpPr>
          <p:spPr>
            <a:xfrm>
              <a:off x="5009997" y="5175504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Oval 37"/>
            <p:cNvSpPr/>
            <p:nvPr/>
          </p:nvSpPr>
          <p:spPr>
            <a:xfrm>
              <a:off x="6907377" y="2926080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Oval 38"/>
            <p:cNvSpPr/>
            <p:nvPr/>
          </p:nvSpPr>
          <p:spPr>
            <a:xfrm>
              <a:off x="6907377" y="3675887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" name="Oval 39"/>
            <p:cNvSpPr/>
            <p:nvPr/>
          </p:nvSpPr>
          <p:spPr>
            <a:xfrm>
              <a:off x="6907377" y="4425696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1" name="Oval 40"/>
            <p:cNvSpPr/>
            <p:nvPr/>
          </p:nvSpPr>
          <p:spPr>
            <a:xfrm>
              <a:off x="6907377" y="5175504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2" name="Oval 41"/>
            <p:cNvSpPr/>
            <p:nvPr/>
          </p:nvSpPr>
          <p:spPr>
            <a:xfrm>
              <a:off x="8804757" y="2926080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" name="Oval 42"/>
            <p:cNvSpPr/>
            <p:nvPr/>
          </p:nvSpPr>
          <p:spPr>
            <a:xfrm>
              <a:off x="8804757" y="3675887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4" name="Oval 43"/>
            <p:cNvSpPr/>
            <p:nvPr/>
          </p:nvSpPr>
          <p:spPr>
            <a:xfrm>
              <a:off x="8804757" y="4425696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" name="Oval 44"/>
            <p:cNvSpPr/>
            <p:nvPr/>
          </p:nvSpPr>
          <p:spPr>
            <a:xfrm>
              <a:off x="8804757" y="5175504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ORG-043 · 매트릭스 조직 · 3×2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매트릭스 조직 · 3×2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기능축 3 × 사업축 2 이중 보고 체계 (navy)</a:t>
            </a:r>
          </a:p>
        </p:txBody>
      </p:sp>
      <p:grpSp>
        <p:nvGrpSpPr>
          <p:cNvPr id="28" name="asset:ORG-043"/>
          <p:cNvGrpSpPr/>
          <p:nvPr/>
        </p:nvGrpSpPr>
        <p:grpSpPr>
          <a:xfrm>
            <a:off x="502920" y="1234440"/>
            <a:ext cx="7741767" cy="3648456"/>
            <a:chOff x="502920" y="1234440"/>
            <a:chExt cx="7741767" cy="3648456"/>
          </a:xfrm>
        </p:grpSpPr>
        <p:cxnSp>
          <p:nvCxnSpPr>
            <p:cNvPr id="11" name="Connector 10"/>
            <p:cNvCxnSpPr/>
            <p:nvPr/>
          </p:nvCxnSpPr>
          <p:spPr>
            <a:xfrm>
              <a:off x="6126480" y="1837944"/>
              <a:ext cx="0" cy="256032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ctor 11"/>
            <p:cNvCxnSpPr/>
            <p:nvPr/>
          </p:nvCxnSpPr>
          <p:spPr>
            <a:xfrm>
              <a:off x="4952847" y="2093976"/>
              <a:ext cx="2286000" cy="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ctor 12"/>
            <p:cNvCxnSpPr/>
            <p:nvPr/>
          </p:nvCxnSpPr>
          <p:spPr>
            <a:xfrm>
              <a:off x="4952847" y="2093976"/>
              <a:ext cx="0" cy="54864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or 13"/>
            <p:cNvCxnSpPr/>
            <p:nvPr/>
          </p:nvCxnSpPr>
          <p:spPr>
            <a:xfrm>
              <a:off x="7238847" y="2093976"/>
              <a:ext cx="0" cy="54864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4"/>
            <p:cNvCxnSpPr/>
            <p:nvPr/>
          </p:nvCxnSpPr>
          <p:spPr>
            <a:xfrm flipH="1">
              <a:off x="2331720" y="1536192"/>
              <a:ext cx="2606040" cy="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/>
            <p:nvPr/>
          </p:nvCxnSpPr>
          <p:spPr>
            <a:xfrm>
              <a:off x="2331720" y="1536192"/>
              <a:ext cx="0" cy="3026664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 16"/>
            <p:cNvCxnSpPr/>
            <p:nvPr/>
          </p:nvCxnSpPr>
          <p:spPr>
            <a:xfrm>
              <a:off x="4952847" y="2697480"/>
              <a:ext cx="0" cy="2185416"/>
            </a:xfrm>
            <a:prstGeom prst="line">
              <a:avLst/>
            </a:prstGeom>
            <a:ln w="15240">
              <a:solidFill>
                <a:srgbClr val="D9D9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or 17"/>
            <p:cNvCxnSpPr/>
            <p:nvPr/>
          </p:nvCxnSpPr>
          <p:spPr>
            <a:xfrm>
              <a:off x="7238847" y="2697480"/>
              <a:ext cx="0" cy="2185416"/>
            </a:xfrm>
            <a:prstGeom prst="line">
              <a:avLst/>
            </a:prstGeom>
            <a:ln w="15240">
              <a:solidFill>
                <a:srgbClr val="D9D9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or 18"/>
            <p:cNvCxnSpPr/>
            <p:nvPr/>
          </p:nvCxnSpPr>
          <p:spPr>
            <a:xfrm>
              <a:off x="2331720" y="3063240"/>
              <a:ext cx="5272887" cy="0"/>
            </a:xfrm>
            <a:prstGeom prst="line">
              <a:avLst/>
            </a:prstGeom>
            <a:ln w="15240">
              <a:solidFill>
                <a:srgbClr val="D9D9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/>
            <p:nvPr/>
          </p:nvCxnSpPr>
          <p:spPr>
            <a:xfrm>
              <a:off x="2331720" y="3813048"/>
              <a:ext cx="5272887" cy="0"/>
            </a:xfrm>
            <a:prstGeom prst="line">
              <a:avLst/>
            </a:prstGeom>
            <a:ln w="15240">
              <a:solidFill>
                <a:srgbClr val="D9D9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>
              <a:off x="2331720" y="4562856"/>
              <a:ext cx="5272887" cy="0"/>
            </a:xfrm>
            <a:prstGeom prst="line">
              <a:avLst/>
            </a:prstGeom>
            <a:ln w="15240">
              <a:solidFill>
                <a:srgbClr val="D9D9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4937760" y="1234440"/>
              <a:ext cx="2377440" cy="603504"/>
            </a:xfrm>
            <a:prstGeom prst="roundRect">
              <a:avLst>
                <a:gd name="adj" fmla="val 10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총괄 PMO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3947007" y="2148840"/>
              <a:ext cx="2011680" cy="548640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사업 A</a:t>
              </a:r>
            </a:p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주력시장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6233007" y="2148840"/>
              <a:ext cx="2011680" cy="548640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사업 B</a:t>
              </a:r>
            </a:p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신흥시장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502920" y="2825496"/>
              <a:ext cx="1828800" cy="475488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기획본부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502920" y="3575304"/>
              <a:ext cx="1828800" cy="475488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개발본부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502920" y="4325112"/>
              <a:ext cx="1828800" cy="475488"/>
            </a:xfrm>
            <a:prstGeom prst="roundRect">
              <a:avLst>
                <a:gd name="adj" fmla="val 1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현지화본부</a:t>
              </a:r>
            </a:p>
          </p:txBody>
        </p:sp>
        <p:sp>
          <p:nvSpPr>
            <p:cNvPr id="22" name="Oval 21"/>
            <p:cNvSpPr/>
            <p:nvPr/>
          </p:nvSpPr>
          <p:spPr>
            <a:xfrm>
              <a:off x="4815687" y="2926080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Oval 22"/>
            <p:cNvSpPr/>
            <p:nvPr/>
          </p:nvSpPr>
          <p:spPr>
            <a:xfrm>
              <a:off x="4815687" y="3675887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Oval 23"/>
            <p:cNvSpPr/>
            <p:nvPr/>
          </p:nvSpPr>
          <p:spPr>
            <a:xfrm>
              <a:off x="4815687" y="4425696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Oval 24"/>
            <p:cNvSpPr/>
            <p:nvPr/>
          </p:nvSpPr>
          <p:spPr>
            <a:xfrm>
              <a:off x="7101687" y="2926080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Oval 25"/>
            <p:cNvSpPr/>
            <p:nvPr/>
          </p:nvSpPr>
          <p:spPr>
            <a:xfrm>
              <a:off x="7101687" y="3675887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Oval 26"/>
            <p:cNvSpPr/>
            <p:nvPr/>
          </p:nvSpPr>
          <p:spPr>
            <a:xfrm>
              <a:off x="7101687" y="4425696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ORG-044 · 매트릭스 조직 · 4×3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매트릭스 조직 · 4×3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기능축 4 × 사업축 3 이중 보고 체계 (blue)</a:t>
            </a:r>
          </a:p>
        </p:txBody>
      </p:sp>
      <p:grpSp>
        <p:nvGrpSpPr>
          <p:cNvPr id="39" name="asset:ORG-044"/>
          <p:cNvGrpSpPr/>
          <p:nvPr/>
        </p:nvGrpSpPr>
        <p:grpSpPr>
          <a:xfrm>
            <a:off x="502920" y="1234440"/>
            <a:ext cx="8884767" cy="4398264"/>
            <a:chOff x="502920" y="1234440"/>
            <a:chExt cx="8884767" cy="4398264"/>
          </a:xfrm>
        </p:grpSpPr>
        <p:cxnSp>
          <p:nvCxnSpPr>
            <p:cNvPr id="13" name="Connector 12"/>
            <p:cNvCxnSpPr/>
            <p:nvPr/>
          </p:nvCxnSpPr>
          <p:spPr>
            <a:xfrm>
              <a:off x="6126480" y="1837944"/>
              <a:ext cx="0" cy="256032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or 13"/>
            <p:cNvCxnSpPr/>
            <p:nvPr/>
          </p:nvCxnSpPr>
          <p:spPr>
            <a:xfrm>
              <a:off x="3809846" y="2093976"/>
              <a:ext cx="4572001" cy="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4"/>
            <p:cNvCxnSpPr/>
            <p:nvPr/>
          </p:nvCxnSpPr>
          <p:spPr>
            <a:xfrm>
              <a:off x="3809846" y="2093976"/>
              <a:ext cx="0" cy="54864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/>
            <p:nvPr/>
          </p:nvCxnSpPr>
          <p:spPr>
            <a:xfrm>
              <a:off x="6095847" y="2093976"/>
              <a:ext cx="0" cy="54864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 16"/>
            <p:cNvCxnSpPr/>
            <p:nvPr/>
          </p:nvCxnSpPr>
          <p:spPr>
            <a:xfrm>
              <a:off x="8381847" y="2093976"/>
              <a:ext cx="0" cy="54864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or 17"/>
            <p:cNvCxnSpPr/>
            <p:nvPr/>
          </p:nvCxnSpPr>
          <p:spPr>
            <a:xfrm flipH="1">
              <a:off x="2331720" y="1536192"/>
              <a:ext cx="2606040" cy="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or 18"/>
            <p:cNvCxnSpPr/>
            <p:nvPr/>
          </p:nvCxnSpPr>
          <p:spPr>
            <a:xfrm>
              <a:off x="2331720" y="1536192"/>
              <a:ext cx="0" cy="3776472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/>
            <p:nvPr/>
          </p:nvCxnSpPr>
          <p:spPr>
            <a:xfrm>
              <a:off x="3809847" y="2697480"/>
              <a:ext cx="0" cy="2935224"/>
            </a:xfrm>
            <a:prstGeom prst="line">
              <a:avLst/>
            </a:prstGeom>
            <a:ln w="15240">
              <a:solidFill>
                <a:srgbClr val="D9D9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>
              <a:off x="6095847" y="2697480"/>
              <a:ext cx="0" cy="2935224"/>
            </a:xfrm>
            <a:prstGeom prst="line">
              <a:avLst/>
            </a:prstGeom>
            <a:ln w="15240">
              <a:solidFill>
                <a:srgbClr val="D9D9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 21"/>
            <p:cNvCxnSpPr/>
            <p:nvPr/>
          </p:nvCxnSpPr>
          <p:spPr>
            <a:xfrm>
              <a:off x="8381847" y="2697480"/>
              <a:ext cx="0" cy="2935224"/>
            </a:xfrm>
            <a:prstGeom prst="line">
              <a:avLst/>
            </a:prstGeom>
            <a:ln w="15240">
              <a:solidFill>
                <a:srgbClr val="D9D9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or 22"/>
            <p:cNvCxnSpPr/>
            <p:nvPr/>
          </p:nvCxnSpPr>
          <p:spPr>
            <a:xfrm>
              <a:off x="2331720" y="3063240"/>
              <a:ext cx="6415887" cy="0"/>
            </a:xfrm>
            <a:prstGeom prst="line">
              <a:avLst/>
            </a:prstGeom>
            <a:ln w="15240">
              <a:solidFill>
                <a:srgbClr val="D9D9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or 23"/>
            <p:cNvCxnSpPr/>
            <p:nvPr/>
          </p:nvCxnSpPr>
          <p:spPr>
            <a:xfrm>
              <a:off x="2331720" y="3813048"/>
              <a:ext cx="6415887" cy="0"/>
            </a:xfrm>
            <a:prstGeom prst="line">
              <a:avLst/>
            </a:prstGeom>
            <a:ln w="15240">
              <a:solidFill>
                <a:srgbClr val="D9D9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 24"/>
            <p:cNvCxnSpPr/>
            <p:nvPr/>
          </p:nvCxnSpPr>
          <p:spPr>
            <a:xfrm>
              <a:off x="2331720" y="4562856"/>
              <a:ext cx="6415887" cy="0"/>
            </a:xfrm>
            <a:prstGeom prst="line">
              <a:avLst/>
            </a:prstGeom>
            <a:ln w="15240">
              <a:solidFill>
                <a:srgbClr val="D9D9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ctor 25"/>
            <p:cNvCxnSpPr/>
            <p:nvPr/>
          </p:nvCxnSpPr>
          <p:spPr>
            <a:xfrm>
              <a:off x="2331720" y="5312664"/>
              <a:ext cx="6415887" cy="0"/>
            </a:xfrm>
            <a:prstGeom prst="line">
              <a:avLst/>
            </a:prstGeom>
            <a:ln w="15240">
              <a:solidFill>
                <a:srgbClr val="D9D9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4937760" y="1234440"/>
              <a:ext cx="2377440" cy="603504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총괄 PMO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2804007" y="2148840"/>
              <a:ext cx="2011680" cy="548640"/>
            </a:xfrm>
            <a:prstGeom prst="roundRect">
              <a:avLst>
                <a:gd name="adj" fmla="val 10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사업 A</a:t>
              </a:r>
            </a:p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주력시장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5090007" y="2148840"/>
              <a:ext cx="2011680" cy="548640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사업 B</a:t>
              </a:r>
            </a:p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신흥시장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7376007" y="2148840"/>
              <a:ext cx="2011680" cy="548640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사업 C</a:t>
              </a:r>
            </a:p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전략시장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502920" y="2825496"/>
              <a:ext cx="1828800" cy="475488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기획본부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502920" y="3575304"/>
              <a:ext cx="1828800" cy="475488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개발본부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502920" y="4325112"/>
              <a:ext cx="1828800" cy="475488"/>
            </a:xfrm>
            <a:prstGeom prst="roundRect">
              <a:avLst>
                <a:gd name="adj" fmla="val 1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현지화본부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502920" y="5074920"/>
              <a:ext cx="1828800" cy="475488"/>
            </a:xfrm>
            <a:prstGeom prst="roundRect">
              <a:avLst>
                <a:gd name="adj" fmla="val 10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품질본부</a:t>
              </a:r>
            </a:p>
          </p:txBody>
        </p:sp>
        <p:sp>
          <p:nvSpPr>
            <p:cNvPr id="27" name="Oval 26"/>
            <p:cNvSpPr/>
            <p:nvPr/>
          </p:nvSpPr>
          <p:spPr>
            <a:xfrm>
              <a:off x="3672687" y="2926080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Oval 27"/>
            <p:cNvSpPr/>
            <p:nvPr/>
          </p:nvSpPr>
          <p:spPr>
            <a:xfrm>
              <a:off x="3672687" y="3675887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Oval 28"/>
            <p:cNvSpPr/>
            <p:nvPr/>
          </p:nvSpPr>
          <p:spPr>
            <a:xfrm>
              <a:off x="3672687" y="4425696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Oval 29"/>
            <p:cNvSpPr/>
            <p:nvPr/>
          </p:nvSpPr>
          <p:spPr>
            <a:xfrm>
              <a:off x="3672687" y="5175504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Oval 30"/>
            <p:cNvSpPr/>
            <p:nvPr/>
          </p:nvSpPr>
          <p:spPr>
            <a:xfrm>
              <a:off x="5958687" y="2926080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Oval 31"/>
            <p:cNvSpPr/>
            <p:nvPr/>
          </p:nvSpPr>
          <p:spPr>
            <a:xfrm>
              <a:off x="5958687" y="3675887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Oval 32"/>
            <p:cNvSpPr/>
            <p:nvPr/>
          </p:nvSpPr>
          <p:spPr>
            <a:xfrm>
              <a:off x="5958687" y="4425696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Oval 33"/>
            <p:cNvSpPr/>
            <p:nvPr/>
          </p:nvSpPr>
          <p:spPr>
            <a:xfrm>
              <a:off x="5958687" y="5175504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Oval 34"/>
            <p:cNvSpPr/>
            <p:nvPr/>
          </p:nvSpPr>
          <p:spPr>
            <a:xfrm>
              <a:off x="8244687" y="2926080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Oval 35"/>
            <p:cNvSpPr/>
            <p:nvPr/>
          </p:nvSpPr>
          <p:spPr>
            <a:xfrm>
              <a:off x="8244687" y="3675887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Oval 36"/>
            <p:cNvSpPr/>
            <p:nvPr/>
          </p:nvSpPr>
          <p:spPr>
            <a:xfrm>
              <a:off x="8244687" y="4425696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Oval 37"/>
            <p:cNvSpPr/>
            <p:nvPr/>
          </p:nvSpPr>
          <p:spPr>
            <a:xfrm>
              <a:off x="8244687" y="5175504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ORG-045 · 매트릭스 조직 · 3×4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매트릭스 조직 · 3×4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기능축 3 × 사업축 4 이중 보고 체계 (purple)</a:t>
            </a:r>
          </a:p>
        </p:txBody>
      </p:sp>
      <p:grpSp>
        <p:nvGrpSpPr>
          <p:cNvPr id="40" name="asset:ORG-045"/>
          <p:cNvGrpSpPr/>
          <p:nvPr/>
        </p:nvGrpSpPr>
        <p:grpSpPr>
          <a:xfrm>
            <a:off x="502920" y="1234440"/>
            <a:ext cx="9250527" cy="3648456"/>
            <a:chOff x="502920" y="1234440"/>
            <a:chExt cx="9250527" cy="3648456"/>
          </a:xfrm>
        </p:grpSpPr>
        <p:cxnSp>
          <p:nvCxnSpPr>
            <p:cNvPr id="13" name="Connector 12"/>
            <p:cNvCxnSpPr/>
            <p:nvPr/>
          </p:nvCxnSpPr>
          <p:spPr>
            <a:xfrm>
              <a:off x="6126480" y="1837944"/>
              <a:ext cx="0" cy="256032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or 13"/>
            <p:cNvCxnSpPr/>
            <p:nvPr/>
          </p:nvCxnSpPr>
          <p:spPr>
            <a:xfrm>
              <a:off x="3249777" y="2093976"/>
              <a:ext cx="5692139" cy="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4"/>
            <p:cNvCxnSpPr/>
            <p:nvPr/>
          </p:nvCxnSpPr>
          <p:spPr>
            <a:xfrm>
              <a:off x="3249777" y="2093976"/>
              <a:ext cx="0" cy="54864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/>
            <p:nvPr/>
          </p:nvCxnSpPr>
          <p:spPr>
            <a:xfrm>
              <a:off x="5147157" y="2093976"/>
              <a:ext cx="0" cy="54864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 16"/>
            <p:cNvCxnSpPr/>
            <p:nvPr/>
          </p:nvCxnSpPr>
          <p:spPr>
            <a:xfrm>
              <a:off x="7044537" y="2093976"/>
              <a:ext cx="0" cy="54864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or 17"/>
            <p:cNvCxnSpPr/>
            <p:nvPr/>
          </p:nvCxnSpPr>
          <p:spPr>
            <a:xfrm>
              <a:off x="8941916" y="2093976"/>
              <a:ext cx="0" cy="54864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or 18"/>
            <p:cNvCxnSpPr/>
            <p:nvPr/>
          </p:nvCxnSpPr>
          <p:spPr>
            <a:xfrm flipH="1">
              <a:off x="2331720" y="1536192"/>
              <a:ext cx="2606040" cy="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/>
            <p:nvPr/>
          </p:nvCxnSpPr>
          <p:spPr>
            <a:xfrm>
              <a:off x="2331720" y="1536192"/>
              <a:ext cx="0" cy="3026664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>
              <a:off x="3249777" y="2697480"/>
              <a:ext cx="0" cy="2185416"/>
            </a:xfrm>
            <a:prstGeom prst="line">
              <a:avLst/>
            </a:prstGeom>
            <a:ln w="15240">
              <a:solidFill>
                <a:srgbClr val="D9D9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 21"/>
            <p:cNvCxnSpPr/>
            <p:nvPr/>
          </p:nvCxnSpPr>
          <p:spPr>
            <a:xfrm>
              <a:off x="5147157" y="2697480"/>
              <a:ext cx="0" cy="2185416"/>
            </a:xfrm>
            <a:prstGeom prst="line">
              <a:avLst/>
            </a:prstGeom>
            <a:ln w="15240">
              <a:solidFill>
                <a:srgbClr val="D9D9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or 22"/>
            <p:cNvCxnSpPr/>
            <p:nvPr/>
          </p:nvCxnSpPr>
          <p:spPr>
            <a:xfrm>
              <a:off x="7044537" y="2697480"/>
              <a:ext cx="0" cy="2185416"/>
            </a:xfrm>
            <a:prstGeom prst="line">
              <a:avLst/>
            </a:prstGeom>
            <a:ln w="15240">
              <a:solidFill>
                <a:srgbClr val="D9D9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or 23"/>
            <p:cNvCxnSpPr/>
            <p:nvPr/>
          </p:nvCxnSpPr>
          <p:spPr>
            <a:xfrm>
              <a:off x="8941917" y="2697480"/>
              <a:ext cx="0" cy="2185416"/>
            </a:xfrm>
            <a:prstGeom prst="line">
              <a:avLst/>
            </a:prstGeom>
            <a:ln w="15240">
              <a:solidFill>
                <a:srgbClr val="D9D9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 24"/>
            <p:cNvCxnSpPr/>
            <p:nvPr/>
          </p:nvCxnSpPr>
          <p:spPr>
            <a:xfrm>
              <a:off x="2331720" y="3063240"/>
              <a:ext cx="6975957" cy="0"/>
            </a:xfrm>
            <a:prstGeom prst="line">
              <a:avLst/>
            </a:prstGeom>
            <a:ln w="15240">
              <a:solidFill>
                <a:srgbClr val="D9D9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ctor 25"/>
            <p:cNvCxnSpPr/>
            <p:nvPr/>
          </p:nvCxnSpPr>
          <p:spPr>
            <a:xfrm>
              <a:off x="2331720" y="3813048"/>
              <a:ext cx="6975957" cy="0"/>
            </a:xfrm>
            <a:prstGeom prst="line">
              <a:avLst/>
            </a:prstGeom>
            <a:ln w="15240">
              <a:solidFill>
                <a:srgbClr val="D9D9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or 26"/>
            <p:cNvCxnSpPr/>
            <p:nvPr/>
          </p:nvCxnSpPr>
          <p:spPr>
            <a:xfrm>
              <a:off x="2331720" y="4562856"/>
              <a:ext cx="6975957" cy="0"/>
            </a:xfrm>
            <a:prstGeom prst="line">
              <a:avLst/>
            </a:prstGeom>
            <a:ln w="15240">
              <a:solidFill>
                <a:srgbClr val="D9D9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4937760" y="1234440"/>
              <a:ext cx="2377440" cy="603504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총괄 PMO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2438247" y="2148840"/>
              <a:ext cx="1623060" cy="548640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사업 A</a:t>
              </a:r>
            </a:p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주력시장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4335627" y="2148840"/>
              <a:ext cx="1623060" cy="548640"/>
            </a:xfrm>
            <a:prstGeom prst="roundRect">
              <a:avLst>
                <a:gd name="adj" fmla="val 1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사업 B</a:t>
              </a:r>
            </a:p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신흥시장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6233007" y="2148840"/>
              <a:ext cx="1623060" cy="548640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사업 C</a:t>
              </a:r>
            </a:p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전략시장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8130387" y="2148840"/>
              <a:ext cx="1623060" cy="548640"/>
            </a:xfrm>
            <a:prstGeom prst="roundRect">
              <a:avLst>
                <a:gd name="adj" fmla="val 10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사업 D</a:t>
              </a:r>
            </a:p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협력시장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502920" y="2825496"/>
              <a:ext cx="1828800" cy="475488"/>
            </a:xfrm>
            <a:prstGeom prst="roundRect">
              <a:avLst>
                <a:gd name="adj" fmla="val 1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기획본부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502920" y="3575304"/>
              <a:ext cx="1828800" cy="475488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개발본부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502920" y="4325112"/>
              <a:ext cx="1828800" cy="475488"/>
            </a:xfrm>
            <a:prstGeom prst="roundRect">
              <a:avLst>
                <a:gd name="adj" fmla="val 10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현지화본부</a:t>
              </a:r>
            </a:p>
          </p:txBody>
        </p:sp>
        <p:sp>
          <p:nvSpPr>
            <p:cNvPr id="28" name="Oval 27"/>
            <p:cNvSpPr/>
            <p:nvPr/>
          </p:nvSpPr>
          <p:spPr>
            <a:xfrm>
              <a:off x="3112617" y="2926080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Oval 28"/>
            <p:cNvSpPr/>
            <p:nvPr/>
          </p:nvSpPr>
          <p:spPr>
            <a:xfrm>
              <a:off x="3112617" y="3675887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Oval 29"/>
            <p:cNvSpPr/>
            <p:nvPr/>
          </p:nvSpPr>
          <p:spPr>
            <a:xfrm>
              <a:off x="3112617" y="4425696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Oval 30"/>
            <p:cNvSpPr/>
            <p:nvPr/>
          </p:nvSpPr>
          <p:spPr>
            <a:xfrm>
              <a:off x="5009997" y="2926080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Oval 31"/>
            <p:cNvSpPr/>
            <p:nvPr/>
          </p:nvSpPr>
          <p:spPr>
            <a:xfrm>
              <a:off x="5009997" y="3675887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Oval 32"/>
            <p:cNvSpPr/>
            <p:nvPr/>
          </p:nvSpPr>
          <p:spPr>
            <a:xfrm>
              <a:off x="5009997" y="4425696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Oval 33"/>
            <p:cNvSpPr/>
            <p:nvPr/>
          </p:nvSpPr>
          <p:spPr>
            <a:xfrm>
              <a:off x="6907377" y="2926080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Oval 34"/>
            <p:cNvSpPr/>
            <p:nvPr/>
          </p:nvSpPr>
          <p:spPr>
            <a:xfrm>
              <a:off x="6907377" y="3675887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Oval 35"/>
            <p:cNvSpPr/>
            <p:nvPr/>
          </p:nvSpPr>
          <p:spPr>
            <a:xfrm>
              <a:off x="6907377" y="4425696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Oval 36"/>
            <p:cNvSpPr/>
            <p:nvPr/>
          </p:nvSpPr>
          <p:spPr>
            <a:xfrm>
              <a:off x="8804757" y="2926080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Oval 37"/>
            <p:cNvSpPr/>
            <p:nvPr/>
          </p:nvSpPr>
          <p:spPr>
            <a:xfrm>
              <a:off x="8804757" y="3675887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Oval 38"/>
            <p:cNvSpPr/>
            <p:nvPr/>
          </p:nvSpPr>
          <p:spPr>
            <a:xfrm>
              <a:off x="8804757" y="4425696"/>
              <a:ext cx="274320" cy="274320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