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ORG-031 · 매트릭스 조직 · 3×2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매트릭스 조직 · 3×2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기능축 3 × 사업축 2 이중 보고 체계 (navy)</a:t>
            </a:r>
          </a:p>
        </p:txBody>
      </p:sp>
      <p:grpSp>
        <p:nvGrpSpPr>
          <p:cNvPr id="28" name="asset:ORG-031"/>
          <p:cNvGrpSpPr/>
          <p:nvPr/>
        </p:nvGrpSpPr>
        <p:grpSpPr>
          <a:xfrm>
            <a:off x="502920" y="1234440"/>
            <a:ext cx="7741767" cy="3648456"/>
            <a:chOff x="502920" y="1234440"/>
            <a:chExt cx="7741767" cy="3648456"/>
          </a:xfrm>
        </p:grpSpPr>
        <p:cxnSp>
          <p:nvCxnSpPr>
            <p:cNvPr id="11" name="Connector 10"/>
            <p:cNvCxnSpPr/>
            <p:nvPr/>
          </p:nvCxnSpPr>
          <p:spPr>
            <a:xfrm>
              <a:off x="6126480" y="1837944"/>
              <a:ext cx="0" cy="256032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4952847" y="2093976"/>
              <a:ext cx="228600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4952847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7238847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 flipH="1">
              <a:off x="2331720" y="1536192"/>
              <a:ext cx="260604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2331720" y="1536192"/>
              <a:ext cx="0" cy="30266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4952847" y="2697480"/>
              <a:ext cx="0" cy="2185416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7238847" y="2697480"/>
              <a:ext cx="0" cy="2185416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2331720" y="3063240"/>
              <a:ext cx="527288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2331720" y="3813048"/>
              <a:ext cx="527288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2331720" y="4562856"/>
              <a:ext cx="527288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937760" y="1234440"/>
              <a:ext cx="2377440" cy="603504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 PMO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947007" y="2148840"/>
              <a:ext cx="2011680" cy="548640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A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주력시장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33007" y="2148840"/>
              <a:ext cx="2011680" cy="54864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B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신흥시장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02920" y="2825496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기획본부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02920" y="3575304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개발본부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02920" y="4325112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현지화본부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481568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481568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481568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710168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710168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710168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ORG-032 · 매트릭스 조직 · 4×3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매트릭스 조직 · 4×3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기능축 4 × 사업축 3 이중 보고 체계 (blue)</a:t>
            </a:r>
          </a:p>
        </p:txBody>
      </p:sp>
      <p:grpSp>
        <p:nvGrpSpPr>
          <p:cNvPr id="39" name="asset:ORG-032"/>
          <p:cNvGrpSpPr/>
          <p:nvPr/>
        </p:nvGrpSpPr>
        <p:grpSpPr>
          <a:xfrm>
            <a:off x="502920" y="1234440"/>
            <a:ext cx="8884767" cy="4398264"/>
            <a:chOff x="502920" y="1234440"/>
            <a:chExt cx="8884767" cy="4398264"/>
          </a:xfrm>
        </p:grpSpPr>
        <p:cxnSp>
          <p:nvCxnSpPr>
            <p:cNvPr id="13" name="Connector 12"/>
            <p:cNvCxnSpPr/>
            <p:nvPr/>
          </p:nvCxnSpPr>
          <p:spPr>
            <a:xfrm>
              <a:off x="6126480" y="1837944"/>
              <a:ext cx="0" cy="256032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3809846" y="2093976"/>
              <a:ext cx="4572001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3809846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6095847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8381847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 flipH="1">
              <a:off x="2331720" y="1536192"/>
              <a:ext cx="260604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2331720" y="1536192"/>
              <a:ext cx="0" cy="3776472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3809847" y="2697480"/>
              <a:ext cx="0" cy="2935224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6095847" y="2697480"/>
              <a:ext cx="0" cy="2935224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8381847" y="2697480"/>
              <a:ext cx="0" cy="2935224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2331720" y="3063240"/>
              <a:ext cx="641588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2331720" y="3813048"/>
              <a:ext cx="641588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2331720" y="4562856"/>
              <a:ext cx="641588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2331720" y="5312664"/>
              <a:ext cx="641588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937760" y="1234440"/>
              <a:ext cx="2377440" cy="603504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 PMO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804007" y="2148840"/>
              <a:ext cx="2011680" cy="548640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A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주력시장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090007" y="2148840"/>
              <a:ext cx="2011680" cy="54864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B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신흥시장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7376007" y="2148840"/>
              <a:ext cx="2011680" cy="54864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C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전략시장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02920" y="2825496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기획본부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02920" y="3575304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개발본부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02920" y="4325112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현지화본부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02920" y="5074920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품질본부</a:t>
              </a:r>
            </a:p>
          </p:txBody>
        </p:sp>
        <p:sp>
          <p:nvSpPr>
            <p:cNvPr id="27" name="Oval 26"/>
            <p:cNvSpPr/>
            <p:nvPr/>
          </p:nvSpPr>
          <p:spPr>
            <a:xfrm>
              <a:off x="367268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367268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367268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3672687" y="5175504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595868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595868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595868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5958687" y="5175504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824468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824468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824468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8244687" y="5175504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ORG-033 · 매트릭스 조직 · 3×4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매트릭스 조직 · 3×4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기능축 3 × 사업축 4 이중 보고 체계 (purple)</a:t>
            </a:r>
          </a:p>
        </p:txBody>
      </p:sp>
      <p:grpSp>
        <p:nvGrpSpPr>
          <p:cNvPr id="40" name="asset:ORG-033"/>
          <p:cNvGrpSpPr/>
          <p:nvPr/>
        </p:nvGrpSpPr>
        <p:grpSpPr>
          <a:xfrm>
            <a:off x="502920" y="1234440"/>
            <a:ext cx="9250527" cy="3648456"/>
            <a:chOff x="502920" y="1234440"/>
            <a:chExt cx="9250527" cy="3648456"/>
          </a:xfrm>
        </p:grpSpPr>
        <p:cxnSp>
          <p:nvCxnSpPr>
            <p:cNvPr id="13" name="Connector 12"/>
            <p:cNvCxnSpPr/>
            <p:nvPr/>
          </p:nvCxnSpPr>
          <p:spPr>
            <a:xfrm>
              <a:off x="6126480" y="1837944"/>
              <a:ext cx="0" cy="256032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3249777" y="2093976"/>
              <a:ext cx="5692139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3249777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5147157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7044537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8941916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 flipH="1">
              <a:off x="2331720" y="1536192"/>
              <a:ext cx="260604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2331720" y="1536192"/>
              <a:ext cx="0" cy="30266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3249777" y="2697480"/>
              <a:ext cx="0" cy="2185416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5147157" y="2697480"/>
              <a:ext cx="0" cy="2185416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7044537" y="2697480"/>
              <a:ext cx="0" cy="2185416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8941917" y="2697480"/>
              <a:ext cx="0" cy="2185416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2331720" y="3063240"/>
              <a:ext cx="697595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2331720" y="3813048"/>
              <a:ext cx="697595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>
              <a:off x="2331720" y="4562856"/>
              <a:ext cx="697595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937760" y="1234440"/>
              <a:ext cx="2377440" cy="603504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 PMO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438247" y="2148840"/>
              <a:ext cx="1623060" cy="548640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A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주력시장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335627" y="2148840"/>
              <a:ext cx="1623060" cy="54864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B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신흥시장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33007" y="2148840"/>
              <a:ext cx="1623060" cy="54864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C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전략시장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130387" y="2148840"/>
              <a:ext cx="1623060" cy="548640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D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협력시장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02920" y="2825496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기획본부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02920" y="3575304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개발본부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02920" y="4325112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현지화본부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311261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311261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311261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500999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500999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500999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690737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690737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690737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880475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880475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880475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ORG-034 · 매트릭스 조직 · 4×2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매트릭스 조직 · 4×2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기능축 4 × 사업축 2 이중 보고 체계 (ink)</a:t>
            </a:r>
          </a:p>
        </p:txBody>
      </p:sp>
      <p:grpSp>
        <p:nvGrpSpPr>
          <p:cNvPr id="32" name="asset:ORG-034"/>
          <p:cNvGrpSpPr/>
          <p:nvPr/>
        </p:nvGrpSpPr>
        <p:grpSpPr>
          <a:xfrm>
            <a:off x="502920" y="1234440"/>
            <a:ext cx="7741767" cy="4398264"/>
            <a:chOff x="502920" y="1234440"/>
            <a:chExt cx="7741767" cy="4398264"/>
          </a:xfrm>
        </p:grpSpPr>
        <p:cxnSp>
          <p:nvCxnSpPr>
            <p:cNvPr id="12" name="Connector 11"/>
            <p:cNvCxnSpPr/>
            <p:nvPr/>
          </p:nvCxnSpPr>
          <p:spPr>
            <a:xfrm>
              <a:off x="6126480" y="1837944"/>
              <a:ext cx="0" cy="256032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4952847" y="2093976"/>
              <a:ext cx="228600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4952847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7238847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H="1">
              <a:off x="2331720" y="1536192"/>
              <a:ext cx="260604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2331720" y="1536192"/>
              <a:ext cx="0" cy="3776472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4952847" y="2697480"/>
              <a:ext cx="0" cy="2935224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7238847" y="2697480"/>
              <a:ext cx="0" cy="2935224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2331720" y="3063240"/>
              <a:ext cx="527288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2331720" y="3813048"/>
              <a:ext cx="527288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2331720" y="4562856"/>
              <a:ext cx="527288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2331720" y="5312664"/>
              <a:ext cx="527288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937760" y="1234440"/>
              <a:ext cx="2377440" cy="603504"/>
            </a:xfrm>
            <a:prstGeom prst="roundRect">
              <a:avLst>
                <a:gd name="adj" fmla="val 10000"/>
              </a:avLst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 PMO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947007" y="2148840"/>
              <a:ext cx="2011680" cy="548640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A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주력시장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33007" y="2148840"/>
              <a:ext cx="2011680" cy="54864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B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신흥시장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02920" y="2825496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기획본부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02920" y="3575304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개발본부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02920" y="4325112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현지화본부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02920" y="5074920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품질본부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481568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481568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481568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4815687" y="5175504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710168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710168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710168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7101687" y="5175504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ORG-035 · 매트릭스 조직 · 3×3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매트릭스 조직 · 3×3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기능축 3 × 사업축 3 이중 보고 체계 (teal)</a:t>
            </a:r>
          </a:p>
        </p:txBody>
      </p:sp>
      <p:grpSp>
        <p:nvGrpSpPr>
          <p:cNvPr id="34" name="asset:ORG-035"/>
          <p:cNvGrpSpPr/>
          <p:nvPr/>
        </p:nvGrpSpPr>
        <p:grpSpPr>
          <a:xfrm>
            <a:off x="502920" y="1234440"/>
            <a:ext cx="8884767" cy="3648456"/>
            <a:chOff x="502920" y="1234440"/>
            <a:chExt cx="8884767" cy="3648456"/>
          </a:xfrm>
        </p:grpSpPr>
        <p:cxnSp>
          <p:nvCxnSpPr>
            <p:cNvPr id="12" name="Connector 11"/>
            <p:cNvCxnSpPr/>
            <p:nvPr/>
          </p:nvCxnSpPr>
          <p:spPr>
            <a:xfrm>
              <a:off x="6126480" y="1837944"/>
              <a:ext cx="0" cy="256032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3809846" y="2093976"/>
              <a:ext cx="4572001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3809846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6095847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8381847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 flipH="1">
              <a:off x="2331720" y="1536192"/>
              <a:ext cx="260604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2331720" y="1536192"/>
              <a:ext cx="0" cy="30266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3809847" y="2697480"/>
              <a:ext cx="0" cy="2185416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6095847" y="2697480"/>
              <a:ext cx="0" cy="2185416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8381847" y="2697480"/>
              <a:ext cx="0" cy="2185416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2331720" y="3063240"/>
              <a:ext cx="641588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2331720" y="3813048"/>
              <a:ext cx="641588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2331720" y="4562856"/>
              <a:ext cx="641588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937760" y="1234440"/>
              <a:ext cx="2377440" cy="603504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 PMO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804007" y="2148840"/>
              <a:ext cx="2011680" cy="548640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A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주력시장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090007" y="2148840"/>
              <a:ext cx="2011680" cy="54864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B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신흥시장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7376007" y="2148840"/>
              <a:ext cx="2011680" cy="54864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C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전략시장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02920" y="2825496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기획본부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02920" y="3575304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개발본부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02920" y="4325112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현지화본부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367268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367268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367268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595868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595868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595868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824468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824468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824468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ORG-036 · 매트릭스 조직 · 4×4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매트릭스 조직 · 4×4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기능축 4 × 사업축 4 이중 보고 체계 (steel)</a:t>
            </a:r>
          </a:p>
        </p:txBody>
      </p:sp>
      <p:grpSp>
        <p:nvGrpSpPr>
          <p:cNvPr id="46" name="asset:ORG-036"/>
          <p:cNvGrpSpPr/>
          <p:nvPr/>
        </p:nvGrpSpPr>
        <p:grpSpPr>
          <a:xfrm>
            <a:off x="502920" y="1234440"/>
            <a:ext cx="9250527" cy="4398264"/>
            <a:chOff x="502920" y="1234440"/>
            <a:chExt cx="9250527" cy="4398264"/>
          </a:xfrm>
        </p:grpSpPr>
        <p:cxnSp>
          <p:nvCxnSpPr>
            <p:cNvPr id="14" name="Connector 13"/>
            <p:cNvCxnSpPr/>
            <p:nvPr/>
          </p:nvCxnSpPr>
          <p:spPr>
            <a:xfrm>
              <a:off x="6126480" y="1837944"/>
              <a:ext cx="0" cy="256032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3249777" y="2093976"/>
              <a:ext cx="5692139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3249777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5147157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7044537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8941916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 flipH="1">
              <a:off x="2331720" y="1536192"/>
              <a:ext cx="260604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2331720" y="1536192"/>
              <a:ext cx="0" cy="3776472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3249777" y="2697480"/>
              <a:ext cx="0" cy="2935224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5147157" y="2697480"/>
              <a:ext cx="0" cy="2935224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7044537" y="2697480"/>
              <a:ext cx="0" cy="2935224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8941917" y="2697480"/>
              <a:ext cx="0" cy="2935224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2331720" y="3063240"/>
              <a:ext cx="697595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>
              <a:off x="2331720" y="3813048"/>
              <a:ext cx="697595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2331720" y="4562856"/>
              <a:ext cx="697595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2331720" y="5312664"/>
              <a:ext cx="697595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937760" y="1234440"/>
              <a:ext cx="2377440" cy="603504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 PMO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438247" y="2148840"/>
              <a:ext cx="1623060" cy="548640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A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주력시장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335627" y="2148840"/>
              <a:ext cx="1623060" cy="54864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B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신흥시장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33007" y="2148840"/>
              <a:ext cx="1623060" cy="54864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C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전략시장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130387" y="2148840"/>
              <a:ext cx="1623060" cy="54864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D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협력시장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02920" y="2825496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기획본부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02920" y="3575304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개발본부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02920" y="4325112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현지화본부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502920" y="5074920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품질본부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311261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311261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311261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3112617" y="5175504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500999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500999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500999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5009997" y="5175504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690737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690737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690737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6907377" y="5175504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880475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880475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880475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val 44"/>
            <p:cNvSpPr/>
            <p:nvPr/>
          </p:nvSpPr>
          <p:spPr>
            <a:xfrm>
              <a:off x="8804757" y="5175504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ORG-037 · 매트릭스 조직 · 3×2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매트릭스 조직 · 3×2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기능축 3 × 사업축 2 이중 보고 체계 (navy)</a:t>
            </a:r>
          </a:p>
        </p:txBody>
      </p:sp>
      <p:grpSp>
        <p:nvGrpSpPr>
          <p:cNvPr id="28" name="asset:ORG-037"/>
          <p:cNvGrpSpPr/>
          <p:nvPr/>
        </p:nvGrpSpPr>
        <p:grpSpPr>
          <a:xfrm>
            <a:off x="502920" y="1234440"/>
            <a:ext cx="7741767" cy="3648456"/>
            <a:chOff x="502920" y="1234440"/>
            <a:chExt cx="7741767" cy="3648456"/>
          </a:xfrm>
        </p:grpSpPr>
        <p:cxnSp>
          <p:nvCxnSpPr>
            <p:cNvPr id="11" name="Connector 10"/>
            <p:cNvCxnSpPr/>
            <p:nvPr/>
          </p:nvCxnSpPr>
          <p:spPr>
            <a:xfrm>
              <a:off x="6126480" y="1837944"/>
              <a:ext cx="0" cy="256032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4952847" y="2093976"/>
              <a:ext cx="228600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4952847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7238847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 flipH="1">
              <a:off x="2331720" y="1536192"/>
              <a:ext cx="260604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2331720" y="1536192"/>
              <a:ext cx="0" cy="30266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4952847" y="2697480"/>
              <a:ext cx="0" cy="2185416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7238847" y="2697480"/>
              <a:ext cx="0" cy="2185416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2331720" y="3063240"/>
              <a:ext cx="527288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2331720" y="3813048"/>
              <a:ext cx="527288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2331720" y="4562856"/>
              <a:ext cx="527288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937760" y="1234440"/>
              <a:ext cx="2377440" cy="603504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 PMO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947007" y="2148840"/>
              <a:ext cx="2011680" cy="548640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A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주력시장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33007" y="2148840"/>
              <a:ext cx="2011680" cy="54864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B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신흥시장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02920" y="2825496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기획본부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02920" y="3575304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개발본부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02920" y="4325112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현지화본부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481568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481568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481568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710168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710168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710168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ORG-038 · 매트릭스 조직 · 4×3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매트릭스 조직 · 4×3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기능축 4 × 사업축 3 이중 보고 체계 (blue)</a:t>
            </a:r>
          </a:p>
        </p:txBody>
      </p:sp>
      <p:grpSp>
        <p:nvGrpSpPr>
          <p:cNvPr id="39" name="asset:ORG-038"/>
          <p:cNvGrpSpPr/>
          <p:nvPr/>
        </p:nvGrpSpPr>
        <p:grpSpPr>
          <a:xfrm>
            <a:off x="502920" y="1234440"/>
            <a:ext cx="8884767" cy="4398264"/>
            <a:chOff x="502920" y="1234440"/>
            <a:chExt cx="8884767" cy="4398264"/>
          </a:xfrm>
        </p:grpSpPr>
        <p:cxnSp>
          <p:nvCxnSpPr>
            <p:cNvPr id="13" name="Connector 12"/>
            <p:cNvCxnSpPr/>
            <p:nvPr/>
          </p:nvCxnSpPr>
          <p:spPr>
            <a:xfrm>
              <a:off x="6126480" y="1837944"/>
              <a:ext cx="0" cy="256032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3809846" y="2093976"/>
              <a:ext cx="4572001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3809846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6095847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8381847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 flipH="1">
              <a:off x="2331720" y="1536192"/>
              <a:ext cx="260604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2331720" y="1536192"/>
              <a:ext cx="0" cy="3776472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3809847" y="2697480"/>
              <a:ext cx="0" cy="2935224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6095847" y="2697480"/>
              <a:ext cx="0" cy="2935224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8381847" y="2697480"/>
              <a:ext cx="0" cy="2935224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2331720" y="3063240"/>
              <a:ext cx="641588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2331720" y="3813048"/>
              <a:ext cx="641588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2331720" y="4562856"/>
              <a:ext cx="641588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2331720" y="5312664"/>
              <a:ext cx="641588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937760" y="1234440"/>
              <a:ext cx="2377440" cy="603504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 PMO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804007" y="2148840"/>
              <a:ext cx="2011680" cy="548640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A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주력시장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090007" y="2148840"/>
              <a:ext cx="2011680" cy="54864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B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신흥시장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7376007" y="2148840"/>
              <a:ext cx="2011680" cy="54864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C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전략시장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02920" y="2825496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기획본부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02920" y="3575304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개발본부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02920" y="4325112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현지화본부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02920" y="5074920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품질본부</a:t>
              </a:r>
            </a:p>
          </p:txBody>
        </p:sp>
        <p:sp>
          <p:nvSpPr>
            <p:cNvPr id="27" name="Oval 26"/>
            <p:cNvSpPr/>
            <p:nvPr/>
          </p:nvSpPr>
          <p:spPr>
            <a:xfrm>
              <a:off x="367268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367268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367268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3672687" y="5175504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595868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595868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595868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5958687" y="5175504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824468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824468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824468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8244687" y="5175504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ORG-039 · 매트릭스 조직 · 3×4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매트릭스 조직 · 3×4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기능축 3 × 사업축 4 이중 보고 체계 (purple)</a:t>
            </a:r>
          </a:p>
        </p:txBody>
      </p:sp>
      <p:grpSp>
        <p:nvGrpSpPr>
          <p:cNvPr id="40" name="asset:ORG-039"/>
          <p:cNvGrpSpPr/>
          <p:nvPr/>
        </p:nvGrpSpPr>
        <p:grpSpPr>
          <a:xfrm>
            <a:off x="502920" y="1234440"/>
            <a:ext cx="9250527" cy="3648456"/>
            <a:chOff x="502920" y="1234440"/>
            <a:chExt cx="9250527" cy="3648456"/>
          </a:xfrm>
        </p:grpSpPr>
        <p:cxnSp>
          <p:nvCxnSpPr>
            <p:cNvPr id="13" name="Connector 12"/>
            <p:cNvCxnSpPr/>
            <p:nvPr/>
          </p:nvCxnSpPr>
          <p:spPr>
            <a:xfrm>
              <a:off x="6126480" y="1837944"/>
              <a:ext cx="0" cy="256032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3249777" y="2093976"/>
              <a:ext cx="5692139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3249777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5147157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7044537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8941916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 flipH="1">
              <a:off x="2331720" y="1536192"/>
              <a:ext cx="260604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2331720" y="1536192"/>
              <a:ext cx="0" cy="30266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3249777" y="2697480"/>
              <a:ext cx="0" cy="2185416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5147157" y="2697480"/>
              <a:ext cx="0" cy="2185416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7044537" y="2697480"/>
              <a:ext cx="0" cy="2185416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8941917" y="2697480"/>
              <a:ext cx="0" cy="2185416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2331720" y="3063240"/>
              <a:ext cx="697595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2331720" y="3813048"/>
              <a:ext cx="697595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>
              <a:off x="2331720" y="4562856"/>
              <a:ext cx="697595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937760" y="1234440"/>
              <a:ext cx="2377440" cy="603504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 PMO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438247" y="2148840"/>
              <a:ext cx="1623060" cy="548640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A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주력시장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335627" y="2148840"/>
              <a:ext cx="1623060" cy="54864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B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신흥시장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33007" y="2148840"/>
              <a:ext cx="1623060" cy="54864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C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전략시장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130387" y="2148840"/>
              <a:ext cx="1623060" cy="548640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D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협력시장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02920" y="2825496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기획본부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02920" y="3575304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개발본부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02920" y="4325112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현지화본부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311261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311261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311261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500999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500999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500999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690737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690737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690737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880475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880475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880475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ORG-040 · 매트릭스 조직 · 4×2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매트릭스 조직 · 4×2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기능축 4 × 사업축 2 이중 보고 체계 (ink)</a:t>
            </a:r>
          </a:p>
        </p:txBody>
      </p:sp>
      <p:grpSp>
        <p:nvGrpSpPr>
          <p:cNvPr id="32" name="asset:ORG-040"/>
          <p:cNvGrpSpPr/>
          <p:nvPr/>
        </p:nvGrpSpPr>
        <p:grpSpPr>
          <a:xfrm>
            <a:off x="502920" y="1234440"/>
            <a:ext cx="7741767" cy="4398264"/>
            <a:chOff x="502920" y="1234440"/>
            <a:chExt cx="7741767" cy="4398264"/>
          </a:xfrm>
        </p:grpSpPr>
        <p:cxnSp>
          <p:nvCxnSpPr>
            <p:cNvPr id="12" name="Connector 11"/>
            <p:cNvCxnSpPr/>
            <p:nvPr/>
          </p:nvCxnSpPr>
          <p:spPr>
            <a:xfrm>
              <a:off x="6126480" y="1837944"/>
              <a:ext cx="0" cy="256032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4952847" y="2093976"/>
              <a:ext cx="228600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4952847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7238847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H="1">
              <a:off x="2331720" y="1536192"/>
              <a:ext cx="260604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2331720" y="1536192"/>
              <a:ext cx="0" cy="3776472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4952847" y="2697480"/>
              <a:ext cx="0" cy="2935224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7238847" y="2697480"/>
              <a:ext cx="0" cy="2935224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2331720" y="3063240"/>
              <a:ext cx="527288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2331720" y="3813048"/>
              <a:ext cx="527288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2331720" y="4562856"/>
              <a:ext cx="527288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2331720" y="5312664"/>
              <a:ext cx="527288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937760" y="1234440"/>
              <a:ext cx="2377440" cy="603504"/>
            </a:xfrm>
            <a:prstGeom prst="roundRect">
              <a:avLst>
                <a:gd name="adj" fmla="val 10000"/>
              </a:avLst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 PMO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947007" y="2148840"/>
              <a:ext cx="2011680" cy="548640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A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주력시장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33007" y="2148840"/>
              <a:ext cx="2011680" cy="54864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B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신흥시장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02920" y="2825496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기획본부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02920" y="3575304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개발본부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02920" y="4325112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현지화본부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02920" y="5074920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품질본부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481568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481568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481568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4815687" y="5175504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710168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710168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710168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7101687" y="5175504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ORG-041 · 매트릭스 조직 · 3×3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매트릭스 조직 · 3×3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기능축 3 × 사업축 3 이중 보고 체계 (teal)</a:t>
            </a:r>
          </a:p>
        </p:txBody>
      </p:sp>
      <p:grpSp>
        <p:nvGrpSpPr>
          <p:cNvPr id="34" name="asset:ORG-041"/>
          <p:cNvGrpSpPr/>
          <p:nvPr/>
        </p:nvGrpSpPr>
        <p:grpSpPr>
          <a:xfrm>
            <a:off x="502920" y="1234440"/>
            <a:ext cx="8884767" cy="3648456"/>
            <a:chOff x="502920" y="1234440"/>
            <a:chExt cx="8884767" cy="3648456"/>
          </a:xfrm>
        </p:grpSpPr>
        <p:cxnSp>
          <p:nvCxnSpPr>
            <p:cNvPr id="12" name="Connector 11"/>
            <p:cNvCxnSpPr/>
            <p:nvPr/>
          </p:nvCxnSpPr>
          <p:spPr>
            <a:xfrm>
              <a:off x="6126480" y="1837944"/>
              <a:ext cx="0" cy="256032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3809846" y="2093976"/>
              <a:ext cx="4572001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3809846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6095847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8381847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 flipH="1">
              <a:off x="2331720" y="1536192"/>
              <a:ext cx="260604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2331720" y="1536192"/>
              <a:ext cx="0" cy="30266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3809847" y="2697480"/>
              <a:ext cx="0" cy="2185416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6095847" y="2697480"/>
              <a:ext cx="0" cy="2185416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8381847" y="2697480"/>
              <a:ext cx="0" cy="2185416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2331720" y="3063240"/>
              <a:ext cx="641588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2331720" y="3813048"/>
              <a:ext cx="641588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2331720" y="4562856"/>
              <a:ext cx="641588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937760" y="1234440"/>
              <a:ext cx="2377440" cy="603504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 PMO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804007" y="2148840"/>
              <a:ext cx="2011680" cy="548640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A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주력시장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090007" y="2148840"/>
              <a:ext cx="2011680" cy="54864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B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신흥시장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7376007" y="2148840"/>
              <a:ext cx="2011680" cy="54864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C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전략시장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02920" y="2825496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기획본부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02920" y="3575304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개발본부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02920" y="4325112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현지화본부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367268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367268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367268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595868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595868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595868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824468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824468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824468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ORG-042 · 매트릭스 조직 · 4×4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매트릭스 조직 · 4×4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기능축 4 × 사업축 4 이중 보고 체계 (steel)</a:t>
            </a:r>
          </a:p>
        </p:txBody>
      </p:sp>
      <p:grpSp>
        <p:nvGrpSpPr>
          <p:cNvPr id="46" name="asset:ORG-042"/>
          <p:cNvGrpSpPr/>
          <p:nvPr/>
        </p:nvGrpSpPr>
        <p:grpSpPr>
          <a:xfrm>
            <a:off x="502920" y="1234440"/>
            <a:ext cx="9250527" cy="4398264"/>
            <a:chOff x="502920" y="1234440"/>
            <a:chExt cx="9250527" cy="4398264"/>
          </a:xfrm>
        </p:grpSpPr>
        <p:cxnSp>
          <p:nvCxnSpPr>
            <p:cNvPr id="14" name="Connector 13"/>
            <p:cNvCxnSpPr/>
            <p:nvPr/>
          </p:nvCxnSpPr>
          <p:spPr>
            <a:xfrm>
              <a:off x="6126480" y="1837944"/>
              <a:ext cx="0" cy="256032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3249777" y="2093976"/>
              <a:ext cx="5692139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3249777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5147157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7044537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8941916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 flipH="1">
              <a:off x="2331720" y="1536192"/>
              <a:ext cx="260604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2331720" y="1536192"/>
              <a:ext cx="0" cy="3776472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3249777" y="2697480"/>
              <a:ext cx="0" cy="2935224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5147157" y="2697480"/>
              <a:ext cx="0" cy="2935224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7044537" y="2697480"/>
              <a:ext cx="0" cy="2935224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8941917" y="2697480"/>
              <a:ext cx="0" cy="2935224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2331720" y="3063240"/>
              <a:ext cx="697595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>
              <a:off x="2331720" y="3813048"/>
              <a:ext cx="697595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2331720" y="4562856"/>
              <a:ext cx="697595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2331720" y="5312664"/>
              <a:ext cx="697595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937760" y="1234440"/>
              <a:ext cx="2377440" cy="603504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 PMO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438247" y="2148840"/>
              <a:ext cx="1623060" cy="548640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A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주력시장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335627" y="2148840"/>
              <a:ext cx="1623060" cy="54864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B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신흥시장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33007" y="2148840"/>
              <a:ext cx="1623060" cy="54864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C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전략시장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130387" y="2148840"/>
              <a:ext cx="1623060" cy="54864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D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협력시장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02920" y="2825496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기획본부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02920" y="3575304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개발본부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02920" y="4325112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현지화본부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502920" y="5074920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품질본부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311261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311261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311261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3112617" y="5175504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500999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500999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500999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5009997" y="5175504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690737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690737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690737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6907377" y="5175504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880475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880475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880475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val 44"/>
            <p:cNvSpPr/>
            <p:nvPr/>
          </p:nvSpPr>
          <p:spPr>
            <a:xfrm>
              <a:off x="8804757" y="5175504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ORG-043 · 매트릭스 조직 · 3×2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매트릭스 조직 · 3×2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기능축 3 × 사업축 2 이중 보고 체계 (navy)</a:t>
            </a:r>
          </a:p>
        </p:txBody>
      </p:sp>
      <p:grpSp>
        <p:nvGrpSpPr>
          <p:cNvPr id="28" name="asset:ORG-043"/>
          <p:cNvGrpSpPr/>
          <p:nvPr/>
        </p:nvGrpSpPr>
        <p:grpSpPr>
          <a:xfrm>
            <a:off x="502920" y="1234440"/>
            <a:ext cx="7741767" cy="3648456"/>
            <a:chOff x="502920" y="1234440"/>
            <a:chExt cx="7741767" cy="3648456"/>
          </a:xfrm>
        </p:grpSpPr>
        <p:cxnSp>
          <p:nvCxnSpPr>
            <p:cNvPr id="11" name="Connector 10"/>
            <p:cNvCxnSpPr/>
            <p:nvPr/>
          </p:nvCxnSpPr>
          <p:spPr>
            <a:xfrm>
              <a:off x="6126480" y="1837944"/>
              <a:ext cx="0" cy="256032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4952847" y="2093976"/>
              <a:ext cx="228600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4952847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7238847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 flipH="1">
              <a:off x="2331720" y="1536192"/>
              <a:ext cx="260604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2331720" y="1536192"/>
              <a:ext cx="0" cy="30266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4952847" y="2697480"/>
              <a:ext cx="0" cy="2185416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7238847" y="2697480"/>
              <a:ext cx="0" cy="2185416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2331720" y="3063240"/>
              <a:ext cx="527288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2331720" y="3813048"/>
              <a:ext cx="527288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2331720" y="4562856"/>
              <a:ext cx="527288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937760" y="1234440"/>
              <a:ext cx="2377440" cy="603504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 PMO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947007" y="2148840"/>
              <a:ext cx="2011680" cy="548640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A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주력시장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33007" y="2148840"/>
              <a:ext cx="2011680" cy="54864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B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신흥시장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02920" y="2825496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기획본부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02920" y="3575304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개발본부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02920" y="4325112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현지화본부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481568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481568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481568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710168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710168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710168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ORG-044 · 매트릭스 조직 · 4×3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매트릭스 조직 · 4×3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기능축 4 × 사업축 3 이중 보고 체계 (blue)</a:t>
            </a:r>
          </a:p>
        </p:txBody>
      </p:sp>
      <p:grpSp>
        <p:nvGrpSpPr>
          <p:cNvPr id="39" name="asset:ORG-044"/>
          <p:cNvGrpSpPr/>
          <p:nvPr/>
        </p:nvGrpSpPr>
        <p:grpSpPr>
          <a:xfrm>
            <a:off x="502920" y="1234440"/>
            <a:ext cx="8884767" cy="4398264"/>
            <a:chOff x="502920" y="1234440"/>
            <a:chExt cx="8884767" cy="4398264"/>
          </a:xfrm>
        </p:grpSpPr>
        <p:cxnSp>
          <p:nvCxnSpPr>
            <p:cNvPr id="13" name="Connector 12"/>
            <p:cNvCxnSpPr/>
            <p:nvPr/>
          </p:nvCxnSpPr>
          <p:spPr>
            <a:xfrm>
              <a:off x="6126480" y="1837944"/>
              <a:ext cx="0" cy="256032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3809846" y="2093976"/>
              <a:ext cx="4572001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3809846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6095847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8381847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 flipH="1">
              <a:off x="2331720" y="1536192"/>
              <a:ext cx="260604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2331720" y="1536192"/>
              <a:ext cx="0" cy="3776472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3809847" y="2697480"/>
              <a:ext cx="0" cy="2935224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6095847" y="2697480"/>
              <a:ext cx="0" cy="2935224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8381847" y="2697480"/>
              <a:ext cx="0" cy="2935224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2331720" y="3063240"/>
              <a:ext cx="641588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2331720" y="3813048"/>
              <a:ext cx="641588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2331720" y="4562856"/>
              <a:ext cx="641588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2331720" y="5312664"/>
              <a:ext cx="641588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937760" y="1234440"/>
              <a:ext cx="2377440" cy="603504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 PMO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804007" y="2148840"/>
              <a:ext cx="2011680" cy="548640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A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주력시장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090007" y="2148840"/>
              <a:ext cx="2011680" cy="54864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B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신흥시장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7376007" y="2148840"/>
              <a:ext cx="2011680" cy="54864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C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전략시장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02920" y="2825496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기획본부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02920" y="3575304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개발본부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02920" y="4325112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현지화본부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02920" y="5074920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품질본부</a:t>
              </a:r>
            </a:p>
          </p:txBody>
        </p:sp>
        <p:sp>
          <p:nvSpPr>
            <p:cNvPr id="27" name="Oval 26"/>
            <p:cNvSpPr/>
            <p:nvPr/>
          </p:nvSpPr>
          <p:spPr>
            <a:xfrm>
              <a:off x="367268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367268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367268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3672687" y="5175504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595868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595868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595868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5958687" y="5175504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824468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824468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824468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8244687" y="5175504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ORG-045 · 매트릭스 조직 · 3×4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매트릭스 조직 · 3×4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기능축 3 × 사업축 4 이중 보고 체계 (purple)</a:t>
            </a:r>
          </a:p>
        </p:txBody>
      </p:sp>
      <p:grpSp>
        <p:nvGrpSpPr>
          <p:cNvPr id="40" name="asset:ORG-045"/>
          <p:cNvGrpSpPr/>
          <p:nvPr/>
        </p:nvGrpSpPr>
        <p:grpSpPr>
          <a:xfrm>
            <a:off x="502920" y="1234440"/>
            <a:ext cx="9250527" cy="3648456"/>
            <a:chOff x="502920" y="1234440"/>
            <a:chExt cx="9250527" cy="3648456"/>
          </a:xfrm>
        </p:grpSpPr>
        <p:cxnSp>
          <p:nvCxnSpPr>
            <p:cNvPr id="13" name="Connector 12"/>
            <p:cNvCxnSpPr/>
            <p:nvPr/>
          </p:nvCxnSpPr>
          <p:spPr>
            <a:xfrm>
              <a:off x="6126480" y="1837944"/>
              <a:ext cx="0" cy="256032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3249777" y="2093976"/>
              <a:ext cx="5692139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3249777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5147157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7044537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8941916" y="2093976"/>
              <a:ext cx="0" cy="548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 flipH="1">
              <a:off x="2331720" y="1536192"/>
              <a:ext cx="260604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2331720" y="1536192"/>
              <a:ext cx="0" cy="30266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3249777" y="2697480"/>
              <a:ext cx="0" cy="2185416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5147157" y="2697480"/>
              <a:ext cx="0" cy="2185416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7044537" y="2697480"/>
              <a:ext cx="0" cy="2185416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8941917" y="2697480"/>
              <a:ext cx="0" cy="2185416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2331720" y="3063240"/>
              <a:ext cx="697595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2331720" y="3813048"/>
              <a:ext cx="697595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>
              <a:off x="2331720" y="4562856"/>
              <a:ext cx="6975957" cy="0"/>
            </a:xfrm>
            <a:prstGeom prst="line">
              <a:avLst/>
            </a:prstGeom>
            <a:ln w="1524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937760" y="1234440"/>
              <a:ext cx="2377440" cy="603504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 PMO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438247" y="2148840"/>
              <a:ext cx="1623060" cy="548640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A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주력시장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335627" y="2148840"/>
              <a:ext cx="1623060" cy="54864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B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신흥시장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33007" y="2148840"/>
              <a:ext cx="1623060" cy="54864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C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전략시장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130387" y="2148840"/>
              <a:ext cx="1623060" cy="548640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D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협력시장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02920" y="2825496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기획본부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02920" y="3575304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개발본부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02920" y="4325112"/>
              <a:ext cx="1828800" cy="475488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현지화본부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311261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311261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311261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500999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500999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500999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690737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690737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690737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8804757" y="2926080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8804757" y="3675887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8804757" y="4425696"/>
              <a:ext cx="274320" cy="274320"/>
            </a:xfrm>
            <a:prstGeom prst="ellipse">
              <a:avLst/>
            </a:prstGeom>
            <a:solidFill>
              <a:srgbClr val="2E75D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