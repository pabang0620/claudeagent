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ORG-001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ORG-001 · 표준 위계 조직도</a:t>
              </a:r>
            </a:p>
          </p:txBody>
        </p:sp>
        <p:sp>
          <p:nvSpPr>
            <p:cNvPr id="3" name="ORG-001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27448" y="1051560"/>
              <a:ext cx="2743200" cy="68580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발주기관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(콘텐츠진흥원)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727448" y="2514600"/>
              <a:ext cx="2743200" cy="658368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54480" y="4160520"/>
              <a:ext cx="246888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현황·수요 분석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864608" y="4160520"/>
              <a:ext cx="2468880" cy="86868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플랫폼·기능 구현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183879" y="4160520"/>
              <a:ext cx="246888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품질관리(QA)팀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검수·안정화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6099048" y="1737360"/>
              <a:ext cx="0" cy="7772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172968"/>
              <a:ext cx="0" cy="41148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2788920" y="3584448"/>
              <a:ext cx="662939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2788920" y="3584448"/>
              <a:ext cx="0" cy="5760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9048" y="3584448"/>
              <a:ext cx="0" cy="5760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418319" y="3584448"/>
              <a:ext cx="0" cy="576072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ORG-002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ORG-002 · 총괄+분야별 팀 매트릭스형</a:t>
              </a:r>
            </a:p>
          </p:txBody>
        </p:sp>
        <p:sp>
          <p:nvSpPr>
            <p:cNvPr id="3" name="ORG-002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270248" y="1280160"/>
              <a:ext cx="3657600" cy="73152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 (Project Manager)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78027" y="3246120"/>
              <a:ext cx="2468880" cy="10515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전략·기획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466947" y="3246120"/>
              <a:ext cx="2468880" cy="10515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개발·인프라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55867" y="3246120"/>
              <a:ext cx="2468880" cy="10515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번역·현지화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044787" y="3246120"/>
              <a:ext cx="2468880" cy="1051560"/>
            </a:xfrm>
            <a:prstGeom prst="roundRect">
              <a:avLst>
                <a:gd name="adj" fmla="val 1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품질관리팀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검수·품질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6099048" y="2011680"/>
              <a:ext cx="0" cy="41148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912467" y="2423160"/>
              <a:ext cx="836675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912467" y="2423160"/>
              <a:ext cx="0" cy="8229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701387" y="2423160"/>
              <a:ext cx="0" cy="8229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7490307" y="2423160"/>
              <a:ext cx="0" cy="8229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10279226" y="2423160"/>
              <a:ext cx="0" cy="82296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" name="asset:ORG-005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ORG-005 · 역할·책임(R&amp;R) 구조도</a:t>
              </a:r>
            </a:p>
          </p:txBody>
        </p:sp>
        <p:sp>
          <p:nvSpPr>
            <p:cNvPr id="3" name="ORG-005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27448" y="1005840"/>
              <a:ext cx="2743200" cy="621792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총괄PM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051560" y="2514600"/>
              <a:ext cx="228600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051560" y="2514600"/>
              <a:ext cx="2286000" cy="402336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기획·총괄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97863" y="3026664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80743" y="3026664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총괄 관리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197863" y="3328416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80743" y="3328416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일정·리스크 관리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97863" y="3630168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380743" y="3630168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발주처 협의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813048" y="2514600"/>
              <a:ext cx="228600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3048" y="2514600"/>
              <a:ext cx="2286000" cy="402336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기술지원팀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59352" y="3026664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142232" y="3026664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구축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59352" y="3328416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42232" y="3328416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API 연동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959352" y="3630168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42232" y="3630168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인프라 운영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6574536" y="2514600"/>
              <a:ext cx="228600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574536" y="2514600"/>
              <a:ext cx="2286000" cy="402336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현지화팀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20840" y="3026664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903720" y="3026664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다국어 번역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20840" y="3328416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903720" y="3328416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문화 현지화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20840" y="3630168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03720" y="3630168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 검수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9336024" y="2514600"/>
              <a:ext cx="2286000" cy="1783080"/>
            </a:xfrm>
            <a:prstGeom prst="roundRect">
              <a:avLst>
                <a:gd name="adj" fmla="val 5000"/>
              </a:avLst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336024" y="2514600"/>
              <a:ext cx="2286000" cy="402336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품질관리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482328" y="3026664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65208" y="3026664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QA 테스트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482328" y="3328416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9665208" y="3328416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산출물 검수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482328" y="3630168"/>
              <a:ext cx="201168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•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665208" y="3630168"/>
              <a:ext cx="18288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안정화 지원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6099048" y="1627632"/>
              <a:ext cx="0" cy="566928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2194560" y="2194560"/>
              <a:ext cx="8284464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2194560" y="219456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4956048" y="219456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7717536" y="219456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10479024" y="2194560"/>
              <a:ext cx="0" cy="32004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" name="asset:ORG-006"/>
          <p:cNvGrpSpPr/>
          <p:nvPr/>
        </p:nvGrpSpPr>
        <p:grpSpPr>
          <a:xfrm>
            <a:off x="137160" y="73152"/>
            <a:ext cx="11594592" cy="6510528"/>
            <a:chOff x="137160" y="73152"/>
            <a:chExt cx="11594592" cy="6510528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ORG-006 · 거버넌스 체계 (운영위/실무협의체/실행조직)</a:t>
              </a:r>
            </a:p>
          </p:txBody>
        </p:sp>
        <p:sp>
          <p:nvSpPr>
            <p:cNvPr id="3" name="ORG-006_bg"/>
            <p:cNvSpPr/>
            <p:nvPr/>
          </p:nvSpPr>
          <p:spPr>
            <a:xfrm>
              <a:off x="457200" y="822960"/>
              <a:ext cx="11274552" cy="576072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3813048" y="1051560"/>
              <a:ext cx="4572000" cy="73152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운영위원회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(의사결정·정책)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813048" y="2697480"/>
              <a:ext cx="4572000" cy="73152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실무협의체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(조정·검수·소통)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52447" y="4343400"/>
              <a:ext cx="2651760" cy="86868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분석·기획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769967" y="4343400"/>
              <a:ext cx="2651760" cy="86868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개발·구축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87487" y="4343400"/>
              <a:ext cx="2651760" cy="86868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실행조직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6099048" y="1783080"/>
              <a:ext cx="0" cy="91440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9048" y="3429000"/>
              <a:ext cx="0" cy="41148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3078327" y="3840480"/>
              <a:ext cx="6035039" cy="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3078327" y="3840480"/>
              <a:ext cx="0" cy="5029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6095847" y="3840480"/>
              <a:ext cx="0" cy="5029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9113366" y="3840480"/>
              <a:ext cx="0" cy="502920"/>
            </a:xfrm>
            <a:prstGeom prst="line">
              <a:avLst/>
            </a:prstGeom>
            <a:ln w="1905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