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ORG-077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(navy)</a:t>
            </a:r>
          </a:p>
        </p:txBody>
      </p:sp>
      <p:grpSp>
        <p:nvGrpSpPr>
          <p:cNvPr id="14" name="asset:ORG-077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ORG-078 · 추진체계도 · 4주체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4주체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4 간 보고·검수·위탁·납품 양방향 흐름 (blue)</a:t>
            </a:r>
          </a:p>
        </p:txBody>
      </p:sp>
      <p:grpSp>
        <p:nvGrpSpPr>
          <p:cNvPr id="18" name="asset:ORG-078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9" name="Connector 8"/>
            <p:cNvCxnSpPr/>
            <p:nvPr/>
          </p:nvCxnSpPr>
          <p:spPr>
            <a:xfrm>
              <a:off x="271302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573054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74806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4454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6206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7958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(운영·이관)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1302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3054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3054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4806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4806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조정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ORG-079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(purple)</a:t>
            </a:r>
          </a:p>
        </p:txBody>
      </p:sp>
      <p:grpSp>
        <p:nvGrpSpPr>
          <p:cNvPr id="14" name="asset:ORG-079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ORG-080 · 추진체계도 · 4주체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4주체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4 간 보고·검수·위탁·납품 양방향 흐름 (ink)</a:t>
            </a:r>
          </a:p>
        </p:txBody>
      </p:sp>
      <p:grpSp>
        <p:nvGrpSpPr>
          <p:cNvPr id="18" name="asset:ORG-080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9" name="Connector 8"/>
            <p:cNvCxnSpPr/>
            <p:nvPr/>
          </p:nvCxnSpPr>
          <p:spPr>
            <a:xfrm>
              <a:off x="271302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573054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74806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4454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6206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7958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(운영·이관)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1302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3054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3054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4806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4806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조정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ORG-081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(teal)</a:t>
            </a:r>
          </a:p>
        </p:txBody>
      </p:sp>
      <p:grpSp>
        <p:nvGrpSpPr>
          <p:cNvPr id="14" name="asset:ORG-081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ORG-082 · 추진체계도 · 4주체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4주체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4 간 보고·검수·위탁·납품 양방향 흐름 (steel)</a:t>
            </a:r>
          </a:p>
        </p:txBody>
      </p:sp>
      <p:grpSp>
        <p:nvGrpSpPr>
          <p:cNvPr id="18" name="asset:ORG-082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9" name="Connector 8"/>
            <p:cNvCxnSpPr/>
            <p:nvPr/>
          </p:nvCxnSpPr>
          <p:spPr>
            <a:xfrm>
              <a:off x="271302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573054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74806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4454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6206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7958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(운영·이관)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1302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3054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3054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4806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4806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조정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ORG-083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(navy)</a:t>
            </a:r>
          </a:p>
        </p:txBody>
      </p:sp>
      <p:grpSp>
        <p:nvGrpSpPr>
          <p:cNvPr id="14" name="asset:ORG-083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ORG-084 · 추진체계도 · 4주체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4주체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4 간 보고·검수·위탁·납품 양방향 흐름 (blue)</a:t>
            </a:r>
          </a:p>
        </p:txBody>
      </p:sp>
      <p:grpSp>
        <p:nvGrpSpPr>
          <p:cNvPr id="18" name="asset:ORG-084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9" name="Connector 8"/>
            <p:cNvCxnSpPr/>
            <p:nvPr/>
          </p:nvCxnSpPr>
          <p:spPr>
            <a:xfrm>
              <a:off x="271302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573054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74806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4454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6206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7958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(운영·이관)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1302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3054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3054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4806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4806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조정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ORG-085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(purple)</a:t>
            </a:r>
          </a:p>
        </p:txBody>
      </p:sp>
      <p:grpSp>
        <p:nvGrpSpPr>
          <p:cNvPr id="14" name="asset:ORG-085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ORG-086 · 추진체계도 · 4주체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4주체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4 간 보고·검수·위탁·납품 양방향 흐름 (ink)</a:t>
            </a:r>
          </a:p>
        </p:txBody>
      </p:sp>
      <p:grpSp>
        <p:nvGrpSpPr>
          <p:cNvPr id="18" name="asset:ORG-086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9" name="Connector 8"/>
            <p:cNvCxnSpPr/>
            <p:nvPr/>
          </p:nvCxnSpPr>
          <p:spPr>
            <a:xfrm>
              <a:off x="271302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573054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74806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4454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6206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7958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(운영·이관)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1302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3054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3054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4806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4806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조정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ORG-087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(teal)</a:t>
            </a:r>
          </a:p>
        </p:txBody>
      </p:sp>
      <p:grpSp>
        <p:nvGrpSpPr>
          <p:cNvPr id="14" name="asset:ORG-087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ORG-088 · 추진체계도 · 4주체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4주체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4 간 보고·검수·위탁·납품 양방향 흐름 (steel)</a:t>
            </a:r>
          </a:p>
        </p:txBody>
      </p:sp>
      <p:grpSp>
        <p:nvGrpSpPr>
          <p:cNvPr id="18" name="asset:ORG-088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9" name="Connector 8"/>
            <p:cNvCxnSpPr/>
            <p:nvPr/>
          </p:nvCxnSpPr>
          <p:spPr>
            <a:xfrm>
              <a:off x="271302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573054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74806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4454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6206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7958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(운영·이관)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1302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3054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3054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4806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4806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조정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ORG-089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(navy)</a:t>
            </a:r>
          </a:p>
        </p:txBody>
      </p:sp>
      <p:grpSp>
        <p:nvGrpSpPr>
          <p:cNvPr id="14" name="asset:ORG-089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ORG-090 · 추진체계도 · 4주체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4주체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4 간 보고·검수·위탁·납품 양방향 흐름 (blue)</a:t>
            </a:r>
          </a:p>
        </p:txBody>
      </p:sp>
      <p:grpSp>
        <p:nvGrpSpPr>
          <p:cNvPr id="18" name="asset:ORG-090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9" name="Connector 8"/>
            <p:cNvCxnSpPr/>
            <p:nvPr/>
          </p:nvCxnSpPr>
          <p:spPr>
            <a:xfrm>
              <a:off x="271302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573054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8748064" y="3474720"/>
              <a:ext cx="73152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4454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6206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79584" y="2926080"/>
              <a:ext cx="22860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(운영·이관)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1302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302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3054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3054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48064" y="3017520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48064" y="3639312"/>
              <a:ext cx="73151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조정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ORG-091 · 추진체계도 · 3주체 양방향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추진체계도 · 3주체 양방향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주체 3 간 보고·검수·위탁·납품 양방향 흐름 (purple)</a:t>
            </a:r>
          </a:p>
        </p:txBody>
      </p:sp>
      <p:grpSp>
        <p:nvGrpSpPr>
          <p:cNvPr id="14" name="asset:ORG-091"/>
          <p:cNvGrpSpPr/>
          <p:nvPr/>
        </p:nvGrpSpPr>
        <p:grpSpPr>
          <a:xfrm>
            <a:off x="427024" y="2926080"/>
            <a:ext cx="11338560" cy="1097280"/>
            <a:chOff x="427024" y="2926080"/>
            <a:chExt cx="11338560" cy="1097280"/>
          </a:xfrm>
        </p:grpSpPr>
        <p:cxnSp>
          <p:nvCxnSpPr>
            <p:cNvPr id="8" name="Connector 7"/>
            <p:cNvCxnSpPr/>
            <p:nvPr/>
          </p:nvCxnSpPr>
          <p:spPr>
            <a:xfrm>
              <a:off x="317022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7467904" y="3474720"/>
              <a:ext cx="1554480" cy="0"/>
            </a:xfrm>
            <a:prstGeom prst="line">
              <a:avLst/>
            </a:prstGeom>
            <a:ln w="22225">
              <a:solidFill>
                <a:srgbClr val="59595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2702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발주처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(발주·관리)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72470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수행사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(총괄 수행)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22384" y="2926080"/>
              <a:ext cx="2743200" cy="10972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협력사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(분야 협력)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70224" y="3017520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보고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70224" y="3639312"/>
              <a:ext cx="15544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검수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904" y="3017520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위탁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7904" y="3639312"/>
              <a:ext cx="1554479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5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납품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