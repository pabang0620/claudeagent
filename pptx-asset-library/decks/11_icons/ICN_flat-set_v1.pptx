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ICN-001 ~ ICN-008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11155680" cy="45720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800" b="1">
                <a:solidFill>
                  <a:srgbClr val="1F3864"/>
                </a:solidFill>
                <a:latin typeface="Pretendard"/>
                <a:ea typeface="Pretendard"/>
                <a:cs typeface="Pretendard"/>
              </a:rPr>
              <a:t>아이콘 세트 · ICN (1/3)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41248"/>
            <a:ext cx="1115568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  <a:latin typeface="Pretendard"/>
                <a:ea typeface="Pretendard"/>
                <a:cs typeface="Pretendard"/>
              </a:rPr>
              <a:t>제안서용 플랫 아이콘 · 네이티브 도형 조합 · 2색(네이비+시안) · 편집 가능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66811" y="1417320"/>
            <a:ext cx="1143000" cy="219456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ctr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ICN-001</a:t>
            </a:r>
          </a:p>
        </p:txBody>
      </p:sp>
      <p:grpSp>
        <p:nvGrpSpPr>
          <p:cNvPr id="12" name="asset:ICN-001"/>
          <p:cNvGrpSpPr/>
          <p:nvPr/>
        </p:nvGrpSpPr>
        <p:grpSpPr>
          <a:xfrm>
            <a:off x="685800" y="1834515"/>
            <a:ext cx="2705023" cy="1347597"/>
            <a:chOff x="685800" y="1834515"/>
            <a:chExt cx="2705023" cy="1347597"/>
          </a:xfrm>
        </p:grpSpPr>
        <p:sp>
          <p:nvSpPr>
            <p:cNvPr id="6" name="Rectangle 5"/>
            <p:cNvSpPr/>
            <p:nvPr/>
          </p:nvSpPr>
          <p:spPr>
            <a:xfrm>
              <a:off x="1776374" y="1834515"/>
              <a:ext cx="523874" cy="857250"/>
            </a:xfrm>
            <a:prstGeom prst="rect">
              <a:avLst/>
            </a:prstGeom>
            <a:solidFill>
              <a:srgbClr val="FFFFFF"/>
            </a:solidFill>
            <a:ln w="25400">
              <a:solidFill>
                <a:srgbClr val="1F3864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" name="Rectangle 6"/>
            <p:cNvSpPr/>
            <p:nvPr/>
          </p:nvSpPr>
          <p:spPr>
            <a:xfrm>
              <a:off x="1871624" y="1953577"/>
              <a:ext cx="238125" cy="59531"/>
            </a:xfrm>
            <a:prstGeom prst="rect">
              <a:avLst/>
            </a:prstGeom>
            <a:solidFill>
              <a:srgbClr val="1F386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8" name="Connector 7"/>
            <p:cNvCxnSpPr/>
            <p:nvPr/>
          </p:nvCxnSpPr>
          <p:spPr>
            <a:xfrm>
              <a:off x="1871624" y="2144077"/>
              <a:ext cx="333375" cy="0"/>
            </a:xfrm>
            <a:prstGeom prst="line">
              <a:avLst/>
            </a:prstGeom>
            <a:ln w="31750">
              <a:solidFill>
                <a:srgbClr val="29ABE2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Connector 8"/>
            <p:cNvCxnSpPr/>
            <p:nvPr/>
          </p:nvCxnSpPr>
          <p:spPr>
            <a:xfrm>
              <a:off x="1871624" y="2286952"/>
              <a:ext cx="333375" cy="0"/>
            </a:xfrm>
            <a:prstGeom prst="line">
              <a:avLst/>
            </a:prstGeom>
            <a:ln w="31750">
              <a:solidFill>
                <a:srgbClr val="29ABE2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Connector 9"/>
            <p:cNvCxnSpPr/>
            <p:nvPr/>
          </p:nvCxnSpPr>
          <p:spPr>
            <a:xfrm>
              <a:off x="1871624" y="2429827"/>
              <a:ext cx="333375" cy="0"/>
            </a:xfrm>
            <a:prstGeom prst="line">
              <a:avLst/>
            </a:prstGeom>
            <a:ln w="31750">
              <a:solidFill>
                <a:srgbClr val="29ABE2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TextBox 10"/>
            <p:cNvSpPr txBox="1"/>
            <p:nvPr/>
          </p:nvSpPr>
          <p:spPr>
            <a:xfrm>
              <a:off x="685800" y="2889504"/>
              <a:ext cx="2705023" cy="29260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2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문서</a:t>
              </a:r>
            </a:p>
          </p:txBody>
        </p:sp>
      </p:grpSp>
      <p:sp>
        <p:nvSpPr>
          <p:cNvPr id="13" name="TextBox 12"/>
          <p:cNvSpPr txBox="1"/>
          <p:nvPr/>
        </p:nvSpPr>
        <p:spPr>
          <a:xfrm>
            <a:off x="4171835" y="1417320"/>
            <a:ext cx="1143000" cy="219456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ctr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ICN-002</a:t>
            </a:r>
          </a:p>
        </p:txBody>
      </p:sp>
      <p:grpSp>
        <p:nvGrpSpPr>
          <p:cNvPr id="20" name="asset:ICN-002"/>
          <p:cNvGrpSpPr/>
          <p:nvPr/>
        </p:nvGrpSpPr>
        <p:grpSpPr>
          <a:xfrm>
            <a:off x="3390823" y="1882140"/>
            <a:ext cx="2705023" cy="1299972"/>
            <a:chOff x="3390823" y="1882140"/>
            <a:chExt cx="2705023" cy="1299972"/>
          </a:xfrm>
        </p:grpSpPr>
        <p:cxnSp>
          <p:nvCxnSpPr>
            <p:cNvPr id="14" name="Connector 13"/>
            <p:cNvCxnSpPr/>
            <p:nvPr/>
          </p:nvCxnSpPr>
          <p:spPr>
            <a:xfrm>
              <a:off x="4457585" y="1882140"/>
              <a:ext cx="0" cy="762000"/>
            </a:xfrm>
            <a:prstGeom prst="line">
              <a:avLst/>
            </a:prstGeom>
            <a:ln w="31750">
              <a:solidFill>
                <a:srgbClr val="1F3864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Connector 14"/>
            <p:cNvCxnSpPr/>
            <p:nvPr/>
          </p:nvCxnSpPr>
          <p:spPr>
            <a:xfrm>
              <a:off x="4457585" y="2644140"/>
              <a:ext cx="690563" cy="0"/>
            </a:xfrm>
            <a:prstGeom prst="line">
              <a:avLst/>
            </a:prstGeom>
            <a:ln w="31750">
              <a:solidFill>
                <a:srgbClr val="1F3864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Rectangle 15"/>
            <p:cNvSpPr/>
            <p:nvPr/>
          </p:nvSpPr>
          <p:spPr>
            <a:xfrm>
              <a:off x="4552835" y="2358390"/>
              <a:ext cx="142875" cy="285750"/>
            </a:xfrm>
            <a:prstGeom prst="rect">
              <a:avLst/>
            </a:prstGeom>
            <a:solidFill>
              <a:srgbClr val="1F386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" name="Rectangle 16"/>
            <p:cNvSpPr/>
            <p:nvPr/>
          </p:nvSpPr>
          <p:spPr>
            <a:xfrm>
              <a:off x="4767148" y="2167890"/>
              <a:ext cx="142875" cy="476250"/>
            </a:xfrm>
            <a:prstGeom prst="rect">
              <a:avLst/>
            </a:prstGeom>
            <a:solidFill>
              <a:srgbClr val="2A4A7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" name="Rectangle 17"/>
            <p:cNvSpPr/>
            <p:nvPr/>
          </p:nvSpPr>
          <p:spPr>
            <a:xfrm>
              <a:off x="4981460" y="2001202"/>
              <a:ext cx="142875" cy="642937"/>
            </a:xfrm>
            <a:prstGeom prst="rect">
              <a:avLst/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3390823" y="2889504"/>
              <a:ext cx="2705023" cy="29260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2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막대그래프</a:t>
              </a:r>
            </a:p>
          </p:txBody>
        </p:sp>
      </p:grpSp>
      <p:sp>
        <p:nvSpPr>
          <p:cNvPr id="21" name="TextBox 20"/>
          <p:cNvSpPr txBox="1"/>
          <p:nvPr/>
        </p:nvSpPr>
        <p:spPr>
          <a:xfrm>
            <a:off x="6876859" y="1417320"/>
            <a:ext cx="1143000" cy="219456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ctr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ICN-003</a:t>
            </a:r>
          </a:p>
        </p:txBody>
      </p:sp>
      <p:grpSp>
        <p:nvGrpSpPr>
          <p:cNvPr id="27" name="asset:ICN-003"/>
          <p:cNvGrpSpPr/>
          <p:nvPr/>
        </p:nvGrpSpPr>
        <p:grpSpPr>
          <a:xfrm>
            <a:off x="6095847" y="1929765"/>
            <a:ext cx="2705023" cy="1252347"/>
            <a:chOff x="6095847" y="1929765"/>
            <a:chExt cx="2705023" cy="1252347"/>
          </a:xfrm>
        </p:grpSpPr>
        <p:sp>
          <p:nvSpPr>
            <p:cNvPr id="22" name="Rectangle 21"/>
            <p:cNvSpPr/>
            <p:nvPr/>
          </p:nvSpPr>
          <p:spPr>
            <a:xfrm>
              <a:off x="7162609" y="2406015"/>
              <a:ext cx="142875" cy="238125"/>
            </a:xfrm>
            <a:prstGeom prst="rect">
              <a:avLst/>
            </a:prstGeom>
            <a:solidFill>
              <a:srgbClr val="2A4A7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3" name="Rectangle 22"/>
            <p:cNvSpPr/>
            <p:nvPr/>
          </p:nvSpPr>
          <p:spPr>
            <a:xfrm>
              <a:off x="7353109" y="2239327"/>
              <a:ext cx="142875" cy="404812"/>
            </a:xfrm>
            <a:prstGeom prst="rect">
              <a:avLst/>
            </a:prstGeom>
            <a:solidFill>
              <a:srgbClr val="2A4A7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4" name="Rectangle 23"/>
            <p:cNvSpPr/>
            <p:nvPr/>
          </p:nvSpPr>
          <p:spPr>
            <a:xfrm>
              <a:off x="7543609" y="2072640"/>
              <a:ext cx="142875" cy="571500"/>
            </a:xfrm>
            <a:prstGeom prst="rect">
              <a:avLst/>
            </a:prstGeom>
            <a:solidFill>
              <a:srgbClr val="1F386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5" name="Up Arrow 24"/>
            <p:cNvSpPr/>
            <p:nvPr/>
          </p:nvSpPr>
          <p:spPr>
            <a:xfrm>
              <a:off x="7734109" y="1929765"/>
              <a:ext cx="166687" cy="714375"/>
            </a:xfrm>
            <a:prstGeom prst="upArrow">
              <a:avLst/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6" name="TextBox 25"/>
            <p:cNvSpPr txBox="1"/>
            <p:nvPr/>
          </p:nvSpPr>
          <p:spPr>
            <a:xfrm>
              <a:off x="6095847" y="2889504"/>
              <a:ext cx="2705023" cy="29260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2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성장</a:t>
              </a:r>
            </a:p>
          </p:txBody>
        </p:sp>
      </p:grpSp>
      <p:sp>
        <p:nvSpPr>
          <p:cNvPr id="28" name="TextBox 27"/>
          <p:cNvSpPr txBox="1"/>
          <p:nvPr/>
        </p:nvSpPr>
        <p:spPr>
          <a:xfrm>
            <a:off x="9581883" y="1417320"/>
            <a:ext cx="1143000" cy="219456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ctr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ICN-004</a:t>
            </a:r>
          </a:p>
        </p:txBody>
      </p:sp>
      <p:grpSp>
        <p:nvGrpSpPr>
          <p:cNvPr id="32" name="asset:ICN-004"/>
          <p:cNvGrpSpPr/>
          <p:nvPr/>
        </p:nvGrpSpPr>
        <p:grpSpPr>
          <a:xfrm>
            <a:off x="8800871" y="1953577"/>
            <a:ext cx="2705023" cy="1228535"/>
            <a:chOff x="8800871" y="1953577"/>
            <a:chExt cx="2705023" cy="1228535"/>
          </a:xfrm>
        </p:grpSpPr>
        <p:sp>
          <p:nvSpPr>
            <p:cNvPr id="29" name="Donut 28"/>
            <p:cNvSpPr/>
            <p:nvPr/>
          </p:nvSpPr>
          <p:spPr>
            <a:xfrm>
              <a:off x="9843820" y="1953577"/>
              <a:ext cx="500062" cy="500062"/>
            </a:xfrm>
            <a:prstGeom prst="donut">
              <a:avLst/>
            </a:prstGeom>
            <a:solidFill>
              <a:srgbClr val="FFFFFF"/>
            </a:solidFill>
            <a:ln w="31750">
              <a:solidFill>
                <a:srgbClr val="1F3864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30" name="Connector 29"/>
            <p:cNvCxnSpPr/>
            <p:nvPr/>
          </p:nvCxnSpPr>
          <p:spPr>
            <a:xfrm>
              <a:off x="10248633" y="2358390"/>
              <a:ext cx="285750" cy="285750"/>
            </a:xfrm>
            <a:prstGeom prst="line">
              <a:avLst/>
            </a:prstGeom>
            <a:ln w="63500">
              <a:solidFill>
                <a:srgbClr val="29ABE2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1" name="TextBox 30"/>
            <p:cNvSpPr txBox="1"/>
            <p:nvPr/>
          </p:nvSpPr>
          <p:spPr>
            <a:xfrm>
              <a:off x="8800871" y="2889504"/>
              <a:ext cx="2705023" cy="29260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2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분석</a:t>
              </a:r>
            </a:p>
          </p:txBody>
        </p:sp>
      </p:grpSp>
      <p:sp>
        <p:nvSpPr>
          <p:cNvPr id="33" name="TextBox 32"/>
          <p:cNvSpPr txBox="1"/>
          <p:nvPr/>
        </p:nvSpPr>
        <p:spPr>
          <a:xfrm>
            <a:off x="1466811" y="3931920"/>
            <a:ext cx="1143000" cy="219456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ctr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ICN-005</a:t>
            </a:r>
          </a:p>
        </p:txBody>
      </p:sp>
      <p:grpSp>
        <p:nvGrpSpPr>
          <p:cNvPr id="38" name="asset:ICN-005"/>
          <p:cNvGrpSpPr/>
          <p:nvPr/>
        </p:nvGrpSpPr>
        <p:grpSpPr>
          <a:xfrm>
            <a:off x="685800" y="4444365"/>
            <a:ext cx="2705023" cy="1252346"/>
            <a:chOff x="685800" y="4444365"/>
            <a:chExt cx="2705023" cy="1252346"/>
          </a:xfrm>
        </p:grpSpPr>
        <p:sp>
          <p:nvSpPr>
            <p:cNvPr id="34" name="Oval 33"/>
            <p:cNvSpPr/>
            <p:nvPr/>
          </p:nvSpPr>
          <p:spPr>
            <a:xfrm>
              <a:off x="1704936" y="4444365"/>
              <a:ext cx="666750" cy="666750"/>
            </a:xfrm>
            <a:prstGeom prst="ellipse">
              <a:avLst/>
            </a:prstGeom>
            <a:solidFill>
              <a:srgbClr val="1F386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35" name="Connector 34"/>
            <p:cNvCxnSpPr/>
            <p:nvPr/>
          </p:nvCxnSpPr>
          <p:spPr>
            <a:xfrm>
              <a:off x="1859718" y="4801552"/>
              <a:ext cx="142875" cy="142875"/>
            </a:xfrm>
            <a:prstGeom prst="line">
              <a:avLst/>
            </a:prstGeom>
            <a:ln w="63500">
              <a:solidFill>
                <a:srgbClr val="29ABE2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Connector 35"/>
            <p:cNvCxnSpPr/>
            <p:nvPr/>
          </p:nvCxnSpPr>
          <p:spPr>
            <a:xfrm flipV="1">
              <a:off x="2002593" y="4611052"/>
              <a:ext cx="250031" cy="333375"/>
            </a:xfrm>
            <a:prstGeom prst="line">
              <a:avLst/>
            </a:prstGeom>
            <a:ln w="63500">
              <a:solidFill>
                <a:srgbClr val="29ABE2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7" name="TextBox 36"/>
            <p:cNvSpPr txBox="1"/>
            <p:nvPr/>
          </p:nvSpPr>
          <p:spPr>
            <a:xfrm>
              <a:off x="685800" y="5404103"/>
              <a:ext cx="2705023" cy="29260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2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검증</a:t>
              </a:r>
            </a:p>
          </p:txBody>
        </p:sp>
      </p:grpSp>
      <p:sp>
        <p:nvSpPr>
          <p:cNvPr id="39" name="TextBox 38"/>
          <p:cNvSpPr txBox="1"/>
          <p:nvPr/>
        </p:nvSpPr>
        <p:spPr>
          <a:xfrm>
            <a:off x="4171835" y="3931920"/>
            <a:ext cx="1143000" cy="219456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ctr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ICN-006</a:t>
            </a:r>
          </a:p>
        </p:txBody>
      </p:sp>
      <p:grpSp>
        <p:nvGrpSpPr>
          <p:cNvPr id="44" name="asset:ICN-006"/>
          <p:cNvGrpSpPr/>
          <p:nvPr/>
        </p:nvGrpSpPr>
        <p:grpSpPr>
          <a:xfrm>
            <a:off x="3390823" y="4372927"/>
            <a:ext cx="2705023" cy="1323784"/>
            <a:chOff x="3390823" y="4372927"/>
            <a:chExt cx="2705023" cy="1323784"/>
          </a:xfrm>
        </p:grpSpPr>
        <p:sp>
          <p:nvSpPr>
            <p:cNvPr id="40" name="Isosceles Triangle 39"/>
            <p:cNvSpPr/>
            <p:nvPr/>
          </p:nvSpPr>
          <p:spPr>
            <a:xfrm rot="10800000">
              <a:off x="4600460" y="4682489"/>
              <a:ext cx="285750" cy="476250"/>
            </a:xfrm>
            <a:prstGeom prst="triangle">
              <a:avLst/>
            </a:prstGeom>
            <a:solidFill>
              <a:srgbClr val="1F386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1" name="Oval 40"/>
            <p:cNvSpPr/>
            <p:nvPr/>
          </p:nvSpPr>
          <p:spPr>
            <a:xfrm>
              <a:off x="4505210" y="4372927"/>
              <a:ext cx="476250" cy="476250"/>
            </a:xfrm>
            <a:prstGeom prst="ellipse">
              <a:avLst/>
            </a:prstGeom>
            <a:solidFill>
              <a:srgbClr val="1F386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2" name="Oval 41"/>
            <p:cNvSpPr/>
            <p:nvPr/>
          </p:nvSpPr>
          <p:spPr>
            <a:xfrm>
              <a:off x="4648085" y="4515802"/>
              <a:ext cx="190499" cy="190499"/>
            </a:xfrm>
            <a:prstGeom prst="ellipse">
              <a:avLst/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3" name="TextBox 42"/>
            <p:cNvSpPr txBox="1"/>
            <p:nvPr/>
          </p:nvSpPr>
          <p:spPr>
            <a:xfrm>
              <a:off x="3390823" y="5404103"/>
              <a:ext cx="2705023" cy="29260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2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위치</a:t>
              </a:r>
            </a:p>
          </p:txBody>
        </p:sp>
      </p:grpSp>
      <p:sp>
        <p:nvSpPr>
          <p:cNvPr id="45" name="TextBox 44"/>
          <p:cNvSpPr txBox="1"/>
          <p:nvPr/>
        </p:nvSpPr>
        <p:spPr>
          <a:xfrm>
            <a:off x="6876859" y="3931920"/>
            <a:ext cx="1143000" cy="219456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ctr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ICN-007</a:t>
            </a:r>
          </a:p>
        </p:txBody>
      </p:sp>
      <p:grpSp>
        <p:nvGrpSpPr>
          <p:cNvPr id="50" name="asset:ICN-007"/>
          <p:cNvGrpSpPr/>
          <p:nvPr/>
        </p:nvGrpSpPr>
        <p:grpSpPr>
          <a:xfrm>
            <a:off x="6095847" y="4420552"/>
            <a:ext cx="2705023" cy="1276159"/>
            <a:chOff x="6095847" y="4420552"/>
            <a:chExt cx="2705023" cy="1276159"/>
          </a:xfrm>
        </p:grpSpPr>
        <p:sp>
          <p:nvSpPr>
            <p:cNvPr id="46" name="Can 45"/>
            <p:cNvSpPr/>
            <p:nvPr/>
          </p:nvSpPr>
          <p:spPr>
            <a:xfrm>
              <a:off x="7186422" y="4420552"/>
              <a:ext cx="523874" cy="714375"/>
            </a:xfrm>
            <a:prstGeom prst="can">
              <a:avLst/>
            </a:prstGeom>
            <a:solidFill>
              <a:srgbClr val="FFFFFF"/>
            </a:solidFill>
            <a:ln w="27940">
              <a:solidFill>
                <a:srgbClr val="1F3864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47" name="Connector 46"/>
            <p:cNvCxnSpPr/>
            <p:nvPr/>
          </p:nvCxnSpPr>
          <p:spPr>
            <a:xfrm>
              <a:off x="7186422" y="4730115"/>
              <a:ext cx="523875" cy="0"/>
            </a:xfrm>
            <a:prstGeom prst="line">
              <a:avLst/>
            </a:prstGeom>
            <a:ln w="25400">
              <a:solidFill>
                <a:srgbClr val="29ABE2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Connector 47"/>
            <p:cNvCxnSpPr/>
            <p:nvPr/>
          </p:nvCxnSpPr>
          <p:spPr>
            <a:xfrm>
              <a:off x="7186422" y="4920615"/>
              <a:ext cx="523875" cy="0"/>
            </a:xfrm>
            <a:prstGeom prst="line">
              <a:avLst/>
            </a:prstGeom>
            <a:ln w="25400">
              <a:solidFill>
                <a:srgbClr val="29ABE2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9" name="TextBox 48"/>
            <p:cNvSpPr txBox="1"/>
            <p:nvPr/>
          </p:nvSpPr>
          <p:spPr>
            <a:xfrm>
              <a:off x="6095847" y="5404103"/>
              <a:ext cx="2705023" cy="29260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2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데이터베이스</a:t>
              </a:r>
            </a:p>
          </p:txBody>
        </p:sp>
      </p:grpSp>
      <p:sp>
        <p:nvSpPr>
          <p:cNvPr id="51" name="TextBox 50"/>
          <p:cNvSpPr txBox="1"/>
          <p:nvPr/>
        </p:nvSpPr>
        <p:spPr>
          <a:xfrm>
            <a:off x="9581883" y="3931920"/>
            <a:ext cx="1143000" cy="219456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ctr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ICN-008</a:t>
            </a:r>
          </a:p>
        </p:txBody>
      </p:sp>
      <p:grpSp>
        <p:nvGrpSpPr>
          <p:cNvPr id="60" name="asset:ICN-008"/>
          <p:cNvGrpSpPr/>
          <p:nvPr/>
        </p:nvGrpSpPr>
        <p:grpSpPr>
          <a:xfrm>
            <a:off x="8800871" y="4349115"/>
            <a:ext cx="2705023" cy="1347596"/>
            <a:chOff x="8800871" y="4349115"/>
            <a:chExt cx="2705023" cy="1347596"/>
          </a:xfrm>
        </p:grpSpPr>
        <p:cxnSp>
          <p:nvCxnSpPr>
            <p:cNvPr id="52" name="Connector 51"/>
            <p:cNvCxnSpPr/>
            <p:nvPr/>
          </p:nvCxnSpPr>
          <p:spPr>
            <a:xfrm flipV="1">
              <a:off x="10153383" y="4468177"/>
              <a:ext cx="47625" cy="285750"/>
            </a:xfrm>
            <a:prstGeom prst="line">
              <a:avLst/>
            </a:prstGeom>
            <a:ln w="25400">
              <a:solidFill>
                <a:srgbClr val="1F3864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Connector 52"/>
            <p:cNvCxnSpPr/>
            <p:nvPr/>
          </p:nvCxnSpPr>
          <p:spPr>
            <a:xfrm flipH="1">
              <a:off x="9891445" y="4825364"/>
              <a:ext cx="214313" cy="190501"/>
            </a:xfrm>
            <a:prstGeom prst="line">
              <a:avLst/>
            </a:prstGeom>
            <a:ln w="25400">
              <a:solidFill>
                <a:srgbClr val="1F3864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Connector 53"/>
            <p:cNvCxnSpPr/>
            <p:nvPr/>
          </p:nvCxnSpPr>
          <p:spPr>
            <a:xfrm>
              <a:off x="10248633" y="4825364"/>
              <a:ext cx="166687" cy="190501"/>
            </a:xfrm>
            <a:prstGeom prst="line">
              <a:avLst/>
            </a:prstGeom>
            <a:ln w="25400">
              <a:solidFill>
                <a:srgbClr val="1F3864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5" name="Oval 54"/>
            <p:cNvSpPr/>
            <p:nvPr/>
          </p:nvSpPr>
          <p:spPr>
            <a:xfrm>
              <a:off x="10058133" y="4682489"/>
              <a:ext cx="190499" cy="190499"/>
            </a:xfrm>
            <a:prstGeom prst="ellipse">
              <a:avLst/>
            </a:prstGeom>
            <a:solidFill>
              <a:srgbClr val="1F386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6" name="Oval 55"/>
            <p:cNvSpPr/>
            <p:nvPr/>
          </p:nvSpPr>
          <p:spPr>
            <a:xfrm>
              <a:off x="10105758" y="4349115"/>
              <a:ext cx="190499" cy="190499"/>
            </a:xfrm>
            <a:prstGeom prst="ellipse">
              <a:avLst/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7" name="Oval 56"/>
            <p:cNvSpPr/>
            <p:nvPr/>
          </p:nvSpPr>
          <p:spPr>
            <a:xfrm>
              <a:off x="9772383" y="4944427"/>
              <a:ext cx="190499" cy="190499"/>
            </a:xfrm>
            <a:prstGeom prst="ellipse">
              <a:avLst/>
            </a:prstGeom>
            <a:solidFill>
              <a:srgbClr val="1F386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8" name="Oval 57"/>
            <p:cNvSpPr/>
            <p:nvPr/>
          </p:nvSpPr>
          <p:spPr>
            <a:xfrm>
              <a:off x="10343883" y="4944427"/>
              <a:ext cx="190499" cy="190499"/>
            </a:xfrm>
            <a:prstGeom prst="ellipse">
              <a:avLst/>
            </a:prstGeom>
            <a:solidFill>
              <a:srgbClr val="1F386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9" name="TextBox 58"/>
            <p:cNvSpPr txBox="1"/>
            <p:nvPr/>
          </p:nvSpPr>
          <p:spPr>
            <a:xfrm>
              <a:off x="8800871" y="5404103"/>
              <a:ext cx="2705023" cy="29260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2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네트워크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ICN-009 ~ ICN-016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11155680" cy="45720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800" b="1">
                <a:solidFill>
                  <a:srgbClr val="1F3864"/>
                </a:solidFill>
                <a:latin typeface="Pretendard"/>
                <a:ea typeface="Pretendard"/>
                <a:cs typeface="Pretendard"/>
              </a:rPr>
              <a:t>아이콘 세트 · ICN (2/3)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41248"/>
            <a:ext cx="1115568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  <a:latin typeface="Pretendard"/>
                <a:ea typeface="Pretendard"/>
                <a:cs typeface="Pretendard"/>
              </a:rPr>
              <a:t>제안서용 플랫 아이콘 · 네이티브 도형 조합 · 2색(네이비+시안) · 편집 가능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66811" y="1417320"/>
            <a:ext cx="1143000" cy="219456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ctr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ICN-009</a:t>
            </a:r>
          </a:p>
        </p:txBody>
      </p:sp>
      <p:grpSp>
        <p:nvGrpSpPr>
          <p:cNvPr id="11" name="asset:ICN-009"/>
          <p:cNvGrpSpPr/>
          <p:nvPr/>
        </p:nvGrpSpPr>
        <p:grpSpPr>
          <a:xfrm>
            <a:off x="685800" y="1858327"/>
            <a:ext cx="2705023" cy="1323785"/>
            <a:chOff x="685800" y="1858327"/>
            <a:chExt cx="2705023" cy="1323785"/>
          </a:xfrm>
        </p:grpSpPr>
        <p:sp>
          <p:nvSpPr>
            <p:cNvPr id="6" name="Isosceles Triangle 5"/>
            <p:cNvSpPr/>
            <p:nvPr/>
          </p:nvSpPr>
          <p:spPr>
            <a:xfrm rot="10800000">
              <a:off x="1800186" y="2215515"/>
              <a:ext cx="523874" cy="428625"/>
            </a:xfrm>
            <a:prstGeom prst="triangle">
              <a:avLst/>
            </a:prstGeom>
            <a:solidFill>
              <a:srgbClr val="1F386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" name="Rounded Rectangle 6"/>
            <p:cNvSpPr/>
            <p:nvPr/>
          </p:nvSpPr>
          <p:spPr>
            <a:xfrm>
              <a:off x="1800186" y="1858327"/>
              <a:ext cx="523874" cy="476250"/>
            </a:xfrm>
            <a:prstGeom prst="roundRect">
              <a:avLst/>
            </a:prstGeom>
            <a:solidFill>
              <a:srgbClr val="1F386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8" name="Connector 7"/>
            <p:cNvCxnSpPr/>
            <p:nvPr/>
          </p:nvCxnSpPr>
          <p:spPr>
            <a:xfrm>
              <a:off x="1919249" y="2167890"/>
              <a:ext cx="95250" cy="119062"/>
            </a:xfrm>
            <a:prstGeom prst="line">
              <a:avLst/>
            </a:prstGeom>
            <a:ln w="50800">
              <a:solidFill>
                <a:srgbClr val="29ABE2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Connector 8"/>
            <p:cNvCxnSpPr/>
            <p:nvPr/>
          </p:nvCxnSpPr>
          <p:spPr>
            <a:xfrm flipV="1">
              <a:off x="2014499" y="2025015"/>
              <a:ext cx="190500" cy="261937"/>
            </a:xfrm>
            <a:prstGeom prst="line">
              <a:avLst/>
            </a:prstGeom>
            <a:ln w="50800">
              <a:solidFill>
                <a:srgbClr val="29ABE2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TextBox 9"/>
            <p:cNvSpPr txBox="1"/>
            <p:nvPr/>
          </p:nvSpPr>
          <p:spPr>
            <a:xfrm>
              <a:off x="685800" y="2889504"/>
              <a:ext cx="2705023" cy="29260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2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보안</a:t>
              </a:r>
            </a:p>
          </p:txBody>
        </p:sp>
      </p:grpSp>
      <p:sp>
        <p:nvSpPr>
          <p:cNvPr id="12" name="TextBox 11"/>
          <p:cNvSpPr txBox="1"/>
          <p:nvPr/>
        </p:nvSpPr>
        <p:spPr>
          <a:xfrm>
            <a:off x="4171835" y="1417320"/>
            <a:ext cx="1143000" cy="219456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ctr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ICN-010</a:t>
            </a:r>
          </a:p>
        </p:txBody>
      </p:sp>
      <p:grpSp>
        <p:nvGrpSpPr>
          <p:cNvPr id="17" name="asset:ICN-010"/>
          <p:cNvGrpSpPr/>
          <p:nvPr/>
        </p:nvGrpSpPr>
        <p:grpSpPr>
          <a:xfrm>
            <a:off x="3390823" y="1929765"/>
            <a:ext cx="2705023" cy="1252347"/>
            <a:chOff x="3390823" y="1929765"/>
            <a:chExt cx="2705023" cy="1252347"/>
          </a:xfrm>
        </p:grpSpPr>
        <p:sp>
          <p:nvSpPr>
            <p:cNvPr id="13" name="Donut 12"/>
            <p:cNvSpPr/>
            <p:nvPr/>
          </p:nvSpPr>
          <p:spPr>
            <a:xfrm>
              <a:off x="4409960" y="1929765"/>
              <a:ext cx="666750" cy="666750"/>
            </a:xfrm>
            <a:prstGeom prst="donut">
              <a:avLst/>
            </a:prstGeom>
            <a:solidFill>
              <a:srgbClr val="FFFFFF"/>
            </a:solidFill>
            <a:ln w="31750">
              <a:solidFill>
                <a:srgbClr val="1F3864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" name="Donut 13"/>
            <p:cNvSpPr/>
            <p:nvPr/>
          </p:nvSpPr>
          <p:spPr>
            <a:xfrm>
              <a:off x="4576648" y="2096452"/>
              <a:ext cx="333375" cy="333375"/>
            </a:xfrm>
            <a:prstGeom prst="donut">
              <a:avLst/>
            </a:prstGeom>
            <a:solidFill>
              <a:srgbClr val="FFFFFF"/>
            </a:solidFill>
            <a:ln w="44450">
              <a:solidFill>
                <a:srgbClr val="29ABE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" name="Oval 14"/>
            <p:cNvSpPr/>
            <p:nvPr/>
          </p:nvSpPr>
          <p:spPr>
            <a:xfrm>
              <a:off x="4671898" y="2191702"/>
              <a:ext cx="142875" cy="142875"/>
            </a:xfrm>
            <a:prstGeom prst="ellipse">
              <a:avLst/>
            </a:prstGeom>
            <a:solidFill>
              <a:srgbClr val="1F386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3390823" y="2889504"/>
              <a:ext cx="2705023" cy="29260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2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목표</a:t>
              </a:r>
            </a:p>
          </p:txBody>
        </p:sp>
      </p:grpSp>
      <p:sp>
        <p:nvSpPr>
          <p:cNvPr id="18" name="TextBox 17"/>
          <p:cNvSpPr txBox="1"/>
          <p:nvPr/>
        </p:nvSpPr>
        <p:spPr>
          <a:xfrm>
            <a:off x="6876859" y="1417320"/>
            <a:ext cx="1143000" cy="219456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ctr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ICN-011</a:t>
            </a:r>
          </a:p>
        </p:txBody>
      </p:sp>
      <p:grpSp>
        <p:nvGrpSpPr>
          <p:cNvPr id="24" name="asset:ICN-011"/>
          <p:cNvGrpSpPr/>
          <p:nvPr/>
        </p:nvGrpSpPr>
        <p:grpSpPr>
          <a:xfrm>
            <a:off x="6095847" y="1882140"/>
            <a:ext cx="2705023" cy="1299972"/>
            <a:chOff x="6095847" y="1882140"/>
            <a:chExt cx="2705023" cy="1299972"/>
          </a:xfrm>
        </p:grpSpPr>
        <p:sp>
          <p:nvSpPr>
            <p:cNvPr id="19" name="Rounded Rectangle 18"/>
            <p:cNvSpPr/>
            <p:nvPr/>
          </p:nvSpPr>
          <p:spPr>
            <a:xfrm>
              <a:off x="7091172" y="1882140"/>
              <a:ext cx="714375" cy="523874"/>
            </a:xfrm>
            <a:prstGeom prst="roundRect">
              <a:avLst/>
            </a:prstGeom>
            <a:solidFill>
              <a:srgbClr val="FFFFFF"/>
            </a:solidFill>
            <a:ln w="25400">
              <a:solidFill>
                <a:srgbClr val="1F3864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0" name="Rectangle 19"/>
            <p:cNvSpPr/>
            <p:nvPr/>
          </p:nvSpPr>
          <p:spPr>
            <a:xfrm>
              <a:off x="7162609" y="1953577"/>
              <a:ext cx="571500" cy="380999"/>
            </a:xfrm>
            <a:prstGeom prst="rect">
              <a:avLst/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1" name="Rectangle 20"/>
            <p:cNvSpPr/>
            <p:nvPr/>
          </p:nvSpPr>
          <p:spPr>
            <a:xfrm>
              <a:off x="7400734" y="2406015"/>
              <a:ext cx="95249" cy="119062"/>
            </a:xfrm>
            <a:prstGeom prst="rect">
              <a:avLst/>
            </a:prstGeom>
            <a:solidFill>
              <a:srgbClr val="1F386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2" name="Rounded Rectangle 21"/>
            <p:cNvSpPr/>
            <p:nvPr/>
          </p:nvSpPr>
          <p:spPr>
            <a:xfrm>
              <a:off x="7257859" y="2525077"/>
              <a:ext cx="380999" cy="71437"/>
            </a:xfrm>
            <a:prstGeom prst="roundRect">
              <a:avLst/>
            </a:prstGeom>
            <a:solidFill>
              <a:srgbClr val="1F386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3" name="TextBox 22"/>
            <p:cNvSpPr txBox="1"/>
            <p:nvPr/>
          </p:nvSpPr>
          <p:spPr>
            <a:xfrm>
              <a:off x="6095847" y="2889504"/>
              <a:ext cx="2705023" cy="29260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2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모니터</a:t>
              </a:r>
            </a:p>
          </p:txBody>
        </p:sp>
      </p:grpSp>
      <p:sp>
        <p:nvSpPr>
          <p:cNvPr id="25" name="TextBox 24"/>
          <p:cNvSpPr txBox="1"/>
          <p:nvPr/>
        </p:nvSpPr>
        <p:spPr>
          <a:xfrm>
            <a:off x="9581883" y="1417320"/>
            <a:ext cx="1143000" cy="219456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ctr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ICN-012</a:t>
            </a:r>
          </a:p>
        </p:txBody>
      </p:sp>
      <p:grpSp>
        <p:nvGrpSpPr>
          <p:cNvPr id="30" name="asset:ICN-012"/>
          <p:cNvGrpSpPr/>
          <p:nvPr/>
        </p:nvGrpSpPr>
        <p:grpSpPr>
          <a:xfrm>
            <a:off x="8800871" y="1834515"/>
            <a:ext cx="2705023" cy="1347597"/>
            <a:chOff x="8800871" y="1834515"/>
            <a:chExt cx="2705023" cy="1347597"/>
          </a:xfrm>
        </p:grpSpPr>
        <p:sp>
          <p:nvSpPr>
            <p:cNvPr id="26" name="Rounded Rectangle 25"/>
            <p:cNvSpPr/>
            <p:nvPr/>
          </p:nvSpPr>
          <p:spPr>
            <a:xfrm>
              <a:off x="9962883" y="1834515"/>
              <a:ext cx="380999" cy="857250"/>
            </a:xfrm>
            <a:prstGeom prst="roundRect">
              <a:avLst/>
            </a:prstGeom>
            <a:solidFill>
              <a:srgbClr val="FFFFFF"/>
            </a:solidFill>
            <a:ln w="25400">
              <a:solidFill>
                <a:srgbClr val="1F3864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7" name="Rectangle 26"/>
            <p:cNvSpPr/>
            <p:nvPr/>
          </p:nvSpPr>
          <p:spPr>
            <a:xfrm>
              <a:off x="10022414" y="1953577"/>
              <a:ext cx="261937" cy="571500"/>
            </a:xfrm>
            <a:prstGeom prst="rect">
              <a:avLst/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8" name="Oval 27"/>
            <p:cNvSpPr/>
            <p:nvPr/>
          </p:nvSpPr>
          <p:spPr>
            <a:xfrm>
              <a:off x="10117664" y="2572702"/>
              <a:ext cx="71437" cy="71437"/>
            </a:xfrm>
            <a:prstGeom prst="ellipse">
              <a:avLst/>
            </a:prstGeom>
            <a:solidFill>
              <a:srgbClr val="1F386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9" name="TextBox 28"/>
            <p:cNvSpPr txBox="1"/>
            <p:nvPr/>
          </p:nvSpPr>
          <p:spPr>
            <a:xfrm>
              <a:off x="8800871" y="2889504"/>
              <a:ext cx="2705023" cy="29260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2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모바일</a:t>
              </a:r>
            </a:p>
          </p:txBody>
        </p:sp>
      </p:grpSp>
      <p:sp>
        <p:nvSpPr>
          <p:cNvPr id="31" name="TextBox 30"/>
          <p:cNvSpPr txBox="1"/>
          <p:nvPr/>
        </p:nvSpPr>
        <p:spPr>
          <a:xfrm>
            <a:off x="1466811" y="3931920"/>
            <a:ext cx="1143000" cy="219456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ctr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ICN-013</a:t>
            </a:r>
          </a:p>
        </p:txBody>
      </p:sp>
      <p:grpSp>
        <p:nvGrpSpPr>
          <p:cNvPr id="36" name="asset:ICN-013"/>
          <p:cNvGrpSpPr/>
          <p:nvPr/>
        </p:nvGrpSpPr>
        <p:grpSpPr>
          <a:xfrm>
            <a:off x="685800" y="4515802"/>
            <a:ext cx="2705023" cy="1180909"/>
            <a:chOff x="685800" y="4515802"/>
            <a:chExt cx="2705023" cy="1180909"/>
          </a:xfrm>
        </p:grpSpPr>
        <p:sp>
          <p:nvSpPr>
            <p:cNvPr id="32" name="Rectangle 31"/>
            <p:cNvSpPr/>
            <p:nvPr/>
          </p:nvSpPr>
          <p:spPr>
            <a:xfrm>
              <a:off x="1681124" y="4515802"/>
              <a:ext cx="714375" cy="523874"/>
            </a:xfrm>
            <a:prstGeom prst="rect">
              <a:avLst/>
            </a:prstGeom>
            <a:solidFill>
              <a:srgbClr val="FFFFFF"/>
            </a:solidFill>
            <a:ln w="25400">
              <a:solidFill>
                <a:srgbClr val="1F3864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33" name="Connector 32"/>
            <p:cNvCxnSpPr/>
            <p:nvPr/>
          </p:nvCxnSpPr>
          <p:spPr>
            <a:xfrm>
              <a:off x="1681124" y="4539614"/>
              <a:ext cx="357187" cy="285750"/>
            </a:xfrm>
            <a:prstGeom prst="line">
              <a:avLst/>
            </a:prstGeom>
            <a:ln w="31750">
              <a:solidFill>
                <a:srgbClr val="29ABE2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Connector 33"/>
            <p:cNvCxnSpPr/>
            <p:nvPr/>
          </p:nvCxnSpPr>
          <p:spPr>
            <a:xfrm flipV="1">
              <a:off x="2038311" y="4539614"/>
              <a:ext cx="357188" cy="285750"/>
            </a:xfrm>
            <a:prstGeom prst="line">
              <a:avLst/>
            </a:prstGeom>
            <a:ln w="31750">
              <a:solidFill>
                <a:srgbClr val="29ABE2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5" name="TextBox 34"/>
            <p:cNvSpPr txBox="1"/>
            <p:nvPr/>
          </p:nvSpPr>
          <p:spPr>
            <a:xfrm>
              <a:off x="685800" y="5404103"/>
              <a:ext cx="2705023" cy="29260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2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메일</a:t>
              </a:r>
            </a:p>
          </p:txBody>
        </p:sp>
      </p:grpSp>
      <p:sp>
        <p:nvSpPr>
          <p:cNvPr id="37" name="TextBox 36"/>
          <p:cNvSpPr txBox="1"/>
          <p:nvPr/>
        </p:nvSpPr>
        <p:spPr>
          <a:xfrm>
            <a:off x="4171835" y="3931920"/>
            <a:ext cx="1143000" cy="219456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ctr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ICN-014</a:t>
            </a:r>
          </a:p>
        </p:txBody>
      </p:sp>
      <p:grpSp>
        <p:nvGrpSpPr>
          <p:cNvPr id="44" name="asset:ICN-014"/>
          <p:cNvGrpSpPr/>
          <p:nvPr/>
        </p:nvGrpSpPr>
        <p:grpSpPr>
          <a:xfrm>
            <a:off x="3390823" y="4372927"/>
            <a:ext cx="2705023" cy="1323784"/>
            <a:chOff x="3390823" y="4372927"/>
            <a:chExt cx="2705023" cy="1323784"/>
          </a:xfrm>
        </p:grpSpPr>
        <p:sp>
          <p:nvSpPr>
            <p:cNvPr id="38" name="Rectangle 37"/>
            <p:cNvSpPr/>
            <p:nvPr/>
          </p:nvSpPr>
          <p:spPr>
            <a:xfrm>
              <a:off x="4409960" y="4468177"/>
              <a:ext cx="666750" cy="642937"/>
            </a:xfrm>
            <a:prstGeom prst="rect">
              <a:avLst/>
            </a:prstGeom>
            <a:solidFill>
              <a:srgbClr val="FFFFFF"/>
            </a:solidFill>
            <a:ln w="25400">
              <a:solidFill>
                <a:srgbClr val="1F3864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9" name="Rectangle 38"/>
            <p:cNvSpPr/>
            <p:nvPr/>
          </p:nvSpPr>
          <p:spPr>
            <a:xfrm>
              <a:off x="4409960" y="4468177"/>
              <a:ext cx="666750" cy="166687"/>
            </a:xfrm>
            <a:prstGeom prst="rect">
              <a:avLst/>
            </a:prstGeom>
            <a:solidFill>
              <a:srgbClr val="1F386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0" name="Rectangle 39"/>
            <p:cNvSpPr/>
            <p:nvPr/>
          </p:nvSpPr>
          <p:spPr>
            <a:xfrm>
              <a:off x="4552835" y="4372927"/>
              <a:ext cx="59531" cy="142875"/>
            </a:xfrm>
            <a:prstGeom prst="rect">
              <a:avLst/>
            </a:prstGeom>
            <a:solidFill>
              <a:srgbClr val="1F386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1" name="Rectangle 40"/>
            <p:cNvSpPr/>
            <p:nvPr/>
          </p:nvSpPr>
          <p:spPr>
            <a:xfrm>
              <a:off x="4874304" y="4372927"/>
              <a:ext cx="59531" cy="142875"/>
            </a:xfrm>
            <a:prstGeom prst="rect">
              <a:avLst/>
            </a:prstGeom>
            <a:solidFill>
              <a:srgbClr val="1F386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2" name="Rectangle 41"/>
            <p:cNvSpPr/>
            <p:nvPr/>
          </p:nvSpPr>
          <p:spPr>
            <a:xfrm>
              <a:off x="4671898" y="4801552"/>
              <a:ext cx="142875" cy="142875"/>
            </a:xfrm>
            <a:prstGeom prst="rect">
              <a:avLst/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3" name="TextBox 42"/>
            <p:cNvSpPr txBox="1"/>
            <p:nvPr/>
          </p:nvSpPr>
          <p:spPr>
            <a:xfrm>
              <a:off x="3390823" y="5404103"/>
              <a:ext cx="2705023" cy="29260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2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일정</a:t>
              </a:r>
            </a:p>
          </p:txBody>
        </p:sp>
      </p:grpSp>
      <p:sp>
        <p:nvSpPr>
          <p:cNvPr id="45" name="TextBox 44"/>
          <p:cNvSpPr txBox="1"/>
          <p:nvPr/>
        </p:nvSpPr>
        <p:spPr>
          <a:xfrm>
            <a:off x="6876859" y="3931920"/>
            <a:ext cx="1143000" cy="219456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ctr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ICN-015</a:t>
            </a:r>
          </a:p>
        </p:txBody>
      </p:sp>
      <p:grpSp>
        <p:nvGrpSpPr>
          <p:cNvPr id="50" name="asset:ICN-015"/>
          <p:cNvGrpSpPr/>
          <p:nvPr/>
        </p:nvGrpSpPr>
        <p:grpSpPr>
          <a:xfrm>
            <a:off x="6095847" y="4372927"/>
            <a:ext cx="2705023" cy="1323784"/>
            <a:chOff x="6095847" y="4372927"/>
            <a:chExt cx="2705023" cy="1323784"/>
          </a:xfrm>
        </p:grpSpPr>
        <p:sp>
          <p:nvSpPr>
            <p:cNvPr id="46" name="Rectangle 45"/>
            <p:cNvSpPr/>
            <p:nvPr/>
          </p:nvSpPr>
          <p:spPr>
            <a:xfrm>
              <a:off x="7210234" y="4372927"/>
              <a:ext cx="59531" cy="809625"/>
            </a:xfrm>
            <a:prstGeom prst="rect">
              <a:avLst/>
            </a:prstGeom>
            <a:solidFill>
              <a:srgbClr val="1F386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7" name="Rectangle 46"/>
            <p:cNvSpPr/>
            <p:nvPr/>
          </p:nvSpPr>
          <p:spPr>
            <a:xfrm>
              <a:off x="7269765" y="4396739"/>
              <a:ext cx="476250" cy="309562"/>
            </a:xfrm>
            <a:prstGeom prst="rect">
              <a:avLst/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8" name="Oval 47"/>
            <p:cNvSpPr/>
            <p:nvPr/>
          </p:nvSpPr>
          <p:spPr>
            <a:xfrm>
              <a:off x="7162609" y="5134927"/>
              <a:ext cx="130968" cy="95249"/>
            </a:xfrm>
            <a:prstGeom prst="ellipse">
              <a:avLst/>
            </a:prstGeom>
            <a:solidFill>
              <a:srgbClr val="1F386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9" name="TextBox 48"/>
            <p:cNvSpPr txBox="1"/>
            <p:nvPr/>
          </p:nvSpPr>
          <p:spPr>
            <a:xfrm>
              <a:off x="6095847" y="5404103"/>
              <a:ext cx="2705023" cy="29260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2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목표지점</a:t>
              </a:r>
            </a:p>
          </p:txBody>
        </p:sp>
      </p:grpSp>
      <p:sp>
        <p:nvSpPr>
          <p:cNvPr id="51" name="TextBox 50"/>
          <p:cNvSpPr txBox="1"/>
          <p:nvPr/>
        </p:nvSpPr>
        <p:spPr>
          <a:xfrm>
            <a:off x="9581883" y="3931920"/>
            <a:ext cx="1143000" cy="219456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ctr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ICN-016</a:t>
            </a:r>
          </a:p>
        </p:txBody>
      </p:sp>
      <p:grpSp>
        <p:nvGrpSpPr>
          <p:cNvPr id="61" name="asset:ICN-016"/>
          <p:cNvGrpSpPr/>
          <p:nvPr/>
        </p:nvGrpSpPr>
        <p:grpSpPr>
          <a:xfrm>
            <a:off x="8800871" y="4277677"/>
            <a:ext cx="2705023" cy="1419034"/>
            <a:chOff x="8800871" y="4277677"/>
            <a:chExt cx="2705023" cy="1419034"/>
          </a:xfrm>
        </p:grpSpPr>
        <p:sp>
          <p:nvSpPr>
            <p:cNvPr id="52" name="Oval 51"/>
            <p:cNvSpPr/>
            <p:nvPr/>
          </p:nvSpPr>
          <p:spPr>
            <a:xfrm>
              <a:off x="9939070" y="4349115"/>
              <a:ext cx="428625" cy="428625"/>
            </a:xfrm>
            <a:prstGeom prst="ellipse">
              <a:avLst/>
            </a:prstGeom>
            <a:solidFill>
              <a:srgbClr val="FFFFFF"/>
            </a:solidFill>
            <a:ln w="25400">
              <a:solidFill>
                <a:srgbClr val="1F3864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3" name="Rectangle 52"/>
            <p:cNvSpPr/>
            <p:nvPr/>
          </p:nvSpPr>
          <p:spPr>
            <a:xfrm>
              <a:off x="10058133" y="4753927"/>
              <a:ext cx="190499" cy="119062"/>
            </a:xfrm>
            <a:prstGeom prst="rect">
              <a:avLst/>
            </a:prstGeom>
            <a:solidFill>
              <a:srgbClr val="1F386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4" name="Rectangle 53"/>
            <p:cNvSpPr/>
            <p:nvPr/>
          </p:nvSpPr>
          <p:spPr>
            <a:xfrm>
              <a:off x="10081945" y="4872990"/>
              <a:ext cx="142875" cy="83343"/>
            </a:xfrm>
            <a:prstGeom prst="rect">
              <a:avLst/>
            </a:prstGeom>
            <a:solidFill>
              <a:srgbClr val="1F386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55" name="Connector 54"/>
            <p:cNvCxnSpPr/>
            <p:nvPr/>
          </p:nvCxnSpPr>
          <p:spPr>
            <a:xfrm>
              <a:off x="10081945" y="4563427"/>
              <a:ext cx="71438" cy="119062"/>
            </a:xfrm>
            <a:prstGeom prst="line">
              <a:avLst/>
            </a:prstGeom>
            <a:ln w="31750">
              <a:solidFill>
                <a:srgbClr val="29ABE2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Connector 55"/>
            <p:cNvCxnSpPr/>
            <p:nvPr/>
          </p:nvCxnSpPr>
          <p:spPr>
            <a:xfrm flipV="1">
              <a:off x="10153383" y="4563427"/>
              <a:ext cx="71437" cy="119062"/>
            </a:xfrm>
            <a:prstGeom prst="line">
              <a:avLst/>
            </a:prstGeom>
            <a:ln w="31750">
              <a:solidFill>
                <a:srgbClr val="29ABE2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Connector 56"/>
            <p:cNvCxnSpPr/>
            <p:nvPr/>
          </p:nvCxnSpPr>
          <p:spPr>
            <a:xfrm>
              <a:off x="9820008" y="4420552"/>
              <a:ext cx="71437" cy="71438"/>
            </a:xfrm>
            <a:prstGeom prst="line">
              <a:avLst/>
            </a:prstGeom>
            <a:ln w="25400">
              <a:solidFill>
                <a:srgbClr val="29ABE2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Connector 57"/>
            <p:cNvCxnSpPr/>
            <p:nvPr/>
          </p:nvCxnSpPr>
          <p:spPr>
            <a:xfrm>
              <a:off x="10153383" y="4277677"/>
              <a:ext cx="0" cy="71438"/>
            </a:xfrm>
            <a:prstGeom prst="line">
              <a:avLst/>
            </a:prstGeom>
            <a:ln w="25400">
              <a:solidFill>
                <a:srgbClr val="29ABE2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Connector 58"/>
            <p:cNvCxnSpPr/>
            <p:nvPr/>
          </p:nvCxnSpPr>
          <p:spPr>
            <a:xfrm flipH="1">
              <a:off x="10415320" y="4420552"/>
              <a:ext cx="71438" cy="71438"/>
            </a:xfrm>
            <a:prstGeom prst="line">
              <a:avLst/>
            </a:prstGeom>
            <a:ln w="25400">
              <a:solidFill>
                <a:srgbClr val="29ABE2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60" name="TextBox 59"/>
            <p:cNvSpPr txBox="1"/>
            <p:nvPr/>
          </p:nvSpPr>
          <p:spPr>
            <a:xfrm>
              <a:off x="8800871" y="5404103"/>
              <a:ext cx="2705023" cy="29260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2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아이디어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ICN-017 ~ ICN-020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11155680" cy="45720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800" b="1">
                <a:solidFill>
                  <a:srgbClr val="1F3864"/>
                </a:solidFill>
                <a:latin typeface="Pretendard"/>
                <a:ea typeface="Pretendard"/>
                <a:cs typeface="Pretendard"/>
              </a:rPr>
              <a:t>아이콘 세트 · ICN (3/3)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41248"/>
            <a:ext cx="1115568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  <a:latin typeface="Pretendard"/>
                <a:ea typeface="Pretendard"/>
                <a:cs typeface="Pretendard"/>
              </a:rPr>
              <a:t>제안서용 플랫 아이콘 · 네이티브 도형 조합 · 2색(네이비+시안) · 편집 가능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66811" y="1417320"/>
            <a:ext cx="1143000" cy="219456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ctr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ICN-017</a:t>
            </a:r>
          </a:p>
        </p:txBody>
      </p:sp>
      <p:grpSp>
        <p:nvGrpSpPr>
          <p:cNvPr id="11" name="asset:ICN-017"/>
          <p:cNvGrpSpPr/>
          <p:nvPr/>
        </p:nvGrpSpPr>
        <p:grpSpPr>
          <a:xfrm>
            <a:off x="685800" y="1905952"/>
            <a:ext cx="2705023" cy="1276160"/>
            <a:chOff x="685800" y="1905952"/>
            <a:chExt cx="2705023" cy="1276160"/>
          </a:xfrm>
        </p:grpSpPr>
        <p:sp>
          <p:nvSpPr>
            <p:cNvPr id="6" name="Donut 5"/>
            <p:cNvSpPr/>
            <p:nvPr/>
          </p:nvSpPr>
          <p:spPr>
            <a:xfrm>
              <a:off x="1704936" y="1905952"/>
              <a:ext cx="666750" cy="666750"/>
            </a:xfrm>
            <a:prstGeom prst="donut">
              <a:avLst/>
            </a:prstGeom>
            <a:solidFill>
              <a:srgbClr val="FFFFFF"/>
            </a:solidFill>
            <a:ln w="31750">
              <a:solidFill>
                <a:srgbClr val="1F3864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7" name="Connector 6"/>
            <p:cNvCxnSpPr/>
            <p:nvPr/>
          </p:nvCxnSpPr>
          <p:spPr>
            <a:xfrm flipV="1">
              <a:off x="2038311" y="2048827"/>
              <a:ext cx="0" cy="190500"/>
            </a:xfrm>
            <a:prstGeom prst="line">
              <a:avLst/>
            </a:prstGeom>
            <a:ln w="44450">
              <a:solidFill>
                <a:srgbClr val="1F3864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Connector 7"/>
            <p:cNvCxnSpPr/>
            <p:nvPr/>
          </p:nvCxnSpPr>
          <p:spPr>
            <a:xfrm>
              <a:off x="2038311" y="2239327"/>
              <a:ext cx="166688" cy="71438"/>
            </a:xfrm>
            <a:prstGeom prst="line">
              <a:avLst/>
            </a:prstGeom>
            <a:ln w="31750">
              <a:solidFill>
                <a:srgbClr val="29ABE2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9" name="Oval 8"/>
            <p:cNvSpPr/>
            <p:nvPr/>
          </p:nvSpPr>
          <p:spPr>
            <a:xfrm>
              <a:off x="1990686" y="2191702"/>
              <a:ext cx="95249" cy="95249"/>
            </a:xfrm>
            <a:prstGeom prst="ellipse">
              <a:avLst/>
            </a:prstGeom>
            <a:solidFill>
              <a:srgbClr val="1F386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685800" y="2889504"/>
              <a:ext cx="2705023" cy="29260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2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시간</a:t>
              </a:r>
            </a:p>
          </p:txBody>
        </p:sp>
      </p:grpSp>
      <p:sp>
        <p:nvSpPr>
          <p:cNvPr id="12" name="TextBox 11"/>
          <p:cNvSpPr txBox="1"/>
          <p:nvPr/>
        </p:nvSpPr>
        <p:spPr>
          <a:xfrm>
            <a:off x="4171835" y="1417320"/>
            <a:ext cx="1143000" cy="219456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ctr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ICN-018</a:t>
            </a:r>
          </a:p>
        </p:txBody>
      </p:sp>
      <p:grpSp>
        <p:nvGrpSpPr>
          <p:cNvPr id="17" name="asset:ICN-018"/>
          <p:cNvGrpSpPr/>
          <p:nvPr/>
        </p:nvGrpSpPr>
        <p:grpSpPr>
          <a:xfrm>
            <a:off x="3390823" y="1882140"/>
            <a:ext cx="2705023" cy="1299972"/>
            <a:chOff x="3390823" y="1882140"/>
            <a:chExt cx="2705023" cy="1299972"/>
          </a:xfrm>
        </p:grpSpPr>
        <p:sp>
          <p:nvSpPr>
            <p:cNvPr id="13" name="Gear 6 12"/>
            <p:cNvSpPr/>
            <p:nvPr/>
          </p:nvSpPr>
          <p:spPr>
            <a:xfrm>
              <a:off x="4386148" y="1882140"/>
              <a:ext cx="714375" cy="714375"/>
            </a:xfrm>
            <a:prstGeom prst="gear6">
              <a:avLst/>
            </a:prstGeom>
            <a:solidFill>
              <a:srgbClr val="1F386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" name="Oval 13"/>
            <p:cNvSpPr/>
            <p:nvPr/>
          </p:nvSpPr>
          <p:spPr>
            <a:xfrm>
              <a:off x="4624273" y="2120265"/>
              <a:ext cx="238125" cy="238125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" name="Oval 14"/>
            <p:cNvSpPr/>
            <p:nvPr/>
          </p:nvSpPr>
          <p:spPr>
            <a:xfrm>
              <a:off x="4695710" y="2191702"/>
              <a:ext cx="95249" cy="95249"/>
            </a:xfrm>
            <a:prstGeom prst="ellipse">
              <a:avLst/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3390823" y="2889504"/>
              <a:ext cx="2705023" cy="29260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2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설정</a:t>
              </a:r>
            </a:p>
          </p:txBody>
        </p:sp>
      </p:grpSp>
      <p:sp>
        <p:nvSpPr>
          <p:cNvPr id="18" name="TextBox 17"/>
          <p:cNvSpPr txBox="1"/>
          <p:nvPr/>
        </p:nvSpPr>
        <p:spPr>
          <a:xfrm>
            <a:off x="6876859" y="1417320"/>
            <a:ext cx="1143000" cy="219456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ctr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ICN-019</a:t>
            </a:r>
          </a:p>
        </p:txBody>
      </p:sp>
      <p:grpSp>
        <p:nvGrpSpPr>
          <p:cNvPr id="22" name="asset:ICN-019"/>
          <p:cNvGrpSpPr/>
          <p:nvPr/>
        </p:nvGrpSpPr>
        <p:grpSpPr>
          <a:xfrm>
            <a:off x="6095847" y="2025015"/>
            <a:ext cx="2705023" cy="1157097"/>
            <a:chOff x="6095847" y="2025015"/>
            <a:chExt cx="2705023" cy="1157097"/>
          </a:xfrm>
        </p:grpSpPr>
        <p:sp>
          <p:nvSpPr>
            <p:cNvPr id="19" name="Cloud 18"/>
            <p:cNvSpPr/>
            <p:nvPr/>
          </p:nvSpPr>
          <p:spPr>
            <a:xfrm>
              <a:off x="7043547" y="2025015"/>
              <a:ext cx="809625" cy="523874"/>
            </a:xfrm>
            <a:prstGeom prst="cloud">
              <a:avLst/>
            </a:prstGeom>
            <a:solidFill>
              <a:srgbClr val="FFFFFF"/>
            </a:solidFill>
            <a:ln w="25400">
              <a:solidFill>
                <a:srgbClr val="1F3864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0" name="Up Arrow 19"/>
            <p:cNvSpPr/>
            <p:nvPr/>
          </p:nvSpPr>
          <p:spPr>
            <a:xfrm>
              <a:off x="7388828" y="2167890"/>
              <a:ext cx="119062" cy="285750"/>
            </a:xfrm>
            <a:prstGeom prst="upArrow">
              <a:avLst/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6095847" y="2889504"/>
              <a:ext cx="2705023" cy="29260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2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클라우드</a:t>
              </a:r>
            </a:p>
          </p:txBody>
        </p:sp>
      </p:grpSp>
      <p:sp>
        <p:nvSpPr>
          <p:cNvPr id="23" name="TextBox 22"/>
          <p:cNvSpPr txBox="1"/>
          <p:nvPr/>
        </p:nvSpPr>
        <p:spPr>
          <a:xfrm>
            <a:off x="9581883" y="1417320"/>
            <a:ext cx="1143000" cy="219456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ctr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ICN-020</a:t>
            </a:r>
          </a:p>
        </p:txBody>
      </p:sp>
      <p:grpSp>
        <p:nvGrpSpPr>
          <p:cNvPr id="27" name="asset:ICN-020"/>
          <p:cNvGrpSpPr/>
          <p:nvPr/>
        </p:nvGrpSpPr>
        <p:grpSpPr>
          <a:xfrm>
            <a:off x="8800871" y="2144077"/>
            <a:ext cx="2705023" cy="1038035"/>
            <a:chOff x="8800871" y="2144077"/>
            <a:chExt cx="2705023" cy="1038035"/>
          </a:xfrm>
        </p:grpSpPr>
        <p:sp>
          <p:nvSpPr>
            <p:cNvPr id="24" name="Rounded Rectangle 23"/>
            <p:cNvSpPr/>
            <p:nvPr/>
          </p:nvSpPr>
          <p:spPr>
            <a:xfrm>
              <a:off x="9796195" y="2144077"/>
              <a:ext cx="452437" cy="261937"/>
            </a:xfrm>
            <a:prstGeom prst="roundRect">
              <a:avLst/>
            </a:prstGeom>
            <a:noFill/>
            <a:ln w="57150">
              <a:solidFill>
                <a:srgbClr val="1F3864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5" name="Rounded Rectangle 24"/>
            <p:cNvSpPr/>
            <p:nvPr/>
          </p:nvSpPr>
          <p:spPr>
            <a:xfrm>
              <a:off x="10058133" y="2144077"/>
              <a:ext cx="452437" cy="261937"/>
            </a:xfrm>
            <a:prstGeom prst="roundRect">
              <a:avLst/>
            </a:prstGeom>
            <a:noFill/>
            <a:ln w="57150">
              <a:solidFill>
                <a:srgbClr val="29ABE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6" name="TextBox 25"/>
            <p:cNvSpPr txBox="1"/>
            <p:nvPr/>
          </p:nvSpPr>
          <p:spPr>
            <a:xfrm>
              <a:off x="8800871" y="2889504"/>
              <a:ext cx="2705023" cy="29260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2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연결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