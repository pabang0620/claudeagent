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PRC-015</a:t>
            </a:r>
          </a:p>
        </p:txBody>
      </p:sp>
      <p:grpSp>
        <p:nvGrpSpPr>
          <p:cNvPr id="24" name="asset:PRC-015"/>
          <p:cNvGrpSpPr/>
          <p:nvPr/>
        </p:nvGrpSpPr>
        <p:grpSpPr>
          <a:xfrm>
            <a:off x="996696" y="960120"/>
            <a:ext cx="10387584" cy="5175504"/>
            <a:chOff x="996696" y="960120"/>
            <a:chExt cx="10387584" cy="5175504"/>
          </a:xfrm>
        </p:grpSpPr>
        <p:cxnSp>
          <p:nvCxnSpPr>
            <p:cNvPr id="3" name="Connector 2"/>
            <p:cNvCxnSpPr/>
            <p:nvPr/>
          </p:nvCxnSpPr>
          <p:spPr>
            <a:xfrm>
              <a:off x="1417320" y="1380744"/>
              <a:ext cx="0" cy="4279392"/>
            </a:xfrm>
            <a:prstGeom prst="line">
              <a:avLst/>
            </a:prstGeom>
            <a:ln w="254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Rounded Rectangle 3"/>
            <p:cNvSpPr/>
            <p:nvPr/>
          </p:nvSpPr>
          <p:spPr>
            <a:xfrm>
              <a:off x="2331720" y="960120"/>
              <a:ext cx="9052560" cy="896112"/>
            </a:xfrm>
            <a:prstGeom prst="round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2560320" y="960120"/>
              <a:ext cx="2651760" cy="8961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 분석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5257800" y="960120"/>
              <a:ext cx="5943600" cy="8961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현황·요구사항을 조사하고 과업 범위를 확정한다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996696" y="987552"/>
              <a:ext cx="841248" cy="841248"/>
            </a:xfrm>
            <a:prstGeom prst="ellipse">
              <a:avLst/>
            </a:prstGeom>
            <a:solidFill>
              <a:srgbClr val="16233B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2331720" y="2029967"/>
              <a:ext cx="9052560" cy="896112"/>
            </a:xfrm>
            <a:prstGeom prst="round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560320" y="2029967"/>
              <a:ext cx="2651760" cy="8961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257800" y="2029967"/>
              <a:ext cx="5943600" cy="8961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정보구조·프로세스·산출물 체계를 설계한다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996696" y="2057399"/>
              <a:ext cx="841248" cy="841248"/>
            </a:xfrm>
            <a:prstGeom prst="ellipse">
              <a:avLst/>
            </a:prstGeom>
            <a:solidFill>
              <a:srgbClr val="1F3864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2331720" y="3099815"/>
              <a:ext cx="9052560" cy="896112"/>
            </a:xfrm>
            <a:prstGeom prst="round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560320" y="3099815"/>
              <a:ext cx="2651760" cy="8961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구축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257800" y="3099815"/>
              <a:ext cx="5943600" cy="8961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설계 기준에 따라 시스템·콘텐츠를 구현한다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996696" y="3127247"/>
              <a:ext cx="841248" cy="841248"/>
            </a:xfrm>
            <a:prstGeom prst="ellipse">
              <a:avLst/>
            </a:prstGeom>
            <a:solidFill>
              <a:srgbClr val="2A4A7F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2331720" y="4169663"/>
              <a:ext cx="9052560" cy="896112"/>
            </a:xfrm>
            <a:prstGeom prst="round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560320" y="4169663"/>
              <a:ext cx="2651760" cy="8961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257800" y="4169663"/>
              <a:ext cx="5943600" cy="8961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정합성·품질을 교차 점검하고 결함을 보정한다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996696" y="4197096"/>
              <a:ext cx="841248" cy="841248"/>
            </a:xfrm>
            <a:prstGeom prst="ellipse">
              <a:avLst/>
            </a:prstGeom>
            <a:solidFill>
              <a:srgbClr val="2E75D6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2331720" y="5239512"/>
              <a:ext cx="9052560" cy="896112"/>
            </a:xfrm>
            <a:prstGeom prst="round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560320" y="5239512"/>
              <a:ext cx="2651760" cy="8961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운영·확산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257800" y="5239512"/>
              <a:ext cx="5943600" cy="8961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안정화 후 성과를 활용하고 대외로 확산한다</a:t>
              </a:r>
            </a:p>
          </p:txBody>
        </p:sp>
        <p:sp>
          <p:nvSpPr>
            <p:cNvPr id="23" name="Oval 22"/>
            <p:cNvSpPr/>
            <p:nvPr/>
          </p:nvSpPr>
          <p:spPr>
            <a:xfrm>
              <a:off x="996696" y="5266944"/>
              <a:ext cx="841248" cy="841248"/>
            </a:xfrm>
            <a:prstGeom prst="ellipse">
              <a:avLst/>
            </a:prstGeom>
            <a:solidFill>
              <a:srgbClr val="29ABE2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