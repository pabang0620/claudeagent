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PRC-069</a:t>
            </a:r>
          </a:p>
        </p:txBody>
      </p:sp>
      <p:grpSp>
        <p:nvGrpSpPr>
          <p:cNvPr id="8" name="asset:PRC-069"/>
          <p:cNvGrpSpPr/>
          <p:nvPr/>
        </p:nvGrpSpPr>
        <p:grpSpPr>
          <a:xfrm>
            <a:off x="2926080" y="1051560"/>
            <a:ext cx="6309360" cy="5394960"/>
            <a:chOff x="2926080" y="1051560"/>
            <a:chExt cx="6309360" cy="5394960"/>
          </a:xfrm>
        </p:grpSpPr>
        <p:sp>
          <p:nvSpPr>
            <p:cNvPr id="3" name="Rounded Rectangle 2"/>
            <p:cNvSpPr/>
            <p:nvPr/>
          </p:nvSpPr>
          <p:spPr>
            <a:xfrm>
              <a:off x="2926080" y="1051560"/>
              <a:ext cx="6309360" cy="155448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 — 과업 현황과 요구사항을 진단한다</a:t>
              </a:r>
            </a:p>
          </p:txBody>
        </p:sp>
        <p:sp>
          <p:nvSpPr>
            <p:cNvPr id="4" name="Down Arrow 3"/>
            <p:cNvSpPr/>
            <p:nvPr/>
          </p:nvSpPr>
          <p:spPr>
            <a:xfrm>
              <a:off x="5879592" y="2624328"/>
              <a:ext cx="402336" cy="329184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926080" y="2971800"/>
              <a:ext cx="6309360" cy="155448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 — 추진 방향과 핵심 과제를 정의한다</a:t>
              </a:r>
            </a:p>
          </p:txBody>
        </p:sp>
        <p:sp>
          <p:nvSpPr>
            <p:cNvPr id="6" name="Down Arrow 5"/>
            <p:cNvSpPr/>
            <p:nvPr/>
          </p:nvSpPr>
          <p:spPr>
            <a:xfrm>
              <a:off x="5879592" y="4544568"/>
              <a:ext cx="402336" cy="329184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926080" y="4892040"/>
              <a:ext cx="6309360" cy="155448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 — 정보구조와 프로세스를 설계한다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PRC-070</a:t>
            </a:r>
          </a:p>
        </p:txBody>
      </p:sp>
      <p:grpSp>
        <p:nvGrpSpPr>
          <p:cNvPr id="10" name="asset:PRC-070"/>
          <p:cNvGrpSpPr/>
          <p:nvPr/>
        </p:nvGrpSpPr>
        <p:grpSpPr>
          <a:xfrm>
            <a:off x="2926080" y="1051560"/>
            <a:ext cx="6309360" cy="5394960"/>
            <a:chOff x="2926080" y="1051560"/>
            <a:chExt cx="6309360" cy="5394960"/>
          </a:xfrm>
        </p:grpSpPr>
        <p:sp>
          <p:nvSpPr>
            <p:cNvPr id="3" name="Rounded Rectangle 2"/>
            <p:cNvSpPr/>
            <p:nvPr/>
          </p:nvSpPr>
          <p:spPr>
            <a:xfrm>
              <a:off x="2926080" y="1051560"/>
              <a:ext cx="6309360" cy="107442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 — 과업 현황과 요구사항을 진단한다</a:t>
              </a:r>
            </a:p>
          </p:txBody>
        </p:sp>
        <p:sp>
          <p:nvSpPr>
            <p:cNvPr id="4" name="Down Arrow 3"/>
            <p:cNvSpPr/>
            <p:nvPr/>
          </p:nvSpPr>
          <p:spPr>
            <a:xfrm>
              <a:off x="5879592" y="2144268"/>
              <a:ext cx="402336" cy="329184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926080" y="2491740"/>
              <a:ext cx="6309360" cy="107442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 — 추진 방향과 핵심 과제를 정의한다</a:t>
              </a:r>
            </a:p>
          </p:txBody>
        </p:sp>
        <p:sp>
          <p:nvSpPr>
            <p:cNvPr id="6" name="Down Arrow 5"/>
            <p:cNvSpPr/>
            <p:nvPr/>
          </p:nvSpPr>
          <p:spPr>
            <a:xfrm>
              <a:off x="5879592" y="3584448"/>
              <a:ext cx="402336" cy="329184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926080" y="3931920"/>
              <a:ext cx="6309360" cy="107442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 — 정보구조와 프로세스를 설계한다</a:t>
              </a:r>
            </a:p>
          </p:txBody>
        </p:sp>
        <p:sp>
          <p:nvSpPr>
            <p:cNvPr id="8" name="Down Arrow 7"/>
            <p:cNvSpPr/>
            <p:nvPr/>
          </p:nvSpPr>
          <p:spPr>
            <a:xfrm>
              <a:off x="5879592" y="5024628"/>
              <a:ext cx="402336" cy="329184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926080" y="5372100"/>
              <a:ext cx="6309360" cy="107442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 — 설계 기준에 따라 시스템을 구현한다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PRC-071</a:t>
            </a:r>
          </a:p>
        </p:txBody>
      </p:sp>
      <p:grpSp>
        <p:nvGrpSpPr>
          <p:cNvPr id="12" name="asset:PRC-071"/>
          <p:cNvGrpSpPr/>
          <p:nvPr/>
        </p:nvGrpSpPr>
        <p:grpSpPr>
          <a:xfrm>
            <a:off x="2926080" y="1051560"/>
            <a:ext cx="6309360" cy="5394960"/>
            <a:chOff x="2926080" y="1051560"/>
            <a:chExt cx="6309360" cy="5394960"/>
          </a:xfrm>
        </p:grpSpPr>
        <p:sp>
          <p:nvSpPr>
            <p:cNvPr id="3" name="Rounded Rectangle 2"/>
            <p:cNvSpPr/>
            <p:nvPr/>
          </p:nvSpPr>
          <p:spPr>
            <a:xfrm>
              <a:off x="2926080" y="1051560"/>
              <a:ext cx="6309360" cy="786384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 — 과업 현황과 요구사항을 진단한다</a:t>
              </a:r>
            </a:p>
          </p:txBody>
        </p:sp>
        <p:sp>
          <p:nvSpPr>
            <p:cNvPr id="4" name="Down Arrow 3"/>
            <p:cNvSpPr/>
            <p:nvPr/>
          </p:nvSpPr>
          <p:spPr>
            <a:xfrm>
              <a:off x="5879592" y="1856231"/>
              <a:ext cx="402336" cy="329184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926080" y="2203704"/>
              <a:ext cx="6309360" cy="786384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 — 추진 방향과 핵심 과제를 정의한다</a:t>
              </a:r>
            </a:p>
          </p:txBody>
        </p:sp>
        <p:sp>
          <p:nvSpPr>
            <p:cNvPr id="6" name="Down Arrow 5"/>
            <p:cNvSpPr/>
            <p:nvPr/>
          </p:nvSpPr>
          <p:spPr>
            <a:xfrm>
              <a:off x="5879592" y="3008376"/>
              <a:ext cx="402336" cy="329184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926080" y="3355848"/>
              <a:ext cx="6309360" cy="786384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 — 정보구조와 프로세스를 설계한다</a:t>
              </a:r>
            </a:p>
          </p:txBody>
        </p:sp>
        <p:sp>
          <p:nvSpPr>
            <p:cNvPr id="8" name="Down Arrow 7"/>
            <p:cNvSpPr/>
            <p:nvPr/>
          </p:nvSpPr>
          <p:spPr>
            <a:xfrm>
              <a:off x="5879592" y="4160520"/>
              <a:ext cx="402336" cy="329184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926080" y="4507992"/>
              <a:ext cx="6309360" cy="786384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 — 설계 기준에 따라 시스템을 구현한다</a:t>
              </a:r>
            </a:p>
          </p:txBody>
        </p:sp>
        <p:sp>
          <p:nvSpPr>
            <p:cNvPr id="10" name="Down Arrow 9"/>
            <p:cNvSpPr/>
            <p:nvPr/>
          </p:nvSpPr>
          <p:spPr>
            <a:xfrm>
              <a:off x="5879592" y="5312664"/>
              <a:ext cx="402336" cy="329184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926080" y="5660136"/>
              <a:ext cx="6309360" cy="786384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 — 품질을 점검하고 결함을 보정한다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PRC-072</a:t>
            </a:r>
          </a:p>
        </p:txBody>
      </p:sp>
      <p:grpSp>
        <p:nvGrpSpPr>
          <p:cNvPr id="14" name="asset:PRC-072"/>
          <p:cNvGrpSpPr/>
          <p:nvPr/>
        </p:nvGrpSpPr>
        <p:grpSpPr>
          <a:xfrm>
            <a:off x="2926080" y="1051560"/>
            <a:ext cx="6309360" cy="5394960"/>
            <a:chOff x="2926080" y="1051560"/>
            <a:chExt cx="6309360" cy="5394960"/>
          </a:xfrm>
        </p:grpSpPr>
        <p:sp>
          <p:nvSpPr>
            <p:cNvPr id="3" name="Rounded Rectangle 2"/>
            <p:cNvSpPr/>
            <p:nvPr/>
          </p:nvSpPr>
          <p:spPr>
            <a:xfrm>
              <a:off x="2926080" y="1051560"/>
              <a:ext cx="6309360" cy="59436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 — 과업 현황과 요구사항을 진단한다</a:t>
              </a:r>
            </a:p>
          </p:txBody>
        </p:sp>
        <p:sp>
          <p:nvSpPr>
            <p:cNvPr id="4" name="Down Arrow 3"/>
            <p:cNvSpPr/>
            <p:nvPr/>
          </p:nvSpPr>
          <p:spPr>
            <a:xfrm>
              <a:off x="5879592" y="1664207"/>
              <a:ext cx="402336" cy="329184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926080" y="2011680"/>
              <a:ext cx="6309360" cy="59436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 — 추진 방향과 핵심 과제를 정의한다</a:t>
              </a:r>
            </a:p>
          </p:txBody>
        </p:sp>
        <p:sp>
          <p:nvSpPr>
            <p:cNvPr id="6" name="Down Arrow 5"/>
            <p:cNvSpPr/>
            <p:nvPr/>
          </p:nvSpPr>
          <p:spPr>
            <a:xfrm>
              <a:off x="5879592" y="2624328"/>
              <a:ext cx="402336" cy="329184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926080" y="2971800"/>
              <a:ext cx="6309360" cy="59436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 — 정보구조와 프로세스를 설계한다</a:t>
              </a:r>
            </a:p>
          </p:txBody>
        </p:sp>
        <p:sp>
          <p:nvSpPr>
            <p:cNvPr id="8" name="Down Arrow 7"/>
            <p:cNvSpPr/>
            <p:nvPr/>
          </p:nvSpPr>
          <p:spPr>
            <a:xfrm>
              <a:off x="5879592" y="3584448"/>
              <a:ext cx="402336" cy="329184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926080" y="3931920"/>
              <a:ext cx="6309360" cy="59436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 — 설계 기준에 따라 시스템을 구현한다</a:t>
              </a:r>
            </a:p>
          </p:txBody>
        </p:sp>
        <p:sp>
          <p:nvSpPr>
            <p:cNvPr id="10" name="Down Arrow 9"/>
            <p:cNvSpPr/>
            <p:nvPr/>
          </p:nvSpPr>
          <p:spPr>
            <a:xfrm>
              <a:off x="5879592" y="4544568"/>
              <a:ext cx="402336" cy="329184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926080" y="4892040"/>
              <a:ext cx="6309360" cy="59436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 — 품질을 점검하고 결함을 보정한다</a:t>
              </a:r>
            </a:p>
          </p:txBody>
        </p:sp>
        <p:sp>
          <p:nvSpPr>
            <p:cNvPr id="12" name="Down Arrow 11"/>
            <p:cNvSpPr/>
            <p:nvPr/>
          </p:nvSpPr>
          <p:spPr>
            <a:xfrm>
              <a:off x="5879592" y="5504688"/>
              <a:ext cx="402336" cy="329184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2926080" y="5852160"/>
              <a:ext cx="6309360" cy="59436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6. 운영·확산 — 성과를 활용하고 대외로 확산한다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PRC-073</a:t>
            </a:r>
          </a:p>
        </p:txBody>
      </p:sp>
      <p:grpSp>
        <p:nvGrpSpPr>
          <p:cNvPr id="8" name="asset:PRC-073"/>
          <p:cNvGrpSpPr/>
          <p:nvPr/>
        </p:nvGrpSpPr>
        <p:grpSpPr>
          <a:xfrm>
            <a:off x="2926080" y="1051560"/>
            <a:ext cx="6309360" cy="5394960"/>
            <a:chOff x="2926080" y="1051560"/>
            <a:chExt cx="6309360" cy="5394960"/>
          </a:xfrm>
        </p:grpSpPr>
        <p:sp>
          <p:nvSpPr>
            <p:cNvPr id="3" name="Rounded Rectangle 2"/>
            <p:cNvSpPr/>
            <p:nvPr/>
          </p:nvSpPr>
          <p:spPr>
            <a:xfrm>
              <a:off x="2926080" y="1051560"/>
              <a:ext cx="6309360" cy="155448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 — 과업 현황과 요구사항을 진단한다</a:t>
              </a:r>
            </a:p>
          </p:txBody>
        </p:sp>
        <p:sp>
          <p:nvSpPr>
            <p:cNvPr id="4" name="Down Arrow 3"/>
            <p:cNvSpPr/>
            <p:nvPr/>
          </p:nvSpPr>
          <p:spPr>
            <a:xfrm>
              <a:off x="5879592" y="2624328"/>
              <a:ext cx="402336" cy="329184"/>
            </a:xfrm>
            <a:prstGeom prst="down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926080" y="2971800"/>
              <a:ext cx="6309360" cy="155448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 — 추진 방향과 핵심 과제를 정의한다</a:t>
              </a:r>
            </a:p>
          </p:txBody>
        </p:sp>
        <p:sp>
          <p:nvSpPr>
            <p:cNvPr id="6" name="Down Arrow 5"/>
            <p:cNvSpPr/>
            <p:nvPr/>
          </p:nvSpPr>
          <p:spPr>
            <a:xfrm>
              <a:off x="5879592" y="4544568"/>
              <a:ext cx="402336" cy="329184"/>
            </a:xfrm>
            <a:prstGeom prst="down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926080" y="4892040"/>
              <a:ext cx="6309360" cy="1554480"/>
            </a:xfrm>
            <a:prstGeom prst="round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3. 체계 설계 — 정보구조와 프로세스를 설계한다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PRC-074</a:t>
            </a:r>
          </a:p>
        </p:txBody>
      </p:sp>
      <p:grpSp>
        <p:nvGrpSpPr>
          <p:cNvPr id="10" name="asset:PRC-074"/>
          <p:cNvGrpSpPr/>
          <p:nvPr/>
        </p:nvGrpSpPr>
        <p:grpSpPr>
          <a:xfrm>
            <a:off x="2926080" y="1051560"/>
            <a:ext cx="6309360" cy="5394960"/>
            <a:chOff x="2926080" y="1051560"/>
            <a:chExt cx="6309360" cy="5394960"/>
          </a:xfrm>
        </p:grpSpPr>
        <p:sp>
          <p:nvSpPr>
            <p:cNvPr id="3" name="Rounded Rectangle 2"/>
            <p:cNvSpPr/>
            <p:nvPr/>
          </p:nvSpPr>
          <p:spPr>
            <a:xfrm>
              <a:off x="2926080" y="1051560"/>
              <a:ext cx="6309360" cy="107442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 — 과업 현황과 요구사항을 진단한다</a:t>
              </a:r>
            </a:p>
          </p:txBody>
        </p:sp>
        <p:sp>
          <p:nvSpPr>
            <p:cNvPr id="4" name="Down Arrow 3"/>
            <p:cNvSpPr/>
            <p:nvPr/>
          </p:nvSpPr>
          <p:spPr>
            <a:xfrm>
              <a:off x="5879592" y="2144268"/>
              <a:ext cx="402336" cy="329184"/>
            </a:xfrm>
            <a:prstGeom prst="down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926080" y="2491740"/>
              <a:ext cx="6309360" cy="107442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 — 추진 방향과 핵심 과제를 정의한다</a:t>
              </a:r>
            </a:p>
          </p:txBody>
        </p:sp>
        <p:sp>
          <p:nvSpPr>
            <p:cNvPr id="6" name="Down Arrow 5"/>
            <p:cNvSpPr/>
            <p:nvPr/>
          </p:nvSpPr>
          <p:spPr>
            <a:xfrm>
              <a:off x="5879592" y="3584448"/>
              <a:ext cx="402336" cy="329184"/>
            </a:xfrm>
            <a:prstGeom prst="down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926080" y="3931920"/>
              <a:ext cx="6309360" cy="1074420"/>
            </a:xfrm>
            <a:prstGeom prst="round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 — 정보구조와 프로세스를 설계한다</a:t>
              </a:r>
            </a:p>
          </p:txBody>
        </p:sp>
        <p:sp>
          <p:nvSpPr>
            <p:cNvPr id="8" name="Down Arrow 7"/>
            <p:cNvSpPr/>
            <p:nvPr/>
          </p:nvSpPr>
          <p:spPr>
            <a:xfrm>
              <a:off x="5879592" y="5024628"/>
              <a:ext cx="402336" cy="329184"/>
            </a:xfrm>
            <a:prstGeom prst="down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926080" y="5372100"/>
              <a:ext cx="6309360" cy="1074420"/>
            </a:xfrm>
            <a:prstGeom prst="round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4. 구축·개발 — 설계 기준에 따라 시스템을 구현한다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PRC-075</a:t>
            </a:r>
          </a:p>
        </p:txBody>
      </p:sp>
      <p:grpSp>
        <p:nvGrpSpPr>
          <p:cNvPr id="12" name="asset:PRC-075"/>
          <p:cNvGrpSpPr/>
          <p:nvPr/>
        </p:nvGrpSpPr>
        <p:grpSpPr>
          <a:xfrm>
            <a:off x="2926080" y="1051560"/>
            <a:ext cx="6309360" cy="5394960"/>
            <a:chOff x="2926080" y="1051560"/>
            <a:chExt cx="6309360" cy="5394960"/>
          </a:xfrm>
        </p:grpSpPr>
        <p:sp>
          <p:nvSpPr>
            <p:cNvPr id="3" name="Rounded Rectangle 2"/>
            <p:cNvSpPr/>
            <p:nvPr/>
          </p:nvSpPr>
          <p:spPr>
            <a:xfrm>
              <a:off x="2926080" y="1051560"/>
              <a:ext cx="6309360" cy="786384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 — 과업 현황과 요구사항을 진단한다</a:t>
              </a:r>
            </a:p>
          </p:txBody>
        </p:sp>
        <p:sp>
          <p:nvSpPr>
            <p:cNvPr id="4" name="Down Arrow 3"/>
            <p:cNvSpPr/>
            <p:nvPr/>
          </p:nvSpPr>
          <p:spPr>
            <a:xfrm>
              <a:off x="5879592" y="1856231"/>
              <a:ext cx="402336" cy="329184"/>
            </a:xfrm>
            <a:prstGeom prst="down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926080" y="2203704"/>
              <a:ext cx="6309360" cy="786384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 — 추진 방향과 핵심 과제를 정의한다</a:t>
              </a:r>
            </a:p>
          </p:txBody>
        </p:sp>
        <p:sp>
          <p:nvSpPr>
            <p:cNvPr id="6" name="Down Arrow 5"/>
            <p:cNvSpPr/>
            <p:nvPr/>
          </p:nvSpPr>
          <p:spPr>
            <a:xfrm>
              <a:off x="5879592" y="3008376"/>
              <a:ext cx="402336" cy="329184"/>
            </a:xfrm>
            <a:prstGeom prst="down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926080" y="3355848"/>
              <a:ext cx="6309360" cy="786384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 — 정보구조와 프로세스를 설계한다</a:t>
              </a:r>
            </a:p>
          </p:txBody>
        </p:sp>
        <p:sp>
          <p:nvSpPr>
            <p:cNvPr id="8" name="Down Arrow 7"/>
            <p:cNvSpPr/>
            <p:nvPr/>
          </p:nvSpPr>
          <p:spPr>
            <a:xfrm>
              <a:off x="5879592" y="4160520"/>
              <a:ext cx="402336" cy="329184"/>
            </a:xfrm>
            <a:prstGeom prst="down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926080" y="4507992"/>
              <a:ext cx="6309360" cy="786384"/>
            </a:xfrm>
            <a:prstGeom prst="round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 — 설계 기준에 따라 시스템을 구현한다</a:t>
              </a:r>
            </a:p>
          </p:txBody>
        </p:sp>
        <p:sp>
          <p:nvSpPr>
            <p:cNvPr id="10" name="Down Arrow 9"/>
            <p:cNvSpPr/>
            <p:nvPr/>
          </p:nvSpPr>
          <p:spPr>
            <a:xfrm>
              <a:off x="5879592" y="5312664"/>
              <a:ext cx="402336" cy="329184"/>
            </a:xfrm>
            <a:prstGeom prst="down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926080" y="5660136"/>
              <a:ext cx="6309360" cy="786384"/>
            </a:xfrm>
            <a:prstGeom prst="round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5. 검증·안정화 — 품질을 점검하고 결함을 보정한다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PRC-076</a:t>
            </a:r>
          </a:p>
        </p:txBody>
      </p:sp>
      <p:grpSp>
        <p:nvGrpSpPr>
          <p:cNvPr id="14" name="asset:PRC-076"/>
          <p:cNvGrpSpPr/>
          <p:nvPr/>
        </p:nvGrpSpPr>
        <p:grpSpPr>
          <a:xfrm>
            <a:off x="2926080" y="1051560"/>
            <a:ext cx="6309360" cy="5394960"/>
            <a:chOff x="2926080" y="1051560"/>
            <a:chExt cx="6309360" cy="5394960"/>
          </a:xfrm>
        </p:grpSpPr>
        <p:sp>
          <p:nvSpPr>
            <p:cNvPr id="3" name="Rounded Rectangle 2"/>
            <p:cNvSpPr/>
            <p:nvPr/>
          </p:nvSpPr>
          <p:spPr>
            <a:xfrm>
              <a:off x="2926080" y="1051560"/>
              <a:ext cx="6309360" cy="59436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 — 과업 현황과 요구사항을 진단한다</a:t>
              </a:r>
            </a:p>
          </p:txBody>
        </p:sp>
        <p:sp>
          <p:nvSpPr>
            <p:cNvPr id="4" name="Down Arrow 3"/>
            <p:cNvSpPr/>
            <p:nvPr/>
          </p:nvSpPr>
          <p:spPr>
            <a:xfrm>
              <a:off x="5879592" y="1664207"/>
              <a:ext cx="402336" cy="329184"/>
            </a:xfrm>
            <a:prstGeom prst="down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926080" y="2011680"/>
              <a:ext cx="6309360" cy="59436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 — 추진 방향과 핵심 과제를 정의한다</a:t>
              </a:r>
            </a:p>
          </p:txBody>
        </p:sp>
        <p:sp>
          <p:nvSpPr>
            <p:cNvPr id="6" name="Down Arrow 5"/>
            <p:cNvSpPr/>
            <p:nvPr/>
          </p:nvSpPr>
          <p:spPr>
            <a:xfrm>
              <a:off x="5879592" y="2624328"/>
              <a:ext cx="402336" cy="329184"/>
            </a:xfrm>
            <a:prstGeom prst="down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926080" y="2971800"/>
              <a:ext cx="6309360" cy="59436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 — 정보구조와 프로세스를 설계한다</a:t>
              </a:r>
            </a:p>
          </p:txBody>
        </p:sp>
        <p:sp>
          <p:nvSpPr>
            <p:cNvPr id="8" name="Down Arrow 7"/>
            <p:cNvSpPr/>
            <p:nvPr/>
          </p:nvSpPr>
          <p:spPr>
            <a:xfrm>
              <a:off x="5879592" y="3584448"/>
              <a:ext cx="402336" cy="329184"/>
            </a:xfrm>
            <a:prstGeom prst="down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926080" y="3931920"/>
              <a:ext cx="6309360" cy="59436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 — 설계 기준에 따라 시스템을 구현한다</a:t>
              </a:r>
            </a:p>
          </p:txBody>
        </p:sp>
        <p:sp>
          <p:nvSpPr>
            <p:cNvPr id="10" name="Down Arrow 9"/>
            <p:cNvSpPr/>
            <p:nvPr/>
          </p:nvSpPr>
          <p:spPr>
            <a:xfrm>
              <a:off x="5879592" y="4544568"/>
              <a:ext cx="402336" cy="329184"/>
            </a:xfrm>
            <a:prstGeom prst="down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926080" y="4892040"/>
              <a:ext cx="6309360" cy="594360"/>
            </a:xfrm>
            <a:prstGeom prst="round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 — 품질을 점검하고 결함을 보정한다</a:t>
              </a:r>
            </a:p>
          </p:txBody>
        </p:sp>
        <p:sp>
          <p:nvSpPr>
            <p:cNvPr id="12" name="Down Arrow 11"/>
            <p:cNvSpPr/>
            <p:nvPr/>
          </p:nvSpPr>
          <p:spPr>
            <a:xfrm>
              <a:off x="5879592" y="5504688"/>
              <a:ext cx="402336" cy="329184"/>
            </a:xfrm>
            <a:prstGeom prst="down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2926080" y="5852160"/>
              <a:ext cx="6309360" cy="594360"/>
            </a:xfrm>
            <a:prstGeom prst="round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6. 운영·확산 — 성과를 활용하고 대외로 확산한다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PRC-077</a:t>
            </a:r>
          </a:p>
        </p:txBody>
      </p:sp>
      <p:grpSp>
        <p:nvGrpSpPr>
          <p:cNvPr id="8" name="asset:PRC-077"/>
          <p:cNvGrpSpPr/>
          <p:nvPr/>
        </p:nvGrpSpPr>
        <p:grpSpPr>
          <a:xfrm>
            <a:off x="2926080" y="1051560"/>
            <a:ext cx="6309360" cy="5394960"/>
            <a:chOff x="2926080" y="1051560"/>
            <a:chExt cx="6309360" cy="5394960"/>
          </a:xfrm>
        </p:grpSpPr>
        <p:sp>
          <p:nvSpPr>
            <p:cNvPr id="3" name="Rounded Rectangle 2"/>
            <p:cNvSpPr/>
            <p:nvPr/>
          </p:nvSpPr>
          <p:spPr>
            <a:xfrm>
              <a:off x="2926080" y="1051560"/>
              <a:ext cx="6309360" cy="155448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 — 과업 현황과 요구사항을 진단한다</a:t>
              </a:r>
            </a:p>
          </p:txBody>
        </p:sp>
        <p:sp>
          <p:nvSpPr>
            <p:cNvPr id="4" name="Down Arrow 3"/>
            <p:cNvSpPr/>
            <p:nvPr/>
          </p:nvSpPr>
          <p:spPr>
            <a:xfrm>
              <a:off x="5879592" y="2624328"/>
              <a:ext cx="402336" cy="329184"/>
            </a:xfrm>
            <a:prstGeom prst="down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926080" y="2971800"/>
              <a:ext cx="6309360" cy="155448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 — 추진 방향과 핵심 과제를 정의한다</a:t>
              </a:r>
            </a:p>
          </p:txBody>
        </p:sp>
        <p:sp>
          <p:nvSpPr>
            <p:cNvPr id="6" name="Down Arrow 5"/>
            <p:cNvSpPr/>
            <p:nvPr/>
          </p:nvSpPr>
          <p:spPr>
            <a:xfrm>
              <a:off x="5879592" y="4544568"/>
              <a:ext cx="402336" cy="329184"/>
            </a:xfrm>
            <a:prstGeom prst="down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926080" y="4892040"/>
              <a:ext cx="6309360" cy="155448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 — 정보구조와 프로세스를 설계한다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PRC-078</a:t>
            </a:r>
          </a:p>
        </p:txBody>
      </p:sp>
      <p:grpSp>
        <p:nvGrpSpPr>
          <p:cNvPr id="10" name="asset:PRC-078"/>
          <p:cNvGrpSpPr/>
          <p:nvPr/>
        </p:nvGrpSpPr>
        <p:grpSpPr>
          <a:xfrm>
            <a:off x="2926080" y="1051560"/>
            <a:ext cx="6309360" cy="5394960"/>
            <a:chOff x="2926080" y="1051560"/>
            <a:chExt cx="6309360" cy="5394960"/>
          </a:xfrm>
        </p:grpSpPr>
        <p:sp>
          <p:nvSpPr>
            <p:cNvPr id="3" name="Rounded Rectangle 2"/>
            <p:cNvSpPr/>
            <p:nvPr/>
          </p:nvSpPr>
          <p:spPr>
            <a:xfrm>
              <a:off x="2926080" y="1051560"/>
              <a:ext cx="6309360" cy="107442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 — 과업 현황과 요구사항을 진단한다</a:t>
              </a:r>
            </a:p>
          </p:txBody>
        </p:sp>
        <p:sp>
          <p:nvSpPr>
            <p:cNvPr id="4" name="Down Arrow 3"/>
            <p:cNvSpPr/>
            <p:nvPr/>
          </p:nvSpPr>
          <p:spPr>
            <a:xfrm>
              <a:off x="5879592" y="2144268"/>
              <a:ext cx="402336" cy="329184"/>
            </a:xfrm>
            <a:prstGeom prst="down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926080" y="2491740"/>
              <a:ext cx="6309360" cy="107442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 — 추진 방향과 핵심 과제를 정의한다</a:t>
              </a:r>
            </a:p>
          </p:txBody>
        </p:sp>
        <p:sp>
          <p:nvSpPr>
            <p:cNvPr id="6" name="Down Arrow 5"/>
            <p:cNvSpPr/>
            <p:nvPr/>
          </p:nvSpPr>
          <p:spPr>
            <a:xfrm>
              <a:off x="5879592" y="3584448"/>
              <a:ext cx="402336" cy="329184"/>
            </a:xfrm>
            <a:prstGeom prst="down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926080" y="3931920"/>
              <a:ext cx="6309360" cy="107442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 — 정보구조와 프로세스를 설계한다</a:t>
              </a:r>
            </a:p>
          </p:txBody>
        </p:sp>
        <p:sp>
          <p:nvSpPr>
            <p:cNvPr id="8" name="Down Arrow 7"/>
            <p:cNvSpPr/>
            <p:nvPr/>
          </p:nvSpPr>
          <p:spPr>
            <a:xfrm>
              <a:off x="5879592" y="5024628"/>
              <a:ext cx="402336" cy="329184"/>
            </a:xfrm>
            <a:prstGeom prst="down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926080" y="5372100"/>
              <a:ext cx="6309360" cy="107442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 — 설계 기준에 따라 시스템을 구현한다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PRC-079</a:t>
            </a:r>
          </a:p>
        </p:txBody>
      </p:sp>
      <p:grpSp>
        <p:nvGrpSpPr>
          <p:cNvPr id="12" name="asset:PRC-079"/>
          <p:cNvGrpSpPr/>
          <p:nvPr/>
        </p:nvGrpSpPr>
        <p:grpSpPr>
          <a:xfrm>
            <a:off x="2926080" y="1051560"/>
            <a:ext cx="6309360" cy="5394960"/>
            <a:chOff x="2926080" y="1051560"/>
            <a:chExt cx="6309360" cy="5394960"/>
          </a:xfrm>
        </p:grpSpPr>
        <p:sp>
          <p:nvSpPr>
            <p:cNvPr id="3" name="Rounded Rectangle 2"/>
            <p:cNvSpPr/>
            <p:nvPr/>
          </p:nvSpPr>
          <p:spPr>
            <a:xfrm>
              <a:off x="2926080" y="1051560"/>
              <a:ext cx="6309360" cy="786384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 — 과업 현황과 요구사항을 진단한다</a:t>
              </a:r>
            </a:p>
          </p:txBody>
        </p:sp>
        <p:sp>
          <p:nvSpPr>
            <p:cNvPr id="4" name="Down Arrow 3"/>
            <p:cNvSpPr/>
            <p:nvPr/>
          </p:nvSpPr>
          <p:spPr>
            <a:xfrm>
              <a:off x="5879592" y="1856231"/>
              <a:ext cx="402336" cy="329184"/>
            </a:xfrm>
            <a:prstGeom prst="down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926080" y="2203704"/>
              <a:ext cx="6309360" cy="786384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 — 추진 방향과 핵심 과제를 정의한다</a:t>
              </a:r>
            </a:p>
          </p:txBody>
        </p:sp>
        <p:sp>
          <p:nvSpPr>
            <p:cNvPr id="6" name="Down Arrow 5"/>
            <p:cNvSpPr/>
            <p:nvPr/>
          </p:nvSpPr>
          <p:spPr>
            <a:xfrm>
              <a:off x="5879592" y="3008376"/>
              <a:ext cx="402336" cy="329184"/>
            </a:xfrm>
            <a:prstGeom prst="down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926080" y="3355848"/>
              <a:ext cx="6309360" cy="786384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 — 정보구조와 프로세스를 설계한다</a:t>
              </a:r>
            </a:p>
          </p:txBody>
        </p:sp>
        <p:sp>
          <p:nvSpPr>
            <p:cNvPr id="8" name="Down Arrow 7"/>
            <p:cNvSpPr/>
            <p:nvPr/>
          </p:nvSpPr>
          <p:spPr>
            <a:xfrm>
              <a:off x="5879592" y="4160520"/>
              <a:ext cx="402336" cy="329184"/>
            </a:xfrm>
            <a:prstGeom prst="down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926080" y="4507992"/>
              <a:ext cx="6309360" cy="78638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 — 설계 기준에 따라 시스템을 구현한다</a:t>
              </a:r>
            </a:p>
          </p:txBody>
        </p:sp>
        <p:sp>
          <p:nvSpPr>
            <p:cNvPr id="10" name="Down Arrow 9"/>
            <p:cNvSpPr/>
            <p:nvPr/>
          </p:nvSpPr>
          <p:spPr>
            <a:xfrm>
              <a:off x="5879592" y="5312664"/>
              <a:ext cx="402336" cy="329184"/>
            </a:xfrm>
            <a:prstGeom prst="down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926080" y="5660136"/>
              <a:ext cx="6309360" cy="786384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 — 품질을 점검하고 결함을 보정한다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PRC-080</a:t>
            </a:r>
          </a:p>
        </p:txBody>
      </p:sp>
      <p:grpSp>
        <p:nvGrpSpPr>
          <p:cNvPr id="14" name="asset:PRC-080"/>
          <p:cNvGrpSpPr/>
          <p:nvPr/>
        </p:nvGrpSpPr>
        <p:grpSpPr>
          <a:xfrm>
            <a:off x="2926080" y="1051560"/>
            <a:ext cx="6309360" cy="5394960"/>
            <a:chOff x="2926080" y="1051560"/>
            <a:chExt cx="6309360" cy="5394960"/>
          </a:xfrm>
        </p:grpSpPr>
        <p:sp>
          <p:nvSpPr>
            <p:cNvPr id="3" name="Rounded Rectangle 2"/>
            <p:cNvSpPr/>
            <p:nvPr/>
          </p:nvSpPr>
          <p:spPr>
            <a:xfrm>
              <a:off x="2926080" y="1051560"/>
              <a:ext cx="6309360" cy="59436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 — 과업 현황과 요구사항을 진단한다</a:t>
              </a:r>
            </a:p>
          </p:txBody>
        </p:sp>
        <p:sp>
          <p:nvSpPr>
            <p:cNvPr id="4" name="Down Arrow 3"/>
            <p:cNvSpPr/>
            <p:nvPr/>
          </p:nvSpPr>
          <p:spPr>
            <a:xfrm>
              <a:off x="5879592" y="1664207"/>
              <a:ext cx="402336" cy="329184"/>
            </a:xfrm>
            <a:prstGeom prst="down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926080" y="2011680"/>
              <a:ext cx="6309360" cy="59436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 — 추진 방향과 핵심 과제를 정의한다</a:t>
              </a:r>
            </a:p>
          </p:txBody>
        </p:sp>
        <p:sp>
          <p:nvSpPr>
            <p:cNvPr id="6" name="Down Arrow 5"/>
            <p:cNvSpPr/>
            <p:nvPr/>
          </p:nvSpPr>
          <p:spPr>
            <a:xfrm>
              <a:off x="5879592" y="2624328"/>
              <a:ext cx="402336" cy="329184"/>
            </a:xfrm>
            <a:prstGeom prst="down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926080" y="2971800"/>
              <a:ext cx="6309360" cy="59436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 — 정보구조와 프로세스를 설계한다</a:t>
              </a:r>
            </a:p>
          </p:txBody>
        </p:sp>
        <p:sp>
          <p:nvSpPr>
            <p:cNvPr id="8" name="Down Arrow 7"/>
            <p:cNvSpPr/>
            <p:nvPr/>
          </p:nvSpPr>
          <p:spPr>
            <a:xfrm>
              <a:off x="5879592" y="3584448"/>
              <a:ext cx="402336" cy="329184"/>
            </a:xfrm>
            <a:prstGeom prst="down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926080" y="3931920"/>
              <a:ext cx="6309360" cy="59436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 — 설계 기준에 따라 시스템을 구현한다</a:t>
              </a:r>
            </a:p>
          </p:txBody>
        </p:sp>
        <p:sp>
          <p:nvSpPr>
            <p:cNvPr id="10" name="Down Arrow 9"/>
            <p:cNvSpPr/>
            <p:nvPr/>
          </p:nvSpPr>
          <p:spPr>
            <a:xfrm>
              <a:off x="5879592" y="4544568"/>
              <a:ext cx="402336" cy="329184"/>
            </a:xfrm>
            <a:prstGeom prst="down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926080" y="4892040"/>
              <a:ext cx="6309360" cy="59436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 — 품질을 점검하고 결함을 보정한다</a:t>
              </a:r>
            </a:p>
          </p:txBody>
        </p:sp>
        <p:sp>
          <p:nvSpPr>
            <p:cNvPr id="12" name="Down Arrow 11"/>
            <p:cNvSpPr/>
            <p:nvPr/>
          </p:nvSpPr>
          <p:spPr>
            <a:xfrm>
              <a:off x="5879592" y="5504688"/>
              <a:ext cx="402336" cy="329184"/>
            </a:xfrm>
            <a:prstGeom prst="down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2926080" y="5852160"/>
              <a:ext cx="6309360" cy="59436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6. 운영·확산 — 성과를 활용하고 대외로 확산한다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PRC-081</a:t>
            </a:r>
          </a:p>
        </p:txBody>
      </p:sp>
      <p:grpSp>
        <p:nvGrpSpPr>
          <p:cNvPr id="8" name="asset:PRC-081"/>
          <p:cNvGrpSpPr/>
          <p:nvPr/>
        </p:nvGrpSpPr>
        <p:grpSpPr>
          <a:xfrm>
            <a:off x="2926080" y="1051560"/>
            <a:ext cx="6309360" cy="5394960"/>
            <a:chOff x="2926080" y="1051560"/>
            <a:chExt cx="6309360" cy="5394960"/>
          </a:xfrm>
        </p:grpSpPr>
        <p:sp>
          <p:nvSpPr>
            <p:cNvPr id="3" name="Rounded Rectangle 2"/>
            <p:cNvSpPr/>
            <p:nvPr/>
          </p:nvSpPr>
          <p:spPr>
            <a:xfrm>
              <a:off x="2926080" y="1051560"/>
              <a:ext cx="6309360" cy="155448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 — 과업 현황과 요구사항을 진단한다</a:t>
              </a:r>
            </a:p>
          </p:txBody>
        </p:sp>
        <p:sp>
          <p:nvSpPr>
            <p:cNvPr id="4" name="Down Arrow 3"/>
            <p:cNvSpPr/>
            <p:nvPr/>
          </p:nvSpPr>
          <p:spPr>
            <a:xfrm>
              <a:off x="5879592" y="2624328"/>
              <a:ext cx="402336" cy="329184"/>
            </a:xfrm>
            <a:prstGeom prst="down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926080" y="2971800"/>
              <a:ext cx="6309360" cy="155448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 — 추진 방향과 핵심 과제를 정의한다</a:t>
              </a:r>
            </a:p>
          </p:txBody>
        </p:sp>
        <p:sp>
          <p:nvSpPr>
            <p:cNvPr id="6" name="Down Arrow 5"/>
            <p:cNvSpPr/>
            <p:nvPr/>
          </p:nvSpPr>
          <p:spPr>
            <a:xfrm>
              <a:off x="5879592" y="4544568"/>
              <a:ext cx="402336" cy="329184"/>
            </a:xfrm>
            <a:prstGeom prst="down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926080" y="4892040"/>
              <a:ext cx="6309360" cy="155448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 — 정보구조와 프로세스를 설계한다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PRC-082</a:t>
            </a:r>
          </a:p>
        </p:txBody>
      </p:sp>
      <p:grpSp>
        <p:nvGrpSpPr>
          <p:cNvPr id="10" name="asset:PRC-082"/>
          <p:cNvGrpSpPr/>
          <p:nvPr/>
        </p:nvGrpSpPr>
        <p:grpSpPr>
          <a:xfrm>
            <a:off x="2926080" y="1051560"/>
            <a:ext cx="6309360" cy="5394960"/>
            <a:chOff x="2926080" y="1051560"/>
            <a:chExt cx="6309360" cy="5394960"/>
          </a:xfrm>
        </p:grpSpPr>
        <p:sp>
          <p:nvSpPr>
            <p:cNvPr id="3" name="Rounded Rectangle 2"/>
            <p:cNvSpPr/>
            <p:nvPr/>
          </p:nvSpPr>
          <p:spPr>
            <a:xfrm>
              <a:off x="2926080" y="1051560"/>
              <a:ext cx="6309360" cy="107442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 — 과업 현황과 요구사항을 진단한다</a:t>
              </a:r>
            </a:p>
          </p:txBody>
        </p:sp>
        <p:sp>
          <p:nvSpPr>
            <p:cNvPr id="4" name="Down Arrow 3"/>
            <p:cNvSpPr/>
            <p:nvPr/>
          </p:nvSpPr>
          <p:spPr>
            <a:xfrm>
              <a:off x="5879592" y="2144268"/>
              <a:ext cx="402336" cy="329184"/>
            </a:xfrm>
            <a:prstGeom prst="down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926080" y="2491740"/>
              <a:ext cx="6309360" cy="1074420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 — 추진 방향과 핵심 과제를 정의한다</a:t>
              </a:r>
            </a:p>
          </p:txBody>
        </p:sp>
        <p:sp>
          <p:nvSpPr>
            <p:cNvPr id="6" name="Down Arrow 5"/>
            <p:cNvSpPr/>
            <p:nvPr/>
          </p:nvSpPr>
          <p:spPr>
            <a:xfrm>
              <a:off x="5879592" y="3584448"/>
              <a:ext cx="402336" cy="329184"/>
            </a:xfrm>
            <a:prstGeom prst="down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926080" y="3931920"/>
              <a:ext cx="6309360" cy="107442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 — 정보구조와 프로세스를 설계한다</a:t>
              </a:r>
            </a:p>
          </p:txBody>
        </p:sp>
        <p:sp>
          <p:nvSpPr>
            <p:cNvPr id="8" name="Down Arrow 7"/>
            <p:cNvSpPr/>
            <p:nvPr/>
          </p:nvSpPr>
          <p:spPr>
            <a:xfrm>
              <a:off x="5879592" y="5024628"/>
              <a:ext cx="402336" cy="329184"/>
            </a:xfrm>
            <a:prstGeom prst="down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926080" y="5372100"/>
              <a:ext cx="6309360" cy="107442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 — 설계 기준에 따라 시스템을 구현한다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PRC-083</a:t>
            </a:r>
          </a:p>
        </p:txBody>
      </p:sp>
      <p:grpSp>
        <p:nvGrpSpPr>
          <p:cNvPr id="12" name="asset:PRC-083"/>
          <p:cNvGrpSpPr/>
          <p:nvPr/>
        </p:nvGrpSpPr>
        <p:grpSpPr>
          <a:xfrm>
            <a:off x="2926080" y="1051560"/>
            <a:ext cx="6309360" cy="5394960"/>
            <a:chOff x="2926080" y="1051560"/>
            <a:chExt cx="6309360" cy="5394960"/>
          </a:xfrm>
        </p:grpSpPr>
        <p:sp>
          <p:nvSpPr>
            <p:cNvPr id="3" name="Rounded Rectangle 2"/>
            <p:cNvSpPr/>
            <p:nvPr/>
          </p:nvSpPr>
          <p:spPr>
            <a:xfrm>
              <a:off x="2926080" y="1051560"/>
              <a:ext cx="6309360" cy="786384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 — 과업 현황과 요구사항을 진단한다</a:t>
              </a:r>
            </a:p>
          </p:txBody>
        </p:sp>
        <p:sp>
          <p:nvSpPr>
            <p:cNvPr id="4" name="Down Arrow 3"/>
            <p:cNvSpPr/>
            <p:nvPr/>
          </p:nvSpPr>
          <p:spPr>
            <a:xfrm>
              <a:off x="5879592" y="1856231"/>
              <a:ext cx="402336" cy="329184"/>
            </a:xfrm>
            <a:prstGeom prst="down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926080" y="2203704"/>
              <a:ext cx="6309360" cy="786384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 — 추진 방향과 핵심 과제를 정의한다</a:t>
              </a:r>
            </a:p>
          </p:txBody>
        </p:sp>
        <p:sp>
          <p:nvSpPr>
            <p:cNvPr id="6" name="Down Arrow 5"/>
            <p:cNvSpPr/>
            <p:nvPr/>
          </p:nvSpPr>
          <p:spPr>
            <a:xfrm>
              <a:off x="5879592" y="3008376"/>
              <a:ext cx="402336" cy="329184"/>
            </a:xfrm>
            <a:prstGeom prst="down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926080" y="3355848"/>
              <a:ext cx="6309360" cy="786384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 — 정보구조와 프로세스를 설계한다</a:t>
              </a:r>
            </a:p>
          </p:txBody>
        </p:sp>
        <p:sp>
          <p:nvSpPr>
            <p:cNvPr id="8" name="Down Arrow 7"/>
            <p:cNvSpPr/>
            <p:nvPr/>
          </p:nvSpPr>
          <p:spPr>
            <a:xfrm>
              <a:off x="5879592" y="4160520"/>
              <a:ext cx="402336" cy="329184"/>
            </a:xfrm>
            <a:prstGeom prst="down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926080" y="4507992"/>
              <a:ext cx="6309360" cy="786384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 — 설계 기준에 따라 시스템을 구현한다</a:t>
              </a:r>
            </a:p>
          </p:txBody>
        </p:sp>
        <p:sp>
          <p:nvSpPr>
            <p:cNvPr id="10" name="Down Arrow 9"/>
            <p:cNvSpPr/>
            <p:nvPr/>
          </p:nvSpPr>
          <p:spPr>
            <a:xfrm>
              <a:off x="5879592" y="5312664"/>
              <a:ext cx="402336" cy="329184"/>
            </a:xfrm>
            <a:prstGeom prst="down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926080" y="5660136"/>
              <a:ext cx="6309360" cy="786384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 — 품질을 점검하고 결함을 보정한다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PRC-084</a:t>
            </a:r>
          </a:p>
        </p:txBody>
      </p:sp>
      <p:grpSp>
        <p:nvGrpSpPr>
          <p:cNvPr id="14" name="asset:PRC-084"/>
          <p:cNvGrpSpPr/>
          <p:nvPr/>
        </p:nvGrpSpPr>
        <p:grpSpPr>
          <a:xfrm>
            <a:off x="2926080" y="1051560"/>
            <a:ext cx="6309360" cy="5394960"/>
            <a:chOff x="2926080" y="1051560"/>
            <a:chExt cx="6309360" cy="5394960"/>
          </a:xfrm>
        </p:grpSpPr>
        <p:sp>
          <p:nvSpPr>
            <p:cNvPr id="3" name="Rounded Rectangle 2"/>
            <p:cNvSpPr/>
            <p:nvPr/>
          </p:nvSpPr>
          <p:spPr>
            <a:xfrm>
              <a:off x="2926080" y="1051560"/>
              <a:ext cx="6309360" cy="59436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 — 과업 현황과 요구사항을 진단한다</a:t>
              </a:r>
            </a:p>
          </p:txBody>
        </p:sp>
        <p:sp>
          <p:nvSpPr>
            <p:cNvPr id="4" name="Down Arrow 3"/>
            <p:cNvSpPr/>
            <p:nvPr/>
          </p:nvSpPr>
          <p:spPr>
            <a:xfrm>
              <a:off x="5879592" y="1664207"/>
              <a:ext cx="402336" cy="329184"/>
            </a:xfrm>
            <a:prstGeom prst="down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926080" y="2011680"/>
              <a:ext cx="6309360" cy="594360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 — 추진 방향과 핵심 과제를 정의한다</a:t>
              </a:r>
            </a:p>
          </p:txBody>
        </p:sp>
        <p:sp>
          <p:nvSpPr>
            <p:cNvPr id="6" name="Down Arrow 5"/>
            <p:cNvSpPr/>
            <p:nvPr/>
          </p:nvSpPr>
          <p:spPr>
            <a:xfrm>
              <a:off x="5879592" y="2624328"/>
              <a:ext cx="402336" cy="329184"/>
            </a:xfrm>
            <a:prstGeom prst="down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926080" y="2971800"/>
              <a:ext cx="6309360" cy="59436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 — 정보구조와 프로세스를 설계한다</a:t>
              </a:r>
            </a:p>
          </p:txBody>
        </p:sp>
        <p:sp>
          <p:nvSpPr>
            <p:cNvPr id="8" name="Down Arrow 7"/>
            <p:cNvSpPr/>
            <p:nvPr/>
          </p:nvSpPr>
          <p:spPr>
            <a:xfrm>
              <a:off x="5879592" y="3584448"/>
              <a:ext cx="402336" cy="329184"/>
            </a:xfrm>
            <a:prstGeom prst="down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926080" y="3931920"/>
              <a:ext cx="6309360" cy="59436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 — 설계 기준에 따라 시스템을 구현한다</a:t>
              </a:r>
            </a:p>
          </p:txBody>
        </p:sp>
        <p:sp>
          <p:nvSpPr>
            <p:cNvPr id="10" name="Down Arrow 9"/>
            <p:cNvSpPr/>
            <p:nvPr/>
          </p:nvSpPr>
          <p:spPr>
            <a:xfrm>
              <a:off x="5879592" y="4544568"/>
              <a:ext cx="402336" cy="329184"/>
            </a:xfrm>
            <a:prstGeom prst="down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926080" y="4892040"/>
              <a:ext cx="6309360" cy="59436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 — 품질을 점검하고 결함을 보정한다</a:t>
              </a:r>
            </a:p>
          </p:txBody>
        </p:sp>
        <p:sp>
          <p:nvSpPr>
            <p:cNvPr id="12" name="Down Arrow 11"/>
            <p:cNvSpPr/>
            <p:nvPr/>
          </p:nvSpPr>
          <p:spPr>
            <a:xfrm>
              <a:off x="5879592" y="5504688"/>
              <a:ext cx="402336" cy="329184"/>
            </a:xfrm>
            <a:prstGeom prst="down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2926080" y="5852160"/>
              <a:ext cx="6309360" cy="59436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6. 운영·확산 — 성과를 활용하고 대외로 확산한다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