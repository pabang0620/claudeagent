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PRC-037</a:t>
            </a:r>
          </a:p>
        </p:txBody>
      </p:sp>
      <p:grpSp>
        <p:nvGrpSpPr>
          <p:cNvPr id="10" name="asset:PRC-037"/>
          <p:cNvGrpSpPr/>
          <p:nvPr/>
        </p:nvGrpSpPr>
        <p:grpSpPr>
          <a:xfrm>
            <a:off x="68580" y="2514600"/>
            <a:ext cx="12051792" cy="2624328"/>
            <a:chOff x="68580" y="2514600"/>
            <a:chExt cx="12051792" cy="2624328"/>
          </a:xfrm>
        </p:grpSpPr>
        <p:cxnSp>
          <p:nvCxnSpPr>
            <p:cNvPr id="3" name="Connector 2"/>
            <p:cNvCxnSpPr/>
            <p:nvPr/>
          </p:nvCxnSpPr>
          <p:spPr>
            <a:xfrm>
              <a:off x="1120140" y="3086100"/>
              <a:ext cx="9948672" cy="0"/>
            </a:xfrm>
            <a:prstGeom prst="line">
              <a:avLst/>
            </a:prstGeom>
            <a:ln w="254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Oval 3"/>
            <p:cNvSpPr/>
            <p:nvPr/>
          </p:nvSpPr>
          <p:spPr>
            <a:xfrm>
              <a:off x="548640" y="2514600"/>
              <a:ext cx="1143000" cy="1143000"/>
            </a:xfrm>
            <a:prstGeom prst="ellipse">
              <a:avLst/>
            </a:prstGeom>
            <a:solidFill>
              <a:srgbClr val="16233B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8580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현황 분석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과업 현황과 요구사항을 진단한다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5522976" y="2514600"/>
              <a:ext cx="1143000" cy="1143000"/>
            </a:xfrm>
            <a:prstGeom prst="ellipse">
              <a:avLst/>
            </a:prstGeom>
            <a:solidFill>
              <a:srgbClr val="2A4A7F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042916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전략 수립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추진 방향과 핵심 과제를 정의한다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10497312" y="2514600"/>
              <a:ext cx="1143000" cy="1143000"/>
            </a:xfrm>
            <a:prstGeom prst="ellipse">
              <a:avLst/>
            </a:prstGeom>
            <a:solidFill>
              <a:srgbClr val="29ABE2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0017252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체계 설계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정보구조와 프로세스를 설계한다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PRC-038</a:t>
            </a:r>
          </a:p>
        </p:txBody>
      </p:sp>
      <p:grpSp>
        <p:nvGrpSpPr>
          <p:cNvPr id="12" name="asset:PRC-038"/>
          <p:cNvGrpSpPr/>
          <p:nvPr/>
        </p:nvGrpSpPr>
        <p:grpSpPr>
          <a:xfrm>
            <a:off x="68580" y="2514600"/>
            <a:ext cx="12051792" cy="2624328"/>
            <a:chOff x="68580" y="2514600"/>
            <a:chExt cx="12051792" cy="2624328"/>
          </a:xfrm>
        </p:grpSpPr>
        <p:cxnSp>
          <p:nvCxnSpPr>
            <p:cNvPr id="3" name="Connector 2"/>
            <p:cNvCxnSpPr/>
            <p:nvPr/>
          </p:nvCxnSpPr>
          <p:spPr>
            <a:xfrm>
              <a:off x="1120140" y="3086100"/>
              <a:ext cx="9948672" cy="0"/>
            </a:xfrm>
            <a:prstGeom prst="line">
              <a:avLst/>
            </a:prstGeom>
            <a:ln w="254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Oval 3"/>
            <p:cNvSpPr/>
            <p:nvPr/>
          </p:nvSpPr>
          <p:spPr>
            <a:xfrm>
              <a:off x="548640" y="2514600"/>
              <a:ext cx="1143000" cy="1143000"/>
            </a:xfrm>
            <a:prstGeom prst="ellipse">
              <a:avLst/>
            </a:prstGeom>
            <a:solidFill>
              <a:srgbClr val="16233B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8580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현황 분석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과업 현황과 요구사항을 진단한다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3864864" y="2514600"/>
              <a:ext cx="1143000" cy="1143000"/>
            </a:xfrm>
            <a:prstGeom prst="ellipse">
              <a:avLst/>
            </a:prstGeom>
            <a:solidFill>
              <a:srgbClr val="1F3864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384804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전략 수립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추진 방향과 핵심 과제를 정의한다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7181088" y="2514600"/>
              <a:ext cx="1143000" cy="1143000"/>
            </a:xfrm>
            <a:prstGeom prst="ellipse">
              <a:avLst/>
            </a:prstGeom>
            <a:solidFill>
              <a:srgbClr val="2E75D6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701028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체계 설계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정보구조와 프로세스를 설계한다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10497312" y="2514600"/>
              <a:ext cx="1143000" cy="1143000"/>
            </a:xfrm>
            <a:prstGeom prst="ellipse">
              <a:avLst/>
            </a:prstGeom>
            <a:solidFill>
              <a:srgbClr val="29ABE2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0017252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구축·개발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 기준에 따라 시스템을 구현한다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PRC-039</a:t>
            </a:r>
          </a:p>
        </p:txBody>
      </p:sp>
      <p:grpSp>
        <p:nvGrpSpPr>
          <p:cNvPr id="14" name="asset:PRC-039"/>
          <p:cNvGrpSpPr/>
          <p:nvPr/>
        </p:nvGrpSpPr>
        <p:grpSpPr>
          <a:xfrm>
            <a:off x="68580" y="2514600"/>
            <a:ext cx="12051792" cy="2624328"/>
            <a:chOff x="68580" y="2514600"/>
            <a:chExt cx="12051792" cy="2624328"/>
          </a:xfrm>
        </p:grpSpPr>
        <p:cxnSp>
          <p:nvCxnSpPr>
            <p:cNvPr id="3" name="Connector 2"/>
            <p:cNvCxnSpPr/>
            <p:nvPr/>
          </p:nvCxnSpPr>
          <p:spPr>
            <a:xfrm>
              <a:off x="1120140" y="3086100"/>
              <a:ext cx="9948672" cy="0"/>
            </a:xfrm>
            <a:prstGeom prst="line">
              <a:avLst/>
            </a:prstGeom>
            <a:ln w="254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Oval 3"/>
            <p:cNvSpPr/>
            <p:nvPr/>
          </p:nvSpPr>
          <p:spPr>
            <a:xfrm>
              <a:off x="548640" y="2514600"/>
              <a:ext cx="1143000" cy="1143000"/>
            </a:xfrm>
            <a:prstGeom prst="ellipse">
              <a:avLst/>
            </a:prstGeom>
            <a:solidFill>
              <a:srgbClr val="16233B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8580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현황 분석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과업 현황과 요구사항을 진단한다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3035808" y="2514600"/>
              <a:ext cx="1143000" cy="1143000"/>
            </a:xfrm>
            <a:prstGeom prst="ellipse">
              <a:avLst/>
            </a:prstGeom>
            <a:solidFill>
              <a:srgbClr val="1F3864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555748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전략 수립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추진 방향과 핵심 과제를 정의한다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5522976" y="2514600"/>
              <a:ext cx="1143000" cy="1143000"/>
            </a:xfrm>
            <a:prstGeom prst="ellipse">
              <a:avLst/>
            </a:prstGeom>
            <a:solidFill>
              <a:srgbClr val="2A4A7F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42916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체계 설계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정보구조와 프로세스를 설계한다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8010144" y="2514600"/>
              <a:ext cx="1143000" cy="1143000"/>
            </a:xfrm>
            <a:prstGeom prst="ellipse">
              <a:avLst/>
            </a:prstGeom>
            <a:solidFill>
              <a:srgbClr val="2E75D6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530083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구축·개발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 기준에 따라 시스템을 구현한다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10497312" y="2514600"/>
              <a:ext cx="1143000" cy="1143000"/>
            </a:xfrm>
            <a:prstGeom prst="ellipse">
              <a:avLst/>
            </a:prstGeom>
            <a:solidFill>
              <a:srgbClr val="29ABE2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0017252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검증·안정화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품질을 점검하고 결함을 보정한다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PRC-040</a:t>
            </a:r>
          </a:p>
        </p:txBody>
      </p:sp>
      <p:grpSp>
        <p:nvGrpSpPr>
          <p:cNvPr id="16" name="asset:PRC-040"/>
          <p:cNvGrpSpPr/>
          <p:nvPr/>
        </p:nvGrpSpPr>
        <p:grpSpPr>
          <a:xfrm>
            <a:off x="68580" y="2514600"/>
            <a:ext cx="12051792" cy="2624328"/>
            <a:chOff x="68580" y="2514600"/>
            <a:chExt cx="12051792" cy="2624328"/>
          </a:xfrm>
        </p:grpSpPr>
        <p:cxnSp>
          <p:nvCxnSpPr>
            <p:cNvPr id="3" name="Connector 2"/>
            <p:cNvCxnSpPr/>
            <p:nvPr/>
          </p:nvCxnSpPr>
          <p:spPr>
            <a:xfrm>
              <a:off x="1120140" y="3086100"/>
              <a:ext cx="9948672" cy="0"/>
            </a:xfrm>
            <a:prstGeom prst="line">
              <a:avLst/>
            </a:prstGeom>
            <a:ln w="254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Oval 3"/>
            <p:cNvSpPr/>
            <p:nvPr/>
          </p:nvSpPr>
          <p:spPr>
            <a:xfrm>
              <a:off x="548640" y="2514600"/>
              <a:ext cx="1143000" cy="1143000"/>
            </a:xfrm>
            <a:prstGeom prst="ellipse">
              <a:avLst/>
            </a:prstGeom>
            <a:solidFill>
              <a:srgbClr val="16233B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8580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현황 분석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과업 현황과 요구사항을 진단한다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2538374" y="2514600"/>
              <a:ext cx="1143000" cy="1143000"/>
            </a:xfrm>
            <a:prstGeom prst="ellipse">
              <a:avLst/>
            </a:prstGeom>
            <a:solidFill>
              <a:srgbClr val="1F3864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058314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전략 수립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추진 방향과 핵심 과제를 정의한다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4528108" y="2514600"/>
              <a:ext cx="1143000" cy="1143000"/>
            </a:xfrm>
            <a:prstGeom prst="ellipse">
              <a:avLst/>
            </a:prstGeom>
            <a:solidFill>
              <a:srgbClr val="2A4A7F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048048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체계 설계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정보구조와 프로세스를 설계한다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6517843" y="2514600"/>
              <a:ext cx="1143000" cy="1143000"/>
            </a:xfrm>
            <a:prstGeom prst="ellipse">
              <a:avLst/>
            </a:prstGeom>
            <a:solidFill>
              <a:srgbClr val="2A4A7F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037783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구축·개발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 기준에 따라 시스템을 구현한다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8507577" y="2514600"/>
              <a:ext cx="1143000" cy="1143000"/>
            </a:xfrm>
            <a:prstGeom prst="ellipse">
              <a:avLst/>
            </a:prstGeom>
            <a:solidFill>
              <a:srgbClr val="2E75D6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027517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검증·안정화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품질을 점검하고 결함을 보정한다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10497312" y="2514600"/>
              <a:ext cx="1143000" cy="1143000"/>
            </a:xfrm>
            <a:prstGeom prst="ellipse">
              <a:avLst/>
            </a:prstGeom>
            <a:solidFill>
              <a:srgbClr val="29ABE2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0017252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운영·확산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성과를 활용하고 대외로 확산한다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PRC-041</a:t>
            </a:r>
          </a:p>
        </p:txBody>
      </p:sp>
      <p:grpSp>
        <p:nvGrpSpPr>
          <p:cNvPr id="10" name="asset:PRC-041"/>
          <p:cNvGrpSpPr/>
          <p:nvPr/>
        </p:nvGrpSpPr>
        <p:grpSpPr>
          <a:xfrm>
            <a:off x="68580" y="2514600"/>
            <a:ext cx="12051792" cy="2624328"/>
            <a:chOff x="68580" y="2514600"/>
            <a:chExt cx="12051792" cy="2624328"/>
          </a:xfrm>
        </p:grpSpPr>
        <p:cxnSp>
          <p:nvCxnSpPr>
            <p:cNvPr id="3" name="Connector 2"/>
            <p:cNvCxnSpPr/>
            <p:nvPr/>
          </p:nvCxnSpPr>
          <p:spPr>
            <a:xfrm>
              <a:off x="1120140" y="3086100"/>
              <a:ext cx="9948672" cy="0"/>
            </a:xfrm>
            <a:prstGeom prst="line">
              <a:avLst/>
            </a:prstGeom>
            <a:ln w="254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Oval 3"/>
            <p:cNvSpPr/>
            <p:nvPr/>
          </p:nvSpPr>
          <p:spPr>
            <a:xfrm>
              <a:off x="548640" y="2514600"/>
              <a:ext cx="1143000" cy="1143000"/>
            </a:xfrm>
            <a:prstGeom prst="ellipse">
              <a:avLst/>
            </a:prstGeom>
            <a:solidFill>
              <a:srgbClr val="16233B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8580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현황 분석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과업 현황과 요구사항을 진단한다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5522976" y="2514600"/>
              <a:ext cx="1143000" cy="1143000"/>
            </a:xfrm>
            <a:prstGeom prst="ellipse">
              <a:avLst/>
            </a:prstGeom>
            <a:solidFill>
              <a:srgbClr val="595959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042916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전략 수립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추진 방향과 핵심 과제를 정의한다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10497312" y="2514600"/>
              <a:ext cx="1143000" cy="1143000"/>
            </a:xfrm>
            <a:prstGeom prst="ellipse">
              <a:avLst/>
            </a:prstGeom>
            <a:solidFill>
              <a:srgbClr val="D9D9D9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0017252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체계 설계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정보구조와 프로세스를 설계한다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PRC-042</a:t>
            </a:r>
          </a:p>
        </p:txBody>
      </p:sp>
      <p:grpSp>
        <p:nvGrpSpPr>
          <p:cNvPr id="12" name="asset:PRC-042"/>
          <p:cNvGrpSpPr/>
          <p:nvPr/>
        </p:nvGrpSpPr>
        <p:grpSpPr>
          <a:xfrm>
            <a:off x="68580" y="2514600"/>
            <a:ext cx="12051792" cy="2624328"/>
            <a:chOff x="68580" y="2514600"/>
            <a:chExt cx="12051792" cy="2624328"/>
          </a:xfrm>
        </p:grpSpPr>
        <p:cxnSp>
          <p:nvCxnSpPr>
            <p:cNvPr id="3" name="Connector 2"/>
            <p:cNvCxnSpPr/>
            <p:nvPr/>
          </p:nvCxnSpPr>
          <p:spPr>
            <a:xfrm>
              <a:off x="1120140" y="3086100"/>
              <a:ext cx="9948672" cy="0"/>
            </a:xfrm>
            <a:prstGeom prst="line">
              <a:avLst/>
            </a:prstGeom>
            <a:ln w="254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Oval 3"/>
            <p:cNvSpPr/>
            <p:nvPr/>
          </p:nvSpPr>
          <p:spPr>
            <a:xfrm>
              <a:off x="548640" y="2514600"/>
              <a:ext cx="1143000" cy="1143000"/>
            </a:xfrm>
            <a:prstGeom prst="ellipse">
              <a:avLst/>
            </a:prstGeom>
            <a:solidFill>
              <a:srgbClr val="16233B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8580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현황 분석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과업 현황과 요구사항을 진단한다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3864864" y="2514600"/>
              <a:ext cx="1143000" cy="1143000"/>
            </a:xfrm>
            <a:prstGeom prst="ellipse">
              <a:avLst/>
            </a:prstGeom>
            <a:solidFill>
              <a:srgbClr val="1F3864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384804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전략 수립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추진 방향과 핵심 과제를 정의한다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7181088" y="2514600"/>
              <a:ext cx="1143000" cy="1143000"/>
            </a:xfrm>
            <a:prstGeom prst="ellipse">
              <a:avLst/>
            </a:prstGeom>
            <a:solidFill>
              <a:srgbClr val="808080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701028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체계 설계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정보구조와 프로세스를 설계한다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10497312" y="2514600"/>
              <a:ext cx="1143000" cy="1143000"/>
            </a:xfrm>
            <a:prstGeom prst="ellipse">
              <a:avLst/>
            </a:prstGeom>
            <a:solidFill>
              <a:srgbClr val="D9D9D9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0017252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구축·개발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 기준에 따라 시스템을 구현한다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PRC-043</a:t>
            </a:r>
          </a:p>
        </p:txBody>
      </p:sp>
      <p:grpSp>
        <p:nvGrpSpPr>
          <p:cNvPr id="14" name="asset:PRC-043"/>
          <p:cNvGrpSpPr/>
          <p:nvPr/>
        </p:nvGrpSpPr>
        <p:grpSpPr>
          <a:xfrm>
            <a:off x="68580" y="2514600"/>
            <a:ext cx="12051792" cy="2624328"/>
            <a:chOff x="68580" y="2514600"/>
            <a:chExt cx="12051792" cy="2624328"/>
          </a:xfrm>
        </p:grpSpPr>
        <p:cxnSp>
          <p:nvCxnSpPr>
            <p:cNvPr id="3" name="Connector 2"/>
            <p:cNvCxnSpPr/>
            <p:nvPr/>
          </p:nvCxnSpPr>
          <p:spPr>
            <a:xfrm>
              <a:off x="1120140" y="3086100"/>
              <a:ext cx="9948672" cy="0"/>
            </a:xfrm>
            <a:prstGeom prst="line">
              <a:avLst/>
            </a:prstGeom>
            <a:ln w="254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Oval 3"/>
            <p:cNvSpPr/>
            <p:nvPr/>
          </p:nvSpPr>
          <p:spPr>
            <a:xfrm>
              <a:off x="548640" y="2514600"/>
              <a:ext cx="1143000" cy="1143000"/>
            </a:xfrm>
            <a:prstGeom prst="ellipse">
              <a:avLst/>
            </a:prstGeom>
            <a:solidFill>
              <a:srgbClr val="16233B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8580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현황 분석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과업 현황과 요구사항을 진단한다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3035808" y="2514600"/>
              <a:ext cx="1143000" cy="1143000"/>
            </a:xfrm>
            <a:prstGeom prst="ellipse">
              <a:avLst/>
            </a:prstGeom>
            <a:solidFill>
              <a:srgbClr val="1F3864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555748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전략 수립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추진 방향과 핵심 과제를 정의한다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5522976" y="2514600"/>
              <a:ext cx="1143000" cy="1143000"/>
            </a:xfrm>
            <a:prstGeom prst="ellipse">
              <a:avLst/>
            </a:prstGeom>
            <a:solidFill>
              <a:srgbClr val="595959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42916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체계 설계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정보구조와 프로세스를 설계한다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8010144" y="2514600"/>
              <a:ext cx="1143000" cy="1143000"/>
            </a:xfrm>
            <a:prstGeom prst="ellipse">
              <a:avLst/>
            </a:prstGeom>
            <a:solidFill>
              <a:srgbClr val="808080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530083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구축·개발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 기준에 따라 시스템을 구현한다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10497312" y="2514600"/>
              <a:ext cx="1143000" cy="1143000"/>
            </a:xfrm>
            <a:prstGeom prst="ellipse">
              <a:avLst/>
            </a:prstGeom>
            <a:solidFill>
              <a:srgbClr val="D9D9D9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5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0017252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검증·안정화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품질을 점검하고 결함을 보정한다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PRC-044</a:t>
            </a:r>
          </a:p>
        </p:txBody>
      </p:sp>
      <p:grpSp>
        <p:nvGrpSpPr>
          <p:cNvPr id="16" name="asset:PRC-044"/>
          <p:cNvGrpSpPr/>
          <p:nvPr/>
        </p:nvGrpSpPr>
        <p:grpSpPr>
          <a:xfrm>
            <a:off x="68580" y="2514600"/>
            <a:ext cx="12051792" cy="2624328"/>
            <a:chOff x="68580" y="2514600"/>
            <a:chExt cx="12051792" cy="2624328"/>
          </a:xfrm>
        </p:grpSpPr>
        <p:cxnSp>
          <p:nvCxnSpPr>
            <p:cNvPr id="3" name="Connector 2"/>
            <p:cNvCxnSpPr/>
            <p:nvPr/>
          </p:nvCxnSpPr>
          <p:spPr>
            <a:xfrm>
              <a:off x="1120140" y="3086100"/>
              <a:ext cx="9948672" cy="0"/>
            </a:xfrm>
            <a:prstGeom prst="line">
              <a:avLst/>
            </a:prstGeom>
            <a:ln w="254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Oval 3"/>
            <p:cNvSpPr/>
            <p:nvPr/>
          </p:nvSpPr>
          <p:spPr>
            <a:xfrm>
              <a:off x="548640" y="2514600"/>
              <a:ext cx="1143000" cy="1143000"/>
            </a:xfrm>
            <a:prstGeom prst="ellipse">
              <a:avLst/>
            </a:prstGeom>
            <a:solidFill>
              <a:srgbClr val="16233B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8580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현황 분석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과업 현황과 요구사항을 진단한다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2538374" y="2514600"/>
              <a:ext cx="1143000" cy="1143000"/>
            </a:xfrm>
            <a:prstGeom prst="ellipse">
              <a:avLst/>
            </a:prstGeom>
            <a:solidFill>
              <a:srgbClr val="1F3864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058314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전략 수립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추진 방향과 핵심 과제를 정의한다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4528108" y="2514600"/>
              <a:ext cx="1143000" cy="1143000"/>
            </a:xfrm>
            <a:prstGeom prst="ellipse">
              <a:avLst/>
            </a:prstGeom>
            <a:solidFill>
              <a:srgbClr val="595959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048048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체계 설계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정보구조와 프로세스를 설계한다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6517843" y="2514600"/>
              <a:ext cx="1143000" cy="1143000"/>
            </a:xfrm>
            <a:prstGeom prst="ellipse">
              <a:avLst/>
            </a:prstGeom>
            <a:solidFill>
              <a:srgbClr val="595959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037783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구축·개발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 기준에 따라 시스템을 구현한다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8507577" y="2514600"/>
              <a:ext cx="1143000" cy="1143000"/>
            </a:xfrm>
            <a:prstGeom prst="ellipse">
              <a:avLst/>
            </a:prstGeom>
            <a:solidFill>
              <a:srgbClr val="808080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027517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검증·안정화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품질을 점검하고 결함을 보정한다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10497312" y="2514600"/>
              <a:ext cx="1143000" cy="1143000"/>
            </a:xfrm>
            <a:prstGeom prst="ellipse">
              <a:avLst/>
            </a:prstGeom>
            <a:solidFill>
              <a:srgbClr val="D9D9D9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6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0017252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운영·확산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성과를 활용하고 대외로 확산한다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PRC-045</a:t>
            </a:r>
          </a:p>
        </p:txBody>
      </p:sp>
      <p:grpSp>
        <p:nvGrpSpPr>
          <p:cNvPr id="10" name="asset:PRC-045"/>
          <p:cNvGrpSpPr/>
          <p:nvPr/>
        </p:nvGrpSpPr>
        <p:grpSpPr>
          <a:xfrm>
            <a:off x="68580" y="2514600"/>
            <a:ext cx="12051792" cy="2624328"/>
            <a:chOff x="68580" y="2514600"/>
            <a:chExt cx="12051792" cy="2624328"/>
          </a:xfrm>
        </p:grpSpPr>
        <p:cxnSp>
          <p:nvCxnSpPr>
            <p:cNvPr id="3" name="Connector 2"/>
            <p:cNvCxnSpPr/>
            <p:nvPr/>
          </p:nvCxnSpPr>
          <p:spPr>
            <a:xfrm>
              <a:off x="1120140" y="3086100"/>
              <a:ext cx="9948672" cy="0"/>
            </a:xfrm>
            <a:prstGeom prst="line">
              <a:avLst/>
            </a:prstGeom>
            <a:ln w="254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Oval 3"/>
            <p:cNvSpPr/>
            <p:nvPr/>
          </p:nvSpPr>
          <p:spPr>
            <a:xfrm>
              <a:off x="548640" y="2514600"/>
              <a:ext cx="1143000" cy="1143000"/>
            </a:xfrm>
            <a:prstGeom prst="ellipse">
              <a:avLst/>
            </a:prstGeom>
            <a:solidFill>
              <a:srgbClr val="16233B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8580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현황 분석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과업 현황과 요구사항을 진단한다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5522976" y="2514600"/>
              <a:ext cx="1143000" cy="1143000"/>
            </a:xfrm>
            <a:prstGeom prst="ellipse">
              <a:avLst/>
            </a:prstGeom>
            <a:solidFill>
              <a:srgbClr val="2A4A7F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042916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전략 수립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추진 방향과 핵심 과제를 정의한다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10497312" y="2514600"/>
              <a:ext cx="1143000" cy="1143000"/>
            </a:xfrm>
            <a:prstGeom prst="ellipse">
              <a:avLst/>
            </a:prstGeom>
            <a:solidFill>
              <a:srgbClr val="29ABE2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0017252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체계 설계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정보구조와 프로세스를 설계한다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PRC-046</a:t>
            </a:r>
          </a:p>
        </p:txBody>
      </p:sp>
      <p:grpSp>
        <p:nvGrpSpPr>
          <p:cNvPr id="12" name="asset:PRC-046"/>
          <p:cNvGrpSpPr/>
          <p:nvPr/>
        </p:nvGrpSpPr>
        <p:grpSpPr>
          <a:xfrm>
            <a:off x="68580" y="2514600"/>
            <a:ext cx="12051792" cy="2624328"/>
            <a:chOff x="68580" y="2514600"/>
            <a:chExt cx="12051792" cy="2624328"/>
          </a:xfrm>
        </p:grpSpPr>
        <p:cxnSp>
          <p:nvCxnSpPr>
            <p:cNvPr id="3" name="Connector 2"/>
            <p:cNvCxnSpPr/>
            <p:nvPr/>
          </p:nvCxnSpPr>
          <p:spPr>
            <a:xfrm>
              <a:off x="1120140" y="3086100"/>
              <a:ext cx="9948672" cy="0"/>
            </a:xfrm>
            <a:prstGeom prst="line">
              <a:avLst/>
            </a:prstGeom>
            <a:ln w="254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Oval 3"/>
            <p:cNvSpPr/>
            <p:nvPr/>
          </p:nvSpPr>
          <p:spPr>
            <a:xfrm>
              <a:off x="548640" y="2514600"/>
              <a:ext cx="1143000" cy="1143000"/>
            </a:xfrm>
            <a:prstGeom prst="ellipse">
              <a:avLst/>
            </a:prstGeom>
            <a:solidFill>
              <a:srgbClr val="16233B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8580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현황 분석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과업 현황과 요구사항을 진단한다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3864864" y="2514600"/>
              <a:ext cx="1143000" cy="1143000"/>
            </a:xfrm>
            <a:prstGeom prst="ellipse">
              <a:avLst/>
            </a:prstGeom>
            <a:solidFill>
              <a:srgbClr val="1F3864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384804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전략 수립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추진 방향과 핵심 과제를 정의한다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7181088" y="2514600"/>
              <a:ext cx="1143000" cy="1143000"/>
            </a:xfrm>
            <a:prstGeom prst="ellipse">
              <a:avLst/>
            </a:prstGeom>
            <a:solidFill>
              <a:srgbClr val="1F9E8F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701028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체계 설계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정보구조와 프로세스를 설계한다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10497312" y="2514600"/>
              <a:ext cx="1143000" cy="1143000"/>
            </a:xfrm>
            <a:prstGeom prst="ellipse">
              <a:avLst/>
            </a:prstGeom>
            <a:solidFill>
              <a:srgbClr val="29ABE2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0017252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구축·개발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 기준에 따라 시스템을 구현한다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PRC-047</a:t>
            </a:r>
          </a:p>
        </p:txBody>
      </p:sp>
      <p:grpSp>
        <p:nvGrpSpPr>
          <p:cNvPr id="14" name="asset:PRC-047"/>
          <p:cNvGrpSpPr/>
          <p:nvPr/>
        </p:nvGrpSpPr>
        <p:grpSpPr>
          <a:xfrm>
            <a:off x="68580" y="2514600"/>
            <a:ext cx="12051792" cy="2624328"/>
            <a:chOff x="68580" y="2514600"/>
            <a:chExt cx="12051792" cy="2624328"/>
          </a:xfrm>
        </p:grpSpPr>
        <p:cxnSp>
          <p:nvCxnSpPr>
            <p:cNvPr id="3" name="Connector 2"/>
            <p:cNvCxnSpPr/>
            <p:nvPr/>
          </p:nvCxnSpPr>
          <p:spPr>
            <a:xfrm>
              <a:off x="1120140" y="3086100"/>
              <a:ext cx="9948672" cy="0"/>
            </a:xfrm>
            <a:prstGeom prst="line">
              <a:avLst/>
            </a:prstGeom>
            <a:ln w="254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Oval 3"/>
            <p:cNvSpPr/>
            <p:nvPr/>
          </p:nvSpPr>
          <p:spPr>
            <a:xfrm>
              <a:off x="548640" y="2514600"/>
              <a:ext cx="1143000" cy="1143000"/>
            </a:xfrm>
            <a:prstGeom prst="ellipse">
              <a:avLst/>
            </a:prstGeom>
            <a:solidFill>
              <a:srgbClr val="16233B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8580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현황 분석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과업 현황과 요구사항을 진단한다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3035808" y="2514600"/>
              <a:ext cx="1143000" cy="1143000"/>
            </a:xfrm>
            <a:prstGeom prst="ellipse">
              <a:avLst/>
            </a:prstGeom>
            <a:solidFill>
              <a:srgbClr val="1F3864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555748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전략 수립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추진 방향과 핵심 과제를 정의한다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5522976" y="2514600"/>
              <a:ext cx="1143000" cy="1143000"/>
            </a:xfrm>
            <a:prstGeom prst="ellipse">
              <a:avLst/>
            </a:prstGeom>
            <a:solidFill>
              <a:srgbClr val="2A4A7F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42916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체계 설계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정보구조와 프로세스를 설계한다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8010144" y="2514600"/>
              <a:ext cx="1143000" cy="1143000"/>
            </a:xfrm>
            <a:prstGeom prst="ellipse">
              <a:avLst/>
            </a:prstGeom>
            <a:solidFill>
              <a:srgbClr val="1F9E8F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530083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구축·개발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 기준에 따라 시스템을 구현한다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10497312" y="2514600"/>
              <a:ext cx="1143000" cy="1143000"/>
            </a:xfrm>
            <a:prstGeom prst="ellipse">
              <a:avLst/>
            </a:prstGeom>
            <a:solidFill>
              <a:srgbClr val="29ABE2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0017252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검증·안정화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품질을 점검하고 결함을 보정한다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PRC-048</a:t>
            </a:r>
          </a:p>
        </p:txBody>
      </p:sp>
      <p:grpSp>
        <p:nvGrpSpPr>
          <p:cNvPr id="16" name="asset:PRC-048"/>
          <p:cNvGrpSpPr/>
          <p:nvPr/>
        </p:nvGrpSpPr>
        <p:grpSpPr>
          <a:xfrm>
            <a:off x="68580" y="2514600"/>
            <a:ext cx="12051792" cy="2624328"/>
            <a:chOff x="68580" y="2514600"/>
            <a:chExt cx="12051792" cy="2624328"/>
          </a:xfrm>
        </p:grpSpPr>
        <p:cxnSp>
          <p:nvCxnSpPr>
            <p:cNvPr id="3" name="Connector 2"/>
            <p:cNvCxnSpPr/>
            <p:nvPr/>
          </p:nvCxnSpPr>
          <p:spPr>
            <a:xfrm>
              <a:off x="1120140" y="3086100"/>
              <a:ext cx="9948672" cy="0"/>
            </a:xfrm>
            <a:prstGeom prst="line">
              <a:avLst/>
            </a:prstGeom>
            <a:ln w="254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Oval 3"/>
            <p:cNvSpPr/>
            <p:nvPr/>
          </p:nvSpPr>
          <p:spPr>
            <a:xfrm>
              <a:off x="548640" y="2514600"/>
              <a:ext cx="1143000" cy="1143000"/>
            </a:xfrm>
            <a:prstGeom prst="ellipse">
              <a:avLst/>
            </a:prstGeom>
            <a:solidFill>
              <a:srgbClr val="16233B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8580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현황 분석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과업 현황과 요구사항을 진단한다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2538374" y="2514600"/>
              <a:ext cx="1143000" cy="1143000"/>
            </a:xfrm>
            <a:prstGeom prst="ellipse">
              <a:avLst/>
            </a:prstGeom>
            <a:solidFill>
              <a:srgbClr val="1F3864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058314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전략 수립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추진 방향과 핵심 과제를 정의한다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4528108" y="2514600"/>
              <a:ext cx="1143000" cy="1143000"/>
            </a:xfrm>
            <a:prstGeom prst="ellipse">
              <a:avLst/>
            </a:prstGeom>
            <a:solidFill>
              <a:srgbClr val="2A4A7F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048048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체계 설계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정보구조와 프로세스를 설계한다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6517843" y="2514600"/>
              <a:ext cx="1143000" cy="1143000"/>
            </a:xfrm>
            <a:prstGeom prst="ellipse">
              <a:avLst/>
            </a:prstGeom>
            <a:solidFill>
              <a:srgbClr val="2A4A7F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037783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구축·개발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 기준에 따라 시스템을 구현한다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8507577" y="2514600"/>
              <a:ext cx="1143000" cy="1143000"/>
            </a:xfrm>
            <a:prstGeom prst="ellipse">
              <a:avLst/>
            </a:prstGeom>
            <a:solidFill>
              <a:srgbClr val="1F9E8F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027517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검증·안정화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품질을 점검하고 결함을 보정한다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10497312" y="2514600"/>
              <a:ext cx="1143000" cy="1143000"/>
            </a:xfrm>
            <a:prstGeom prst="ellipse">
              <a:avLst/>
            </a:prstGeom>
            <a:solidFill>
              <a:srgbClr val="29ABE2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0017252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운영·확산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성과를 활용하고 대외로 확산한다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PRC-049</a:t>
            </a:r>
          </a:p>
        </p:txBody>
      </p:sp>
      <p:grpSp>
        <p:nvGrpSpPr>
          <p:cNvPr id="10" name="asset:PRC-049"/>
          <p:cNvGrpSpPr/>
          <p:nvPr/>
        </p:nvGrpSpPr>
        <p:grpSpPr>
          <a:xfrm>
            <a:off x="68580" y="2514600"/>
            <a:ext cx="12051792" cy="2624328"/>
            <a:chOff x="68580" y="2514600"/>
            <a:chExt cx="12051792" cy="2624328"/>
          </a:xfrm>
        </p:grpSpPr>
        <p:cxnSp>
          <p:nvCxnSpPr>
            <p:cNvPr id="3" name="Connector 2"/>
            <p:cNvCxnSpPr/>
            <p:nvPr/>
          </p:nvCxnSpPr>
          <p:spPr>
            <a:xfrm>
              <a:off x="1120140" y="3086100"/>
              <a:ext cx="9948672" cy="0"/>
            </a:xfrm>
            <a:prstGeom prst="line">
              <a:avLst/>
            </a:prstGeom>
            <a:ln w="254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Oval 3"/>
            <p:cNvSpPr/>
            <p:nvPr/>
          </p:nvSpPr>
          <p:spPr>
            <a:xfrm>
              <a:off x="548640" y="2514600"/>
              <a:ext cx="1143000" cy="1143000"/>
            </a:xfrm>
            <a:prstGeom prst="ellipse">
              <a:avLst/>
            </a:prstGeom>
            <a:solidFill>
              <a:srgbClr val="16233B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8580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현황 분석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과업 현황과 요구사항을 진단한다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5522976" y="2514600"/>
              <a:ext cx="1143000" cy="1143000"/>
            </a:xfrm>
            <a:prstGeom prst="ellipse">
              <a:avLst/>
            </a:prstGeom>
            <a:solidFill>
              <a:srgbClr val="2A4A7F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042916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전략 수립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추진 방향과 핵심 과제를 정의한다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10497312" y="2514600"/>
              <a:ext cx="1143000" cy="1143000"/>
            </a:xfrm>
            <a:prstGeom prst="ellipse">
              <a:avLst/>
            </a:prstGeom>
            <a:solidFill>
              <a:srgbClr val="29ABE2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0017252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체계 설계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정보구조와 프로세스를 설계한다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PRC-050</a:t>
            </a:r>
          </a:p>
        </p:txBody>
      </p:sp>
      <p:grpSp>
        <p:nvGrpSpPr>
          <p:cNvPr id="12" name="asset:PRC-050"/>
          <p:cNvGrpSpPr/>
          <p:nvPr/>
        </p:nvGrpSpPr>
        <p:grpSpPr>
          <a:xfrm>
            <a:off x="68580" y="2514600"/>
            <a:ext cx="12051792" cy="2624328"/>
            <a:chOff x="68580" y="2514600"/>
            <a:chExt cx="12051792" cy="2624328"/>
          </a:xfrm>
        </p:grpSpPr>
        <p:cxnSp>
          <p:nvCxnSpPr>
            <p:cNvPr id="3" name="Connector 2"/>
            <p:cNvCxnSpPr/>
            <p:nvPr/>
          </p:nvCxnSpPr>
          <p:spPr>
            <a:xfrm>
              <a:off x="1120140" y="3086100"/>
              <a:ext cx="9948672" cy="0"/>
            </a:xfrm>
            <a:prstGeom prst="line">
              <a:avLst/>
            </a:prstGeom>
            <a:ln w="254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Oval 3"/>
            <p:cNvSpPr/>
            <p:nvPr/>
          </p:nvSpPr>
          <p:spPr>
            <a:xfrm>
              <a:off x="548640" y="2514600"/>
              <a:ext cx="1143000" cy="1143000"/>
            </a:xfrm>
            <a:prstGeom prst="ellipse">
              <a:avLst/>
            </a:prstGeom>
            <a:solidFill>
              <a:srgbClr val="16233B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8580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현황 분석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과업 현황과 요구사항을 진단한다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3864864" y="2514600"/>
              <a:ext cx="1143000" cy="1143000"/>
            </a:xfrm>
            <a:prstGeom prst="ellipse">
              <a:avLst/>
            </a:prstGeom>
            <a:solidFill>
              <a:srgbClr val="7B2D8E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384804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전략 수립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추진 방향과 핵심 과제를 정의한다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7181088" y="2514600"/>
              <a:ext cx="1143000" cy="1143000"/>
            </a:xfrm>
            <a:prstGeom prst="ellipse">
              <a:avLst/>
            </a:prstGeom>
            <a:solidFill>
              <a:srgbClr val="2E75D6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701028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체계 설계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정보구조와 프로세스를 설계한다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10497312" y="2514600"/>
              <a:ext cx="1143000" cy="1143000"/>
            </a:xfrm>
            <a:prstGeom prst="ellipse">
              <a:avLst/>
            </a:prstGeom>
            <a:solidFill>
              <a:srgbClr val="29ABE2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0017252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구축·개발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 기준에 따라 시스템을 구현한다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PRC-051</a:t>
            </a:r>
          </a:p>
        </p:txBody>
      </p:sp>
      <p:grpSp>
        <p:nvGrpSpPr>
          <p:cNvPr id="14" name="asset:PRC-051"/>
          <p:cNvGrpSpPr/>
          <p:nvPr/>
        </p:nvGrpSpPr>
        <p:grpSpPr>
          <a:xfrm>
            <a:off x="68580" y="2514600"/>
            <a:ext cx="12051792" cy="2624328"/>
            <a:chOff x="68580" y="2514600"/>
            <a:chExt cx="12051792" cy="2624328"/>
          </a:xfrm>
        </p:grpSpPr>
        <p:cxnSp>
          <p:nvCxnSpPr>
            <p:cNvPr id="3" name="Connector 2"/>
            <p:cNvCxnSpPr/>
            <p:nvPr/>
          </p:nvCxnSpPr>
          <p:spPr>
            <a:xfrm>
              <a:off x="1120140" y="3086100"/>
              <a:ext cx="9948672" cy="0"/>
            </a:xfrm>
            <a:prstGeom prst="line">
              <a:avLst/>
            </a:prstGeom>
            <a:ln w="254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Oval 3"/>
            <p:cNvSpPr/>
            <p:nvPr/>
          </p:nvSpPr>
          <p:spPr>
            <a:xfrm>
              <a:off x="548640" y="2514600"/>
              <a:ext cx="1143000" cy="1143000"/>
            </a:xfrm>
            <a:prstGeom prst="ellipse">
              <a:avLst/>
            </a:prstGeom>
            <a:solidFill>
              <a:srgbClr val="16233B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8580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현황 분석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과업 현황과 요구사항을 진단한다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3035808" y="2514600"/>
              <a:ext cx="1143000" cy="1143000"/>
            </a:xfrm>
            <a:prstGeom prst="ellipse">
              <a:avLst/>
            </a:prstGeom>
            <a:solidFill>
              <a:srgbClr val="7B2D8E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555748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전략 수립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추진 방향과 핵심 과제를 정의한다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5522976" y="2514600"/>
              <a:ext cx="1143000" cy="1143000"/>
            </a:xfrm>
            <a:prstGeom prst="ellipse">
              <a:avLst/>
            </a:prstGeom>
            <a:solidFill>
              <a:srgbClr val="2A4A7F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42916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체계 설계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정보구조와 프로세스를 설계한다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8010144" y="2514600"/>
              <a:ext cx="1143000" cy="1143000"/>
            </a:xfrm>
            <a:prstGeom prst="ellipse">
              <a:avLst/>
            </a:prstGeom>
            <a:solidFill>
              <a:srgbClr val="2E75D6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530083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구축·개발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 기준에 따라 시스템을 구현한다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10497312" y="2514600"/>
              <a:ext cx="1143000" cy="1143000"/>
            </a:xfrm>
            <a:prstGeom prst="ellipse">
              <a:avLst/>
            </a:prstGeom>
            <a:solidFill>
              <a:srgbClr val="29ABE2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0017252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검증·안정화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품질을 점검하고 결함을 보정한다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PRC-052</a:t>
            </a:r>
          </a:p>
        </p:txBody>
      </p:sp>
      <p:grpSp>
        <p:nvGrpSpPr>
          <p:cNvPr id="16" name="asset:PRC-052"/>
          <p:cNvGrpSpPr/>
          <p:nvPr/>
        </p:nvGrpSpPr>
        <p:grpSpPr>
          <a:xfrm>
            <a:off x="68580" y="2514600"/>
            <a:ext cx="12051792" cy="2624328"/>
            <a:chOff x="68580" y="2514600"/>
            <a:chExt cx="12051792" cy="2624328"/>
          </a:xfrm>
        </p:grpSpPr>
        <p:cxnSp>
          <p:nvCxnSpPr>
            <p:cNvPr id="3" name="Connector 2"/>
            <p:cNvCxnSpPr/>
            <p:nvPr/>
          </p:nvCxnSpPr>
          <p:spPr>
            <a:xfrm>
              <a:off x="1120140" y="3086100"/>
              <a:ext cx="9948672" cy="0"/>
            </a:xfrm>
            <a:prstGeom prst="line">
              <a:avLst/>
            </a:prstGeom>
            <a:ln w="254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Oval 3"/>
            <p:cNvSpPr/>
            <p:nvPr/>
          </p:nvSpPr>
          <p:spPr>
            <a:xfrm>
              <a:off x="548640" y="2514600"/>
              <a:ext cx="1143000" cy="1143000"/>
            </a:xfrm>
            <a:prstGeom prst="ellipse">
              <a:avLst/>
            </a:prstGeom>
            <a:solidFill>
              <a:srgbClr val="16233B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8580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현황 분석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과업 현황과 요구사항을 진단한다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2538374" y="2514600"/>
              <a:ext cx="1143000" cy="1143000"/>
            </a:xfrm>
            <a:prstGeom prst="ellipse">
              <a:avLst/>
            </a:prstGeom>
            <a:solidFill>
              <a:srgbClr val="7B2D8E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058314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전략 수립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추진 방향과 핵심 과제를 정의한다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4528108" y="2514600"/>
              <a:ext cx="1143000" cy="1143000"/>
            </a:xfrm>
            <a:prstGeom prst="ellipse">
              <a:avLst/>
            </a:prstGeom>
            <a:solidFill>
              <a:srgbClr val="2A4A7F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048048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체계 설계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정보구조와 프로세스를 설계한다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6517843" y="2514600"/>
              <a:ext cx="1143000" cy="1143000"/>
            </a:xfrm>
            <a:prstGeom prst="ellipse">
              <a:avLst/>
            </a:prstGeom>
            <a:solidFill>
              <a:srgbClr val="2A4A7F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037783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구축·개발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 기준에 따라 시스템을 구현한다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8507577" y="2514600"/>
              <a:ext cx="1143000" cy="1143000"/>
            </a:xfrm>
            <a:prstGeom prst="ellipse">
              <a:avLst/>
            </a:prstGeom>
            <a:solidFill>
              <a:srgbClr val="2E75D6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027517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검증·안정화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품질을 점검하고 결함을 보정한다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10497312" y="2514600"/>
              <a:ext cx="1143000" cy="1143000"/>
            </a:xfrm>
            <a:prstGeom prst="ellipse">
              <a:avLst/>
            </a:prstGeom>
            <a:solidFill>
              <a:srgbClr val="29ABE2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0017252" y="3767328"/>
              <a:ext cx="2103120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운영·확산</a:t>
              </a:r>
            </a:p>
            <a:p>
              <a:pPr algn="ctr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성과를 활용하고 대외로 확산한다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