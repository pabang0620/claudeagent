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PRC-007</a:t>
            </a:r>
          </a:p>
        </p:txBody>
      </p:sp>
      <p:grpSp>
        <p:nvGrpSpPr>
          <p:cNvPr id="20" name="asset:PRC-007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7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박스 흐름 · 4단계 (제목+설명)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02920" y="2377440"/>
              <a:ext cx="2418588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623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02920" y="2377440"/>
              <a:ext cx="2418588" cy="6400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착수·분석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3154680"/>
              <a:ext cx="2144268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사업 착수 및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현황·요구사항 분석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948940" y="3264408"/>
              <a:ext cx="448056" cy="512064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24428" y="2377440"/>
              <a:ext cx="2418588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424428" y="2377440"/>
              <a:ext cx="2418588" cy="6400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체계수립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588" y="3154680"/>
              <a:ext cx="2144268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추진체계 설계 및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관리방안 수립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870448" y="3264408"/>
              <a:ext cx="448056" cy="512064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45936" y="2377440"/>
              <a:ext cx="2418588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345936" y="2377440"/>
              <a:ext cx="2418588" cy="6400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정보검증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83096" y="3154680"/>
              <a:ext cx="2144268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수집 정보의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정합성·신뢰성 검증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91956" y="3264408"/>
              <a:ext cx="448056" cy="512064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267444" y="2377440"/>
              <a:ext cx="2418588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67444" y="2377440"/>
              <a:ext cx="2418588" cy="6400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활용기획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04604" y="3154680"/>
              <a:ext cx="2144268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성과 활용 및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확산 방안 기획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PRC-008</a:t>
            </a:r>
          </a:p>
        </p:txBody>
      </p:sp>
      <p:grpSp>
        <p:nvGrpSpPr>
          <p:cNvPr id="16" name="asset:PRC-008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8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박스 흐름 · 3단계 (제목+설명)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02920" y="2377440"/>
              <a:ext cx="3392424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623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02920" y="2377440"/>
              <a:ext cx="3392424" cy="6400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체계수립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40080" y="3154680"/>
              <a:ext cx="3118104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정보 수집·관리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추진체계 구축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922776" y="3264408"/>
              <a:ext cx="448056" cy="512064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398264" y="2377440"/>
              <a:ext cx="3392424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98264" y="2377440"/>
              <a:ext cx="3392424" cy="6400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정보검증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35424" y="3154680"/>
              <a:ext cx="3118104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 정합성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교차 검증 수행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818120" y="3264408"/>
              <a:ext cx="448056" cy="512064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293608" y="2377440"/>
              <a:ext cx="3392424" cy="2286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293608" y="2377440"/>
              <a:ext cx="3392424" cy="6400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활용기획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430768" y="3154680"/>
              <a:ext cx="3118104" cy="13716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검증정보 기반</a:t>
              </a:r>
            </a:p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서비스 활용 기획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PRC-011</a:t>
            </a:r>
          </a:p>
        </p:txBody>
      </p:sp>
      <p:grpSp>
        <p:nvGrpSpPr>
          <p:cNvPr id="13" name="asset:PRC-011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11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컬러헤더 밴드 · 3단 (헤더+2줄 설명)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080" y="2194560"/>
              <a:ext cx="3270504" cy="86868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체계수립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40080" y="3063239"/>
              <a:ext cx="3270504" cy="23774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 수집·관리 체계 설계</a:t>
              </a:r>
            </a:p>
            <a:p>
              <a:pPr algn="ctr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프로세스 정립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3956303" y="3543300"/>
              <a:ext cx="457200" cy="54864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459224" y="2194560"/>
              <a:ext cx="3270504" cy="8686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정보검증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59224" y="3063239"/>
              <a:ext cx="3270504" cy="23774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수집 데이터 정합성 점검</a:t>
              </a:r>
            </a:p>
            <a:p>
              <a:pPr algn="ctr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교차·전문가 검증 수행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775448" y="3543300"/>
              <a:ext cx="457200" cy="548640"/>
            </a:xfrm>
            <a:prstGeom prst="right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278367" y="2194560"/>
              <a:ext cx="3270504" cy="8686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활용기획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278367" y="3063239"/>
              <a:ext cx="3270504" cy="23774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 정보의 서비스 연계</a:t>
              </a:r>
            </a:p>
            <a:p>
              <a:pPr algn="ctr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 활용·확산 기획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PRC-012</a:t>
            </a:r>
          </a:p>
        </p:txBody>
      </p:sp>
      <p:grpSp>
        <p:nvGrpSpPr>
          <p:cNvPr id="12" name="asset:PRC-012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12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좌우 대비 화살표 · 현재→미래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2960" y="2194560"/>
              <a:ext cx="4297680" cy="265176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822960" y="2194560"/>
              <a:ext cx="4297680" cy="6858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현재 (As-Is)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3017520"/>
              <a:ext cx="3931920" cy="16459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정보 분산·수기 관리</a:t>
              </a:r>
            </a:p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검증 절차 부재</a:t>
              </a:r>
            </a:p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활용도 저조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5257800" y="3063239"/>
              <a:ext cx="1676095" cy="914400"/>
            </a:xfrm>
            <a:prstGeom prst="righ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071055" y="2194560"/>
              <a:ext cx="4297680" cy="265176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071055" y="2194560"/>
              <a:ext cx="4297680" cy="6858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미래 (To-Be)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53935" y="3017520"/>
              <a:ext cx="3931920" cy="1645919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통합 관리체계 구축</a:t>
              </a:r>
            </a:p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검증 프로세스 정착</a:t>
              </a:r>
            </a:p>
            <a:p>
              <a:pPr algn="l"/>
              <a:r>
                <a:rPr sz="12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· 성과 활용 극대화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