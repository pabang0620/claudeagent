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90536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PRC-201</a:t>
            </a:r>
          </a:p>
        </p:txBody>
      </p:sp>
      <p:grpSp>
        <p:nvGrpSpPr>
          <p:cNvPr id="13" name="asset:PRC-201"/>
          <p:cNvGrpSpPr/>
          <p:nvPr/>
        </p:nvGrpSpPr>
        <p:grpSpPr>
          <a:xfrm>
            <a:off x="594359" y="3086100"/>
            <a:ext cx="9720072" cy="1645920"/>
            <a:chOff x="594359" y="3086100"/>
            <a:chExt cx="9720072" cy="1645920"/>
          </a:xfrm>
        </p:grpSpPr>
        <p:sp>
          <p:nvSpPr>
            <p:cNvPr id="3" name="Rounded Rectangle 2"/>
            <p:cNvSpPr/>
            <p:nvPr/>
          </p:nvSpPr>
          <p:spPr>
            <a:xfrm>
              <a:off x="594359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과제 발굴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395727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578607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현황 조사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379975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562855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계획 수립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6364223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547103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사업 추진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348471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531351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성과 관리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4359" y="4366260"/>
              <a:ext cx="972007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단계별 세부 추진계획은 하위 실행계획에 따라 조정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PRC-202</a:t>
            </a:r>
          </a:p>
        </p:txBody>
      </p:sp>
      <p:grpSp>
        <p:nvGrpSpPr>
          <p:cNvPr id="11" name="asset:PRC-202"/>
          <p:cNvGrpSpPr/>
          <p:nvPr/>
        </p:nvGrpSpPr>
        <p:grpSpPr>
          <a:xfrm>
            <a:off x="822960" y="1463040"/>
            <a:ext cx="9052560" cy="4480560"/>
            <a:chOff x="822960" y="1463040"/>
            <a:chExt cx="9052560" cy="4480560"/>
          </a:xfrm>
        </p:grpSpPr>
        <p:sp>
          <p:nvSpPr>
            <p:cNvPr id="3" name="Rectangle 2"/>
            <p:cNvSpPr/>
            <p:nvPr/>
          </p:nvSpPr>
          <p:spPr>
            <a:xfrm>
              <a:off x="822960" y="5074920"/>
              <a:ext cx="2331720" cy="86868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기반 조성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2971800" y="4023360"/>
              <a:ext cx="2331720" cy="868680"/>
            </a:xfrm>
            <a:prstGeom prst="rect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시범 운영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5120640" y="2971800"/>
              <a:ext cx="2331720" cy="86868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본격 확산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7269480" y="1920240"/>
              <a:ext cx="2331720" cy="868680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고도화·정착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3154679" y="4892040"/>
              <a:ext cx="166879" cy="617219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5303520" y="3840480"/>
              <a:ext cx="166878" cy="617220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7452360" y="2788920"/>
              <a:ext cx="166878" cy="617220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995160" y="1463040"/>
              <a:ext cx="2880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단계별 목표 달성 시 다음 단계 전환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PRC-203</a:t>
            </a:r>
          </a:p>
        </p:txBody>
      </p:sp>
      <p:grpSp>
        <p:nvGrpSpPr>
          <p:cNvPr id="9" name="asset:PRC-203"/>
          <p:cNvGrpSpPr/>
          <p:nvPr/>
        </p:nvGrpSpPr>
        <p:grpSpPr>
          <a:xfrm>
            <a:off x="1568195" y="3154679"/>
            <a:ext cx="7772400" cy="1691640"/>
            <a:chOff x="1568195" y="3154679"/>
            <a:chExt cx="7772400" cy="1691640"/>
          </a:xfrm>
        </p:grpSpPr>
        <p:sp>
          <p:nvSpPr>
            <p:cNvPr id="3" name="Chevron 2"/>
            <p:cNvSpPr/>
            <p:nvPr/>
          </p:nvSpPr>
          <p:spPr>
            <a:xfrm>
              <a:off x="1568195" y="3154679"/>
              <a:ext cx="1810512" cy="1097280"/>
            </a:xfrm>
            <a:prstGeom prst="chevron">
              <a:avLst/>
            </a:prstGeom>
            <a:solidFill>
              <a:srgbClr val="2E469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접수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3058668" y="3154679"/>
              <a:ext cx="1810512" cy="1097280"/>
            </a:xfrm>
            <a:prstGeom prst="chevron">
              <a:avLst/>
            </a:prstGeom>
            <a:solidFill>
              <a:srgbClr val="697591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검토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4549140" y="3154679"/>
              <a:ext cx="1810512" cy="1097280"/>
            </a:xfrm>
            <a:prstGeom prst="chevron">
              <a:avLst/>
            </a:prstGeom>
            <a:solidFill>
              <a:srgbClr val="7030A0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심사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6039612" y="3154679"/>
              <a:ext cx="1810512" cy="1097280"/>
            </a:xfrm>
            <a:prstGeom prst="chevron">
              <a:avLst/>
            </a:prstGeom>
            <a:solidFill>
              <a:srgbClr val="D05548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승인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7530083" y="3154679"/>
              <a:ext cx="1810512" cy="1097280"/>
            </a:xfrm>
            <a:prstGeom prst="chevron">
              <a:avLst/>
            </a:prstGeom>
            <a:solidFill>
              <a:srgbClr val="2E469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집행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68195" y="4480559"/>
              <a:ext cx="7772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민원 처리 5단계 표준 절차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PRC-204</a:t>
            </a:r>
          </a:p>
        </p:txBody>
      </p:sp>
      <p:grpSp>
        <p:nvGrpSpPr>
          <p:cNvPr id="12" name="asset:PRC-204"/>
          <p:cNvGrpSpPr/>
          <p:nvPr/>
        </p:nvGrpSpPr>
        <p:grpSpPr>
          <a:xfrm>
            <a:off x="2528315" y="1051559"/>
            <a:ext cx="5852161" cy="5852161"/>
            <a:chOff x="2528315" y="1051559"/>
            <a:chExt cx="5852161" cy="5852161"/>
          </a:xfrm>
        </p:grpSpPr>
        <p:sp>
          <p:nvSpPr>
            <p:cNvPr id="3" name="Oval 2"/>
            <p:cNvSpPr/>
            <p:nvPr/>
          </p:nvSpPr>
          <p:spPr>
            <a:xfrm>
              <a:off x="4494276" y="3291839"/>
              <a:ext cx="1920240" cy="1371600"/>
            </a:xfrm>
            <a:prstGeom prst="ellipse">
              <a:avLst/>
            </a:prstGeom>
            <a:solidFill>
              <a:srgbClr val="E9EAF1"/>
            </a:solidFill>
            <a:ln w="9525">
              <a:solidFill>
                <a:srgbClr val="6975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000000"/>
                  </a:solidFill>
                  <a:latin typeface="Pretendard GOV ExtraBold"/>
                  <a:ea typeface="Pretendard GOV ExtraBold"/>
                  <a:cs typeface="Pretendard GOV ExtraBol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000000"/>
                  </a:solidFill>
                  <a:latin typeface="Pretendard GOV ExtraBold"/>
                  <a:ea typeface="Pretendard GOV ExtraBold"/>
                  <a:cs typeface="Pretendard GOV ExtraBold"/>
                </a:rPr>
                <a:t>순환관리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042782" y="241718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6042782" y="456602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 flipV="1">
              <a:off x="3893942" y="456602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3893942" y="241718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4677156" y="1051559"/>
              <a:ext cx="1554480" cy="1554480"/>
            </a:xfrm>
            <a:prstGeom prst="ellipse">
              <a:avLst/>
            </a:prstGeom>
            <a:solidFill>
              <a:srgbClr val="2E469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계획(Plan)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825996" y="3200399"/>
              <a:ext cx="1554480" cy="1554480"/>
            </a:xfrm>
            <a:prstGeom prst="ellipse">
              <a:avLst/>
            </a:prstGeom>
            <a:solidFill>
              <a:srgbClr val="697591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실행(Do)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677156" y="5349240"/>
              <a:ext cx="1554480" cy="1554480"/>
            </a:xfrm>
            <a:prstGeom prst="ellipse">
              <a:avLst/>
            </a:prstGeom>
            <a:solidFill>
              <a:srgbClr val="7030A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점검(Check)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2528315" y="3200399"/>
              <a:ext cx="1554480" cy="1554480"/>
            </a:xfrm>
            <a:prstGeom prst="ellipse">
              <a:avLst/>
            </a:prstGeom>
            <a:solidFill>
              <a:srgbClr val="D0554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개선(Act)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PRC-205</a:t>
            </a:r>
          </a:p>
        </p:txBody>
      </p:sp>
      <p:grpSp>
        <p:nvGrpSpPr>
          <p:cNvPr id="14" name="asset:PRC-205"/>
          <p:cNvGrpSpPr/>
          <p:nvPr/>
        </p:nvGrpSpPr>
        <p:grpSpPr>
          <a:xfrm>
            <a:off x="2550998" y="960119"/>
            <a:ext cx="5806795" cy="5589722"/>
            <a:chOff x="2550998" y="960119"/>
            <a:chExt cx="5806795" cy="5589722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5454396" y="1645919"/>
              <a:ext cx="0" cy="2331720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 flipV="1">
              <a:off x="5454396" y="3257098"/>
              <a:ext cx="2217597" cy="720541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5454396" y="3977639"/>
              <a:ext cx="1370550" cy="1886402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4083845" y="3977639"/>
              <a:ext cx="1370551" cy="1886402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3236798" y="3257098"/>
              <a:ext cx="2217598" cy="720541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4539996" y="3063239"/>
              <a:ext cx="1828800" cy="1828800"/>
            </a:xfrm>
            <a:prstGeom prst="ellipse">
              <a:avLst/>
            </a:prstGeom>
            <a:solidFill>
              <a:srgbClr val="2E469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통합 추진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체계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768596" y="960119"/>
              <a:ext cx="1371600" cy="1371600"/>
            </a:xfrm>
            <a:prstGeom prst="ellipse">
              <a:avLst/>
            </a:prstGeom>
            <a:solidFill>
              <a:srgbClr val="697591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정책 기획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986193" y="2571298"/>
              <a:ext cx="1371600" cy="1371600"/>
            </a:xfrm>
            <a:prstGeom prst="ellipse">
              <a:avLst/>
            </a:prstGeom>
            <a:solidFill>
              <a:srgbClr val="7030A0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예산 편성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139146" y="5178241"/>
              <a:ext cx="1371600" cy="1371600"/>
            </a:xfrm>
            <a:prstGeom prst="ellipse">
              <a:avLst/>
            </a:prstGeom>
            <a:solidFill>
              <a:srgbClr val="D05548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사업 집행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398045" y="5178241"/>
              <a:ext cx="1371600" cy="1371600"/>
            </a:xfrm>
            <a:prstGeom prst="ellipse">
              <a:avLst/>
            </a:prstGeom>
            <a:solidFill>
              <a:srgbClr val="697591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성과 평가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550998" y="2571298"/>
              <a:ext cx="1371600" cy="1371600"/>
            </a:xfrm>
            <a:prstGeom prst="ellipse">
              <a:avLst/>
            </a:prstGeom>
            <a:solidFill>
              <a:srgbClr val="7030A0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환류·개선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329184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PRC-206</a:t>
            </a:r>
          </a:p>
        </p:txBody>
      </p:sp>
      <p:grpSp>
        <p:nvGrpSpPr>
          <p:cNvPr id="14" name="asset:PRC-206"/>
          <p:cNvGrpSpPr/>
          <p:nvPr/>
        </p:nvGrpSpPr>
        <p:grpSpPr>
          <a:xfrm>
            <a:off x="777240" y="3040379"/>
            <a:ext cx="9683496" cy="2606040"/>
            <a:chOff x="777240" y="3040379"/>
            <a:chExt cx="9683496" cy="2606040"/>
          </a:xfrm>
        </p:grpSpPr>
        <p:sp>
          <p:nvSpPr>
            <p:cNvPr id="3" name="Rounded Rectangle 2"/>
            <p:cNvSpPr/>
            <p:nvPr/>
          </p:nvSpPr>
          <p:spPr>
            <a:xfrm>
              <a:off x="777240" y="3246120"/>
              <a:ext cx="1600200" cy="91440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신청 접수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404872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2935224" y="3040379"/>
              <a:ext cx="1325880" cy="1325880"/>
            </a:xfrm>
            <a:prstGeom prst="diamond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요건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검토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288536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818888" y="3246120"/>
              <a:ext cx="1600200" cy="914400"/>
            </a:xfrm>
            <a:prstGeom prst="roundRect">
              <a:avLst>
                <a:gd name="adj" fmla="val 6000"/>
              </a:avLst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사업 수행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6446520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6976872" y="3040379"/>
              <a:ext cx="1325880" cy="1325880"/>
            </a:xfrm>
            <a:prstGeom prst="diamond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실적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검증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330183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860536" y="3246120"/>
              <a:ext cx="1600200" cy="91440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정산·종료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7456932" y="4411979"/>
              <a:ext cx="365760" cy="45720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839712" y="4914899"/>
              <a:ext cx="1600200" cy="731520"/>
            </a:xfrm>
            <a:prstGeom prst="roundRect">
              <a:avLst>
                <a:gd name="adj" fmla="val 6000"/>
              </a:avLst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보완 요청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