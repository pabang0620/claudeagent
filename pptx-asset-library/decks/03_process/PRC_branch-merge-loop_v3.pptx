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PRC-207</a:t>
            </a:r>
          </a:p>
        </p:txBody>
      </p:sp>
      <p:grpSp>
        <p:nvGrpSpPr>
          <p:cNvPr id="34" name="asset:PRC-207"/>
          <p:cNvGrpSpPr/>
          <p:nvPr/>
        </p:nvGrpSpPr>
        <p:grpSpPr>
          <a:xfrm>
            <a:off x="3215944" y="640080"/>
            <a:ext cx="6400800" cy="5998463"/>
            <a:chOff x="3215944" y="640080"/>
            <a:chExt cx="6400800" cy="5998463"/>
          </a:xfrm>
        </p:grpSpPr>
        <p:sp>
          <p:nvSpPr>
            <p:cNvPr id="3" name="Rounded Rectangle 2"/>
            <p:cNvSpPr/>
            <p:nvPr/>
          </p:nvSpPr>
          <p:spPr>
            <a:xfrm>
              <a:off x="5273344" y="640080"/>
              <a:ext cx="1645920" cy="384048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로그인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4907584" y="1133855"/>
              <a:ext cx="2377440" cy="438912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회원 구분 인지</a:t>
              </a:r>
            </a:p>
            <a:p>
              <a:pPr algn="ctr"/>
              <a:r>
                <a:rPr sz="80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(기업회원 · 개인회원 자동 인식)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724704" y="1682495"/>
              <a:ext cx="2743200" cy="256032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필수 정보 입력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4724704" y="1938528"/>
              <a:ext cx="2743200" cy="475488"/>
            </a:xfrm>
            <a:prstGeom prst="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76200" tIns="25400"/>
            <a:lstStyle/>
            <a:p>
              <a:pPr algn="l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· 관심 콘텐츠 및 국가(각 3개)</a:t>
              </a:r>
            </a:p>
            <a:p>
              <a:pPr algn="l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· 최근 3년간 수출액</a:t>
              </a:r>
            </a:p>
            <a:p>
              <a:pPr algn="l"/>
              <a:r>
                <a:rPr sz="8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· 주요 수출국 Top3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3215944" y="1865375"/>
              <a:ext cx="1371600" cy="365760"/>
            </a:xfrm>
            <a:prstGeom prst="round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사업자등록번호와 연동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605064" y="1865375"/>
              <a:ext cx="1371600" cy="365760"/>
            </a:xfrm>
            <a:prstGeom prst="roundRect">
              <a:avLst/>
            </a:prstGeom>
            <a:solidFill>
              <a:srgbClr val="F7F9FC"/>
            </a:solidFill>
            <a:ln w="9525">
              <a:solidFill>
                <a:srgbClr val="D9D9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85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국가 및 콘텐츠 보고서 압축 다운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 flipH="1">
              <a:off x="4587544" y="2048255"/>
              <a:ext cx="137160" cy="0"/>
            </a:xfrm>
            <a:prstGeom prst="line">
              <a:avLst/>
            </a:prstGeom>
            <a:ln w="1270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9"/>
            <p:cNvCxnSpPr/>
            <p:nvPr/>
          </p:nvCxnSpPr>
          <p:spPr>
            <a:xfrm>
              <a:off x="7467904" y="2048255"/>
              <a:ext cx="137160" cy="0"/>
            </a:xfrm>
            <a:prstGeom prst="line">
              <a:avLst/>
            </a:prstGeom>
            <a:ln w="12700">
              <a:solidFill>
                <a:srgbClr val="D9D9D9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4999024" y="2523744"/>
              <a:ext cx="2194560" cy="36576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역량 진단</a:t>
              </a:r>
            </a:p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(자가진단 설문)</a:t>
              </a:r>
            </a:p>
          </p:txBody>
        </p:sp>
        <p:sp>
          <p:nvSpPr>
            <p:cNvPr id="12" name="Diamond 11"/>
            <p:cNvSpPr/>
            <p:nvPr/>
          </p:nvSpPr>
          <p:spPr>
            <a:xfrm>
              <a:off x="5227624" y="3017520"/>
              <a:ext cx="1737360" cy="50292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산출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284524" y="3648456"/>
              <a:ext cx="1783080" cy="347472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나이스(NICE·DNB) 연계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284524" y="4087368"/>
              <a:ext cx="1783080" cy="34747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기업 신용등급 조회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284524" y="4526279"/>
              <a:ext cx="1783080" cy="347472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자가진단 점수 결합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84524" y="4983479"/>
              <a:ext cx="1783080" cy="43891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기업 회원 결과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125004" y="4983479"/>
              <a:ext cx="1783080" cy="438912"/>
            </a:xfrm>
            <a:prstGeom prst="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5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개인 회원 결과</a:t>
              </a:r>
            </a:p>
          </p:txBody>
        </p:sp>
        <p:sp>
          <p:nvSpPr>
            <p:cNvPr id="18" name="Diamond 17"/>
            <p:cNvSpPr/>
            <p:nvPr/>
          </p:nvSpPr>
          <p:spPr>
            <a:xfrm>
              <a:off x="5319064" y="5550407"/>
              <a:ext cx="1554480" cy="457200"/>
            </a:xfrm>
            <a:prstGeom prst="diamond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결과 통합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907584" y="6135623"/>
              <a:ext cx="2377440" cy="50292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완료</a:t>
              </a:r>
            </a:p>
            <a:p>
              <a:pPr algn="ctr"/>
              <a:r>
                <a:rPr sz="850" b="0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(지원 사업 추천 등 결과 제공)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6096304" y="1024127"/>
              <a:ext cx="0" cy="109728"/>
            </a:xfrm>
            <a:prstGeom prst="line">
              <a:avLst/>
            </a:prstGeom>
            <a:ln w="2032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 20"/>
            <p:cNvCxnSpPr/>
            <p:nvPr/>
          </p:nvCxnSpPr>
          <p:spPr>
            <a:xfrm>
              <a:off x="6096304" y="1572767"/>
              <a:ext cx="0" cy="109728"/>
            </a:xfrm>
            <a:prstGeom prst="line">
              <a:avLst/>
            </a:prstGeom>
            <a:ln w="2032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or 21"/>
            <p:cNvCxnSpPr/>
            <p:nvPr/>
          </p:nvCxnSpPr>
          <p:spPr>
            <a:xfrm>
              <a:off x="6096304" y="2414015"/>
              <a:ext cx="0" cy="109729"/>
            </a:xfrm>
            <a:prstGeom prst="line">
              <a:avLst/>
            </a:prstGeom>
            <a:ln w="2032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22"/>
            <p:cNvCxnSpPr/>
            <p:nvPr/>
          </p:nvCxnSpPr>
          <p:spPr>
            <a:xfrm>
              <a:off x="6096304" y="2889503"/>
              <a:ext cx="0" cy="128017"/>
            </a:xfrm>
            <a:prstGeom prst="line">
              <a:avLst/>
            </a:prstGeom>
            <a:ln w="2032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 flipH="1">
              <a:off x="4176064" y="3268979"/>
              <a:ext cx="1051560" cy="379477"/>
            </a:xfrm>
            <a:prstGeom prst="line">
              <a:avLst/>
            </a:prstGeom>
            <a:ln w="2032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6964984" y="3268979"/>
              <a:ext cx="1051560" cy="1714500"/>
            </a:xfrm>
            <a:prstGeom prst="line">
              <a:avLst/>
            </a:prstGeom>
            <a:ln w="2032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3215944" y="3330701"/>
              <a:ext cx="914400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API 연계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062264" y="3998213"/>
              <a:ext cx="1554480" cy="256032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8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자가진단 점수만</a:t>
              </a:r>
            </a:p>
          </p:txBody>
        </p:sp>
        <p:cxnSp>
          <p:nvCxnSpPr>
            <p:cNvPr id="28" name="Connector 27"/>
            <p:cNvCxnSpPr/>
            <p:nvPr/>
          </p:nvCxnSpPr>
          <p:spPr>
            <a:xfrm>
              <a:off x="4176064" y="3995928"/>
              <a:ext cx="0" cy="91440"/>
            </a:xfrm>
            <a:prstGeom prst="line">
              <a:avLst/>
            </a:prstGeom>
            <a:ln w="1778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 28"/>
            <p:cNvCxnSpPr/>
            <p:nvPr/>
          </p:nvCxnSpPr>
          <p:spPr>
            <a:xfrm>
              <a:off x="4176064" y="4434840"/>
              <a:ext cx="0" cy="91439"/>
            </a:xfrm>
            <a:prstGeom prst="line">
              <a:avLst/>
            </a:prstGeom>
            <a:ln w="1778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4176064" y="4873751"/>
              <a:ext cx="0" cy="109728"/>
            </a:xfrm>
            <a:prstGeom prst="line">
              <a:avLst/>
            </a:prstGeom>
            <a:ln w="1778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>
              <a:off x="4176064" y="5422392"/>
              <a:ext cx="1143000" cy="356615"/>
            </a:xfrm>
            <a:prstGeom prst="line">
              <a:avLst/>
            </a:prstGeom>
            <a:ln w="2032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 flipH="1">
              <a:off x="6873544" y="5422392"/>
              <a:ext cx="1143000" cy="356615"/>
            </a:xfrm>
            <a:prstGeom prst="line">
              <a:avLst/>
            </a:prstGeom>
            <a:ln w="20320">
              <a:solidFill>
                <a:srgbClr val="1F9E8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6096304" y="6007607"/>
              <a:ext cx="0" cy="128016"/>
            </a:xfrm>
            <a:prstGeom prst="line">
              <a:avLst/>
            </a:prstGeom>
            <a:ln w="20320">
              <a:solidFill>
                <a:srgbClr val="2E75D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