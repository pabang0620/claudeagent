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이용자수 구성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이용자수(만명)</c:v>
                </c:pt>
              </c:strCache>
            </c:strRef>
          </c:tx>
          <c:dPt>
            <c:idx val="0"/>
            <c:spPr>
              <a:solidFill>
                <a:srgbClr val="808080"/>
              </a:solidFill>
            </c:spPr>
          </c:dPt>
          <c:dPt>
            <c:idx val="1"/>
            <c:spPr>
              <a:solidFill>
                <a:srgbClr val="1F3864"/>
              </a:solidFill>
            </c:spPr>
          </c:dPt>
          <c:dPt>
            <c:idx val="2"/>
            <c:spPr>
              <a:solidFill>
                <a:srgbClr val="2E75D6"/>
              </a:solidFill>
            </c:spPr>
          </c:dPt>
          <c:cat>
            <c:strRef>
              <c:f>Sheet1!$A$2:$A$4</c:f>
              <c:strCache>
                <c:ptCount val="3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1054</c:v>
                </c:pt>
                <c:pt idx="1">
                  <c:v>1012</c:v>
                </c:pt>
                <c:pt idx="2">
                  <c:v>1326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수출액 현황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75D6"/>
              </a:solidFill>
            </c:spPr>
          </c:dPt>
          <c:dPt>
            <c:idx val="2"/>
            <c:spPr>
              <a:solidFill>
                <a:srgbClr val="1F9E8F"/>
              </a:solidFill>
            </c:spPr>
          </c:dPt>
          <c:dPt>
            <c:idx val="3"/>
            <c:spPr>
              <a:solidFill>
                <a:srgbClr val="29ABE2"/>
              </a:solidFill>
            </c:spPr>
          </c:dPt>
          <c:cat>
            <c:strRef>
              <c:f>Sheet1!$A$2:$A$5</c:f>
              <c:strCache>
                <c:ptCount val="4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1339</c:v>
                </c:pt>
                <c:pt idx="1">
                  <c:v>1447</c:v>
                </c:pt>
                <c:pt idx="2">
                  <c:v>1453</c:v>
                </c:pt>
                <c:pt idx="3">
                  <c:v>1746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매출 추이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dPt>
            <c:idx val="0"/>
            <c:spPr>
              <a:solidFill>
                <a:srgbClr val="2E75D6"/>
              </a:solidFill>
            </c:spPr>
          </c:dPt>
          <c:dPt>
            <c:idx val="1"/>
            <c:spPr>
              <a:solidFill>
                <a:srgbClr val="1F9E8F"/>
              </a:solidFill>
            </c:spPr>
          </c:dPt>
          <c:dPt>
            <c:idx val="2"/>
            <c:spPr>
              <a:solidFill>
                <a:srgbClr val="29ABE2"/>
              </a:solidFill>
            </c:spPr>
          </c:dPt>
          <c:dPt>
            <c:idx val="3"/>
            <c:spPr>
              <a:solidFill>
                <a:srgbClr val="7B2D8E"/>
              </a:solidFill>
            </c:spPr>
          </c:dPt>
          <c:dPt>
            <c:idx val="4"/>
            <c:spPr>
              <a:solidFill>
                <a:srgbClr val="808080"/>
              </a:solidFill>
            </c:spPr>
          </c:dPt>
          <c:cat>
            <c:strRef>
              <c:f>Sheet1!$A$2:$A$6</c:f>
              <c:strCache>
                <c:ptCount val="5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1642</c:v>
                </c:pt>
                <c:pt idx="1">
                  <c:v>1550</c:v>
                </c:pt>
                <c:pt idx="2">
                  <c:v>1664</c:v>
                </c:pt>
                <c:pt idx="3">
                  <c:v>1696</c:v>
                </c:pt>
                <c:pt idx="4">
                  <c:v>1890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점유율 비교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dPt>
            <c:idx val="0"/>
            <c:spPr>
              <a:solidFill>
                <a:srgbClr val="1F9E8F"/>
              </a:solidFill>
            </c:spPr>
          </c:dPt>
          <c:dPt>
            <c:idx val="1"/>
            <c:spPr>
              <a:solidFill>
                <a:srgbClr val="29ABE2"/>
              </a:solidFill>
            </c:spPr>
          </c:dPt>
          <c:dPt>
            <c:idx val="2"/>
            <c:spPr>
              <a:solidFill>
                <a:srgbClr val="7B2D8E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dPt>
            <c:idx val="4"/>
            <c:spPr>
              <a:solidFill>
                <a:srgbClr val="1F3864"/>
              </a:solidFill>
            </c:spPr>
          </c:dPt>
          <c:dPt>
            <c:idx val="5"/>
            <c:spPr>
              <a:solidFill>
                <a:srgbClr val="2E75D6"/>
              </a:solidFill>
            </c:spPr>
          </c:dPt>
          <c:cat>
            <c:strRef>
              <c:f>Sheet1!$A$2:$A$7</c:f>
              <c:strCache>
                <c:ptCount val="6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  <c:pt idx="3">
                  <c:v>콘솔</c:v>
                </c:pt>
                <c:pt idx="4">
                  <c:v>플랫폼</c:v>
                </c:pt>
                <c:pt idx="5">
                  <c:v>오픈마켓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1665</c:v>
                </c:pt>
                <c:pt idx="1">
                  <c:v>1724</c:v>
                </c:pt>
                <c:pt idx="2">
                  <c:v>1861</c:v>
                </c:pt>
                <c:pt idx="3">
                  <c:v>2408</c:v>
                </c:pt>
                <c:pt idx="4">
                  <c:v>2497</c:v>
                </c:pt>
                <c:pt idx="5">
                  <c:v>2813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성과지표 분석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성과지표(점)</c:v>
                </c:pt>
              </c:strCache>
            </c:strRef>
          </c:tx>
          <c:dPt>
            <c:idx val="0"/>
            <c:spPr>
              <a:solidFill>
                <a:srgbClr val="29ABE2"/>
              </a:solidFill>
            </c:spPr>
          </c:dPt>
          <c:dPt>
            <c:idx val="1"/>
            <c:spPr>
              <a:solidFill>
                <a:srgbClr val="7B2D8E"/>
              </a:solidFill>
            </c:spPr>
          </c:dPt>
          <c:dPt>
            <c:idx val="2"/>
            <c:spPr>
              <a:solidFill>
                <a:srgbClr val="808080"/>
              </a:solidFill>
            </c:spPr>
          </c:dPt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2143</c:v>
                </c:pt>
                <c:pt idx="1">
                  <c:v>2094</c:v>
                </c:pt>
                <c:pt idx="2">
                  <c:v>2559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투자액 전망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투자액(억원)</c:v>
                </c:pt>
              </c:strCache>
            </c:strRef>
          </c:tx>
          <c:dPt>
            <c:idx val="0"/>
            <c:spPr>
              <a:solidFill>
                <a:srgbClr val="7B2D8E"/>
              </a:solidFill>
            </c:spPr>
          </c:dPt>
          <c:dPt>
            <c:idx val="1"/>
            <c:spPr>
              <a:solidFill>
                <a:srgbClr val="808080"/>
              </a:solidFill>
            </c:spPr>
          </c:dPt>
          <c:dPt>
            <c:idx val="2"/>
            <c:spPr>
              <a:solidFill>
                <a:srgbClr val="1F3864"/>
              </a:solidFill>
            </c:spPr>
          </c:dPt>
          <c:dPt>
            <c:idx val="3"/>
            <c:spPr>
              <a:solidFill>
                <a:srgbClr val="2E75D6"/>
              </a:solidFill>
            </c:spPr>
          </c:dPt>
          <c:cat>
            <c:strRef>
              <c:f>Sheet1!$A$2:$A$5</c:f>
              <c:strCache>
                <c:ptCount val="4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665</c:v>
                </c:pt>
                <c:pt idx="1">
                  <c:v>1236</c:v>
                </c:pt>
                <c:pt idx="2">
                  <c:v>1251</c:v>
                </c:pt>
                <c:pt idx="3">
                  <c:v>1489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단계별 이용자수 구성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이용자수(만명)</c:v>
                </c:pt>
              </c:strCache>
            </c:strRef>
          </c:tx>
          <c:dPt>
            <c:idx val="0"/>
            <c:spPr>
              <a:solidFill>
                <a:srgbClr val="808080"/>
              </a:solidFill>
            </c:spPr>
          </c:dPt>
          <c:dPt>
            <c:idx val="1"/>
            <c:spPr>
              <a:solidFill>
                <a:srgbClr val="1F3864"/>
              </a:solidFill>
            </c:spPr>
          </c:dPt>
          <c:dPt>
            <c:idx val="2"/>
            <c:spPr>
              <a:solidFill>
                <a:srgbClr val="2E75D6"/>
              </a:solidFill>
            </c:spPr>
          </c:dPt>
          <c:dPt>
            <c:idx val="3"/>
            <c:spPr>
              <a:solidFill>
                <a:srgbClr val="1F9E8F"/>
              </a:solidFill>
            </c:spPr>
          </c:dPt>
          <c:dPt>
            <c:idx val="4"/>
            <c:spPr>
              <a:solidFill>
                <a:srgbClr val="29ABE2"/>
              </a:solidFill>
            </c:spPr>
          </c:dPt>
          <c:cat>
            <c:strRef>
              <c:f>Sheet1!$A$2:$A$6</c:f>
              <c:strCache>
                <c:ptCount val="5"/>
                <c:pt idx="0">
                  <c:v>도입</c:v>
                </c:pt>
                <c:pt idx="1">
                  <c:v>성장</c:v>
                </c:pt>
                <c:pt idx="2">
                  <c:v>성숙</c:v>
                </c:pt>
                <c:pt idx="3">
                  <c:v>확산</c:v>
                </c:pt>
                <c:pt idx="4">
                  <c:v>고도화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1049</c:v>
                </c:pt>
                <c:pt idx="1">
                  <c:v>1192</c:v>
                </c:pt>
                <c:pt idx="2">
                  <c:v>1435</c:v>
                </c:pt>
                <c:pt idx="3">
                  <c:v>1871</c:v>
                </c:pt>
                <c:pt idx="4">
                  <c:v>1595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수출액 현황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2E75D6"/>
              </a:solidFill>
            </c:spPr>
          </c:dPt>
          <c:dPt>
            <c:idx val="2"/>
            <c:spPr>
              <a:solidFill>
                <a:srgbClr val="1F9E8F"/>
              </a:solidFill>
            </c:spPr>
          </c:dPt>
          <c:dPt>
            <c:idx val="3"/>
            <c:spPr>
              <a:solidFill>
                <a:srgbClr val="29ABE2"/>
              </a:solidFill>
            </c:spPr>
          </c:dPt>
          <c:dPt>
            <c:idx val="4"/>
            <c:spPr>
              <a:solidFill>
                <a:srgbClr val="7B2D8E"/>
              </a:solidFill>
            </c:spPr>
          </c:dPt>
          <c:dPt>
            <c:idx val="5"/>
            <c:spPr>
              <a:solidFill>
                <a:srgbClr val="808080"/>
              </a:solidFill>
            </c:spPr>
          </c:dPt>
          <c:cat>
            <c:strRef>
              <c:f>Sheet1!$A$2:$A$7</c:f>
              <c:strCache>
                <c:ptCount val="6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  <c:pt idx="5">
                  <c:v>투자유치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1194</c:v>
                </c:pt>
                <c:pt idx="1">
                  <c:v>1529</c:v>
                </c:pt>
                <c:pt idx="2">
                  <c:v>2012</c:v>
                </c:pt>
                <c:pt idx="3">
                  <c:v>1887</c:v>
                </c:pt>
                <c:pt idx="4">
                  <c:v>2282</c:v>
                </c:pt>
                <c:pt idx="5">
                  <c:v>2551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매출 추이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매출(억원)</c:v>
                </c:pt>
              </c:strCache>
            </c:strRef>
          </c:tx>
          <c:dPt>
            <c:idx val="0"/>
            <c:spPr>
              <a:solidFill>
                <a:srgbClr val="2E75D6"/>
              </a:solidFill>
            </c:spPr>
          </c:dPt>
          <c:dPt>
            <c:idx val="1"/>
            <c:spPr>
              <a:solidFill>
                <a:srgbClr val="1F9E8F"/>
              </a:solidFill>
            </c:spPr>
          </c:dPt>
          <c:dPt>
            <c:idx val="2"/>
            <c:spPr>
              <a:solidFill>
                <a:srgbClr val="29ABE2"/>
              </a:solidFill>
            </c:spPr>
          </c:dPt>
          <c:cat>
            <c:strRef>
              <c:f>Sheet1!$A$2:$A$4</c:f>
              <c:strCache>
                <c:ptCount val="3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1908</c:v>
                </c:pt>
                <c:pt idx="1">
                  <c:v>1797</c:v>
                </c:pt>
                <c:pt idx="2">
                  <c:v>2304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점유율 비교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점유율(%)</c:v>
                </c:pt>
              </c:strCache>
            </c:strRef>
          </c:tx>
          <c:dPt>
            <c:idx val="0"/>
            <c:spPr>
              <a:solidFill>
                <a:srgbClr val="1F9E8F"/>
              </a:solidFill>
            </c:spPr>
          </c:dPt>
          <c:dPt>
            <c:idx val="1"/>
            <c:spPr>
              <a:solidFill>
                <a:srgbClr val="29ABE2"/>
              </a:solidFill>
            </c:spPr>
          </c:dPt>
          <c:dPt>
            <c:idx val="2"/>
            <c:spPr>
              <a:solidFill>
                <a:srgbClr val="7B2D8E"/>
              </a:solidFill>
            </c:spPr>
          </c:dPt>
          <c:dPt>
            <c:idx val="3"/>
            <c:spPr>
              <a:solidFill>
                <a:srgbClr val="808080"/>
              </a:solidFill>
            </c:spPr>
          </c:dPt>
          <c:cat>
            <c:strRef>
              <c:f>Sheet1!$A$2:$A$5</c:f>
              <c:strCache>
                <c:ptCount val="4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1837</c:v>
                </c:pt>
                <c:pt idx="1">
                  <c:v>2228</c:v>
                </c:pt>
                <c:pt idx="2">
                  <c:v>2361</c:v>
                </c:pt>
                <c:pt idx="3">
                  <c:v>2754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CHT-166</a:t>
            </a:r>
          </a:p>
        </p:txBody>
      </p:sp>
      <p:graphicFrame>
        <p:nvGraphicFramePr>
          <p:cNvPr id="3" name="asset:CHT-16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CHT-167</a:t>
            </a:r>
          </a:p>
        </p:txBody>
      </p:sp>
      <p:graphicFrame>
        <p:nvGraphicFramePr>
          <p:cNvPr id="3" name="asset:CHT-16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CHT-168</a:t>
            </a:r>
          </a:p>
        </p:txBody>
      </p:sp>
      <p:graphicFrame>
        <p:nvGraphicFramePr>
          <p:cNvPr id="3" name="asset:CHT-16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CHT-169</a:t>
            </a:r>
          </a:p>
        </p:txBody>
      </p:sp>
      <p:graphicFrame>
        <p:nvGraphicFramePr>
          <p:cNvPr id="3" name="asset:CHT-16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CHT-170</a:t>
            </a:r>
          </a:p>
        </p:txBody>
      </p:sp>
      <p:graphicFrame>
        <p:nvGraphicFramePr>
          <p:cNvPr id="3" name="asset:CHT-17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CHT-171</a:t>
            </a:r>
          </a:p>
        </p:txBody>
      </p:sp>
      <p:graphicFrame>
        <p:nvGraphicFramePr>
          <p:cNvPr id="3" name="asset:CHT-17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CHT-172</a:t>
            </a:r>
          </a:p>
        </p:txBody>
      </p:sp>
      <p:graphicFrame>
        <p:nvGraphicFramePr>
          <p:cNvPr id="3" name="asset:CHT-17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CHT-173</a:t>
            </a:r>
          </a:p>
        </p:txBody>
      </p:sp>
      <p:graphicFrame>
        <p:nvGraphicFramePr>
          <p:cNvPr id="3" name="asset:CHT-17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CHT-174</a:t>
            </a:r>
          </a:p>
        </p:txBody>
      </p:sp>
      <p:graphicFrame>
        <p:nvGraphicFramePr>
          <p:cNvPr id="3" name="asset:CHT-17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CHT-175</a:t>
            </a:r>
          </a:p>
        </p:txBody>
      </p:sp>
      <p:graphicFrame>
        <p:nvGraphicFramePr>
          <p:cNvPr id="3" name="asset:CHT-17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