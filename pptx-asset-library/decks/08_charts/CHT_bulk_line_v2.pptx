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투자액 전망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투자액(억원)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689</c:v>
                </c:pt>
                <c:pt idx="1">
                  <c:v>1190</c:v>
                </c:pt>
                <c:pt idx="2">
                  <c:v>1365</c:v>
                </c:pt>
                <c:pt idx="3">
                  <c:v>1258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이용자수 구성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339</c:v>
                </c:pt>
                <c:pt idx="1">
                  <c:v>770</c:v>
                </c:pt>
                <c:pt idx="2">
                  <c:v>913</c:v>
                </c:pt>
                <c:pt idx="3">
                  <c:v>891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653</c:v>
                </c:pt>
                <c:pt idx="1">
                  <c:v>1099</c:v>
                </c:pt>
                <c:pt idx="2">
                  <c:v>1180</c:v>
                </c:pt>
                <c:pt idx="3">
                  <c:v>1158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수출액 현황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509</c:v>
                </c:pt>
                <c:pt idx="1">
                  <c:v>615</c:v>
                </c:pt>
                <c:pt idx="2">
                  <c:v>874</c:v>
                </c:pt>
                <c:pt idx="3">
                  <c:v>902</c:v>
                </c:pt>
                <c:pt idx="4">
                  <c:v>1125</c:v>
                </c:pt>
                <c:pt idx="5">
                  <c:v>1315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972</c:v>
                </c:pt>
                <c:pt idx="1">
                  <c:v>878</c:v>
                </c:pt>
                <c:pt idx="2">
                  <c:v>1046</c:v>
                </c:pt>
                <c:pt idx="3">
                  <c:v>1220</c:v>
                </c:pt>
                <c:pt idx="4">
                  <c:v>1276</c:v>
                </c:pt>
                <c:pt idx="5">
                  <c:v>1387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매출 추이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648</c:v>
                </c:pt>
                <c:pt idx="1">
                  <c:v>1073</c:v>
                </c:pt>
                <c:pt idx="2">
                  <c:v>1041</c:v>
                </c:pt>
                <c:pt idx="3">
                  <c:v>1054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1142</c:v>
                </c:pt>
                <c:pt idx="1">
                  <c:v>1316</c:v>
                </c:pt>
                <c:pt idx="2">
                  <c:v>1167</c:v>
                </c:pt>
                <c:pt idx="3">
                  <c:v>1313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1367</c:v>
                </c:pt>
                <c:pt idx="1">
                  <c:v>1309</c:v>
                </c:pt>
                <c:pt idx="2">
                  <c:v>1454</c:v>
                </c:pt>
                <c:pt idx="3">
                  <c:v>1617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점유율 비교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230</c:v>
                </c:pt>
                <c:pt idx="1">
                  <c:v>565</c:v>
                </c:pt>
                <c:pt idx="2">
                  <c:v>788</c:v>
                </c:pt>
                <c:pt idx="3">
                  <c:v>964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829</c:v>
                </c:pt>
                <c:pt idx="1">
                  <c:v>767</c:v>
                </c:pt>
                <c:pt idx="2">
                  <c:v>881</c:v>
                </c:pt>
                <c:pt idx="3">
                  <c:v>1155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유럽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885</c:v>
                </c:pt>
                <c:pt idx="1">
                  <c:v>922</c:v>
                </c:pt>
                <c:pt idx="2">
                  <c:v>1306</c:v>
                </c:pt>
                <c:pt idx="3">
                  <c:v>1267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성과지표 분석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성과지표(점)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897</c:v>
                </c:pt>
                <c:pt idx="1">
                  <c:v>831</c:v>
                </c:pt>
                <c:pt idx="2">
                  <c:v>902</c:v>
                </c:pt>
                <c:pt idx="3">
                  <c:v>1399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투자액 전망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662</c:v>
                </c:pt>
                <c:pt idx="1">
                  <c:v>739</c:v>
                </c:pt>
                <c:pt idx="2">
                  <c:v>780</c:v>
                </c:pt>
                <c:pt idx="3">
                  <c:v>1138</c:v>
                </c:pt>
                <c:pt idx="4">
                  <c:v>1031</c:v>
                </c:pt>
                <c:pt idx="5">
                  <c:v>1469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1068</c:v>
                </c:pt>
                <c:pt idx="1">
                  <c:v>985</c:v>
                </c:pt>
                <c:pt idx="2">
                  <c:v>1268</c:v>
                </c:pt>
                <c:pt idx="3">
                  <c:v>1120</c:v>
                </c:pt>
                <c:pt idx="4">
                  <c:v>1242</c:v>
                </c:pt>
                <c:pt idx="5">
                  <c:v>1561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이용자수 구성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803</c:v>
                </c:pt>
                <c:pt idx="1">
                  <c:v>1045</c:v>
                </c:pt>
                <c:pt idx="2">
                  <c:v>1058</c:v>
                </c:pt>
                <c:pt idx="3">
                  <c:v>1288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997</c:v>
                </c:pt>
                <c:pt idx="1">
                  <c:v>1178</c:v>
                </c:pt>
                <c:pt idx="2">
                  <c:v>1161</c:v>
                </c:pt>
                <c:pt idx="3">
                  <c:v>1343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수출액 현황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445</c:v>
                </c:pt>
                <c:pt idx="1">
                  <c:v>478</c:v>
                </c:pt>
                <c:pt idx="2">
                  <c:v>786</c:v>
                </c:pt>
                <c:pt idx="3">
                  <c:v>911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672</c:v>
                </c:pt>
                <c:pt idx="1">
                  <c:v>872</c:v>
                </c:pt>
                <c:pt idx="2">
                  <c:v>824</c:v>
                </c:pt>
                <c:pt idx="3">
                  <c:v>1093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899</c:v>
                </c:pt>
                <c:pt idx="1">
                  <c:v>892</c:v>
                </c:pt>
                <c:pt idx="2">
                  <c:v>1261</c:v>
                </c:pt>
                <c:pt idx="3">
                  <c:v>1468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매출 추이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647</c:v>
                </c:pt>
                <c:pt idx="1">
                  <c:v>473</c:v>
                </c:pt>
                <c:pt idx="2">
                  <c:v>844</c:v>
                </c:pt>
                <c:pt idx="3">
                  <c:v>781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932</c:v>
                </c:pt>
                <c:pt idx="1">
                  <c:v>803</c:v>
                </c:pt>
                <c:pt idx="2">
                  <c:v>887</c:v>
                </c:pt>
                <c:pt idx="3">
                  <c:v>1193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유럽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867</c:v>
                </c:pt>
                <c:pt idx="1">
                  <c:v>1225</c:v>
                </c:pt>
                <c:pt idx="2">
                  <c:v>1235</c:v>
                </c:pt>
                <c:pt idx="3">
                  <c:v>1455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CHT-111</a:t>
            </a:r>
          </a:p>
        </p:txBody>
      </p:sp>
      <p:graphicFrame>
        <p:nvGraphicFramePr>
          <p:cNvPr id="3" name="asset:CHT-111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CHT-112</a:t>
            </a:r>
          </a:p>
        </p:txBody>
      </p:sp>
      <p:graphicFrame>
        <p:nvGraphicFramePr>
          <p:cNvPr id="3" name="asset:CHT-11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CHT-113</a:t>
            </a:r>
          </a:p>
        </p:txBody>
      </p:sp>
      <p:graphicFrame>
        <p:nvGraphicFramePr>
          <p:cNvPr id="3" name="asset:CHT-113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CHT-114</a:t>
            </a:r>
          </a:p>
        </p:txBody>
      </p:sp>
      <p:graphicFrame>
        <p:nvGraphicFramePr>
          <p:cNvPr id="3" name="asset:CHT-114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CHT-115</a:t>
            </a:r>
          </a:p>
        </p:txBody>
      </p:sp>
      <p:graphicFrame>
        <p:nvGraphicFramePr>
          <p:cNvPr id="3" name="asset:CHT-115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CHT-116</a:t>
            </a:r>
          </a:p>
        </p:txBody>
      </p:sp>
      <p:graphicFrame>
        <p:nvGraphicFramePr>
          <p:cNvPr id="3" name="asset:CHT-116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CHT-117</a:t>
            </a:r>
          </a:p>
        </p:txBody>
      </p:sp>
      <p:graphicFrame>
        <p:nvGraphicFramePr>
          <p:cNvPr id="3" name="asset:CHT-117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CHT-118</a:t>
            </a:r>
          </a:p>
        </p:txBody>
      </p:sp>
      <p:graphicFrame>
        <p:nvGraphicFramePr>
          <p:cNvPr id="3" name="asset:CHT-118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CHT-119</a:t>
            </a:r>
          </a:p>
        </p:txBody>
      </p:sp>
      <p:graphicFrame>
        <p:nvGraphicFramePr>
          <p:cNvPr id="3" name="asset:CHT-119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CHT-120</a:t>
            </a:r>
          </a:p>
        </p:txBody>
      </p:sp>
      <p:graphicFrame>
        <p:nvGraphicFramePr>
          <p:cNvPr id="3" name="asset:CHT-120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