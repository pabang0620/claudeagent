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투자액 전망</a:t>
            </a:r>
          </a:p>
        </c:rich>
      </c:tx>
      <c:layout/>
      <c:overlay val="0"/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투자액(억원)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975</c:v>
                </c:pt>
                <c:pt idx="1">
                  <c:v>999</c:v>
                </c:pt>
                <c:pt idx="2">
                  <c:v>1350</c:v>
                </c:pt>
                <c:pt idx="3">
                  <c:v>1549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zero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이용자수 구성</a:t>
            </a:r>
          </a:p>
        </c:rich>
      </c:tx>
      <c:layout/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837</c:v>
                </c:pt>
                <c:pt idx="1">
                  <c:v>963</c:v>
                </c:pt>
                <c:pt idx="2">
                  <c:v>864</c:v>
                </c:pt>
                <c:pt idx="3">
                  <c:v>986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1195</c:v>
                </c:pt>
                <c:pt idx="1">
                  <c:v>1287</c:v>
                </c:pt>
                <c:pt idx="2">
                  <c:v>1324</c:v>
                </c:pt>
                <c:pt idx="3">
                  <c:v>1586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zero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수출액 현황</a:t>
            </a:r>
          </a:p>
        </c:rich>
      </c:tx>
      <c:layout/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499</c:v>
                </c:pt>
                <c:pt idx="1">
                  <c:v>512</c:v>
                </c:pt>
                <c:pt idx="2">
                  <c:v>704</c:v>
                </c:pt>
                <c:pt idx="3">
                  <c:v>634</c:v>
                </c:pt>
                <c:pt idx="4">
                  <c:v>1082</c:v>
                </c:pt>
                <c:pt idx="5">
                  <c:v>1064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517</c:v>
                </c:pt>
                <c:pt idx="1">
                  <c:v>621</c:v>
                </c:pt>
                <c:pt idx="2">
                  <c:v>1093</c:v>
                </c:pt>
                <c:pt idx="3">
                  <c:v>1001</c:v>
                </c:pt>
                <c:pt idx="4">
                  <c:v>1368</c:v>
                </c:pt>
                <c:pt idx="5">
                  <c:v>1314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목표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1060</c:v>
                </c:pt>
                <c:pt idx="1">
                  <c:v>1075</c:v>
                </c:pt>
                <c:pt idx="2">
                  <c:v>1056</c:v>
                </c:pt>
                <c:pt idx="3">
                  <c:v>1437</c:v>
                </c:pt>
                <c:pt idx="4">
                  <c:v>1439</c:v>
                </c:pt>
                <c:pt idx="5">
                  <c:v>1472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zero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매출 추이</a:t>
            </a:r>
          </a:p>
        </c:rich>
      </c:tx>
      <c:layout/>
      <c:overlay val="0"/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547</c:v>
                </c:pt>
                <c:pt idx="1">
                  <c:v>659</c:v>
                </c:pt>
                <c:pt idx="2">
                  <c:v>940</c:v>
                </c:pt>
                <c:pt idx="3">
                  <c:v>1006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854</c:v>
                </c:pt>
                <c:pt idx="1">
                  <c:v>774</c:v>
                </c:pt>
                <c:pt idx="2">
                  <c:v>1195</c:v>
                </c:pt>
                <c:pt idx="3">
                  <c:v>1242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zero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점유율 비교</a:t>
            </a:r>
          </a:p>
        </c:rich>
      </c:tx>
      <c:layout/>
      <c:overlay val="0"/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점유율(%)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2235</c:v>
                </c:pt>
                <c:pt idx="1">
                  <c:v>2123</c:v>
                </c:pt>
                <c:pt idx="2">
                  <c:v>2229</c:v>
                </c:pt>
                <c:pt idx="3">
                  <c:v>2307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zero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CHT-141</a:t>
            </a:r>
          </a:p>
        </p:txBody>
      </p:sp>
      <p:graphicFrame>
        <p:nvGraphicFramePr>
          <p:cNvPr id="3" name="asset:CHT-141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CHT-142</a:t>
            </a:r>
          </a:p>
        </p:txBody>
      </p:sp>
      <p:graphicFrame>
        <p:nvGraphicFramePr>
          <p:cNvPr id="3" name="asset:CHT-142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CHT-143</a:t>
            </a:r>
          </a:p>
        </p:txBody>
      </p:sp>
      <p:graphicFrame>
        <p:nvGraphicFramePr>
          <p:cNvPr id="3" name="asset:CHT-143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CHT-144</a:t>
            </a:r>
          </a:p>
        </p:txBody>
      </p:sp>
      <p:graphicFrame>
        <p:nvGraphicFramePr>
          <p:cNvPr id="3" name="asset:CHT-144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CHT-145</a:t>
            </a:r>
          </a:p>
        </p:txBody>
      </p:sp>
      <p:graphicFrame>
        <p:nvGraphicFramePr>
          <p:cNvPr id="3" name="asset:CHT-145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