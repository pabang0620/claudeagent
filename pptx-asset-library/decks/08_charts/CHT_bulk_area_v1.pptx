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점유율 비교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점유율(%)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937</c:v>
                </c:pt>
                <c:pt idx="1">
                  <c:v>973</c:v>
                </c:pt>
                <c:pt idx="2">
                  <c:v>1321</c:v>
                </c:pt>
                <c:pt idx="3">
                  <c:v>1573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성과지표 분석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687</c:v>
                </c:pt>
                <c:pt idx="1">
                  <c:v>928</c:v>
                </c:pt>
                <c:pt idx="2">
                  <c:v>1058</c:v>
                </c:pt>
                <c:pt idx="3">
                  <c:v>1148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851</c:v>
                </c:pt>
                <c:pt idx="1">
                  <c:v>1139</c:v>
                </c:pt>
                <c:pt idx="2">
                  <c:v>1155</c:v>
                </c:pt>
                <c:pt idx="3">
                  <c:v>1407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투자액 전망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431</c:v>
                </c:pt>
                <c:pt idx="1">
                  <c:v>651</c:v>
                </c:pt>
                <c:pt idx="2">
                  <c:v>488</c:v>
                </c:pt>
                <c:pt idx="3">
                  <c:v>756</c:v>
                </c:pt>
                <c:pt idx="4">
                  <c:v>857</c:v>
                </c:pt>
                <c:pt idx="5">
                  <c:v>1016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733</c:v>
                </c:pt>
                <c:pt idx="1">
                  <c:v>648</c:v>
                </c:pt>
                <c:pt idx="2">
                  <c:v>824</c:v>
                </c:pt>
                <c:pt idx="3">
                  <c:v>1060</c:v>
                </c:pt>
                <c:pt idx="4">
                  <c:v>1347</c:v>
                </c:pt>
                <c:pt idx="5">
                  <c:v>1134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919</c:v>
                </c:pt>
                <c:pt idx="1">
                  <c:v>884</c:v>
                </c:pt>
                <c:pt idx="2">
                  <c:v>1355</c:v>
                </c:pt>
                <c:pt idx="3">
                  <c:v>1260</c:v>
                </c:pt>
                <c:pt idx="4">
                  <c:v>1585</c:v>
                </c:pt>
                <c:pt idx="5">
                  <c:v>1490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이용자수 구성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675</c:v>
                </c:pt>
                <c:pt idx="1">
                  <c:v>565</c:v>
                </c:pt>
                <c:pt idx="2">
                  <c:v>894</c:v>
                </c:pt>
                <c:pt idx="3">
                  <c:v>725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882</c:v>
                </c:pt>
                <c:pt idx="1">
                  <c:v>986</c:v>
                </c:pt>
                <c:pt idx="2">
                  <c:v>1067</c:v>
                </c:pt>
                <c:pt idx="3">
                  <c:v>1240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수출액 현황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1986</c:v>
                </c:pt>
                <c:pt idx="1">
                  <c:v>2020</c:v>
                </c:pt>
                <c:pt idx="2">
                  <c:v>2444</c:v>
                </c:pt>
                <c:pt idx="3">
                  <c:v>2529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매출 추이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822</c:v>
                </c:pt>
                <c:pt idx="1">
                  <c:v>812</c:v>
                </c:pt>
                <c:pt idx="2">
                  <c:v>867</c:v>
                </c:pt>
                <c:pt idx="3">
                  <c:v>1321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1063</c:v>
                </c:pt>
                <c:pt idx="1">
                  <c:v>964</c:v>
                </c:pt>
                <c:pt idx="2">
                  <c:v>1380</c:v>
                </c:pt>
                <c:pt idx="3">
                  <c:v>1374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점유율 비교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226</c:v>
                </c:pt>
                <c:pt idx="1">
                  <c:v>543</c:v>
                </c:pt>
                <c:pt idx="2">
                  <c:v>784</c:v>
                </c:pt>
                <c:pt idx="3">
                  <c:v>966</c:v>
                </c:pt>
                <c:pt idx="4">
                  <c:v>881</c:v>
                </c:pt>
                <c:pt idx="5">
                  <c:v>1040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534</c:v>
                </c:pt>
                <c:pt idx="1">
                  <c:v>610</c:v>
                </c:pt>
                <c:pt idx="2">
                  <c:v>1034</c:v>
                </c:pt>
                <c:pt idx="3">
                  <c:v>1238</c:v>
                </c:pt>
                <c:pt idx="4">
                  <c:v>1301</c:v>
                </c:pt>
                <c:pt idx="5">
                  <c:v>1318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벤처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1037</c:v>
                </c:pt>
                <c:pt idx="1">
                  <c:v>931</c:v>
                </c:pt>
                <c:pt idx="2">
                  <c:v>1054</c:v>
                </c:pt>
                <c:pt idx="3">
                  <c:v>1245</c:v>
                </c:pt>
                <c:pt idx="4">
                  <c:v>1570</c:v>
                </c:pt>
                <c:pt idx="5">
                  <c:v>1383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성과지표 분석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516</c:v>
                </c:pt>
                <c:pt idx="1">
                  <c:v>545</c:v>
                </c:pt>
                <c:pt idx="2">
                  <c:v>656</c:v>
                </c:pt>
                <c:pt idx="3">
                  <c:v>870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</c:v>
                </c:pt>
                <c:pt idx="1">
                  <c:v>895</c:v>
                </c:pt>
                <c:pt idx="2">
                  <c:v>1116</c:v>
                </c:pt>
                <c:pt idx="3">
                  <c:v>1231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투자액 전망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1626</c:v>
                </c:pt>
                <c:pt idx="1">
                  <c:v>1939</c:v>
                </c:pt>
                <c:pt idx="2">
                  <c:v>1901</c:v>
                </c:pt>
                <c:pt idx="3">
                  <c:v>2350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이용자수 구성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860</c:v>
                </c:pt>
                <c:pt idx="1">
                  <c:v>1013</c:v>
                </c:pt>
                <c:pt idx="2">
                  <c:v>978</c:v>
                </c:pt>
                <c:pt idx="3">
                  <c:v>1142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981</c:v>
                </c:pt>
                <c:pt idx="1">
                  <c:v>1060</c:v>
                </c:pt>
                <c:pt idx="2">
                  <c:v>1204</c:v>
                </c:pt>
                <c:pt idx="3">
                  <c:v>1514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수출액 현황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316</c:v>
                </c:pt>
                <c:pt idx="1">
                  <c:v>549</c:v>
                </c:pt>
                <c:pt idx="2">
                  <c:v>703</c:v>
                </c:pt>
                <c:pt idx="3">
                  <c:v>882</c:v>
                </c:pt>
                <c:pt idx="4">
                  <c:v>965</c:v>
                </c:pt>
                <c:pt idx="5">
                  <c:v>1095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765</c:v>
                </c:pt>
                <c:pt idx="1">
                  <c:v>936</c:v>
                </c:pt>
                <c:pt idx="2">
                  <c:v>1086</c:v>
                </c:pt>
                <c:pt idx="3">
                  <c:v>1166</c:v>
                </c:pt>
                <c:pt idx="4">
                  <c:v>1189</c:v>
                </c:pt>
                <c:pt idx="5">
                  <c:v>1229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764</c:v>
                </c:pt>
                <c:pt idx="1">
                  <c:v>1109</c:v>
                </c:pt>
                <c:pt idx="2">
                  <c:v>1079</c:v>
                </c:pt>
                <c:pt idx="3">
                  <c:v>1408</c:v>
                </c:pt>
                <c:pt idx="4">
                  <c:v>1293</c:v>
                </c:pt>
                <c:pt idx="5">
                  <c:v>1555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매출 추이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529</c:v>
                </c:pt>
                <c:pt idx="1">
                  <c:v>663</c:v>
                </c:pt>
                <c:pt idx="2">
                  <c:v>683</c:v>
                </c:pt>
                <c:pt idx="3">
                  <c:v>1001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817</c:v>
                </c:pt>
                <c:pt idx="1">
                  <c:v>932</c:v>
                </c:pt>
                <c:pt idx="2">
                  <c:v>903</c:v>
                </c:pt>
                <c:pt idx="3">
                  <c:v>989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점유율 비교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점유율(%)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1358</c:v>
                </c:pt>
                <c:pt idx="1">
                  <c:v>1629</c:v>
                </c:pt>
                <c:pt idx="2">
                  <c:v>1572</c:v>
                </c:pt>
                <c:pt idx="3">
                  <c:v>2055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성과지표 분석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798</c:v>
                </c:pt>
                <c:pt idx="1">
                  <c:v>929</c:v>
                </c:pt>
                <c:pt idx="2">
                  <c:v>1177</c:v>
                </c:pt>
                <c:pt idx="3">
                  <c:v>985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1119</c:v>
                </c:pt>
                <c:pt idx="1">
                  <c:v>1064</c:v>
                </c:pt>
                <c:pt idx="2">
                  <c:v>1410</c:v>
                </c:pt>
                <c:pt idx="3">
                  <c:v>1476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투자액 전망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415</c:v>
                </c:pt>
                <c:pt idx="1">
                  <c:v>415</c:v>
                </c:pt>
                <c:pt idx="2">
                  <c:v>638</c:v>
                </c:pt>
                <c:pt idx="3">
                  <c:v>885</c:v>
                </c:pt>
                <c:pt idx="4">
                  <c:v>991</c:v>
                </c:pt>
                <c:pt idx="5">
                  <c:v>867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681</c:v>
                </c:pt>
                <c:pt idx="1">
                  <c:v>946</c:v>
                </c:pt>
                <c:pt idx="2">
                  <c:v>933</c:v>
                </c:pt>
                <c:pt idx="3">
                  <c:v>981</c:v>
                </c:pt>
                <c:pt idx="4">
                  <c:v>1305</c:v>
                </c:pt>
                <c:pt idx="5">
                  <c:v>1237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855</c:v>
                </c:pt>
                <c:pt idx="1">
                  <c:v>1089</c:v>
                </c:pt>
                <c:pt idx="2">
                  <c:v>1217</c:v>
                </c:pt>
                <c:pt idx="3">
                  <c:v>1138</c:v>
                </c:pt>
                <c:pt idx="4">
                  <c:v>1439</c:v>
                </c:pt>
                <c:pt idx="5">
                  <c:v>1528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이용자수 구성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587</c:v>
                </c:pt>
                <c:pt idx="1">
                  <c:v>593</c:v>
                </c:pt>
                <c:pt idx="2">
                  <c:v>758</c:v>
                </c:pt>
                <c:pt idx="3">
                  <c:v>931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957</c:v>
                </c:pt>
                <c:pt idx="1">
                  <c:v>731</c:v>
                </c:pt>
                <c:pt idx="2">
                  <c:v>1224</c:v>
                </c:pt>
                <c:pt idx="3">
                  <c:v>1112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수출액 현황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901</c:v>
                </c:pt>
                <c:pt idx="1">
                  <c:v>1487</c:v>
                </c:pt>
                <c:pt idx="2">
                  <c:v>1453</c:v>
                </c:pt>
                <c:pt idx="3">
                  <c:v>1559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매출 추이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897</c:v>
                </c:pt>
                <c:pt idx="1">
                  <c:v>1005</c:v>
                </c:pt>
                <c:pt idx="2">
                  <c:v>1208</c:v>
                </c:pt>
                <c:pt idx="3">
                  <c:v>1079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854</c:v>
                </c:pt>
                <c:pt idx="1">
                  <c:v>1118</c:v>
                </c:pt>
                <c:pt idx="2">
                  <c:v>1235</c:v>
                </c:pt>
                <c:pt idx="3">
                  <c:v>1356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점유율 비교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311</c:v>
                </c:pt>
                <c:pt idx="1">
                  <c:v>638</c:v>
                </c:pt>
                <c:pt idx="2">
                  <c:v>529</c:v>
                </c:pt>
                <c:pt idx="3">
                  <c:v>686</c:v>
                </c:pt>
                <c:pt idx="4">
                  <c:v>894</c:v>
                </c:pt>
                <c:pt idx="5">
                  <c:v>1182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494</c:v>
                </c:pt>
                <c:pt idx="1">
                  <c:v>630</c:v>
                </c:pt>
                <c:pt idx="2">
                  <c:v>871</c:v>
                </c:pt>
                <c:pt idx="3">
                  <c:v>1065</c:v>
                </c:pt>
                <c:pt idx="4">
                  <c:v>1130</c:v>
                </c:pt>
                <c:pt idx="5">
                  <c:v>1318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944</c:v>
                </c:pt>
                <c:pt idx="1">
                  <c:v>924</c:v>
                </c:pt>
                <c:pt idx="2">
                  <c:v>1031</c:v>
                </c:pt>
                <c:pt idx="3">
                  <c:v>1283</c:v>
                </c:pt>
                <c:pt idx="4">
                  <c:v>1262</c:v>
                </c:pt>
                <c:pt idx="5">
                  <c:v>1744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성과지표 분석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351</c:v>
                </c:pt>
                <c:pt idx="1">
                  <c:v>804</c:v>
                </c:pt>
                <c:pt idx="2">
                  <c:v>924</c:v>
                </c:pt>
                <c:pt idx="3">
                  <c:v>762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954</c:v>
                </c:pt>
                <c:pt idx="1">
                  <c:v>1028</c:v>
                </c:pt>
                <c:pt idx="2">
                  <c:v>995</c:v>
                </c:pt>
                <c:pt idx="3">
                  <c:v>1242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CHT-121</a:t>
            </a:r>
          </a:p>
        </p:txBody>
      </p:sp>
      <p:graphicFrame>
        <p:nvGraphicFramePr>
          <p:cNvPr id="3" name="asset:CHT-12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CHT-122</a:t>
            </a:r>
          </a:p>
        </p:txBody>
      </p:sp>
      <p:graphicFrame>
        <p:nvGraphicFramePr>
          <p:cNvPr id="3" name="asset:CHT-12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CHT-123</a:t>
            </a:r>
          </a:p>
        </p:txBody>
      </p:sp>
      <p:graphicFrame>
        <p:nvGraphicFramePr>
          <p:cNvPr id="3" name="asset:CHT-12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CHT-124</a:t>
            </a:r>
          </a:p>
        </p:txBody>
      </p:sp>
      <p:graphicFrame>
        <p:nvGraphicFramePr>
          <p:cNvPr id="3" name="asset:CHT-12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CHT-125</a:t>
            </a:r>
          </a:p>
        </p:txBody>
      </p:sp>
      <p:graphicFrame>
        <p:nvGraphicFramePr>
          <p:cNvPr id="3" name="asset:CHT-12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CHT-126</a:t>
            </a:r>
          </a:p>
        </p:txBody>
      </p:sp>
      <p:graphicFrame>
        <p:nvGraphicFramePr>
          <p:cNvPr id="3" name="asset:CHT-12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CHT-127</a:t>
            </a:r>
          </a:p>
        </p:txBody>
      </p:sp>
      <p:graphicFrame>
        <p:nvGraphicFramePr>
          <p:cNvPr id="3" name="asset:CHT-12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CHT-128</a:t>
            </a:r>
          </a:p>
        </p:txBody>
      </p:sp>
      <p:graphicFrame>
        <p:nvGraphicFramePr>
          <p:cNvPr id="3" name="asset:CHT-12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CHT-129</a:t>
            </a:r>
          </a:p>
        </p:txBody>
      </p:sp>
      <p:graphicFrame>
        <p:nvGraphicFramePr>
          <p:cNvPr id="3" name="asset:CHT-12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CHT-130</a:t>
            </a:r>
          </a:p>
        </p:txBody>
      </p:sp>
      <p:graphicFrame>
        <p:nvGraphicFramePr>
          <p:cNvPr id="3" name="asset:CHT-13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CHT-131</a:t>
            </a:r>
          </a:p>
        </p:txBody>
      </p:sp>
      <p:graphicFrame>
        <p:nvGraphicFramePr>
          <p:cNvPr id="3" name="asset:CHT-13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CHT-132</a:t>
            </a:r>
          </a:p>
        </p:txBody>
      </p:sp>
      <p:graphicFrame>
        <p:nvGraphicFramePr>
          <p:cNvPr id="3" name="asset:CHT-13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CHT-133</a:t>
            </a:r>
          </a:p>
        </p:txBody>
      </p:sp>
      <p:graphicFrame>
        <p:nvGraphicFramePr>
          <p:cNvPr id="3" name="asset:CHT-13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CHT-134</a:t>
            </a:r>
          </a:p>
        </p:txBody>
      </p:sp>
      <p:graphicFrame>
        <p:nvGraphicFramePr>
          <p:cNvPr id="3" name="asset:CHT-13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CHT-135</a:t>
            </a:r>
          </a:p>
        </p:txBody>
      </p:sp>
      <p:graphicFrame>
        <p:nvGraphicFramePr>
          <p:cNvPr id="3" name="asset:CHT-13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CHT-136</a:t>
            </a:r>
          </a:p>
        </p:txBody>
      </p:sp>
      <p:graphicFrame>
        <p:nvGraphicFramePr>
          <p:cNvPr id="3" name="asset:CHT-13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CHT-137</a:t>
            </a:r>
          </a:p>
        </p:txBody>
      </p:sp>
      <p:graphicFrame>
        <p:nvGraphicFramePr>
          <p:cNvPr id="3" name="asset:CHT-13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CHT-138</a:t>
            </a:r>
          </a:p>
        </p:txBody>
      </p:sp>
      <p:graphicFrame>
        <p:nvGraphicFramePr>
          <p:cNvPr id="3" name="asset:CHT-13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CHT-139</a:t>
            </a:r>
          </a:p>
        </p:txBody>
      </p:sp>
      <p:graphicFrame>
        <p:nvGraphicFramePr>
          <p:cNvPr id="3" name="asset:CHT-13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CHT-140</a:t>
            </a:r>
          </a:p>
        </p:txBody>
      </p:sp>
      <p:graphicFrame>
        <p:nvGraphicFramePr>
          <p:cNvPr id="3" name="asset:CHT-14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