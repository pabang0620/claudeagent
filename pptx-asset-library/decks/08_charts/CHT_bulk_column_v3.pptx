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투자액 전망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Sheet1!$A$2:$A$4</c:f>
              <c:strCache>
                <c:ptCount val="3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368</c:v>
                </c:pt>
                <c:pt idx="1">
                  <c:v>569</c:v>
                </c:pt>
                <c:pt idx="2">
                  <c:v>805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Sheet1!$A$2:$A$4</c:f>
              <c:strCache>
                <c:ptCount val="3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480</c:v>
                </c:pt>
                <c:pt idx="1">
                  <c:v>756</c:v>
                </c:pt>
                <c:pt idx="2">
                  <c:v>859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Sheet1!$A$2:$A$4</c:f>
              <c:strCache>
                <c:ptCount val="3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1073</c:v>
                </c:pt>
                <c:pt idx="1">
                  <c:v>880</c:v>
                </c:pt>
                <c:pt idx="2">
                  <c:v>1330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이용자수 구성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614</c:v>
                </c:pt>
                <c:pt idx="1">
                  <c:v>472</c:v>
                </c:pt>
                <c:pt idx="2">
                  <c:v>750</c:v>
                </c:pt>
                <c:pt idx="3">
                  <c:v>855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734</c:v>
                </c:pt>
                <c:pt idx="1">
                  <c:v>972</c:v>
                </c:pt>
                <c:pt idx="2">
                  <c:v>1226</c:v>
                </c:pt>
                <c:pt idx="3">
                  <c:v>1225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수출액 현황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1254</c:v>
                </c:pt>
                <c:pt idx="1">
                  <c:v>1345</c:v>
                </c:pt>
                <c:pt idx="2">
                  <c:v>1781</c:v>
                </c:pt>
                <c:pt idx="3">
                  <c:v>1930</c:v>
                </c:pt>
                <c:pt idx="4">
                  <c:v>2088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매출 추이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Sheet1!$A$2:$A$7</c:f>
              <c:strCache>
                <c:ptCount val="6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774</c:v>
                </c:pt>
                <c:pt idx="1">
                  <c:v>1020</c:v>
                </c:pt>
                <c:pt idx="2">
                  <c:v>1082</c:v>
                </c:pt>
                <c:pt idx="3">
                  <c:v>1237</c:v>
                </c:pt>
                <c:pt idx="4">
                  <c:v>1325</c:v>
                </c:pt>
                <c:pt idx="5">
                  <c:v>1553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  <c:pt idx="5">
                  <c:v>아프리카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1115</c:v>
                </c:pt>
                <c:pt idx="1">
                  <c:v>1235</c:v>
                </c:pt>
                <c:pt idx="2">
                  <c:v>1373</c:v>
                </c:pt>
                <c:pt idx="3">
                  <c:v>1428</c:v>
                </c:pt>
                <c:pt idx="4">
                  <c:v>1593</c:v>
                </c:pt>
                <c:pt idx="5">
                  <c:v>1576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점유율 비교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Sheet1!$A$2:$A$8</c:f>
              <c:strCache>
                <c:ptCount val="7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  <c:pt idx="6">
                  <c:v>인도네시아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305</c:v>
                </c:pt>
                <c:pt idx="1">
                  <c:v>415</c:v>
                </c:pt>
                <c:pt idx="2">
                  <c:v>674</c:v>
                </c:pt>
                <c:pt idx="3">
                  <c:v>781</c:v>
                </c:pt>
                <c:pt idx="4">
                  <c:v>921</c:v>
                </c:pt>
                <c:pt idx="5">
                  <c:v>1116</c:v>
                </c:pt>
                <c:pt idx="6">
                  <c:v>1127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Sheet1!$A$2:$A$8</c:f>
              <c:strCache>
                <c:ptCount val="7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  <c:pt idx="6">
                  <c:v>인도네시아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502</c:v>
                </c:pt>
                <c:pt idx="1">
                  <c:v>752</c:v>
                </c:pt>
                <c:pt idx="2">
                  <c:v>730</c:v>
                </c:pt>
                <c:pt idx="3">
                  <c:v>928</c:v>
                </c:pt>
                <c:pt idx="4">
                  <c:v>1091</c:v>
                </c:pt>
                <c:pt idx="5">
                  <c:v>1242</c:v>
                </c:pt>
                <c:pt idx="6">
                  <c:v>1354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Sheet1!$A$2:$A$8</c:f>
              <c:strCache>
                <c:ptCount val="7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  <c:pt idx="6">
                  <c:v>인도네시아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1012</c:v>
                </c:pt>
                <c:pt idx="1">
                  <c:v>894</c:v>
                </c:pt>
                <c:pt idx="2">
                  <c:v>1086</c:v>
                </c:pt>
                <c:pt idx="3">
                  <c:v>1459</c:v>
                </c:pt>
                <c:pt idx="4">
                  <c:v>1383</c:v>
                </c:pt>
                <c:pt idx="5">
                  <c:v>1463</c:v>
                </c:pt>
                <c:pt idx="6">
                  <c:v>1656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성과지표 분석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Sheet1!$A$2:$A$4</c:f>
              <c:strCache>
                <c:ptCount val="3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539</c:v>
                </c:pt>
                <c:pt idx="1">
                  <c:v>814</c:v>
                </c:pt>
                <c:pt idx="2">
                  <c:v>801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Sheet1!$A$2:$A$4</c:f>
              <c:strCache>
                <c:ptCount val="3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603</c:v>
                </c:pt>
                <c:pt idx="1">
                  <c:v>726</c:v>
                </c:pt>
                <c:pt idx="2">
                  <c:v>1013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Sheet1!$A$2:$A$4</c:f>
              <c:strCache>
                <c:ptCount val="3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1086</c:v>
                </c:pt>
                <c:pt idx="1">
                  <c:v>990</c:v>
                </c:pt>
                <c:pt idx="2">
                  <c:v>1470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투자액 전망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813</c:v>
                </c:pt>
                <c:pt idx="1">
                  <c:v>794</c:v>
                </c:pt>
                <c:pt idx="2">
                  <c:v>789</c:v>
                </c:pt>
                <c:pt idx="3">
                  <c:v>872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Sheet1!$A$2:$A$5</c:f>
              <c:strCache>
                <c:ptCount val="4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1085</c:v>
                </c:pt>
                <c:pt idx="1">
                  <c:v>1211</c:v>
                </c:pt>
                <c:pt idx="2">
                  <c:v>1027</c:v>
                </c:pt>
                <c:pt idx="3">
                  <c:v>1169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벤처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1272</c:v>
                </c:pt>
                <c:pt idx="1">
                  <c:v>1186</c:v>
                </c:pt>
                <c:pt idx="2">
                  <c:v>1596</c:v>
                </c:pt>
                <c:pt idx="3">
                  <c:v>1726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이용자수 구성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813</c:v>
                </c:pt>
                <c:pt idx="1">
                  <c:v>858</c:v>
                </c:pt>
                <c:pt idx="2">
                  <c:v>1091</c:v>
                </c:pt>
                <c:pt idx="3">
                  <c:v>1131</c:v>
                </c:pt>
                <c:pt idx="4">
                  <c:v>1203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1146</c:v>
                </c:pt>
                <c:pt idx="1">
                  <c:v>996</c:v>
                </c:pt>
                <c:pt idx="2">
                  <c:v>1115</c:v>
                </c:pt>
                <c:pt idx="3">
                  <c:v>1425</c:v>
                </c:pt>
                <c:pt idx="4">
                  <c:v>1637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수출액 현황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1763</c:v>
                </c:pt>
                <c:pt idx="1">
                  <c:v>1755</c:v>
                </c:pt>
                <c:pt idx="2">
                  <c:v>2109</c:v>
                </c:pt>
                <c:pt idx="3">
                  <c:v>2497</c:v>
                </c:pt>
                <c:pt idx="4">
                  <c:v>2357</c:v>
                </c:pt>
                <c:pt idx="5">
                  <c:v>2786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매출 추이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Sheet1!$A$2:$A$8</c:f>
              <c:strCache>
                <c:ptCount val="7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  <c:pt idx="6">
                  <c:v>만화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426</c:v>
                </c:pt>
                <c:pt idx="1">
                  <c:v>715</c:v>
                </c:pt>
                <c:pt idx="2">
                  <c:v>671</c:v>
                </c:pt>
                <c:pt idx="3">
                  <c:v>952</c:v>
                </c:pt>
                <c:pt idx="4">
                  <c:v>1142</c:v>
                </c:pt>
                <c:pt idx="5">
                  <c:v>1027</c:v>
                </c:pt>
                <c:pt idx="6">
                  <c:v>1376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Sheet1!$A$2:$A$8</c:f>
              <c:strCache>
                <c:ptCount val="7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  <c:pt idx="6">
                  <c:v>만화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782</c:v>
                </c:pt>
                <c:pt idx="1">
                  <c:v>916</c:v>
                </c:pt>
                <c:pt idx="2">
                  <c:v>902</c:v>
                </c:pt>
                <c:pt idx="3">
                  <c:v>1128</c:v>
                </c:pt>
                <c:pt idx="4">
                  <c:v>1456</c:v>
                </c:pt>
                <c:pt idx="5">
                  <c:v>1508</c:v>
                </c:pt>
                <c:pt idx="6">
                  <c:v>1718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CHT-051</a:t>
            </a:r>
          </a:p>
        </p:txBody>
      </p:sp>
      <p:graphicFrame>
        <p:nvGraphicFramePr>
          <p:cNvPr id="3" name="asset:CHT-05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CHT-052</a:t>
            </a:r>
          </a:p>
        </p:txBody>
      </p:sp>
      <p:graphicFrame>
        <p:nvGraphicFramePr>
          <p:cNvPr id="3" name="asset:CHT-05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CHT-053</a:t>
            </a:r>
          </a:p>
        </p:txBody>
      </p:sp>
      <p:graphicFrame>
        <p:nvGraphicFramePr>
          <p:cNvPr id="3" name="asset:CHT-05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CHT-054</a:t>
            </a:r>
          </a:p>
        </p:txBody>
      </p:sp>
      <p:graphicFrame>
        <p:nvGraphicFramePr>
          <p:cNvPr id="3" name="asset:CHT-05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CHT-055</a:t>
            </a:r>
          </a:p>
        </p:txBody>
      </p:sp>
      <p:graphicFrame>
        <p:nvGraphicFramePr>
          <p:cNvPr id="3" name="asset:CHT-05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CHT-056</a:t>
            </a:r>
          </a:p>
        </p:txBody>
      </p:sp>
      <p:graphicFrame>
        <p:nvGraphicFramePr>
          <p:cNvPr id="3" name="asset:CHT-05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CHT-057</a:t>
            </a:r>
          </a:p>
        </p:txBody>
      </p:sp>
      <p:graphicFrame>
        <p:nvGraphicFramePr>
          <p:cNvPr id="3" name="asset:CHT-05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CHT-058</a:t>
            </a:r>
          </a:p>
        </p:txBody>
      </p:sp>
      <p:graphicFrame>
        <p:nvGraphicFramePr>
          <p:cNvPr id="3" name="asset:CHT-05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CHT-059</a:t>
            </a:r>
          </a:p>
        </p:txBody>
      </p:sp>
      <p:graphicFrame>
        <p:nvGraphicFramePr>
          <p:cNvPr id="3" name="asset:CHT-05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CHT-060</a:t>
            </a:r>
          </a:p>
        </p:txBody>
      </p:sp>
      <p:graphicFrame>
        <p:nvGraphicFramePr>
          <p:cNvPr id="3" name="asset:CHT-06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