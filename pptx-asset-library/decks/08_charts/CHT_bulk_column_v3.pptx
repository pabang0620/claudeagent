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투자액 전망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Sheet1!$A$2:$A$4</c:f>
              <c:strCache>
                <c:ptCount val="3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368</c:v>
                </c:pt>
                <c:pt idx="1">
                  <c:v>569</c:v>
                </c:pt>
                <c:pt idx="2">
                  <c:v>805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Sheet1!$A$2:$A$4</c:f>
              <c:strCache>
                <c:ptCount val="3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480</c:v>
                </c:pt>
                <c:pt idx="1">
                  <c:v>756</c:v>
                </c:pt>
                <c:pt idx="2">
                  <c:v>859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Sheet1!$A$2:$A$4</c:f>
              <c:strCache>
                <c:ptCount val="3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1073</c:v>
                </c:pt>
                <c:pt idx="1">
                  <c:v>880</c:v>
                </c:pt>
                <c:pt idx="2">
                  <c:v>1330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이용자수 구성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614</c:v>
                </c:pt>
                <c:pt idx="1">
                  <c:v>472</c:v>
                </c:pt>
                <c:pt idx="2">
                  <c:v>750</c:v>
                </c:pt>
                <c:pt idx="3">
                  <c:v>855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734</c:v>
                </c:pt>
                <c:pt idx="1">
                  <c:v>972</c:v>
                </c:pt>
                <c:pt idx="2">
                  <c:v>1226</c:v>
                </c:pt>
                <c:pt idx="3">
                  <c:v>1225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수출액 현황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1254</c:v>
                </c:pt>
                <c:pt idx="1">
                  <c:v>1345</c:v>
                </c:pt>
                <c:pt idx="2">
                  <c:v>1781</c:v>
                </c:pt>
                <c:pt idx="3">
                  <c:v>1930</c:v>
                </c:pt>
                <c:pt idx="4">
                  <c:v>2088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권역별 매출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자사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Sheet1!$A$2:$A$7</c:f>
              <c:strCache>
                <c:ptCount val="6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774</c:v>
                </c:pt>
                <c:pt idx="1">
                  <c:v>1020</c:v>
                </c:pt>
                <c:pt idx="2">
                  <c:v>1082</c:v>
                </c:pt>
                <c:pt idx="3">
                  <c:v>1237</c:v>
                </c:pt>
                <c:pt idx="4">
                  <c:v>1325</c:v>
                </c:pt>
                <c:pt idx="5">
                  <c:v>1553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경쟁사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Sheet1!$A$2:$A$7</c:f>
              <c:strCache>
                <c:ptCount val="6"/>
                <c:pt idx="0">
                  <c:v>아시아</c:v>
                </c:pt>
                <c:pt idx="1">
                  <c:v>북미</c:v>
                </c:pt>
                <c:pt idx="2">
                  <c:v>유럽</c:v>
                </c:pt>
                <c:pt idx="3">
                  <c:v>중남미</c:v>
                </c:pt>
                <c:pt idx="4">
                  <c:v>중동</c:v>
                </c:pt>
                <c:pt idx="5">
                  <c:v>아프리카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1115</c:v>
                </c:pt>
                <c:pt idx="1">
                  <c:v>1235</c:v>
                </c:pt>
                <c:pt idx="2">
                  <c:v>1373</c:v>
                </c:pt>
                <c:pt idx="3">
                  <c:v>1428</c:v>
                </c:pt>
                <c:pt idx="4">
                  <c:v>1593</c:v>
                </c:pt>
                <c:pt idx="5">
                  <c:v>1576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국가별 점유율 비교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Sheet1!$A$2:$A$8</c:f>
              <c:strCache>
                <c:ptCount val="7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  <c:pt idx="6">
                  <c:v>인도네시아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305</c:v>
                </c:pt>
                <c:pt idx="1">
                  <c:v>415</c:v>
                </c:pt>
                <c:pt idx="2">
                  <c:v>674</c:v>
                </c:pt>
                <c:pt idx="3">
                  <c:v>781</c:v>
                </c:pt>
                <c:pt idx="4">
                  <c:v>921</c:v>
                </c:pt>
                <c:pt idx="5">
                  <c:v>1116</c:v>
                </c:pt>
                <c:pt idx="6">
                  <c:v>1127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Sheet1!$A$2:$A$8</c:f>
              <c:strCache>
                <c:ptCount val="7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  <c:pt idx="6">
                  <c:v>인도네시아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502</c:v>
                </c:pt>
                <c:pt idx="1">
                  <c:v>752</c:v>
                </c:pt>
                <c:pt idx="2">
                  <c:v>730</c:v>
                </c:pt>
                <c:pt idx="3">
                  <c:v>928</c:v>
                </c:pt>
                <c:pt idx="4">
                  <c:v>1091</c:v>
                </c:pt>
                <c:pt idx="5">
                  <c:v>1242</c:v>
                </c:pt>
                <c:pt idx="6">
                  <c:v>1354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유럽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Sheet1!$A$2:$A$8</c:f>
              <c:strCache>
                <c:ptCount val="7"/>
                <c:pt idx="0">
                  <c:v>일본</c:v>
                </c:pt>
                <c:pt idx="1">
                  <c:v>미국</c:v>
                </c:pt>
                <c:pt idx="2">
                  <c:v>중국</c:v>
                </c:pt>
                <c:pt idx="3">
                  <c:v>대만</c:v>
                </c:pt>
                <c:pt idx="4">
                  <c:v>베트남</c:v>
                </c:pt>
                <c:pt idx="5">
                  <c:v>태국</c:v>
                </c:pt>
                <c:pt idx="6">
                  <c:v>인도네시아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1012</c:v>
                </c:pt>
                <c:pt idx="1">
                  <c:v>894</c:v>
                </c:pt>
                <c:pt idx="2">
                  <c:v>1086</c:v>
                </c:pt>
                <c:pt idx="3">
                  <c:v>1459</c:v>
                </c:pt>
                <c:pt idx="4">
                  <c:v>1383</c:v>
                </c:pt>
                <c:pt idx="5">
                  <c:v>1463</c:v>
                </c:pt>
                <c:pt idx="6">
                  <c:v>1656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채널별 성과지표 분석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29ABE2"/>
            </a:solidFill>
          </c:spPr>
          <c:cat>
            <c:strRef>
              <c:f>Sheet1!$A$2:$A$4</c:f>
              <c:strCache>
                <c:ptCount val="3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539</c:v>
                </c:pt>
                <c:pt idx="1">
                  <c:v>814</c:v>
                </c:pt>
                <c:pt idx="2">
                  <c:v>801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Sheet1!$A$2:$A$4</c:f>
              <c:strCache>
                <c:ptCount val="3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603</c:v>
                </c:pt>
                <c:pt idx="1">
                  <c:v>726</c:v>
                </c:pt>
                <c:pt idx="2">
                  <c:v>1013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Sheet1!$A$2:$A$4</c:f>
              <c:strCache>
                <c:ptCount val="3"/>
                <c:pt idx="0">
                  <c:v>온라인</c:v>
                </c:pt>
                <c:pt idx="1">
                  <c:v>오프라인</c:v>
                </c:pt>
                <c:pt idx="2">
                  <c:v>모바일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1086</c:v>
                </c:pt>
                <c:pt idx="1">
                  <c:v>990</c:v>
                </c:pt>
                <c:pt idx="2">
                  <c:v>1470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사업별 투자액 전망</a:t>
            </a:r>
          </a:p>
        </c:rich>
      </c:tx>
      <c:layout/>
      <c:overlay val="0"/>
    </c:title>
    <c:autoTitleDeleted val="0"/>
    <c:plotArea>
      <c:barChart>
        <c:barDir val="col"/>
        <c:grouping val="percentStacked"/>
        <c:ser>
          <c:idx val="0"/>
          <c:order val="0"/>
          <c:tx>
            <c:strRef>
              <c:f>Sheet1!$B$1</c:f>
              <c:strCache>
                <c:ptCount val="1"/>
                <c:pt idx="0">
                  <c:v>대기업</c:v>
                </c:pt>
              </c:strCache>
            </c:strRef>
          </c:tx>
          <c:spPr>
            <a:solidFill>
              <a:srgbClr val="7B2D8E"/>
            </a:solidFill>
          </c:spPr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813</c:v>
                </c:pt>
                <c:pt idx="1">
                  <c:v>794</c:v>
                </c:pt>
                <c:pt idx="2">
                  <c:v>789</c:v>
                </c:pt>
                <c:pt idx="3">
                  <c:v>872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중소기업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1085</c:v>
                </c:pt>
                <c:pt idx="1">
                  <c:v>1211</c:v>
                </c:pt>
                <c:pt idx="2">
                  <c:v>1027</c:v>
                </c:pt>
                <c:pt idx="3">
                  <c:v>1169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벤처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Sheet1!$A$2:$A$5</c:f>
              <c:strCache>
                <c:ptCount val="4"/>
                <c:pt idx="0">
                  <c:v>R&amp;D</c:v>
                </c:pt>
                <c:pt idx="1">
                  <c:v>수출지원</c:v>
                </c:pt>
                <c:pt idx="2">
                  <c:v>인력양성</c:v>
                </c:pt>
                <c:pt idx="3">
                  <c:v>인프라구축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1272</c:v>
                </c:pt>
                <c:pt idx="1">
                  <c:v>1186</c:v>
                </c:pt>
                <c:pt idx="2">
                  <c:v>1596</c:v>
                </c:pt>
                <c:pt idx="3">
                  <c:v>1726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역량 이용자수 구성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계획</c:v>
                </c:pt>
              </c:strCache>
            </c:strRef>
          </c:tx>
          <c:spPr>
            <a:solidFill>
              <a:srgbClr val="808080"/>
            </a:solidFill>
          </c:spPr>
          <c:cat>
            <c:strRef>
              <c:f>Sheet1!$A$2:$A$6</c:f>
              <c:strCache>
                <c:ptCount val="5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813</c:v>
                </c:pt>
                <c:pt idx="1">
                  <c:v>858</c:v>
                </c:pt>
                <c:pt idx="2">
                  <c:v>1091</c:v>
                </c:pt>
                <c:pt idx="3">
                  <c:v>1131</c:v>
                </c:pt>
                <c:pt idx="4">
                  <c:v>1203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Sheet1!$A$2:$A$6</c:f>
              <c:strCache>
                <c:ptCount val="5"/>
                <c:pt idx="0">
                  <c:v>기획</c:v>
                </c:pt>
                <c:pt idx="1">
                  <c:v>제작</c:v>
                </c:pt>
                <c:pt idx="2">
                  <c:v>유통</c:v>
                </c:pt>
                <c:pt idx="3">
                  <c:v>마케팅</c:v>
                </c:pt>
                <c:pt idx="4">
                  <c:v>현지화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1146</c:v>
                </c:pt>
                <c:pt idx="1">
                  <c:v>996</c:v>
                </c:pt>
                <c:pt idx="2">
                  <c:v>1115</c:v>
                </c:pt>
                <c:pt idx="3">
                  <c:v>1425</c:v>
                </c:pt>
                <c:pt idx="4">
                  <c:v>1637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플랫폼별 수출액 현황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수출액(백만$)</c:v>
                </c:pt>
              </c:strCache>
            </c:strRef>
          </c:tx>
          <c:spPr>
            <a:solidFill>
              <a:srgbClr val="1F3864"/>
            </a:solidFill>
          </c:spPr>
          <c:cat>
            <c:strRef>
              <c:f>Sheet1!$A$2:$A$7</c:f>
              <c:strCache>
                <c:ptCount val="6"/>
                <c:pt idx="0">
                  <c:v>넷플릭스</c:v>
                </c:pt>
                <c:pt idx="1">
                  <c:v>유튜브</c:v>
                </c:pt>
                <c:pt idx="2">
                  <c:v>틱톡</c:v>
                </c:pt>
                <c:pt idx="3">
                  <c:v>스포티파이</c:v>
                </c:pt>
                <c:pt idx="4">
                  <c:v>아마존</c:v>
                </c:pt>
                <c:pt idx="5">
                  <c:v>디즈니플러스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1763</c:v>
                </c:pt>
                <c:pt idx="1">
                  <c:v>1755</c:v>
                </c:pt>
                <c:pt idx="2">
                  <c:v>2109</c:v>
                </c:pt>
                <c:pt idx="3">
                  <c:v>2497</c:v>
                </c:pt>
                <c:pt idx="4">
                  <c:v>2357</c:v>
                </c:pt>
                <c:pt idx="5">
                  <c:v>2786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500" b="1">
                <a:solidFill>
                  <a:srgbClr val="222222"/>
                </a:solidFill>
                <a:latin typeface="Pretendard"/>
                <a:ea typeface="Pretendard"/>
                <a:cs typeface="Pretendard"/>
              </a:rPr>
              <a:t>장르별 매출 추이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아시아</c:v>
                </c:pt>
              </c:strCache>
            </c:strRef>
          </c:tx>
          <c:spPr>
            <a:solidFill>
              <a:srgbClr val="2E75D6"/>
            </a:solidFill>
          </c:spPr>
          <c:cat>
            <c:strRef>
              <c:f>Sheet1!$A$2:$A$8</c:f>
              <c:strCache>
                <c:ptCount val="7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  <c:pt idx="6">
                  <c:v>만화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426</c:v>
                </c:pt>
                <c:pt idx="1">
                  <c:v>715</c:v>
                </c:pt>
                <c:pt idx="2">
                  <c:v>671</c:v>
                </c:pt>
                <c:pt idx="3">
                  <c:v>952</c:v>
                </c:pt>
                <c:pt idx="4">
                  <c:v>1142</c:v>
                </c:pt>
                <c:pt idx="5">
                  <c:v>1027</c:v>
                </c:pt>
                <c:pt idx="6">
                  <c:v>1376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북미</c:v>
                </c:pt>
              </c:strCache>
            </c:strRef>
          </c:tx>
          <c:spPr>
            <a:solidFill>
              <a:srgbClr val="1F9E8F"/>
            </a:solidFill>
          </c:spPr>
          <c:cat>
            <c:strRef>
              <c:f>Sheet1!$A$2:$A$8</c:f>
              <c:strCache>
                <c:ptCount val="7"/>
                <c:pt idx="0">
                  <c:v>게임</c:v>
                </c:pt>
                <c:pt idx="1">
                  <c:v>음악</c:v>
                </c:pt>
                <c:pt idx="2">
                  <c:v>방송</c:v>
                </c:pt>
                <c:pt idx="3">
                  <c:v>영화</c:v>
                </c:pt>
                <c:pt idx="4">
                  <c:v>캐릭터</c:v>
                </c:pt>
                <c:pt idx="5">
                  <c:v>애니메이션</c:v>
                </c:pt>
                <c:pt idx="6">
                  <c:v>만화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782</c:v>
                </c:pt>
                <c:pt idx="1">
                  <c:v>916</c:v>
                </c:pt>
                <c:pt idx="2">
                  <c:v>902</c:v>
                </c:pt>
                <c:pt idx="3">
                  <c:v>1128</c:v>
                </c:pt>
                <c:pt idx="4">
                  <c:v>1456</c:v>
                </c:pt>
                <c:pt idx="5">
                  <c:v>1508</c:v>
                </c:pt>
                <c:pt idx="6">
                  <c:v>1718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900" b="0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 b="0">
                <a:solidFill>
                  <a:srgbClr val="595959"/>
                </a:solidFill>
                <a:latin typeface="Pretendard"/>
                <a:ea typeface="Pretendard"/>
                <a:cs typeface="Pretendard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 b="0">
              <a:solidFill>
                <a:srgbClr val="595959"/>
              </a:solidFill>
              <a:latin typeface="Pretendard"/>
              <a:ea typeface="Pretendard"/>
              <a:cs typeface="Pretendard"/>
            </a:defRPr>
          </a:pPr>
        </a:p>
      </c:txPr>
    </c:legend>
    <c:dispBlanksAs val="gap"/>
  </c:chart>
  <c:txPr>
    <a:bodyPr/>
    <a:lstStyle/>
    <a:p>
      <a:pPr>
        <a:defRPr sz="1100" b="0">
          <a:solidFill>
            <a:srgbClr val="222222"/>
          </a:solidFill>
          <a:latin typeface="Pretendard"/>
          <a:ea typeface="Pretendard"/>
          <a:cs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CHT-051</a:t>
            </a:r>
          </a:p>
        </p:txBody>
      </p:sp>
      <p:graphicFrame>
        <p:nvGraphicFramePr>
          <p:cNvPr id="3" name="asset:CHT-051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CHT-052</a:t>
            </a:r>
          </a:p>
        </p:txBody>
      </p:sp>
      <p:graphicFrame>
        <p:nvGraphicFramePr>
          <p:cNvPr id="3" name="asset:CHT-052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CHT-053</a:t>
            </a:r>
          </a:p>
        </p:txBody>
      </p:sp>
      <p:graphicFrame>
        <p:nvGraphicFramePr>
          <p:cNvPr id="3" name="asset:CHT-053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CHT-054</a:t>
            </a:r>
          </a:p>
        </p:txBody>
      </p:sp>
      <p:graphicFrame>
        <p:nvGraphicFramePr>
          <p:cNvPr id="3" name="asset:CHT-054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CHT-055</a:t>
            </a:r>
          </a:p>
        </p:txBody>
      </p:sp>
      <p:graphicFrame>
        <p:nvGraphicFramePr>
          <p:cNvPr id="3" name="asset:CHT-055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CHT-056</a:t>
            </a:r>
          </a:p>
        </p:txBody>
      </p:sp>
      <p:graphicFrame>
        <p:nvGraphicFramePr>
          <p:cNvPr id="3" name="asset:CHT-056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CHT-057</a:t>
            </a:r>
          </a:p>
        </p:txBody>
      </p:sp>
      <p:graphicFrame>
        <p:nvGraphicFramePr>
          <p:cNvPr id="3" name="asset:CHT-057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CHT-058</a:t>
            </a:r>
          </a:p>
        </p:txBody>
      </p:sp>
      <p:graphicFrame>
        <p:nvGraphicFramePr>
          <p:cNvPr id="3" name="asset:CHT-058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CHT-059</a:t>
            </a:r>
          </a:p>
        </p:txBody>
      </p:sp>
      <p:graphicFrame>
        <p:nvGraphicFramePr>
          <p:cNvPr id="3" name="asset:CHT-059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CHT-060</a:t>
            </a:r>
          </a:p>
        </p:txBody>
      </p:sp>
      <p:graphicFrame>
        <p:nvGraphicFramePr>
          <p:cNvPr id="3" name="asset:CHT-060"/>
          <p:cNvGraphicFramePr>
            <a:graphicFrameLocks noGrp="1"/>
          </p:cNvGraphicFramePr>
          <p:nvPr/>
        </p:nvGraphicFramePr>
        <p:xfrm>
          <a:off x="548640" y="1234440"/>
          <a:ext cx="11064240" cy="5212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