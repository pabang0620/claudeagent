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점유율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Sheet1!$A$2:$A$4</c:f>
              <c:strCache>
                <c:ptCount val="3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258</c:v>
                </c:pt>
                <c:pt idx="1">
                  <c:v>355</c:v>
                </c:pt>
                <c:pt idx="2">
                  <c:v>606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Sheet1!$A$2:$A$4</c:f>
              <c:strCache>
                <c:ptCount val="3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734</c:v>
                </c:pt>
                <c:pt idx="1">
                  <c:v>615</c:v>
                </c:pt>
                <c:pt idx="2">
                  <c:v>1027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Sheet1!$A$2:$A$4</c:f>
              <c:strCache>
                <c:ptCount val="3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1028</c:v>
                </c:pt>
                <c:pt idx="1">
                  <c:v>1214</c:v>
                </c:pt>
                <c:pt idx="2">
                  <c:v>1338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성과지표 분석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Sheet1!$A$2:$A$5</c:f>
              <c:strCache>
                <c:ptCount val="4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639</c:v>
                </c:pt>
                <c:pt idx="1">
                  <c:v>788</c:v>
                </c:pt>
                <c:pt idx="2">
                  <c:v>666</c:v>
                </c:pt>
                <c:pt idx="3">
                  <c:v>921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796</c:v>
                </c:pt>
                <c:pt idx="1">
                  <c:v>1079</c:v>
                </c:pt>
                <c:pt idx="2">
                  <c:v>1175</c:v>
                </c:pt>
                <c:pt idx="3">
                  <c:v>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벤처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886</c:v>
                </c:pt>
                <c:pt idx="1">
                  <c:v>1030</c:v>
                </c:pt>
                <c:pt idx="2">
                  <c:v>1238</c:v>
                </c:pt>
                <c:pt idx="3">
                  <c:v>1433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투자액 전망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Sheet1!$A$2:$A$6</c:f>
              <c:strCache>
                <c:ptCount val="5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554</c:v>
                </c:pt>
                <c:pt idx="1">
                  <c:v>772</c:v>
                </c:pt>
                <c:pt idx="2">
                  <c:v>959</c:v>
                </c:pt>
                <c:pt idx="3">
                  <c:v>946</c:v>
                </c:pt>
                <c:pt idx="4">
                  <c:v>1197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Sheet1!$A$2:$A$6</c:f>
              <c:strCache>
                <c:ptCount val="5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1007</c:v>
                </c:pt>
                <c:pt idx="1">
                  <c:v>1097</c:v>
                </c:pt>
                <c:pt idx="2">
                  <c:v>1246</c:v>
                </c:pt>
                <c:pt idx="3">
                  <c:v>1246</c:v>
                </c:pt>
                <c:pt idx="4">
                  <c:v>1581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1219</c:v>
                </c:pt>
                <c:pt idx="1">
                  <c:v>1313</c:v>
                </c:pt>
                <c:pt idx="2">
                  <c:v>1609</c:v>
                </c:pt>
                <c:pt idx="3">
                  <c:v>1486</c:v>
                </c:pt>
                <c:pt idx="4">
                  <c:v>1673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이용자수 구성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835</c:v>
                </c:pt>
                <c:pt idx="1">
                  <c:v>804</c:v>
                </c:pt>
                <c:pt idx="2">
                  <c:v>1111</c:v>
                </c:pt>
                <c:pt idx="3">
                  <c:v>1046</c:v>
                </c:pt>
                <c:pt idx="4">
                  <c:v>1207</c:v>
                </c:pt>
                <c:pt idx="5">
                  <c:v>1546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857</c:v>
                </c:pt>
                <c:pt idx="1">
                  <c:v>1313</c:v>
                </c:pt>
                <c:pt idx="2">
                  <c:v>1411</c:v>
                </c:pt>
                <c:pt idx="3">
                  <c:v>1324</c:v>
                </c:pt>
                <c:pt idx="4">
                  <c:v>1606</c:v>
                </c:pt>
                <c:pt idx="5">
                  <c:v>1583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수출액 현황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Sheet1!$A$2:$A$8</c:f>
              <c:strCache>
                <c:ptCount val="7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  <c:pt idx="6">
                  <c:v>자사몰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2132</c:v>
                </c:pt>
                <c:pt idx="1">
                  <c:v>2106</c:v>
                </c:pt>
                <c:pt idx="2">
                  <c:v>2323</c:v>
                </c:pt>
                <c:pt idx="3">
                  <c:v>2451</c:v>
                </c:pt>
                <c:pt idx="4">
                  <c:v>2658</c:v>
                </c:pt>
                <c:pt idx="5">
                  <c:v>2813</c:v>
                </c:pt>
                <c:pt idx="6">
                  <c:v>2913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매출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557</c:v>
                </c:pt>
                <c:pt idx="1">
                  <c:v>580</c:v>
                </c:pt>
                <c:pt idx="2">
                  <c:v>616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605</c:v>
                </c:pt>
                <c:pt idx="1">
                  <c:v>748</c:v>
                </c:pt>
                <c:pt idx="2">
                  <c:v>964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점유율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681</c:v>
                </c:pt>
                <c:pt idx="1">
                  <c:v>760</c:v>
                </c:pt>
                <c:pt idx="2">
                  <c:v>829</c:v>
                </c:pt>
                <c:pt idx="3">
                  <c:v>959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765</c:v>
                </c:pt>
                <c:pt idx="1">
                  <c:v>886</c:v>
                </c:pt>
                <c:pt idx="2">
                  <c:v>970</c:v>
                </c:pt>
                <c:pt idx="3">
                  <c:v>1282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벤처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1111</c:v>
                </c:pt>
                <c:pt idx="1">
                  <c:v>1103</c:v>
                </c:pt>
                <c:pt idx="2">
                  <c:v>1353</c:v>
                </c:pt>
                <c:pt idx="3">
                  <c:v>1715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성과지표 분석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Sheet1!$A$2:$A$6</c:f>
              <c:strCache>
                <c:ptCount val="5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817</c:v>
                </c:pt>
                <c:pt idx="1">
                  <c:v>1080</c:v>
                </c:pt>
                <c:pt idx="2">
                  <c:v>970</c:v>
                </c:pt>
                <c:pt idx="3">
                  <c:v>1033</c:v>
                </c:pt>
                <c:pt idx="4">
                  <c:v>1384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Sheet1!$A$2:$A$6</c:f>
              <c:strCache>
                <c:ptCount val="5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868</c:v>
                </c:pt>
                <c:pt idx="1">
                  <c:v>1046</c:v>
                </c:pt>
                <c:pt idx="2">
                  <c:v>1261</c:v>
                </c:pt>
                <c:pt idx="3">
                  <c:v>1409</c:v>
                </c:pt>
                <c:pt idx="4">
                  <c:v>1456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Sheet1!$A$2:$A$6</c:f>
              <c:strCache>
                <c:ptCount val="5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1360</c:v>
                </c:pt>
                <c:pt idx="1">
                  <c:v>1503</c:v>
                </c:pt>
                <c:pt idx="2">
                  <c:v>1612</c:v>
                </c:pt>
                <c:pt idx="3">
                  <c:v>1737</c:v>
                </c:pt>
                <c:pt idx="4">
                  <c:v>1684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투자액 전망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542</c:v>
                </c:pt>
                <c:pt idx="1">
                  <c:v>599</c:v>
                </c:pt>
                <c:pt idx="2">
                  <c:v>834</c:v>
                </c:pt>
                <c:pt idx="3">
                  <c:v>932</c:v>
                </c:pt>
                <c:pt idx="4">
                  <c:v>1095</c:v>
                </c:pt>
                <c:pt idx="5">
                  <c:v>874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746</c:v>
                </c:pt>
                <c:pt idx="1">
                  <c:v>607</c:v>
                </c:pt>
                <c:pt idx="2">
                  <c:v>797</c:v>
                </c:pt>
                <c:pt idx="3">
                  <c:v>943</c:v>
                </c:pt>
                <c:pt idx="4">
                  <c:v>1000</c:v>
                </c:pt>
                <c:pt idx="5">
                  <c:v>1473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757</c:v>
                </c:pt>
                <c:pt idx="1">
                  <c:v>1153</c:v>
                </c:pt>
                <c:pt idx="2">
                  <c:v>1354</c:v>
                </c:pt>
                <c:pt idx="3">
                  <c:v>1366</c:v>
                </c:pt>
                <c:pt idx="4">
                  <c:v>1301</c:v>
                </c:pt>
                <c:pt idx="5">
                  <c:v>1723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이용자수 구성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Sheet1!$A$2:$A$8</c:f>
              <c:strCache>
                <c:ptCount val="7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  <c:pt idx="6">
                  <c:v>오세아니아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376</c:v>
                </c:pt>
                <c:pt idx="1">
                  <c:v>481</c:v>
                </c:pt>
                <c:pt idx="2">
                  <c:v>841</c:v>
                </c:pt>
                <c:pt idx="3">
                  <c:v>1027</c:v>
                </c:pt>
                <c:pt idx="4">
                  <c:v>958</c:v>
                </c:pt>
                <c:pt idx="5">
                  <c:v>994</c:v>
                </c:pt>
                <c:pt idx="6">
                  <c:v>1414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Sheet1!$A$2:$A$8</c:f>
              <c:strCache>
                <c:ptCount val="7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  <c:pt idx="6">
                  <c:v>오세아니아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793</c:v>
                </c:pt>
                <c:pt idx="1">
                  <c:v>763</c:v>
                </c:pt>
                <c:pt idx="2">
                  <c:v>1148</c:v>
                </c:pt>
                <c:pt idx="3">
                  <c:v>1087</c:v>
                </c:pt>
                <c:pt idx="4">
                  <c:v>1177</c:v>
                </c:pt>
                <c:pt idx="5">
                  <c:v>1450</c:v>
                </c:pt>
                <c:pt idx="6">
                  <c:v>1616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수출액 현황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</c:v>
                </c:pt>
                <c:pt idx="1">
                  <c:v>750</c:v>
                </c:pt>
                <c:pt idx="2">
                  <c:v>1115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매출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Sheet1!$A$2:$A$5</c:f>
              <c:strCache>
                <c:ptCount val="4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716</c:v>
                </c:pt>
                <c:pt idx="1">
                  <c:v>820</c:v>
                </c:pt>
                <c:pt idx="2">
                  <c:v>924</c:v>
                </c:pt>
                <c:pt idx="3">
                  <c:v>1088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Sheet1!$A$2:$A$5</c:f>
              <c:strCache>
                <c:ptCount val="4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983</c:v>
                </c:pt>
                <c:pt idx="1">
                  <c:v>1055</c:v>
                </c:pt>
                <c:pt idx="2">
                  <c:v>1145</c:v>
                </c:pt>
                <c:pt idx="3">
                  <c:v>1527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점유율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Sheet1!$A$2:$A$6</c:f>
              <c:strCache>
                <c:ptCount val="5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242</c:v>
                </c:pt>
                <c:pt idx="1">
                  <c:v>437</c:v>
                </c:pt>
                <c:pt idx="2">
                  <c:v>707</c:v>
                </c:pt>
                <c:pt idx="3">
                  <c:v>639</c:v>
                </c:pt>
                <c:pt idx="4">
                  <c:v>1004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Sheet1!$A$2:$A$6</c:f>
              <c:strCache>
                <c:ptCount val="5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828</c:v>
                </c:pt>
                <c:pt idx="1">
                  <c:v>722</c:v>
                </c:pt>
                <c:pt idx="2">
                  <c:v>821</c:v>
                </c:pt>
                <c:pt idx="3">
                  <c:v>1232</c:v>
                </c:pt>
                <c:pt idx="4">
                  <c:v>1344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목표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Sheet1!$A$2:$A$6</c:f>
              <c:strCache>
                <c:ptCount val="5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977</c:v>
                </c:pt>
                <c:pt idx="1">
                  <c:v>876</c:v>
                </c:pt>
                <c:pt idx="2">
                  <c:v>1318</c:v>
                </c:pt>
                <c:pt idx="3">
                  <c:v>1401</c:v>
                </c:pt>
                <c:pt idx="4">
                  <c:v>1551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성과지표 분석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341</c:v>
                </c:pt>
                <c:pt idx="1">
                  <c:v>524</c:v>
                </c:pt>
                <c:pt idx="2">
                  <c:v>784</c:v>
                </c:pt>
                <c:pt idx="3">
                  <c:v>883</c:v>
                </c:pt>
                <c:pt idx="4">
                  <c:v>1141</c:v>
                </c:pt>
                <c:pt idx="5">
                  <c:v>1098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733</c:v>
                </c:pt>
                <c:pt idx="1">
                  <c:v>783</c:v>
                </c:pt>
                <c:pt idx="2">
                  <c:v>969</c:v>
                </c:pt>
                <c:pt idx="3">
                  <c:v>1021</c:v>
                </c:pt>
                <c:pt idx="4">
                  <c:v>1147</c:v>
                </c:pt>
                <c:pt idx="5">
                  <c:v>1379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1199</c:v>
                </c:pt>
                <c:pt idx="1">
                  <c:v>1301</c:v>
                </c:pt>
                <c:pt idx="2">
                  <c:v>1199</c:v>
                </c:pt>
                <c:pt idx="3">
                  <c:v>1508</c:v>
                </c:pt>
                <c:pt idx="4">
                  <c:v>1488</c:v>
                </c:pt>
                <c:pt idx="5">
                  <c:v>1747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투자액 전망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</c:v>
                </c:pt>
                <c:pt idx="1">
                  <c:v>626</c:v>
                </c:pt>
                <c:pt idx="2">
                  <c:v>932</c:v>
                </c:pt>
                <c:pt idx="3">
                  <c:v>1208</c:v>
                </c:pt>
                <c:pt idx="4">
                  <c:v>1296</c:v>
                </c:pt>
                <c:pt idx="5">
                  <c:v>1133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770</c:v>
                </c:pt>
                <c:pt idx="1">
                  <c:v>938</c:v>
                </c:pt>
                <c:pt idx="2">
                  <c:v>1333</c:v>
                </c:pt>
                <c:pt idx="3">
                  <c:v>1176</c:v>
                </c:pt>
                <c:pt idx="4">
                  <c:v>1443</c:v>
                </c:pt>
                <c:pt idx="5">
                  <c:v>1412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1285</c:v>
                </c:pt>
                <c:pt idx="1">
                  <c:v>1130</c:v>
                </c:pt>
                <c:pt idx="2">
                  <c:v>1248</c:v>
                </c:pt>
                <c:pt idx="3">
                  <c:v>1521</c:v>
                </c:pt>
                <c:pt idx="4">
                  <c:v>1564</c:v>
                </c:pt>
                <c:pt idx="5">
                  <c:v>1936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이용자수 구성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Sheet1!$A$2:$A$4</c:f>
              <c:strCache>
                <c:ptCount val="3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634</c:v>
                </c:pt>
                <c:pt idx="1">
                  <c:v>847</c:v>
                </c:pt>
                <c:pt idx="2">
                  <c:v>1071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860</c:v>
                </c:pt>
                <c:pt idx="1">
                  <c:v>1224</c:v>
                </c:pt>
                <c:pt idx="2">
                  <c:v>1288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수출액 현황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1176</c:v>
                </c:pt>
                <c:pt idx="1">
                  <c:v>1079</c:v>
                </c:pt>
                <c:pt idx="2">
                  <c:v>1221</c:v>
                </c:pt>
                <c:pt idx="3">
                  <c:v>1671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매출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Sheet1!$A$2:$A$6</c:f>
              <c:strCache>
                <c:ptCount val="5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350</c:v>
                </c:pt>
                <c:pt idx="1">
                  <c:v>741</c:v>
                </c:pt>
                <c:pt idx="2">
                  <c:v>636</c:v>
                </c:pt>
                <c:pt idx="3">
                  <c:v>942</c:v>
                </c:pt>
                <c:pt idx="4">
                  <c:v>1155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Sheet1!$A$2:$A$6</c:f>
              <c:strCache>
                <c:ptCount val="5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697</c:v>
                </c:pt>
                <c:pt idx="1">
                  <c:v>756</c:v>
                </c:pt>
                <c:pt idx="2">
                  <c:v>1058</c:v>
                </c:pt>
                <c:pt idx="3">
                  <c:v>1270</c:v>
                </c:pt>
                <c:pt idx="4">
                  <c:v>1410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점유율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485</c:v>
                </c:pt>
                <c:pt idx="1">
                  <c:v>857</c:v>
                </c:pt>
                <c:pt idx="2">
                  <c:v>1059</c:v>
                </c:pt>
                <c:pt idx="3">
                  <c:v>1185</c:v>
                </c:pt>
                <c:pt idx="4">
                  <c:v>1021</c:v>
                </c:pt>
                <c:pt idx="5">
                  <c:v>1328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Sheet1!$A$2:$A$7</c:f>
              <c:strCache>
                <c:ptCount val="6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811</c:v>
                </c:pt>
                <c:pt idx="1">
                  <c:v>851</c:v>
                </c:pt>
                <c:pt idx="2">
                  <c:v>1197</c:v>
                </c:pt>
                <c:pt idx="3">
                  <c:v>1275</c:v>
                </c:pt>
                <c:pt idx="4">
                  <c:v>1282</c:v>
                </c:pt>
                <c:pt idx="5">
                  <c:v>1365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업계평균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Sheet1!$A$2:$A$7</c:f>
              <c:strCache>
                <c:ptCount val="6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1243</c:v>
                </c:pt>
                <c:pt idx="1">
                  <c:v>1387</c:v>
                </c:pt>
                <c:pt idx="2">
                  <c:v>1392</c:v>
                </c:pt>
                <c:pt idx="3">
                  <c:v>1381</c:v>
                </c:pt>
                <c:pt idx="4">
                  <c:v>1705</c:v>
                </c:pt>
                <c:pt idx="5">
                  <c:v>1682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성과지표 분석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Sheet1!$A$2:$A$8</c:f>
              <c:strCache>
                <c:ptCount val="7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  <c:pt idx="6">
                  <c:v>컨설팅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668</c:v>
                </c:pt>
                <c:pt idx="1">
                  <c:v>1040</c:v>
                </c:pt>
                <c:pt idx="2">
                  <c:v>1154</c:v>
                </c:pt>
                <c:pt idx="3">
                  <c:v>1263</c:v>
                </c:pt>
                <c:pt idx="4">
                  <c:v>1212</c:v>
                </c:pt>
                <c:pt idx="5">
                  <c:v>1376</c:v>
                </c:pt>
                <c:pt idx="6">
                  <c:v>1724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Sheet1!$A$2:$A$8</c:f>
              <c:strCache>
                <c:ptCount val="7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  <c:pt idx="6">
                  <c:v>컨설팅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903</c:v>
                </c:pt>
                <c:pt idx="1">
                  <c:v>1194</c:v>
                </c:pt>
                <c:pt idx="2">
                  <c:v>1279</c:v>
                </c:pt>
                <c:pt idx="3">
                  <c:v>1434</c:v>
                </c:pt>
                <c:pt idx="4">
                  <c:v>1372</c:v>
                </c:pt>
                <c:pt idx="5">
                  <c:v>1587</c:v>
                </c:pt>
                <c:pt idx="6">
                  <c:v>1623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Sheet1!$A$2:$A$8</c:f>
              <c:strCache>
                <c:ptCount val="7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  <c:pt idx="4">
                  <c:v>글로벌마케팅</c:v>
                </c:pt>
                <c:pt idx="5">
                  <c:v>네트워킹</c:v>
                </c:pt>
                <c:pt idx="6">
                  <c:v>컨설팅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1153</c:v>
                </c:pt>
                <c:pt idx="1">
                  <c:v>1512</c:v>
                </c:pt>
                <c:pt idx="2">
                  <c:v>1723</c:v>
                </c:pt>
                <c:pt idx="3">
                  <c:v>1670</c:v>
                </c:pt>
                <c:pt idx="4">
                  <c:v>1895</c:v>
                </c:pt>
                <c:pt idx="5">
                  <c:v>1891</c:v>
                </c:pt>
                <c:pt idx="6">
                  <c:v>2033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CHT-031</a:t>
            </a:r>
          </a:p>
        </p:txBody>
      </p:sp>
      <p:graphicFrame>
        <p:nvGraphicFramePr>
          <p:cNvPr id="3" name="asset:CHT-03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CHT-032</a:t>
            </a:r>
          </a:p>
        </p:txBody>
      </p:sp>
      <p:graphicFrame>
        <p:nvGraphicFramePr>
          <p:cNvPr id="3" name="asset:CHT-03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CHT-033</a:t>
            </a:r>
          </a:p>
        </p:txBody>
      </p:sp>
      <p:graphicFrame>
        <p:nvGraphicFramePr>
          <p:cNvPr id="3" name="asset:CHT-03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CHT-034</a:t>
            </a:r>
          </a:p>
        </p:txBody>
      </p:sp>
      <p:graphicFrame>
        <p:nvGraphicFramePr>
          <p:cNvPr id="3" name="asset:CHT-03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CHT-035</a:t>
            </a:r>
          </a:p>
        </p:txBody>
      </p:sp>
      <p:graphicFrame>
        <p:nvGraphicFramePr>
          <p:cNvPr id="3" name="asset:CHT-03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CHT-036</a:t>
            </a:r>
          </a:p>
        </p:txBody>
      </p:sp>
      <p:graphicFrame>
        <p:nvGraphicFramePr>
          <p:cNvPr id="3" name="asset:CHT-03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CHT-037</a:t>
            </a:r>
          </a:p>
        </p:txBody>
      </p:sp>
      <p:graphicFrame>
        <p:nvGraphicFramePr>
          <p:cNvPr id="3" name="asset:CHT-03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CHT-038</a:t>
            </a:r>
          </a:p>
        </p:txBody>
      </p:sp>
      <p:graphicFrame>
        <p:nvGraphicFramePr>
          <p:cNvPr id="3" name="asset:CHT-03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CHT-039</a:t>
            </a:r>
          </a:p>
        </p:txBody>
      </p:sp>
      <p:graphicFrame>
        <p:nvGraphicFramePr>
          <p:cNvPr id="3" name="asset:CHT-03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CHT-040</a:t>
            </a:r>
          </a:p>
        </p:txBody>
      </p:sp>
      <p:graphicFrame>
        <p:nvGraphicFramePr>
          <p:cNvPr id="3" name="asset:CHT-04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CHT-041</a:t>
            </a:r>
          </a:p>
        </p:txBody>
      </p:sp>
      <p:graphicFrame>
        <p:nvGraphicFramePr>
          <p:cNvPr id="3" name="asset:CHT-04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CHT-042</a:t>
            </a:r>
          </a:p>
        </p:txBody>
      </p:sp>
      <p:graphicFrame>
        <p:nvGraphicFramePr>
          <p:cNvPr id="3" name="asset:CHT-04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CHT-043</a:t>
            </a:r>
          </a:p>
        </p:txBody>
      </p:sp>
      <p:graphicFrame>
        <p:nvGraphicFramePr>
          <p:cNvPr id="3" name="asset:CHT-04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CHT-044</a:t>
            </a:r>
          </a:p>
        </p:txBody>
      </p:sp>
      <p:graphicFrame>
        <p:nvGraphicFramePr>
          <p:cNvPr id="3" name="asset:CHT-04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CHT-045</a:t>
            </a:r>
          </a:p>
        </p:txBody>
      </p:sp>
      <p:graphicFrame>
        <p:nvGraphicFramePr>
          <p:cNvPr id="3" name="asset:CHT-04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CHT-046</a:t>
            </a:r>
          </a:p>
        </p:txBody>
      </p:sp>
      <p:graphicFrame>
        <p:nvGraphicFramePr>
          <p:cNvPr id="3" name="asset:CHT-04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CHT-047</a:t>
            </a:r>
          </a:p>
        </p:txBody>
      </p:sp>
      <p:graphicFrame>
        <p:nvGraphicFramePr>
          <p:cNvPr id="3" name="asset:CHT-04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CHT-048</a:t>
            </a:r>
          </a:p>
        </p:txBody>
      </p:sp>
      <p:graphicFrame>
        <p:nvGraphicFramePr>
          <p:cNvPr id="3" name="asset:CHT-04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CHT-049</a:t>
            </a:r>
          </a:p>
        </p:txBody>
      </p:sp>
      <p:graphicFrame>
        <p:nvGraphicFramePr>
          <p:cNvPr id="3" name="asset:CHT-04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CHT-050</a:t>
            </a:r>
          </a:p>
        </p:txBody>
      </p:sp>
      <p:graphicFrame>
        <p:nvGraphicFramePr>
          <p:cNvPr id="3" name="asset:CHT-05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