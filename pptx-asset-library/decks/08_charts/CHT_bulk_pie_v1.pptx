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성과지표 분석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성과지표(점)</c:v>
                </c:pt>
              </c:strCache>
            </c:strRef>
          </c:tx>
          <c:dPt>
            <c:idx val="0"/>
            <c:spPr>
              <a:solidFill>
                <a:srgbClr val="29ABE2"/>
              </a:solidFill>
            </c:spPr>
          </c:dPt>
          <c:dPt>
            <c:idx val="1"/>
            <c:spPr>
              <a:solidFill>
                <a:srgbClr val="7B2D8E"/>
              </a:solidFill>
            </c:spPr>
          </c:dPt>
          <c:dPt>
            <c:idx val="2"/>
            <c:spPr>
              <a:solidFill>
                <a:srgbClr val="808080"/>
              </a:solidFill>
            </c:spPr>
          </c:dPt>
          <c:cat>
            <c:strRef>
              <c:f>Sheet1!$A$2:$A$4</c:f>
              <c:strCache>
                <c:ptCount val="3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922</c:v>
                </c:pt>
                <c:pt idx="1">
                  <c:v>1002</c:v>
                </c:pt>
                <c:pt idx="2">
                  <c:v>1399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투자액 전망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dPt>
            <c:idx val="0"/>
            <c:spPr>
              <a:solidFill>
                <a:srgbClr val="7B2D8E"/>
              </a:solidFill>
            </c:spPr>
          </c:dPt>
          <c:dPt>
            <c:idx val="1"/>
            <c:spPr>
              <a:solidFill>
                <a:srgbClr val="808080"/>
              </a:solidFill>
            </c:spPr>
          </c:dPt>
          <c:dPt>
            <c:idx val="2"/>
            <c:spPr>
              <a:solidFill>
                <a:srgbClr val="1F3864"/>
              </a:solidFill>
            </c:spPr>
          </c:dPt>
          <c:dPt>
            <c:idx val="3"/>
            <c:spPr>
              <a:solidFill>
                <a:srgbClr val="2E75D6"/>
              </a:solidFill>
            </c:spPr>
          </c:dPt>
          <c:cat>
            <c:strRef>
              <c:f>Sheet1!$A$2:$A$5</c:f>
              <c:strCache>
                <c:ptCount val="4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1279</c:v>
                </c:pt>
                <c:pt idx="1">
                  <c:v>1082</c:v>
                </c:pt>
                <c:pt idx="2">
                  <c:v>1643</c:v>
                </c:pt>
                <c:pt idx="3">
                  <c:v>1887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이용자수 구성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이용자수(만명)</c:v>
                </c:pt>
              </c:strCache>
            </c:strRef>
          </c:tx>
          <c:dPt>
            <c:idx val="0"/>
            <c:spPr>
              <a:solidFill>
                <a:srgbClr val="808080"/>
              </a:solidFill>
            </c:spPr>
          </c:dPt>
          <c:dPt>
            <c:idx val="1"/>
            <c:spPr>
              <a:solidFill>
                <a:srgbClr val="1F3864"/>
              </a:solidFill>
            </c:spPr>
          </c:dPt>
          <c:dPt>
            <c:idx val="2"/>
            <c:spPr>
              <a:solidFill>
                <a:srgbClr val="2E75D6"/>
              </a:solidFill>
            </c:spPr>
          </c:dPt>
          <c:dPt>
            <c:idx val="3"/>
            <c:spPr>
              <a:solidFill>
                <a:srgbClr val="1F9E8F"/>
              </a:solidFill>
            </c:spPr>
          </c:dPt>
          <c:dPt>
            <c:idx val="4"/>
            <c:spPr>
              <a:solidFill>
                <a:srgbClr val="29ABE2"/>
              </a:solidFill>
            </c:spPr>
          </c:dPt>
          <c:cat>
            <c:strRef>
              <c:f>Sheet1!$A$2:$A$6</c:f>
              <c:strCache>
                <c:ptCount val="5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1214</c:v>
                </c:pt>
                <c:pt idx="1">
                  <c:v>1505</c:v>
                </c:pt>
                <c:pt idx="2">
                  <c:v>1919</c:v>
                </c:pt>
                <c:pt idx="3">
                  <c:v>2013</c:v>
                </c:pt>
                <c:pt idx="4">
                  <c:v>2057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수출액 현황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2E75D6"/>
              </a:solidFill>
            </c:spPr>
          </c:dPt>
          <c:dPt>
            <c:idx val="2"/>
            <c:spPr>
              <a:solidFill>
                <a:srgbClr val="1F9E8F"/>
              </a:solidFill>
            </c:spPr>
          </c:dPt>
          <c:dPt>
            <c:idx val="3"/>
            <c:spPr>
              <a:solidFill>
                <a:srgbClr val="29ABE2"/>
              </a:solidFill>
            </c:spPr>
          </c:dPt>
          <c:dPt>
            <c:idx val="4"/>
            <c:spPr>
              <a:solidFill>
                <a:srgbClr val="7B2D8E"/>
              </a:solidFill>
            </c:spPr>
          </c:dPt>
          <c:dPt>
            <c:idx val="5"/>
            <c:spPr>
              <a:solidFill>
                <a:srgbClr val="808080"/>
              </a:solidFill>
            </c:spPr>
          </c:dPt>
          <c:cat>
            <c:strRef>
              <c:f>Sheet1!$A$2:$A$7</c:f>
              <c:strCache>
                <c:ptCount val="6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1638</c:v>
                </c:pt>
                <c:pt idx="1">
                  <c:v>2011</c:v>
                </c:pt>
                <c:pt idx="2">
                  <c:v>2260</c:v>
                </c:pt>
                <c:pt idx="3">
                  <c:v>2288</c:v>
                </c:pt>
                <c:pt idx="4">
                  <c:v>2373</c:v>
                </c:pt>
                <c:pt idx="5">
                  <c:v>2616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매출 추이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dPt>
            <c:idx val="0"/>
            <c:spPr>
              <a:solidFill>
                <a:srgbClr val="2E75D6"/>
              </a:solidFill>
            </c:spPr>
          </c:dPt>
          <c:dPt>
            <c:idx val="1"/>
            <c:spPr>
              <a:solidFill>
                <a:srgbClr val="1F9E8F"/>
              </a:solidFill>
            </c:spPr>
          </c:dPt>
          <c:dPt>
            <c:idx val="2"/>
            <c:spPr>
              <a:solidFill>
                <a:srgbClr val="29ABE2"/>
              </a:solidFill>
            </c:spPr>
          </c:dPt>
          <c:cat>
            <c:strRef>
              <c:f>Sheet1!$A$2:$A$4</c:f>
              <c:strCache>
                <c:ptCount val="3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1741</c:v>
                </c:pt>
                <c:pt idx="1">
                  <c:v>2230</c:v>
                </c:pt>
                <c:pt idx="2">
                  <c:v>2107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점유율 비교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점유율(%)</c:v>
                </c:pt>
              </c:strCache>
            </c:strRef>
          </c:tx>
          <c:dPt>
            <c:idx val="0"/>
            <c:spPr>
              <a:solidFill>
                <a:srgbClr val="1F9E8F"/>
              </a:solidFill>
            </c:spPr>
          </c:dPt>
          <c:dPt>
            <c:idx val="1"/>
            <c:spPr>
              <a:solidFill>
                <a:srgbClr val="29ABE2"/>
              </a:solidFill>
            </c:spPr>
          </c:dPt>
          <c:dPt>
            <c:idx val="2"/>
            <c:spPr>
              <a:solidFill>
                <a:srgbClr val="7B2D8E"/>
              </a:solidFill>
            </c:spPr>
          </c:dPt>
          <c:dPt>
            <c:idx val="3"/>
            <c:spPr>
              <a:solidFill>
                <a:srgbClr val="808080"/>
              </a:solidFill>
            </c:spPr>
          </c:dPt>
          <c:cat>
            <c:strRef>
              <c:f>Sheet1!$A$2:$A$5</c:f>
              <c:strCache>
                <c:ptCount val="4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637</c:v>
                </c:pt>
                <c:pt idx="1">
                  <c:v>750</c:v>
                </c:pt>
                <c:pt idx="2">
                  <c:v>1173</c:v>
                </c:pt>
                <c:pt idx="3">
                  <c:v>1098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성과지표 분석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성과지표(점)</c:v>
                </c:pt>
              </c:strCache>
            </c:strRef>
          </c:tx>
          <c:dPt>
            <c:idx val="0"/>
            <c:spPr>
              <a:solidFill>
                <a:srgbClr val="29ABE2"/>
              </a:solidFill>
            </c:spPr>
          </c:dPt>
          <c:dPt>
            <c:idx val="1"/>
            <c:spPr>
              <a:solidFill>
                <a:srgbClr val="7B2D8E"/>
              </a:solidFill>
            </c:spPr>
          </c:dPt>
          <c:dPt>
            <c:idx val="2"/>
            <c:spPr>
              <a:solidFill>
                <a:srgbClr val="808080"/>
              </a:solidFill>
            </c:spPr>
          </c:dPt>
          <c:dPt>
            <c:idx val="3"/>
            <c:spPr>
              <a:solidFill>
                <a:srgbClr val="1F3864"/>
              </a:solidFill>
            </c:spPr>
          </c:dPt>
          <c:dPt>
            <c:idx val="4"/>
            <c:spPr>
              <a:solidFill>
                <a:srgbClr val="2E75D6"/>
              </a:solidFill>
            </c:spPr>
          </c:dPt>
          <c:cat>
            <c:strRef>
              <c:f>Sheet1!$A$2:$A$6</c:f>
              <c:strCache>
                <c:ptCount val="5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870</c:v>
                </c:pt>
                <c:pt idx="1">
                  <c:v>1506</c:v>
                </c:pt>
                <c:pt idx="2">
                  <c:v>1381</c:v>
                </c:pt>
                <c:pt idx="3">
                  <c:v>1853</c:v>
                </c:pt>
                <c:pt idx="4">
                  <c:v>1561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투자액 전망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dPt>
            <c:idx val="0"/>
            <c:spPr>
              <a:solidFill>
                <a:srgbClr val="7B2D8E"/>
              </a:solidFill>
            </c:spPr>
          </c:dPt>
          <c:dPt>
            <c:idx val="1"/>
            <c:spPr>
              <a:solidFill>
                <a:srgbClr val="808080"/>
              </a:solidFill>
            </c:spPr>
          </c:dPt>
          <c:dPt>
            <c:idx val="2"/>
            <c:spPr>
              <a:solidFill>
                <a:srgbClr val="1F3864"/>
              </a:solidFill>
            </c:spPr>
          </c:dPt>
          <c:dPt>
            <c:idx val="3"/>
            <c:spPr>
              <a:solidFill>
                <a:srgbClr val="2E75D6"/>
              </a:solidFill>
            </c:spPr>
          </c:dPt>
          <c:dPt>
            <c:idx val="4"/>
            <c:spPr>
              <a:solidFill>
                <a:srgbClr val="1F9E8F"/>
              </a:solidFill>
            </c:spPr>
          </c:dPt>
          <c:dPt>
            <c:idx val="5"/>
            <c:spPr>
              <a:solidFill>
                <a:srgbClr val="29ABE2"/>
              </a:solidFill>
            </c:spPr>
          </c:dPt>
          <c:cat>
            <c:strRef>
              <c:f>Sheet1!$A$2:$A$7</c:f>
              <c:strCache>
                <c:ptCount val="6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1638</c:v>
                </c:pt>
                <c:pt idx="1">
                  <c:v>1489</c:v>
                </c:pt>
                <c:pt idx="2">
                  <c:v>1997</c:v>
                </c:pt>
                <c:pt idx="3">
                  <c:v>1972</c:v>
                </c:pt>
                <c:pt idx="4">
                  <c:v>2213</c:v>
                </c:pt>
                <c:pt idx="5">
                  <c:v>2406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이용자수 구성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이용자수(만명)</c:v>
                </c:pt>
              </c:strCache>
            </c:strRef>
          </c:tx>
          <c:dPt>
            <c:idx val="0"/>
            <c:spPr>
              <a:solidFill>
                <a:srgbClr val="808080"/>
              </a:solidFill>
            </c:spPr>
          </c:dPt>
          <c:dPt>
            <c:idx val="1"/>
            <c:spPr>
              <a:solidFill>
                <a:srgbClr val="1F3864"/>
              </a:solidFill>
            </c:spPr>
          </c:dPt>
          <c:dPt>
            <c:idx val="2"/>
            <c:spPr>
              <a:solidFill>
                <a:srgbClr val="2E75D6"/>
              </a:solidFill>
            </c:spPr>
          </c:dPt>
          <c:cat>
            <c:strRef>
              <c:f>Sheet1!$A$2:$A$4</c:f>
              <c:strCache>
                <c:ptCount val="3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1628</c:v>
                </c:pt>
                <c:pt idx="1">
                  <c:v>1666</c:v>
                </c:pt>
                <c:pt idx="2">
                  <c:v>1816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수출액 현황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2E75D6"/>
              </a:solidFill>
            </c:spPr>
          </c:dPt>
          <c:dPt>
            <c:idx val="2"/>
            <c:spPr>
              <a:solidFill>
                <a:srgbClr val="1F9E8F"/>
              </a:solidFill>
            </c:spPr>
          </c:dPt>
          <c:dPt>
            <c:idx val="3"/>
            <c:spPr>
              <a:solidFill>
                <a:srgbClr val="29ABE2"/>
              </a:solidFill>
            </c:spPr>
          </c:dPt>
          <c:cat>
            <c:strRef>
              <c:f>Sheet1!$A$2:$A$5</c:f>
              <c:strCache>
                <c:ptCount val="4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2199</c:v>
                </c:pt>
                <c:pt idx="1">
                  <c:v>1956</c:v>
                </c:pt>
                <c:pt idx="2">
                  <c:v>2565</c:v>
                </c:pt>
                <c:pt idx="3">
                  <c:v>2363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매출 추이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dPt>
            <c:idx val="0"/>
            <c:spPr>
              <a:solidFill>
                <a:srgbClr val="2E75D6"/>
              </a:solidFill>
            </c:spPr>
          </c:dPt>
          <c:dPt>
            <c:idx val="1"/>
            <c:spPr>
              <a:solidFill>
                <a:srgbClr val="1F9E8F"/>
              </a:solidFill>
            </c:spPr>
          </c:dPt>
          <c:dPt>
            <c:idx val="2"/>
            <c:spPr>
              <a:solidFill>
                <a:srgbClr val="29ABE2"/>
              </a:solidFill>
            </c:spPr>
          </c:dPt>
          <c:dPt>
            <c:idx val="3"/>
            <c:spPr>
              <a:solidFill>
                <a:srgbClr val="7B2D8E"/>
              </a:solidFill>
            </c:spPr>
          </c:dPt>
          <c:dPt>
            <c:idx val="4"/>
            <c:spPr>
              <a:solidFill>
                <a:srgbClr val="808080"/>
              </a:solidFill>
            </c:spPr>
          </c:dPt>
          <c:cat>
            <c:strRef>
              <c:f>Sheet1!$A$2:$A$6</c:f>
              <c:strCache>
                <c:ptCount val="5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972</c:v>
                </c:pt>
                <c:pt idx="1">
                  <c:v>721</c:v>
                </c:pt>
                <c:pt idx="2">
                  <c:v>1351</c:v>
                </c:pt>
                <c:pt idx="3">
                  <c:v>1105</c:v>
                </c:pt>
                <c:pt idx="4">
                  <c:v>1588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점유율 비교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점유율(%)</c:v>
                </c:pt>
              </c:strCache>
            </c:strRef>
          </c:tx>
          <c:dPt>
            <c:idx val="0"/>
            <c:spPr>
              <a:solidFill>
                <a:srgbClr val="1F9E8F"/>
              </a:solidFill>
            </c:spPr>
          </c:dPt>
          <c:dPt>
            <c:idx val="1"/>
            <c:spPr>
              <a:solidFill>
                <a:srgbClr val="29ABE2"/>
              </a:solidFill>
            </c:spPr>
          </c:dPt>
          <c:dPt>
            <c:idx val="2"/>
            <c:spPr>
              <a:solidFill>
                <a:srgbClr val="7B2D8E"/>
              </a:solidFill>
            </c:spPr>
          </c:dPt>
          <c:dPt>
            <c:idx val="3"/>
            <c:spPr>
              <a:solidFill>
                <a:srgbClr val="808080"/>
              </a:solidFill>
            </c:spPr>
          </c:dPt>
          <c:dPt>
            <c:idx val="4"/>
            <c:spPr>
              <a:solidFill>
                <a:srgbClr val="1F3864"/>
              </a:solidFill>
            </c:spPr>
          </c:dPt>
          <c:dPt>
            <c:idx val="5"/>
            <c:spPr>
              <a:solidFill>
                <a:srgbClr val="2E75D6"/>
              </a:solidFill>
            </c:spPr>
          </c:dPt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976</c:v>
                </c:pt>
                <c:pt idx="1">
                  <c:v>1163</c:v>
                </c:pt>
                <c:pt idx="2">
                  <c:v>1536</c:v>
                </c:pt>
                <c:pt idx="3">
                  <c:v>1446</c:v>
                </c:pt>
                <c:pt idx="4">
                  <c:v>1722</c:v>
                </c:pt>
                <c:pt idx="5">
                  <c:v>2028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성과지표 분석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성과지표(점)</c:v>
                </c:pt>
              </c:strCache>
            </c:strRef>
          </c:tx>
          <c:dPt>
            <c:idx val="0"/>
            <c:spPr>
              <a:solidFill>
                <a:srgbClr val="29ABE2"/>
              </a:solidFill>
            </c:spPr>
          </c:dPt>
          <c:dPt>
            <c:idx val="1"/>
            <c:spPr>
              <a:solidFill>
                <a:srgbClr val="7B2D8E"/>
              </a:solidFill>
            </c:spPr>
          </c:dPt>
          <c:dPt>
            <c:idx val="2"/>
            <c:spPr>
              <a:solidFill>
                <a:srgbClr val="808080"/>
              </a:solidFill>
            </c:spPr>
          </c:dPt>
          <c:cat>
            <c:strRef>
              <c:f>Sheet1!$A$2:$A$4</c:f>
              <c:strCache>
                <c:ptCount val="3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1292</c:v>
                </c:pt>
                <c:pt idx="1">
                  <c:v>1723</c:v>
                </c:pt>
                <c:pt idx="2">
                  <c:v>1950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투자액 전망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dPt>
            <c:idx val="0"/>
            <c:spPr>
              <a:solidFill>
                <a:srgbClr val="7B2D8E"/>
              </a:solidFill>
            </c:spPr>
          </c:dPt>
          <c:dPt>
            <c:idx val="1"/>
            <c:spPr>
              <a:solidFill>
                <a:srgbClr val="808080"/>
              </a:solidFill>
            </c:spPr>
          </c:dPt>
          <c:dPt>
            <c:idx val="2"/>
            <c:spPr>
              <a:solidFill>
                <a:srgbClr val="1F3864"/>
              </a:solidFill>
            </c:spPr>
          </c:dPt>
          <c:dPt>
            <c:idx val="3"/>
            <c:spPr>
              <a:solidFill>
                <a:srgbClr val="2E75D6"/>
              </a:solidFill>
            </c:spPr>
          </c:dPt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1853</c:v>
                </c:pt>
                <c:pt idx="1">
                  <c:v>1659</c:v>
                </c:pt>
                <c:pt idx="2">
                  <c:v>2215</c:v>
                </c:pt>
                <c:pt idx="3">
                  <c:v>2338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이용자수 구성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이용자수(만명)</c:v>
                </c:pt>
              </c:strCache>
            </c:strRef>
          </c:tx>
          <c:dPt>
            <c:idx val="0"/>
            <c:spPr>
              <a:solidFill>
                <a:srgbClr val="808080"/>
              </a:solidFill>
            </c:spPr>
          </c:dPt>
          <c:dPt>
            <c:idx val="1"/>
            <c:spPr>
              <a:solidFill>
                <a:srgbClr val="1F3864"/>
              </a:solidFill>
            </c:spPr>
          </c:dPt>
          <c:dPt>
            <c:idx val="2"/>
            <c:spPr>
              <a:solidFill>
                <a:srgbClr val="2E75D6"/>
              </a:solidFill>
            </c:spPr>
          </c:dPt>
          <c:dPt>
            <c:idx val="3"/>
            <c:spPr>
              <a:solidFill>
                <a:srgbClr val="1F9E8F"/>
              </a:solidFill>
            </c:spPr>
          </c:dPt>
          <c:dPt>
            <c:idx val="4"/>
            <c:spPr>
              <a:solidFill>
                <a:srgbClr val="29ABE2"/>
              </a:solidFill>
            </c:spPr>
          </c:dPt>
          <c:cat>
            <c:strRef>
              <c:f>Sheet1!$A$2:$A$6</c:f>
              <c:strCache>
                <c:ptCount val="5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1812</c:v>
                </c:pt>
                <c:pt idx="1">
                  <c:v>2020</c:v>
                </c:pt>
                <c:pt idx="2">
                  <c:v>2357</c:v>
                </c:pt>
                <c:pt idx="3">
                  <c:v>2666</c:v>
                </c:pt>
                <c:pt idx="4">
                  <c:v>2602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수출액 현황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2E75D6"/>
              </a:solidFill>
            </c:spPr>
          </c:dPt>
          <c:dPt>
            <c:idx val="2"/>
            <c:spPr>
              <a:solidFill>
                <a:srgbClr val="1F9E8F"/>
              </a:solidFill>
            </c:spPr>
          </c:dPt>
          <c:dPt>
            <c:idx val="3"/>
            <c:spPr>
              <a:solidFill>
                <a:srgbClr val="29ABE2"/>
              </a:solidFill>
            </c:spPr>
          </c:dPt>
          <c:dPt>
            <c:idx val="4"/>
            <c:spPr>
              <a:solidFill>
                <a:srgbClr val="7B2D8E"/>
              </a:solidFill>
            </c:spPr>
          </c:dPt>
          <c:dPt>
            <c:idx val="5"/>
            <c:spPr>
              <a:solidFill>
                <a:srgbClr val="808080"/>
              </a:solidFill>
            </c:spPr>
          </c:dPt>
          <c:cat>
            <c:strRef>
              <c:f>Sheet1!$A$2:$A$7</c:f>
              <c:strCache>
                <c:ptCount val="6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874</c:v>
                </c:pt>
                <c:pt idx="1">
                  <c:v>1128</c:v>
                </c:pt>
                <c:pt idx="2">
                  <c:v>1092</c:v>
                </c:pt>
                <c:pt idx="3">
                  <c:v>1312</c:v>
                </c:pt>
                <c:pt idx="4">
                  <c:v>1571</c:v>
                </c:pt>
                <c:pt idx="5">
                  <c:v>1929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매출 추이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dPt>
            <c:idx val="0"/>
            <c:spPr>
              <a:solidFill>
                <a:srgbClr val="2E75D6"/>
              </a:solidFill>
            </c:spPr>
          </c:dPt>
          <c:dPt>
            <c:idx val="1"/>
            <c:spPr>
              <a:solidFill>
                <a:srgbClr val="1F9E8F"/>
              </a:solidFill>
            </c:spPr>
          </c:dPt>
          <c:dPt>
            <c:idx val="2"/>
            <c:spPr>
              <a:solidFill>
                <a:srgbClr val="29ABE2"/>
              </a:solidFill>
            </c:spPr>
          </c:dPt>
          <c:cat>
            <c:strRef>
              <c:f>Sheet1!$A$2:$A$4</c:f>
              <c:strCache>
                <c:ptCount val="3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1259</c:v>
                </c:pt>
                <c:pt idx="1">
                  <c:v>1229</c:v>
                </c:pt>
                <c:pt idx="2">
                  <c:v>1560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점유율 비교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점유율(%)</c:v>
                </c:pt>
              </c:strCache>
            </c:strRef>
          </c:tx>
          <c:dPt>
            <c:idx val="0"/>
            <c:spPr>
              <a:solidFill>
                <a:srgbClr val="1F9E8F"/>
              </a:solidFill>
            </c:spPr>
          </c:dPt>
          <c:dPt>
            <c:idx val="1"/>
            <c:spPr>
              <a:solidFill>
                <a:srgbClr val="29ABE2"/>
              </a:solidFill>
            </c:spPr>
          </c:dPt>
          <c:dPt>
            <c:idx val="2"/>
            <c:spPr>
              <a:solidFill>
                <a:srgbClr val="7B2D8E"/>
              </a:solidFill>
            </c:spPr>
          </c:dPt>
          <c:dPt>
            <c:idx val="3"/>
            <c:spPr>
              <a:solidFill>
                <a:srgbClr val="808080"/>
              </a:solidFill>
            </c:spPr>
          </c:dPt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1540</c:v>
                </c:pt>
                <c:pt idx="1">
                  <c:v>1469</c:v>
                </c:pt>
                <c:pt idx="2">
                  <c:v>1891</c:v>
                </c:pt>
                <c:pt idx="3">
                  <c:v>1884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성과지표 분석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성과지표(점)</c:v>
                </c:pt>
              </c:strCache>
            </c:strRef>
          </c:tx>
          <c:dPt>
            <c:idx val="0"/>
            <c:spPr>
              <a:solidFill>
                <a:srgbClr val="29ABE2"/>
              </a:solidFill>
            </c:spPr>
          </c:dPt>
          <c:dPt>
            <c:idx val="1"/>
            <c:spPr>
              <a:solidFill>
                <a:srgbClr val="7B2D8E"/>
              </a:solidFill>
            </c:spPr>
          </c:dPt>
          <c:dPt>
            <c:idx val="2"/>
            <c:spPr>
              <a:solidFill>
                <a:srgbClr val="808080"/>
              </a:solidFill>
            </c:spPr>
          </c:dPt>
          <c:dPt>
            <c:idx val="3"/>
            <c:spPr>
              <a:solidFill>
                <a:srgbClr val="1F3864"/>
              </a:solidFill>
            </c:spPr>
          </c:dPt>
          <c:dPt>
            <c:idx val="4"/>
            <c:spPr>
              <a:solidFill>
                <a:srgbClr val="2E75D6"/>
              </a:solidFill>
            </c:spPr>
          </c:dPt>
          <c:cat>
            <c:strRef>
              <c:f>Sheet1!$A$2:$A$6</c:f>
              <c:strCache>
                <c:ptCount val="5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1942</c:v>
                </c:pt>
                <c:pt idx="1">
                  <c:v>1697</c:v>
                </c:pt>
                <c:pt idx="2">
                  <c:v>1838</c:v>
                </c:pt>
                <c:pt idx="3">
                  <c:v>2246</c:v>
                </c:pt>
                <c:pt idx="4">
                  <c:v>2584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투자액 전망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dPt>
            <c:idx val="0"/>
            <c:spPr>
              <a:solidFill>
                <a:srgbClr val="7B2D8E"/>
              </a:solidFill>
            </c:spPr>
          </c:dPt>
          <c:dPt>
            <c:idx val="1"/>
            <c:spPr>
              <a:solidFill>
                <a:srgbClr val="808080"/>
              </a:solidFill>
            </c:spPr>
          </c:dPt>
          <c:dPt>
            <c:idx val="2"/>
            <c:spPr>
              <a:solidFill>
                <a:srgbClr val="1F3864"/>
              </a:solidFill>
            </c:spPr>
          </c:dPt>
          <c:dPt>
            <c:idx val="3"/>
            <c:spPr>
              <a:solidFill>
                <a:srgbClr val="2E75D6"/>
              </a:solidFill>
            </c:spPr>
          </c:dPt>
          <c:dPt>
            <c:idx val="4"/>
            <c:spPr>
              <a:solidFill>
                <a:srgbClr val="1F9E8F"/>
              </a:solidFill>
            </c:spPr>
          </c:dPt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1948</c:v>
                </c:pt>
                <c:pt idx="1">
                  <c:v>2304</c:v>
                </c:pt>
                <c:pt idx="2">
                  <c:v>2598</c:v>
                </c:pt>
                <c:pt idx="3">
                  <c:v>2492</c:v>
                </c:pt>
                <c:pt idx="4">
                  <c:v>2914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CHT-146</a:t>
            </a:r>
          </a:p>
        </p:txBody>
      </p:sp>
      <p:graphicFrame>
        <p:nvGraphicFramePr>
          <p:cNvPr id="3" name="asset:CHT-14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CHT-147</a:t>
            </a:r>
          </a:p>
        </p:txBody>
      </p:sp>
      <p:graphicFrame>
        <p:nvGraphicFramePr>
          <p:cNvPr id="3" name="asset:CHT-14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CHT-148</a:t>
            </a:r>
          </a:p>
        </p:txBody>
      </p:sp>
      <p:graphicFrame>
        <p:nvGraphicFramePr>
          <p:cNvPr id="3" name="asset:CHT-14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CHT-149</a:t>
            </a:r>
          </a:p>
        </p:txBody>
      </p:sp>
      <p:graphicFrame>
        <p:nvGraphicFramePr>
          <p:cNvPr id="3" name="asset:CHT-14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CHT-150</a:t>
            </a:r>
          </a:p>
        </p:txBody>
      </p:sp>
      <p:graphicFrame>
        <p:nvGraphicFramePr>
          <p:cNvPr id="3" name="asset:CHT-15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CHT-151</a:t>
            </a:r>
          </a:p>
        </p:txBody>
      </p:sp>
      <p:graphicFrame>
        <p:nvGraphicFramePr>
          <p:cNvPr id="3" name="asset:CHT-15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CHT-152</a:t>
            </a:r>
          </a:p>
        </p:txBody>
      </p:sp>
      <p:graphicFrame>
        <p:nvGraphicFramePr>
          <p:cNvPr id="3" name="asset:CHT-15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CHT-153</a:t>
            </a:r>
          </a:p>
        </p:txBody>
      </p:sp>
      <p:graphicFrame>
        <p:nvGraphicFramePr>
          <p:cNvPr id="3" name="asset:CHT-15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CHT-154</a:t>
            </a:r>
          </a:p>
        </p:txBody>
      </p:sp>
      <p:graphicFrame>
        <p:nvGraphicFramePr>
          <p:cNvPr id="3" name="asset:CHT-15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CHT-155</a:t>
            </a:r>
          </a:p>
        </p:txBody>
      </p:sp>
      <p:graphicFrame>
        <p:nvGraphicFramePr>
          <p:cNvPr id="3" name="asset:CHT-15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CHT-156</a:t>
            </a:r>
          </a:p>
        </p:txBody>
      </p:sp>
      <p:graphicFrame>
        <p:nvGraphicFramePr>
          <p:cNvPr id="3" name="asset:CHT-15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CHT-157</a:t>
            </a:r>
          </a:p>
        </p:txBody>
      </p:sp>
      <p:graphicFrame>
        <p:nvGraphicFramePr>
          <p:cNvPr id="3" name="asset:CHT-15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CHT-158</a:t>
            </a:r>
          </a:p>
        </p:txBody>
      </p:sp>
      <p:graphicFrame>
        <p:nvGraphicFramePr>
          <p:cNvPr id="3" name="asset:CHT-15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CHT-159</a:t>
            </a:r>
          </a:p>
        </p:txBody>
      </p:sp>
      <p:graphicFrame>
        <p:nvGraphicFramePr>
          <p:cNvPr id="3" name="asset:CHT-15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CHT-160</a:t>
            </a:r>
          </a:p>
        </p:txBody>
      </p:sp>
      <p:graphicFrame>
        <p:nvGraphicFramePr>
          <p:cNvPr id="3" name="asset:CHT-16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CHT-161</a:t>
            </a:r>
          </a:p>
        </p:txBody>
      </p:sp>
      <p:graphicFrame>
        <p:nvGraphicFramePr>
          <p:cNvPr id="3" name="asset:CHT-16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CHT-162</a:t>
            </a:r>
          </a:p>
        </p:txBody>
      </p:sp>
      <p:graphicFrame>
        <p:nvGraphicFramePr>
          <p:cNvPr id="3" name="asset:CHT-16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CHT-163</a:t>
            </a:r>
          </a:p>
        </p:txBody>
      </p:sp>
      <p:graphicFrame>
        <p:nvGraphicFramePr>
          <p:cNvPr id="3" name="asset:CHT-16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CHT-164</a:t>
            </a:r>
          </a:p>
        </p:txBody>
      </p:sp>
      <p:graphicFrame>
        <p:nvGraphicFramePr>
          <p:cNvPr id="3" name="asset:CHT-16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CHT-165</a:t>
            </a:r>
          </a:p>
        </p:txBody>
      </p:sp>
      <p:graphicFrame>
        <p:nvGraphicFramePr>
          <p:cNvPr id="3" name="asset:CHT-16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