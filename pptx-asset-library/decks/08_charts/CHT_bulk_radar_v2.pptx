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역량 이용자수 구성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ln w="31750">
              <a:solidFill>
                <a:srgbClr val="808080"/>
              </a:solidFill>
            </a:ln>
          </c:spPr>
          <c:cat>
            <c:strRef>
              <c:f>Sheet1!$A$2:$A$5</c:f>
              <c:strCache>
                <c:ptCount val="4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  <c:pt idx="3">
                  <c:v>마케팅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379</c:v>
                </c:pt>
                <c:pt idx="1">
                  <c:v>708</c:v>
                </c:pt>
                <c:pt idx="2">
                  <c:v>661</c:v>
                </c:pt>
                <c:pt idx="3">
                  <c:v>915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ln w="31750">
              <a:solidFill>
                <a:srgbClr val="1F3864"/>
              </a:solidFill>
            </a:ln>
          </c:spPr>
          <c:cat>
            <c:strRef>
              <c:f>Sheet1!$A$2:$A$5</c:f>
              <c:strCache>
                <c:ptCount val="4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  <c:pt idx="3">
                  <c:v>마케팅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833</c:v>
                </c:pt>
                <c:pt idx="1">
                  <c:v>904</c:v>
                </c:pt>
                <c:pt idx="2">
                  <c:v>870</c:v>
                </c:pt>
                <c:pt idx="3">
                  <c:v>1001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단계별 수출액 현황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대기업</c:v>
                </c:pt>
              </c:strCache>
            </c:strRef>
          </c:tx>
          <c:spPr>
            <a:ln w="31750">
              <a:solidFill>
                <a:srgbClr val="1F3864"/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도입</c:v>
                </c:pt>
                <c:pt idx="1">
                  <c:v>성장</c:v>
                </c:pt>
                <c:pt idx="2">
                  <c:v>성숙</c:v>
                </c:pt>
                <c:pt idx="3">
                  <c:v>확산</c:v>
                </c:pt>
                <c:pt idx="4">
                  <c:v>고도화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697</c:v>
                </c:pt>
                <c:pt idx="1">
                  <c:v>643</c:v>
                </c:pt>
                <c:pt idx="2">
                  <c:v>1004</c:v>
                </c:pt>
                <c:pt idx="3">
                  <c:v>1100</c:v>
                </c:pt>
                <c:pt idx="4">
                  <c:v>1200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중소기업</c:v>
                </c:pt>
              </c:strCache>
            </c:strRef>
          </c:tx>
          <c:spPr>
            <a:ln w="31750">
              <a:solidFill>
                <a:srgbClr val="2E75D6"/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도입</c:v>
                </c:pt>
                <c:pt idx="1">
                  <c:v>성장</c:v>
                </c:pt>
                <c:pt idx="2">
                  <c:v>성숙</c:v>
                </c:pt>
                <c:pt idx="3">
                  <c:v>확산</c:v>
                </c:pt>
                <c:pt idx="4">
                  <c:v>고도화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897</c:v>
                </c:pt>
                <c:pt idx="1">
                  <c:v>985</c:v>
                </c:pt>
                <c:pt idx="2">
                  <c:v>1289</c:v>
                </c:pt>
                <c:pt idx="3">
                  <c:v>1406</c:v>
                </c:pt>
                <c:pt idx="4">
                  <c:v>1359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역량 매출 추이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계획</c:v>
                </c:pt>
              </c:strCache>
            </c:strRef>
          </c:tx>
          <c:spPr>
            <a:ln w="31750">
              <a:solidFill>
                <a:srgbClr val="2E75D6"/>
              </a:solidFill>
            </a:ln>
          </c:spPr>
          <c:cat>
            <c:strRef>
              <c:f>Sheet1!$A$2:$A$7</c:f>
              <c:strCache>
                <c:ptCount val="6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  <c:pt idx="3">
                  <c:v>마케팅</c:v>
                </c:pt>
                <c:pt idx="4">
                  <c:v>현지화</c:v>
                </c:pt>
                <c:pt idx="5">
                  <c:v>투자유치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825</c:v>
                </c:pt>
                <c:pt idx="1">
                  <c:v>951</c:v>
                </c:pt>
                <c:pt idx="2">
                  <c:v>1202</c:v>
                </c:pt>
                <c:pt idx="3">
                  <c:v>1123</c:v>
                </c:pt>
                <c:pt idx="4">
                  <c:v>1207</c:v>
                </c:pt>
                <c:pt idx="5">
                  <c:v>1486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spPr>
            <a:ln w="31750">
              <a:solidFill>
                <a:srgbClr val="1F9E8F"/>
              </a:solidFill>
            </a:ln>
          </c:spPr>
          <c:cat>
            <c:strRef>
              <c:f>Sheet1!$A$2:$A$7</c:f>
              <c:strCache>
                <c:ptCount val="6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  <c:pt idx="3">
                  <c:v>마케팅</c:v>
                </c:pt>
                <c:pt idx="4">
                  <c:v>현지화</c:v>
                </c:pt>
                <c:pt idx="5">
                  <c:v>투자유치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953</c:v>
                </c:pt>
                <c:pt idx="1">
                  <c:v>1255</c:v>
                </c:pt>
                <c:pt idx="2">
                  <c:v>1429</c:v>
                </c:pt>
                <c:pt idx="3">
                  <c:v>1506</c:v>
                </c:pt>
                <c:pt idx="4">
                  <c:v>1488</c:v>
                </c:pt>
                <c:pt idx="5">
                  <c:v>1490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목표</c:v>
                </c:pt>
              </c:strCache>
            </c:strRef>
          </c:tx>
          <c:spPr>
            <a:ln w="31750">
              <a:solidFill>
                <a:srgbClr val="29ABE2"/>
              </a:solidFill>
            </a:ln>
          </c:spPr>
          <c:cat>
            <c:strRef>
              <c:f>Sheet1!$A$2:$A$7</c:f>
              <c:strCache>
                <c:ptCount val="6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  <c:pt idx="3">
                  <c:v>마케팅</c:v>
                </c:pt>
                <c:pt idx="4">
                  <c:v>현지화</c:v>
                </c:pt>
                <c:pt idx="5">
                  <c:v>투자유치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1164</c:v>
                </c:pt>
                <c:pt idx="1">
                  <c:v>1384</c:v>
                </c:pt>
                <c:pt idx="2">
                  <c:v>1515</c:v>
                </c:pt>
                <c:pt idx="3">
                  <c:v>1527</c:v>
                </c:pt>
                <c:pt idx="4">
                  <c:v>1848</c:v>
                </c:pt>
                <c:pt idx="5">
                  <c:v>1781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단계별 점유율 비교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자사</c:v>
                </c:pt>
              </c:strCache>
            </c:strRef>
          </c:tx>
          <c:spPr>
            <a:ln w="31750">
              <a:solidFill>
                <a:srgbClr val="1F9E8F"/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도입</c:v>
                </c:pt>
                <c:pt idx="1">
                  <c:v>성장</c:v>
                </c:pt>
                <c:pt idx="2">
                  <c:v>성숙</c:v>
                </c:pt>
                <c:pt idx="3">
                  <c:v>확산</c:v>
                </c:pt>
                <c:pt idx="4">
                  <c:v>고도화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317</c:v>
                </c:pt>
                <c:pt idx="1">
                  <c:v>466</c:v>
                </c:pt>
                <c:pt idx="2">
                  <c:v>847</c:v>
                </c:pt>
                <c:pt idx="3">
                  <c:v>661</c:v>
                </c:pt>
                <c:pt idx="4">
                  <c:v>769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경쟁사</c:v>
                </c:pt>
              </c:strCache>
            </c:strRef>
          </c:tx>
          <c:spPr>
            <a:ln w="31750">
              <a:solidFill>
                <a:srgbClr val="29ABE2"/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도입</c:v>
                </c:pt>
                <c:pt idx="1">
                  <c:v>성장</c:v>
                </c:pt>
                <c:pt idx="2">
                  <c:v>성숙</c:v>
                </c:pt>
                <c:pt idx="3">
                  <c:v>확산</c:v>
                </c:pt>
                <c:pt idx="4">
                  <c:v>고도화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786</c:v>
                </c:pt>
                <c:pt idx="1">
                  <c:v>761</c:v>
                </c:pt>
                <c:pt idx="2">
                  <c:v>893</c:v>
                </c:pt>
                <c:pt idx="3">
                  <c:v>912</c:v>
                </c:pt>
                <c:pt idx="4">
                  <c:v>1082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업계평균</c:v>
                </c:pt>
              </c:strCache>
            </c:strRef>
          </c:tx>
          <c:spPr>
            <a:ln w="31750">
              <a:solidFill>
                <a:srgbClr val="7B2D8E"/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도입</c:v>
                </c:pt>
                <c:pt idx="1">
                  <c:v>성장</c:v>
                </c:pt>
                <c:pt idx="2">
                  <c:v>성숙</c:v>
                </c:pt>
                <c:pt idx="3">
                  <c:v>확산</c:v>
                </c:pt>
                <c:pt idx="4">
                  <c:v>고도화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1101</c:v>
                </c:pt>
                <c:pt idx="1">
                  <c:v>1002</c:v>
                </c:pt>
                <c:pt idx="2">
                  <c:v>1221</c:v>
                </c:pt>
                <c:pt idx="3">
                  <c:v>1397</c:v>
                </c:pt>
                <c:pt idx="4">
                  <c:v>1613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역량 성과지표 분석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아시아</c:v>
                </c:pt>
              </c:strCache>
            </c:strRef>
          </c:tx>
          <c:spPr>
            <a:ln w="31750">
              <a:solidFill>
                <a:srgbClr val="29ABE2"/>
              </a:solidFill>
            </a:ln>
          </c:spPr>
          <c:cat>
            <c:strRef>
              <c:f>Sheet1!$A$2:$A$5</c:f>
              <c:strCache>
                <c:ptCount val="4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  <c:pt idx="3">
                  <c:v>마케팅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575</c:v>
                </c:pt>
                <c:pt idx="1">
                  <c:v>686</c:v>
                </c:pt>
                <c:pt idx="2">
                  <c:v>772</c:v>
                </c:pt>
                <c:pt idx="3">
                  <c:v>742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북미</c:v>
                </c:pt>
              </c:strCache>
            </c:strRef>
          </c:tx>
          <c:spPr>
            <a:ln w="31750">
              <a:solidFill>
                <a:srgbClr val="7B2D8E"/>
              </a:solidFill>
            </a:ln>
          </c:spPr>
          <c:cat>
            <c:strRef>
              <c:f>Sheet1!$A$2:$A$5</c:f>
              <c:strCache>
                <c:ptCount val="4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  <c:pt idx="3">
                  <c:v>마케팅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830</c:v>
                </c:pt>
                <c:pt idx="1">
                  <c:v>948</c:v>
                </c:pt>
                <c:pt idx="2">
                  <c:v>1049</c:v>
                </c:pt>
                <c:pt idx="3">
                  <c:v>1140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CHT-196</a:t>
            </a:r>
          </a:p>
        </p:txBody>
      </p:sp>
      <p:graphicFrame>
        <p:nvGraphicFramePr>
          <p:cNvPr id="3" name="asset:CHT-196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CHT-197</a:t>
            </a:r>
          </a:p>
        </p:txBody>
      </p:sp>
      <p:graphicFrame>
        <p:nvGraphicFramePr>
          <p:cNvPr id="3" name="asset:CHT-197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CHT-198</a:t>
            </a:r>
          </a:p>
        </p:txBody>
      </p:sp>
      <p:graphicFrame>
        <p:nvGraphicFramePr>
          <p:cNvPr id="3" name="asset:CHT-198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CHT-199</a:t>
            </a:r>
          </a:p>
        </p:txBody>
      </p:sp>
      <p:graphicFrame>
        <p:nvGraphicFramePr>
          <p:cNvPr id="3" name="asset:CHT-199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CHT-200</a:t>
            </a:r>
          </a:p>
        </p:txBody>
      </p:sp>
      <p:graphicFrame>
        <p:nvGraphicFramePr>
          <p:cNvPr id="3" name="asset:CHT-200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