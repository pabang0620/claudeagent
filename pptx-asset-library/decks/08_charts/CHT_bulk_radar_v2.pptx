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이용자수 구성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379</c:v>
                </c:pt>
                <c:pt idx="1">
                  <c:v>708</c:v>
                </c:pt>
                <c:pt idx="2">
                  <c:v>661</c:v>
                </c:pt>
                <c:pt idx="3">
                  <c:v>915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833</c:v>
                </c:pt>
                <c:pt idx="1">
                  <c:v>904</c:v>
                </c:pt>
                <c:pt idx="2">
                  <c:v>870</c:v>
                </c:pt>
                <c:pt idx="3">
                  <c:v>1001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수출액 현황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697</c:v>
                </c:pt>
                <c:pt idx="1">
                  <c:v>643</c:v>
                </c:pt>
                <c:pt idx="2">
                  <c:v>1004</c:v>
                </c:pt>
                <c:pt idx="3">
                  <c:v>1100</c:v>
                </c:pt>
                <c:pt idx="4">
                  <c:v>1200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897</c:v>
                </c:pt>
                <c:pt idx="1">
                  <c:v>985</c:v>
                </c:pt>
                <c:pt idx="2">
                  <c:v>1289</c:v>
                </c:pt>
                <c:pt idx="3">
                  <c:v>1406</c:v>
                </c:pt>
                <c:pt idx="4">
                  <c:v>1359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매출 추이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825</c:v>
                </c:pt>
                <c:pt idx="1">
                  <c:v>951</c:v>
                </c:pt>
                <c:pt idx="2">
                  <c:v>1202</c:v>
                </c:pt>
                <c:pt idx="3">
                  <c:v>1123</c:v>
                </c:pt>
                <c:pt idx="4">
                  <c:v>1207</c:v>
                </c:pt>
                <c:pt idx="5">
                  <c:v>1486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953</c:v>
                </c:pt>
                <c:pt idx="1">
                  <c:v>1255</c:v>
                </c:pt>
                <c:pt idx="2">
                  <c:v>1429</c:v>
                </c:pt>
                <c:pt idx="3">
                  <c:v>1506</c:v>
                </c:pt>
                <c:pt idx="4">
                  <c:v>1488</c:v>
                </c:pt>
                <c:pt idx="5">
                  <c:v>1490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1164</c:v>
                </c:pt>
                <c:pt idx="1">
                  <c:v>1384</c:v>
                </c:pt>
                <c:pt idx="2">
                  <c:v>1515</c:v>
                </c:pt>
                <c:pt idx="3">
                  <c:v>1527</c:v>
                </c:pt>
                <c:pt idx="4">
                  <c:v>1848</c:v>
                </c:pt>
                <c:pt idx="5">
                  <c:v>1781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점유율 비교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317</c:v>
                </c:pt>
                <c:pt idx="1">
                  <c:v>466</c:v>
                </c:pt>
                <c:pt idx="2">
                  <c:v>847</c:v>
                </c:pt>
                <c:pt idx="3">
                  <c:v>661</c:v>
                </c:pt>
                <c:pt idx="4">
                  <c:v>769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786</c:v>
                </c:pt>
                <c:pt idx="1">
                  <c:v>761</c:v>
                </c:pt>
                <c:pt idx="2">
                  <c:v>893</c:v>
                </c:pt>
                <c:pt idx="3">
                  <c:v>912</c:v>
                </c:pt>
                <c:pt idx="4">
                  <c:v>1082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1101</c:v>
                </c:pt>
                <c:pt idx="1">
                  <c:v>1002</c:v>
                </c:pt>
                <c:pt idx="2">
                  <c:v>1221</c:v>
                </c:pt>
                <c:pt idx="3">
                  <c:v>1397</c:v>
                </c:pt>
                <c:pt idx="4">
                  <c:v>1613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성과지표 분석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575</c:v>
                </c:pt>
                <c:pt idx="1">
                  <c:v>686</c:v>
                </c:pt>
                <c:pt idx="2">
                  <c:v>772</c:v>
                </c:pt>
                <c:pt idx="3">
                  <c:v>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830</c:v>
                </c:pt>
                <c:pt idx="1">
                  <c:v>948</c:v>
                </c:pt>
                <c:pt idx="2">
                  <c:v>1049</c:v>
                </c:pt>
                <c:pt idx="3">
                  <c:v>1140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CHT-196</a:t>
            </a:r>
          </a:p>
        </p:txBody>
      </p:sp>
      <p:graphicFrame>
        <p:nvGraphicFramePr>
          <p:cNvPr id="3" name="asset:CHT-19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CHT-197</a:t>
            </a:r>
          </a:p>
        </p:txBody>
      </p:sp>
      <p:graphicFrame>
        <p:nvGraphicFramePr>
          <p:cNvPr id="3" name="asset:CHT-19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CHT-198</a:t>
            </a:r>
          </a:p>
        </p:txBody>
      </p:sp>
      <p:graphicFrame>
        <p:nvGraphicFramePr>
          <p:cNvPr id="3" name="asset:CHT-19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CHT-199</a:t>
            </a:r>
          </a:p>
        </p:txBody>
      </p:sp>
      <p:graphicFrame>
        <p:nvGraphicFramePr>
          <p:cNvPr id="3" name="asset:CHT-19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CHT-200</a:t>
            </a:r>
          </a:p>
        </p:txBody>
      </p:sp>
      <p:graphicFrame>
        <p:nvGraphicFramePr>
          <p:cNvPr id="3" name="asset:CHT-20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