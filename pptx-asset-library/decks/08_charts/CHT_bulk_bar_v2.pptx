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사업별 투자액 전망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투자액(억원)</c:v>
                </c:pt>
              </c:strCache>
            </c:strRef>
          </c:tx>
          <c:spPr>
            <a:solidFill>
              <a:srgbClr val="7B2D8E"/>
            </a:solidFill>
          </c:spPr>
          <c:cat>
            <c:strRef>
              <c:f>Sheet1!$A$2:$A$4</c:f>
              <c:strCache>
                <c:ptCount val="3"/>
                <c:pt idx="0">
                  <c:v>R&amp;D</c:v>
                </c:pt>
                <c:pt idx="1">
                  <c:v>수출지원</c:v>
                </c:pt>
                <c:pt idx="2">
                  <c:v>인력양성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661</c:v>
                </c:pt>
                <c:pt idx="1">
                  <c:v>1021</c:v>
                </c:pt>
                <c:pt idx="2">
                  <c:v>1370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플랫폼별 이용자수 구성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대기업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Sheet1!$A$2:$A$5</c:f>
              <c:strCache>
                <c:ptCount val="4"/>
                <c:pt idx="0">
                  <c:v>넷플릭스</c:v>
                </c:pt>
                <c:pt idx="1">
                  <c:v>유튜브</c:v>
                </c:pt>
                <c:pt idx="2">
                  <c:v>틱톡</c:v>
                </c:pt>
                <c:pt idx="3">
                  <c:v>스포티파이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704</c:v>
                </c:pt>
                <c:pt idx="1">
                  <c:v>1006</c:v>
                </c:pt>
                <c:pt idx="2">
                  <c:v>1202</c:v>
                </c:pt>
                <c:pt idx="3">
                  <c:v>1040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중소기업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Sheet1!$A$2:$A$5</c:f>
              <c:strCache>
                <c:ptCount val="4"/>
                <c:pt idx="0">
                  <c:v>넷플릭스</c:v>
                </c:pt>
                <c:pt idx="1">
                  <c:v>유튜브</c:v>
                </c:pt>
                <c:pt idx="2">
                  <c:v>틱톡</c:v>
                </c:pt>
                <c:pt idx="3">
                  <c:v>스포티파이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1076</c:v>
                </c:pt>
                <c:pt idx="1">
                  <c:v>1172</c:v>
                </c:pt>
                <c:pt idx="2">
                  <c:v>1402</c:v>
                </c:pt>
                <c:pt idx="3">
                  <c:v>1346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채널별 수출액 현황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계획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Sheet1!$A$2:$A$6</c:f>
              <c:strCache>
                <c:ptCount val="5"/>
                <c:pt idx="0">
                  <c:v>온라인</c:v>
                </c:pt>
                <c:pt idx="1">
                  <c:v>오프라인</c:v>
                </c:pt>
                <c:pt idx="2">
                  <c:v>모바일</c:v>
                </c:pt>
                <c:pt idx="3">
                  <c:v>콘솔</c:v>
                </c:pt>
                <c:pt idx="4">
                  <c:v>플랫폼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447</c:v>
                </c:pt>
                <c:pt idx="1">
                  <c:v>632</c:v>
                </c:pt>
                <c:pt idx="2">
                  <c:v>657</c:v>
                </c:pt>
                <c:pt idx="3">
                  <c:v>606</c:v>
                </c:pt>
                <c:pt idx="4">
                  <c:v>828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spPr>
            <a:solidFill>
              <a:srgbClr val="2E75D6"/>
            </a:solidFill>
          </c:spPr>
          <c:cat>
            <c:strRef>
              <c:f>Sheet1!$A$2:$A$6</c:f>
              <c:strCache>
                <c:ptCount val="5"/>
                <c:pt idx="0">
                  <c:v>온라인</c:v>
                </c:pt>
                <c:pt idx="1">
                  <c:v>오프라인</c:v>
                </c:pt>
                <c:pt idx="2">
                  <c:v>모바일</c:v>
                </c:pt>
                <c:pt idx="3">
                  <c:v>콘솔</c:v>
                </c:pt>
                <c:pt idx="4">
                  <c:v>플랫폼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546</c:v>
                </c:pt>
                <c:pt idx="1">
                  <c:v>731</c:v>
                </c:pt>
                <c:pt idx="2">
                  <c:v>883</c:v>
                </c:pt>
                <c:pt idx="3">
                  <c:v>1003</c:v>
                </c:pt>
                <c:pt idx="4">
                  <c:v>1163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목표</c:v>
                </c:pt>
              </c:strCache>
            </c:strRef>
          </c:tx>
          <c:spPr>
            <a:solidFill>
              <a:srgbClr val="1F9E8F"/>
            </a:solidFill>
          </c:spPr>
          <c:cat>
            <c:strRef>
              <c:f>Sheet1!$A$2:$A$6</c:f>
              <c:strCache>
                <c:ptCount val="5"/>
                <c:pt idx="0">
                  <c:v>온라인</c:v>
                </c:pt>
                <c:pt idx="1">
                  <c:v>오프라인</c:v>
                </c:pt>
                <c:pt idx="2">
                  <c:v>모바일</c:v>
                </c:pt>
                <c:pt idx="3">
                  <c:v>콘솔</c:v>
                </c:pt>
                <c:pt idx="4">
                  <c:v>플랫폼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981</c:v>
                </c:pt>
                <c:pt idx="1">
                  <c:v>997</c:v>
                </c:pt>
                <c:pt idx="2">
                  <c:v>1186</c:v>
                </c:pt>
                <c:pt idx="3">
                  <c:v>1413</c:v>
                </c:pt>
                <c:pt idx="4">
                  <c:v>1462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권역별 매출 추이</a:t>
            </a:r>
          </a:p>
        </c:rich>
      </c:tx>
      <c:layout/>
      <c:overlay val="0"/>
    </c:title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자사</c:v>
                </c:pt>
              </c:strCache>
            </c:strRef>
          </c:tx>
          <c:spPr>
            <a:solidFill>
              <a:srgbClr val="2E75D6"/>
            </a:solidFill>
          </c:spPr>
          <c:cat>
            <c:strRef>
              <c:f>Sheet1!$A$2:$A$7</c:f>
              <c:strCache>
                <c:ptCount val="6"/>
                <c:pt idx="0">
                  <c:v>아시아</c:v>
                </c:pt>
                <c:pt idx="1">
                  <c:v>북미</c:v>
                </c:pt>
                <c:pt idx="2">
                  <c:v>유럽</c:v>
                </c:pt>
                <c:pt idx="3">
                  <c:v>중남미</c:v>
                </c:pt>
                <c:pt idx="4">
                  <c:v>중동</c:v>
                </c:pt>
                <c:pt idx="5">
                  <c:v>아프리카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385</c:v>
                </c:pt>
                <c:pt idx="1">
                  <c:v>692</c:v>
                </c:pt>
                <c:pt idx="2">
                  <c:v>652</c:v>
                </c:pt>
                <c:pt idx="3">
                  <c:v>793</c:v>
                </c:pt>
                <c:pt idx="4">
                  <c:v>974</c:v>
                </c:pt>
                <c:pt idx="5">
                  <c:v>1227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경쟁사</c:v>
                </c:pt>
              </c:strCache>
            </c:strRef>
          </c:tx>
          <c:spPr>
            <a:solidFill>
              <a:srgbClr val="1F9E8F"/>
            </a:solidFill>
          </c:spPr>
          <c:cat>
            <c:strRef>
              <c:f>Sheet1!$A$2:$A$7</c:f>
              <c:strCache>
                <c:ptCount val="6"/>
                <c:pt idx="0">
                  <c:v>아시아</c:v>
                </c:pt>
                <c:pt idx="1">
                  <c:v>북미</c:v>
                </c:pt>
                <c:pt idx="2">
                  <c:v>유럽</c:v>
                </c:pt>
                <c:pt idx="3">
                  <c:v>중남미</c:v>
                </c:pt>
                <c:pt idx="4">
                  <c:v>중동</c:v>
                </c:pt>
                <c:pt idx="5">
                  <c:v>아프리카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599</c:v>
                </c:pt>
                <c:pt idx="1">
                  <c:v>944</c:v>
                </c:pt>
                <c:pt idx="2">
                  <c:v>922</c:v>
                </c:pt>
                <c:pt idx="3">
                  <c:v>1149</c:v>
                </c:pt>
                <c:pt idx="4">
                  <c:v>1320</c:v>
                </c:pt>
                <c:pt idx="5">
                  <c:v>1425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업계평균</c:v>
                </c:pt>
              </c:strCache>
            </c:strRef>
          </c:tx>
          <c:spPr>
            <a:solidFill>
              <a:srgbClr val="29ABE2"/>
            </a:solidFill>
          </c:spPr>
          <c:cat>
            <c:strRef>
              <c:f>Sheet1!$A$2:$A$7</c:f>
              <c:strCache>
                <c:ptCount val="6"/>
                <c:pt idx="0">
                  <c:v>아시아</c:v>
                </c:pt>
                <c:pt idx="1">
                  <c:v>북미</c:v>
                </c:pt>
                <c:pt idx="2">
                  <c:v>유럽</c:v>
                </c:pt>
                <c:pt idx="3">
                  <c:v>중남미</c:v>
                </c:pt>
                <c:pt idx="4">
                  <c:v>중동</c:v>
                </c:pt>
                <c:pt idx="5">
                  <c:v>아프리카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858</c:v>
                </c:pt>
                <c:pt idx="1">
                  <c:v>1084</c:v>
                </c:pt>
                <c:pt idx="2">
                  <c:v>1177</c:v>
                </c:pt>
                <c:pt idx="3">
                  <c:v>1556</c:v>
                </c:pt>
                <c:pt idx="4">
                  <c:v>1462</c:v>
                </c:pt>
                <c:pt idx="5">
                  <c:v>1840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국가별 점유율 비교</a:t>
            </a:r>
          </a:p>
        </c:rich>
      </c:tx>
      <c:layout/>
      <c:overlay val="0"/>
    </c:title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아시아</c:v>
                </c:pt>
              </c:strCache>
            </c:strRef>
          </c:tx>
          <c:spPr>
            <a:solidFill>
              <a:srgbClr val="1F9E8F"/>
            </a:solidFill>
          </c:spPr>
          <c:cat>
            <c:strRef>
              <c:f>Sheet1!$A$2:$A$8</c:f>
              <c:strCache>
                <c:ptCount val="7"/>
                <c:pt idx="0">
                  <c:v>일본</c:v>
                </c:pt>
                <c:pt idx="1">
                  <c:v>미국</c:v>
                </c:pt>
                <c:pt idx="2">
                  <c:v>중국</c:v>
                </c:pt>
                <c:pt idx="3">
                  <c:v>대만</c:v>
                </c:pt>
                <c:pt idx="4">
                  <c:v>베트남</c:v>
                </c:pt>
                <c:pt idx="5">
                  <c:v>태국</c:v>
                </c:pt>
                <c:pt idx="6">
                  <c:v>인도네시아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640</c:v>
                </c:pt>
                <c:pt idx="1">
                  <c:v>846</c:v>
                </c:pt>
                <c:pt idx="2">
                  <c:v>891</c:v>
                </c:pt>
                <c:pt idx="3">
                  <c:v>970</c:v>
                </c:pt>
                <c:pt idx="4">
                  <c:v>1262</c:v>
                </c:pt>
                <c:pt idx="5">
                  <c:v>1231</c:v>
                </c:pt>
                <c:pt idx="6">
                  <c:v>1493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북미</c:v>
                </c:pt>
              </c:strCache>
            </c:strRef>
          </c:tx>
          <c:spPr>
            <a:solidFill>
              <a:srgbClr val="29ABE2"/>
            </a:solidFill>
          </c:spPr>
          <c:cat>
            <c:strRef>
              <c:f>Sheet1!$A$2:$A$8</c:f>
              <c:strCache>
                <c:ptCount val="7"/>
                <c:pt idx="0">
                  <c:v>일본</c:v>
                </c:pt>
                <c:pt idx="1">
                  <c:v>미국</c:v>
                </c:pt>
                <c:pt idx="2">
                  <c:v>중국</c:v>
                </c:pt>
                <c:pt idx="3">
                  <c:v>대만</c:v>
                </c:pt>
                <c:pt idx="4">
                  <c:v>베트남</c:v>
                </c:pt>
                <c:pt idx="5">
                  <c:v>태국</c:v>
                </c:pt>
                <c:pt idx="6">
                  <c:v>인도네시아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1018</c:v>
                </c:pt>
                <c:pt idx="1">
                  <c:v>1066</c:v>
                </c:pt>
                <c:pt idx="2">
                  <c:v>984</c:v>
                </c:pt>
                <c:pt idx="3">
                  <c:v>1269</c:v>
                </c:pt>
                <c:pt idx="4">
                  <c:v>1351</c:v>
                </c:pt>
                <c:pt idx="5">
                  <c:v>1426</c:v>
                </c:pt>
                <c:pt idx="6">
                  <c:v>1641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장르별 성과지표 분석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성과지표(점)</c:v>
                </c:pt>
              </c:strCache>
            </c:strRef>
          </c:tx>
          <c:spPr>
            <a:solidFill>
              <a:srgbClr val="29ABE2"/>
            </a:solidFill>
          </c:spPr>
          <c:cat>
            <c:strRef>
              <c:f>Sheet1!$A$2:$A$4</c:f>
              <c:strCache>
                <c:ptCount val="3"/>
                <c:pt idx="0">
                  <c:v>게임</c:v>
                </c:pt>
                <c:pt idx="1">
                  <c:v>음악</c:v>
                </c:pt>
                <c:pt idx="2">
                  <c:v>방송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1001</c:v>
                </c:pt>
                <c:pt idx="1">
                  <c:v>1167</c:v>
                </c:pt>
                <c:pt idx="2">
                  <c:v>1365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사업별 투자액 전망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대기업</c:v>
                </c:pt>
              </c:strCache>
            </c:strRef>
          </c:tx>
          <c:spPr>
            <a:solidFill>
              <a:srgbClr val="7B2D8E"/>
            </a:solidFill>
          </c:spPr>
          <c:cat>
            <c:strRef>
              <c:f>Sheet1!$A$2:$A$5</c:f>
              <c:strCache>
                <c:ptCount val="4"/>
                <c:pt idx="0">
                  <c:v>R&amp;D</c:v>
                </c:pt>
                <c:pt idx="1">
                  <c:v>수출지원</c:v>
                </c:pt>
                <c:pt idx="2">
                  <c:v>인력양성</c:v>
                </c:pt>
                <c:pt idx="3">
                  <c:v>인프라구축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317</c:v>
                </c:pt>
                <c:pt idx="1">
                  <c:v>675</c:v>
                </c:pt>
                <c:pt idx="2">
                  <c:v>786</c:v>
                </c:pt>
                <c:pt idx="3">
                  <c:v>675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중소기업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Sheet1!$A$2:$A$5</c:f>
              <c:strCache>
                <c:ptCount val="4"/>
                <c:pt idx="0">
                  <c:v>R&amp;D</c:v>
                </c:pt>
                <c:pt idx="1">
                  <c:v>수출지원</c:v>
                </c:pt>
                <c:pt idx="2">
                  <c:v>인력양성</c:v>
                </c:pt>
                <c:pt idx="3">
                  <c:v>인프라구축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663</c:v>
                </c:pt>
                <c:pt idx="1">
                  <c:v>687</c:v>
                </c:pt>
                <c:pt idx="2">
                  <c:v>1083</c:v>
                </c:pt>
                <c:pt idx="3">
                  <c:v>1049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플랫폼별 이용자수 구성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계획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Sheet1!$A$2:$A$6</c:f>
              <c:strCache>
                <c:ptCount val="5"/>
                <c:pt idx="0">
                  <c:v>넷플릭스</c:v>
                </c:pt>
                <c:pt idx="1">
                  <c:v>유튜브</c:v>
                </c:pt>
                <c:pt idx="2">
                  <c:v>틱톡</c:v>
                </c:pt>
                <c:pt idx="3">
                  <c:v>스포티파이</c:v>
                </c:pt>
                <c:pt idx="4">
                  <c:v>아마존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481</c:v>
                </c:pt>
                <c:pt idx="1">
                  <c:v>558</c:v>
                </c:pt>
                <c:pt idx="2">
                  <c:v>874</c:v>
                </c:pt>
                <c:pt idx="3">
                  <c:v>1087</c:v>
                </c:pt>
                <c:pt idx="4">
                  <c:v>872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Sheet1!$A$2:$A$6</c:f>
              <c:strCache>
                <c:ptCount val="5"/>
                <c:pt idx="0">
                  <c:v>넷플릭스</c:v>
                </c:pt>
                <c:pt idx="1">
                  <c:v>유튜브</c:v>
                </c:pt>
                <c:pt idx="2">
                  <c:v>틱톡</c:v>
                </c:pt>
                <c:pt idx="3">
                  <c:v>스포티파이</c:v>
                </c:pt>
                <c:pt idx="4">
                  <c:v>아마존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903</c:v>
                </c:pt>
                <c:pt idx="1">
                  <c:v>1038</c:v>
                </c:pt>
                <c:pt idx="2">
                  <c:v>1192</c:v>
                </c:pt>
                <c:pt idx="3">
                  <c:v>1170</c:v>
                </c:pt>
                <c:pt idx="4">
                  <c:v>1124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목표</c:v>
                </c:pt>
              </c:strCache>
            </c:strRef>
          </c:tx>
          <c:spPr>
            <a:solidFill>
              <a:srgbClr val="2E75D6"/>
            </a:solidFill>
          </c:spPr>
          <c:cat>
            <c:strRef>
              <c:f>Sheet1!$A$2:$A$6</c:f>
              <c:strCache>
                <c:ptCount val="5"/>
                <c:pt idx="0">
                  <c:v>넷플릭스</c:v>
                </c:pt>
                <c:pt idx="1">
                  <c:v>유튜브</c:v>
                </c:pt>
                <c:pt idx="2">
                  <c:v>틱톡</c:v>
                </c:pt>
                <c:pt idx="3">
                  <c:v>스포티파이</c:v>
                </c:pt>
                <c:pt idx="4">
                  <c:v>아마존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1033</c:v>
                </c:pt>
                <c:pt idx="1">
                  <c:v>982</c:v>
                </c:pt>
                <c:pt idx="2">
                  <c:v>1349</c:v>
                </c:pt>
                <c:pt idx="3">
                  <c:v>1432</c:v>
                </c:pt>
                <c:pt idx="4">
                  <c:v>1444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채널별 수출액 현황</a:t>
            </a:r>
          </a:p>
        </c:rich>
      </c:tx>
      <c:layout/>
      <c:overlay val="0"/>
    </c:title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자사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Sheet1!$A$2:$A$7</c:f>
              <c:strCache>
                <c:ptCount val="6"/>
                <c:pt idx="0">
                  <c:v>온라인</c:v>
                </c:pt>
                <c:pt idx="1">
                  <c:v>오프라인</c:v>
                </c:pt>
                <c:pt idx="2">
                  <c:v>모바일</c:v>
                </c:pt>
                <c:pt idx="3">
                  <c:v>콘솔</c:v>
                </c:pt>
                <c:pt idx="4">
                  <c:v>플랫폼</c:v>
                </c:pt>
                <c:pt idx="5">
                  <c:v>오픈마켓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457</c:v>
                </c:pt>
                <c:pt idx="1">
                  <c:v>721</c:v>
                </c:pt>
                <c:pt idx="2">
                  <c:v>913</c:v>
                </c:pt>
                <c:pt idx="3">
                  <c:v>1042</c:v>
                </c:pt>
                <c:pt idx="4">
                  <c:v>993</c:v>
                </c:pt>
                <c:pt idx="5">
                  <c:v>1288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경쟁사</c:v>
                </c:pt>
              </c:strCache>
            </c:strRef>
          </c:tx>
          <c:spPr>
            <a:solidFill>
              <a:srgbClr val="2E75D6"/>
            </a:solidFill>
          </c:spPr>
          <c:cat>
            <c:strRef>
              <c:f>Sheet1!$A$2:$A$7</c:f>
              <c:strCache>
                <c:ptCount val="6"/>
                <c:pt idx="0">
                  <c:v>온라인</c:v>
                </c:pt>
                <c:pt idx="1">
                  <c:v>오프라인</c:v>
                </c:pt>
                <c:pt idx="2">
                  <c:v>모바일</c:v>
                </c:pt>
                <c:pt idx="3">
                  <c:v>콘솔</c:v>
                </c:pt>
                <c:pt idx="4">
                  <c:v>플랫폼</c:v>
                </c:pt>
                <c:pt idx="5">
                  <c:v>오픈마켓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733</c:v>
                </c:pt>
                <c:pt idx="1">
                  <c:v>878</c:v>
                </c:pt>
                <c:pt idx="2">
                  <c:v>1330</c:v>
                </c:pt>
                <c:pt idx="3">
                  <c:v>1237</c:v>
                </c:pt>
                <c:pt idx="4">
                  <c:v>1390</c:v>
                </c:pt>
                <c:pt idx="5">
                  <c:v>1609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업계평균</c:v>
                </c:pt>
              </c:strCache>
            </c:strRef>
          </c:tx>
          <c:spPr>
            <a:solidFill>
              <a:srgbClr val="1F9E8F"/>
            </a:solidFill>
          </c:spPr>
          <c:cat>
            <c:strRef>
              <c:f>Sheet1!$A$2:$A$7</c:f>
              <c:strCache>
                <c:ptCount val="6"/>
                <c:pt idx="0">
                  <c:v>온라인</c:v>
                </c:pt>
                <c:pt idx="1">
                  <c:v>오프라인</c:v>
                </c:pt>
                <c:pt idx="2">
                  <c:v>모바일</c:v>
                </c:pt>
                <c:pt idx="3">
                  <c:v>콘솔</c:v>
                </c:pt>
                <c:pt idx="4">
                  <c:v>플랫폼</c:v>
                </c:pt>
                <c:pt idx="5">
                  <c:v>오픈마켓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987</c:v>
                </c:pt>
                <c:pt idx="1">
                  <c:v>1117</c:v>
                </c:pt>
                <c:pt idx="2">
                  <c:v>1488</c:v>
                </c:pt>
                <c:pt idx="3">
                  <c:v>1435</c:v>
                </c:pt>
                <c:pt idx="4">
                  <c:v>1530</c:v>
                </c:pt>
                <c:pt idx="5">
                  <c:v>1821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권역별 매출 추이</a:t>
            </a:r>
          </a:p>
        </c:rich>
      </c:tx>
      <c:layout/>
      <c:overlay val="0"/>
    </c:title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아시아</c:v>
                </c:pt>
              </c:strCache>
            </c:strRef>
          </c:tx>
          <c:spPr>
            <a:solidFill>
              <a:srgbClr val="2E75D6"/>
            </a:solidFill>
          </c:spPr>
          <c:cat>
            <c:strRef>
              <c:f>Sheet1!$A$2:$A$8</c:f>
              <c:strCache>
                <c:ptCount val="7"/>
                <c:pt idx="0">
                  <c:v>아시아</c:v>
                </c:pt>
                <c:pt idx="1">
                  <c:v>북미</c:v>
                </c:pt>
                <c:pt idx="2">
                  <c:v>유럽</c:v>
                </c:pt>
                <c:pt idx="3">
                  <c:v>중남미</c:v>
                </c:pt>
                <c:pt idx="4">
                  <c:v>중동</c:v>
                </c:pt>
                <c:pt idx="5">
                  <c:v>아프리카</c:v>
                </c:pt>
                <c:pt idx="6">
                  <c:v>오세아니아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811</c:v>
                </c:pt>
                <c:pt idx="1">
                  <c:v>713</c:v>
                </c:pt>
                <c:pt idx="2">
                  <c:v>1062</c:v>
                </c:pt>
                <c:pt idx="3">
                  <c:v>1029</c:v>
                </c:pt>
                <c:pt idx="4">
                  <c:v>1321</c:v>
                </c:pt>
                <c:pt idx="5">
                  <c:v>1233</c:v>
                </c:pt>
                <c:pt idx="6">
                  <c:v>1559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북미</c:v>
                </c:pt>
              </c:strCache>
            </c:strRef>
          </c:tx>
          <c:spPr>
            <a:solidFill>
              <a:srgbClr val="1F9E8F"/>
            </a:solidFill>
          </c:spPr>
          <c:cat>
            <c:strRef>
              <c:f>Sheet1!$A$2:$A$8</c:f>
              <c:strCache>
                <c:ptCount val="7"/>
                <c:pt idx="0">
                  <c:v>아시아</c:v>
                </c:pt>
                <c:pt idx="1">
                  <c:v>북미</c:v>
                </c:pt>
                <c:pt idx="2">
                  <c:v>유럽</c:v>
                </c:pt>
                <c:pt idx="3">
                  <c:v>중남미</c:v>
                </c:pt>
                <c:pt idx="4">
                  <c:v>중동</c:v>
                </c:pt>
                <c:pt idx="5">
                  <c:v>아프리카</c:v>
                </c:pt>
                <c:pt idx="6">
                  <c:v>오세아니아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1093</c:v>
                </c:pt>
                <c:pt idx="1">
                  <c:v>1135</c:v>
                </c:pt>
                <c:pt idx="2">
                  <c:v>1178</c:v>
                </c:pt>
                <c:pt idx="3">
                  <c:v>1404</c:v>
                </c:pt>
                <c:pt idx="4">
                  <c:v>1456</c:v>
                </c:pt>
                <c:pt idx="5">
                  <c:v>1672</c:v>
                </c:pt>
                <c:pt idx="6">
                  <c:v>1936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CHT-081</a:t>
            </a:r>
          </a:p>
        </p:txBody>
      </p:sp>
      <p:graphicFrame>
        <p:nvGraphicFramePr>
          <p:cNvPr id="3" name="asset:CHT-081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CHT-082</a:t>
            </a:r>
          </a:p>
        </p:txBody>
      </p:sp>
      <p:graphicFrame>
        <p:nvGraphicFramePr>
          <p:cNvPr id="3" name="asset:CHT-082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CHT-083</a:t>
            </a:r>
          </a:p>
        </p:txBody>
      </p:sp>
      <p:graphicFrame>
        <p:nvGraphicFramePr>
          <p:cNvPr id="3" name="asset:CHT-083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CHT-084</a:t>
            </a:r>
          </a:p>
        </p:txBody>
      </p:sp>
      <p:graphicFrame>
        <p:nvGraphicFramePr>
          <p:cNvPr id="3" name="asset:CHT-084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CHT-085</a:t>
            </a:r>
          </a:p>
        </p:txBody>
      </p:sp>
      <p:graphicFrame>
        <p:nvGraphicFramePr>
          <p:cNvPr id="3" name="asset:CHT-085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CHT-086</a:t>
            </a:r>
          </a:p>
        </p:txBody>
      </p:sp>
      <p:graphicFrame>
        <p:nvGraphicFramePr>
          <p:cNvPr id="3" name="asset:CHT-086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CHT-087</a:t>
            </a:r>
          </a:p>
        </p:txBody>
      </p:sp>
      <p:graphicFrame>
        <p:nvGraphicFramePr>
          <p:cNvPr id="3" name="asset:CHT-087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CHT-088</a:t>
            </a:r>
          </a:p>
        </p:txBody>
      </p:sp>
      <p:graphicFrame>
        <p:nvGraphicFramePr>
          <p:cNvPr id="3" name="asset:CHT-088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CHT-089</a:t>
            </a:r>
          </a:p>
        </p:txBody>
      </p:sp>
      <p:graphicFrame>
        <p:nvGraphicFramePr>
          <p:cNvPr id="3" name="asset:CHT-089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CHT-090</a:t>
            </a:r>
          </a:p>
        </p:txBody>
      </p:sp>
      <p:graphicFrame>
        <p:nvGraphicFramePr>
          <p:cNvPr id="3" name="asset:CHT-090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