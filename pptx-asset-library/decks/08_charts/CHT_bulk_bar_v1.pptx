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점유율 비교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점유율(%)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Sheet1!$A$2:$A$4</c:f>
              <c:strCache>
                <c:ptCount val="3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1049</c:v>
                </c:pt>
                <c:pt idx="1">
                  <c:v>992</c:v>
                </c:pt>
                <c:pt idx="2">
                  <c:v>1272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성과지표 분석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Sheet1!$A$2:$A$5</c:f>
              <c:strCache>
                <c:ptCount val="4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664</c:v>
                </c:pt>
                <c:pt idx="1">
                  <c:v>891</c:v>
                </c:pt>
                <c:pt idx="2">
                  <c:v>1188</c:v>
                </c:pt>
                <c:pt idx="3">
                  <c:v>992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952</c:v>
                </c:pt>
                <c:pt idx="1">
                  <c:v>1066</c:v>
                </c:pt>
                <c:pt idx="2">
                  <c:v>1290</c:v>
                </c:pt>
                <c:pt idx="3">
                  <c:v>1600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투자액 전망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Sheet1!$A$2:$A$6</c:f>
              <c:strCache>
                <c:ptCount val="5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211</c:v>
                </c:pt>
                <c:pt idx="1">
                  <c:v>387</c:v>
                </c:pt>
                <c:pt idx="2">
                  <c:v>724</c:v>
                </c:pt>
                <c:pt idx="3">
                  <c:v>604</c:v>
                </c:pt>
                <c:pt idx="4">
                  <c:v>743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Sheet1!$A$2:$A$6</c:f>
              <c:strCache>
                <c:ptCount val="5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816</c:v>
                </c:pt>
                <c:pt idx="1">
                  <c:v>744</c:v>
                </c:pt>
                <c:pt idx="2">
                  <c:v>1093</c:v>
                </c:pt>
                <c:pt idx="3">
                  <c:v>936</c:v>
                </c:pt>
                <c:pt idx="4">
                  <c:v>1136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765</c:v>
                </c:pt>
                <c:pt idx="1">
                  <c:v>1109</c:v>
                </c:pt>
                <c:pt idx="2">
                  <c:v>1360</c:v>
                </c:pt>
                <c:pt idx="3">
                  <c:v>1181</c:v>
                </c:pt>
                <c:pt idx="4">
                  <c:v>1324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이용자수 구성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489</c:v>
                </c:pt>
                <c:pt idx="1">
                  <c:v>766</c:v>
                </c:pt>
                <c:pt idx="2">
                  <c:v>802</c:v>
                </c:pt>
                <c:pt idx="3">
                  <c:v>930</c:v>
                </c:pt>
                <c:pt idx="4">
                  <c:v>1162</c:v>
                </c:pt>
                <c:pt idx="5">
                  <c:v>1029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650</c:v>
                </c:pt>
                <c:pt idx="1">
                  <c:v>1082</c:v>
                </c:pt>
                <c:pt idx="2">
                  <c:v>1038</c:v>
                </c:pt>
                <c:pt idx="3">
                  <c:v>1104</c:v>
                </c:pt>
                <c:pt idx="4">
                  <c:v>1156</c:v>
                </c:pt>
                <c:pt idx="5">
                  <c:v>1511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867</c:v>
                </c:pt>
                <c:pt idx="1">
                  <c:v>1039</c:v>
                </c:pt>
                <c:pt idx="2">
                  <c:v>1448</c:v>
                </c:pt>
                <c:pt idx="3">
                  <c:v>1301</c:v>
                </c:pt>
                <c:pt idx="4">
                  <c:v>1736</c:v>
                </c:pt>
                <c:pt idx="5">
                  <c:v>1599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수출액 현황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Sheet1!$A$2:$A$8</c:f>
              <c:strCache>
                <c:ptCount val="7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  <c:pt idx="6">
                  <c:v>자사몰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461</c:v>
                </c:pt>
                <c:pt idx="1">
                  <c:v>728</c:v>
                </c:pt>
                <c:pt idx="2">
                  <c:v>1072</c:v>
                </c:pt>
                <c:pt idx="3">
                  <c:v>1047</c:v>
                </c:pt>
                <c:pt idx="4">
                  <c:v>1328</c:v>
                </c:pt>
                <c:pt idx="5">
                  <c:v>1332</c:v>
                </c:pt>
                <c:pt idx="6">
                  <c:v>1304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Sheet1!$A$2:$A$8</c:f>
              <c:strCache>
                <c:ptCount val="7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  <c:pt idx="6">
                  <c:v>자사몰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725</c:v>
                </c:pt>
                <c:pt idx="1">
                  <c:v>940</c:v>
                </c:pt>
                <c:pt idx="2">
                  <c:v>1245</c:v>
                </c:pt>
                <c:pt idx="3">
                  <c:v>1361</c:v>
                </c:pt>
                <c:pt idx="4">
                  <c:v>1398</c:v>
                </c:pt>
                <c:pt idx="5">
                  <c:v>1708</c:v>
                </c:pt>
                <c:pt idx="6">
                  <c:v>1790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매출 추이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매출(억원)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Sheet1!$A$2:$A$4</c:f>
              <c:strCache>
                <c:ptCount val="3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632</c:v>
                </c:pt>
                <c:pt idx="1">
                  <c:v>920</c:v>
                </c:pt>
                <c:pt idx="2">
                  <c:v>1053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점유율 비교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525</c:v>
                </c:pt>
                <c:pt idx="1">
                  <c:v>572</c:v>
                </c:pt>
                <c:pt idx="2">
                  <c:v>705</c:v>
                </c:pt>
                <c:pt idx="3">
                  <c:v>911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Sheet1!$A$2:$A$5</c:f>
              <c:strCache>
                <c:ptCount val="4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661</c:v>
                </c:pt>
                <c:pt idx="1">
                  <c:v>761</c:v>
                </c:pt>
                <c:pt idx="2">
                  <c:v>816</c:v>
                </c:pt>
                <c:pt idx="3">
                  <c:v>861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성과지표 분석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Sheet1!$A$2:$A$6</c:f>
              <c:strCache>
                <c:ptCount val="5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348</c:v>
                </c:pt>
                <c:pt idx="1">
                  <c:v>540</c:v>
                </c:pt>
                <c:pt idx="2">
                  <c:v>954</c:v>
                </c:pt>
                <c:pt idx="3">
                  <c:v>1033</c:v>
                </c:pt>
                <c:pt idx="4">
                  <c:v>858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Sheet1!$A$2:$A$6</c:f>
              <c:strCache>
                <c:ptCount val="5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747</c:v>
                </c:pt>
                <c:pt idx="1">
                  <c:v>1007</c:v>
                </c:pt>
                <c:pt idx="2">
                  <c:v>979</c:v>
                </c:pt>
                <c:pt idx="3">
                  <c:v>1027</c:v>
                </c:pt>
                <c:pt idx="4">
                  <c:v>1399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Sheet1!$A$2:$A$6</c:f>
              <c:strCache>
                <c:ptCount val="5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1104</c:v>
                </c:pt>
                <c:pt idx="1">
                  <c:v>1031</c:v>
                </c:pt>
                <c:pt idx="2">
                  <c:v>1328</c:v>
                </c:pt>
                <c:pt idx="3">
                  <c:v>1383</c:v>
                </c:pt>
                <c:pt idx="4">
                  <c:v>1662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투자액 전망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665</c:v>
                </c:pt>
                <c:pt idx="1">
                  <c:v>793</c:v>
                </c:pt>
                <c:pt idx="2">
                  <c:v>912</c:v>
                </c:pt>
                <c:pt idx="3">
                  <c:v>1134</c:v>
                </c:pt>
                <c:pt idx="4">
                  <c:v>1124</c:v>
                </c:pt>
                <c:pt idx="5">
                  <c:v>1424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Sheet1!$A$2:$A$7</c:f>
              <c:strCache>
                <c:ptCount val="6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1047</c:v>
                </c:pt>
                <c:pt idx="1">
                  <c:v>893</c:v>
                </c:pt>
                <c:pt idx="2">
                  <c:v>1116</c:v>
                </c:pt>
                <c:pt idx="3">
                  <c:v>1377</c:v>
                </c:pt>
                <c:pt idx="4">
                  <c:v>1437</c:v>
                </c:pt>
                <c:pt idx="5">
                  <c:v>1547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1335</c:v>
                </c:pt>
                <c:pt idx="1">
                  <c:v>1325</c:v>
                </c:pt>
                <c:pt idx="2">
                  <c:v>1365</c:v>
                </c:pt>
                <c:pt idx="3">
                  <c:v>1645</c:v>
                </c:pt>
                <c:pt idx="4">
                  <c:v>1611</c:v>
                </c:pt>
                <c:pt idx="5">
                  <c:v>1917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이용자수 구성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896</c:v>
                </c:pt>
                <c:pt idx="1">
                  <c:v>939</c:v>
                </c:pt>
                <c:pt idx="2">
                  <c:v>923</c:v>
                </c:pt>
                <c:pt idx="3">
                  <c:v>1001</c:v>
                </c:pt>
                <c:pt idx="4">
                  <c:v>1371</c:v>
                </c:pt>
                <c:pt idx="5">
                  <c:v>1581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1046</c:v>
                </c:pt>
                <c:pt idx="1">
                  <c:v>1138</c:v>
                </c:pt>
                <c:pt idx="2">
                  <c:v>1401</c:v>
                </c:pt>
                <c:pt idx="3">
                  <c:v>1600</c:v>
                </c:pt>
                <c:pt idx="4">
                  <c:v>1469</c:v>
                </c:pt>
                <c:pt idx="5">
                  <c:v>1795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수출액 현황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855</c:v>
                </c:pt>
                <c:pt idx="1">
                  <c:v>1010</c:v>
                </c:pt>
                <c:pt idx="2">
                  <c:v>1057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매출 추이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Sheet1!$A$2:$A$5</c:f>
              <c:strCache>
                <c:ptCount val="4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413</c:v>
                </c:pt>
                <c:pt idx="1">
                  <c:v>774</c:v>
                </c:pt>
                <c:pt idx="2">
                  <c:v>839</c:v>
                </c:pt>
                <c:pt idx="3">
                  <c:v>904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720</c:v>
                </c:pt>
                <c:pt idx="1">
                  <c:v>746</c:v>
                </c:pt>
                <c:pt idx="2">
                  <c:v>1121</c:v>
                </c:pt>
                <c:pt idx="3">
                  <c:v>1211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점유율 비교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Sheet1!$A$2:$A$6</c:f>
              <c:strCache>
                <c:ptCount val="5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635</c:v>
                </c:pt>
                <c:pt idx="1">
                  <c:v>615</c:v>
                </c:pt>
                <c:pt idx="2">
                  <c:v>976</c:v>
                </c:pt>
                <c:pt idx="3">
                  <c:v>940</c:v>
                </c:pt>
                <c:pt idx="4">
                  <c:v>1169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Sheet1!$A$2:$A$6</c:f>
              <c:strCache>
                <c:ptCount val="5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808</c:v>
                </c:pt>
                <c:pt idx="1">
                  <c:v>1104</c:v>
                </c:pt>
                <c:pt idx="2">
                  <c:v>1219</c:v>
                </c:pt>
                <c:pt idx="3">
                  <c:v>1259</c:v>
                </c:pt>
                <c:pt idx="4">
                  <c:v>1256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Sheet1!$A$2:$A$6</c:f>
              <c:strCache>
                <c:ptCount val="5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1165</c:v>
                </c:pt>
                <c:pt idx="1">
                  <c:v>1346</c:v>
                </c:pt>
                <c:pt idx="2">
                  <c:v>1433</c:v>
                </c:pt>
                <c:pt idx="3">
                  <c:v>1477</c:v>
                </c:pt>
                <c:pt idx="4">
                  <c:v>1581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성과지표 분석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Sheet1!$A$2:$A$7</c:f>
              <c:strCache>
                <c:ptCount val="6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661</c:v>
                </c:pt>
                <c:pt idx="1">
                  <c:v>905</c:v>
                </c:pt>
                <c:pt idx="2">
                  <c:v>1185</c:v>
                </c:pt>
                <c:pt idx="3">
                  <c:v>1274</c:v>
                </c:pt>
                <c:pt idx="4">
                  <c:v>1168</c:v>
                </c:pt>
                <c:pt idx="5">
                  <c:v>1460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1017</c:v>
                </c:pt>
                <c:pt idx="1">
                  <c:v>1187</c:v>
                </c:pt>
                <c:pt idx="2">
                  <c:v>1402</c:v>
                </c:pt>
                <c:pt idx="3">
                  <c:v>1450</c:v>
                </c:pt>
                <c:pt idx="4">
                  <c:v>1566</c:v>
                </c:pt>
                <c:pt idx="5">
                  <c:v>1691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Sheet1!$A$2:$A$7</c:f>
              <c:strCache>
                <c:ptCount val="6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1154</c:v>
                </c:pt>
                <c:pt idx="1">
                  <c:v>1230</c:v>
                </c:pt>
                <c:pt idx="2">
                  <c:v>1676</c:v>
                </c:pt>
                <c:pt idx="3">
                  <c:v>1811</c:v>
                </c:pt>
                <c:pt idx="4">
                  <c:v>1746</c:v>
                </c:pt>
                <c:pt idx="5">
                  <c:v>1911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투자액 전망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Sheet1!$A$2:$A$8</c:f>
              <c:strCache>
                <c:ptCount val="7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  <c:pt idx="6">
                  <c:v>컨설팅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353</c:v>
                </c:pt>
                <c:pt idx="1">
                  <c:v>467</c:v>
                </c:pt>
                <c:pt idx="2">
                  <c:v>530</c:v>
                </c:pt>
                <c:pt idx="3">
                  <c:v>750</c:v>
                </c:pt>
                <c:pt idx="4">
                  <c:v>810</c:v>
                </c:pt>
                <c:pt idx="5">
                  <c:v>860</c:v>
                </c:pt>
                <c:pt idx="6">
                  <c:v>1288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Sheet1!$A$2:$A$8</c:f>
              <c:strCache>
                <c:ptCount val="7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  <c:pt idx="6">
                  <c:v>컨설팅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567</c:v>
                </c:pt>
                <c:pt idx="1">
                  <c:v>707</c:v>
                </c:pt>
                <c:pt idx="2">
                  <c:v>827</c:v>
                </c:pt>
                <c:pt idx="3">
                  <c:v>1226</c:v>
                </c:pt>
                <c:pt idx="4">
                  <c:v>1187</c:v>
                </c:pt>
                <c:pt idx="5">
                  <c:v>1183</c:v>
                </c:pt>
                <c:pt idx="6">
                  <c:v>1594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이용자수 구성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이용자수(만명)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Sheet1!$A$2:$A$4</c:f>
              <c:strCache>
                <c:ptCount val="3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964</c:v>
                </c:pt>
                <c:pt idx="1">
                  <c:v>1015</c:v>
                </c:pt>
                <c:pt idx="2">
                  <c:v>1194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수출액 현황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753</c:v>
                </c:pt>
                <c:pt idx="1">
                  <c:v>923</c:v>
                </c:pt>
                <c:pt idx="2">
                  <c:v>748</c:v>
                </c:pt>
                <c:pt idx="3">
                  <c:v>1037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Sheet1!$A$2:$A$5</c:f>
              <c:strCache>
                <c:ptCount val="4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814</c:v>
                </c:pt>
                <c:pt idx="1">
                  <c:v>1081</c:v>
                </c:pt>
                <c:pt idx="2">
                  <c:v>1253</c:v>
                </c:pt>
                <c:pt idx="3">
                  <c:v>1142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매출 추이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Sheet1!$A$2:$A$6</c:f>
              <c:strCache>
                <c:ptCount val="5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705</c:v>
                </c:pt>
                <c:pt idx="1">
                  <c:v>852</c:v>
                </c:pt>
                <c:pt idx="2">
                  <c:v>1170</c:v>
                </c:pt>
                <c:pt idx="3">
                  <c:v>1090</c:v>
                </c:pt>
                <c:pt idx="4">
                  <c:v>1303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Sheet1!$A$2:$A$6</c:f>
              <c:strCache>
                <c:ptCount val="5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851</c:v>
                </c:pt>
                <c:pt idx="1">
                  <c:v>1331</c:v>
                </c:pt>
                <c:pt idx="2">
                  <c:v>1267</c:v>
                </c:pt>
                <c:pt idx="3">
                  <c:v>1313</c:v>
                </c:pt>
                <c:pt idx="4">
                  <c:v>1417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Sheet1!$A$2:$A$6</c:f>
              <c:strCache>
                <c:ptCount val="5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1437</c:v>
                </c:pt>
                <c:pt idx="1">
                  <c:v>1254</c:v>
                </c:pt>
                <c:pt idx="2">
                  <c:v>1685</c:v>
                </c:pt>
                <c:pt idx="3">
                  <c:v>1632</c:v>
                </c:pt>
                <c:pt idx="4">
                  <c:v>1979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점유율 비교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Sheet1!$A$2:$A$7</c:f>
              <c:strCache>
                <c:ptCount val="6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464</c:v>
                </c:pt>
                <c:pt idx="1">
                  <c:v>691</c:v>
                </c:pt>
                <c:pt idx="2">
                  <c:v>773</c:v>
                </c:pt>
                <c:pt idx="3">
                  <c:v>741</c:v>
                </c:pt>
                <c:pt idx="4">
                  <c:v>913</c:v>
                </c:pt>
                <c:pt idx="5">
                  <c:v>1164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Sheet1!$A$2:$A$7</c:f>
              <c:strCache>
                <c:ptCount val="6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785</c:v>
                </c:pt>
                <c:pt idx="1">
                  <c:v>812</c:v>
                </c:pt>
                <c:pt idx="2">
                  <c:v>757</c:v>
                </c:pt>
                <c:pt idx="3">
                  <c:v>1015</c:v>
                </c:pt>
                <c:pt idx="4">
                  <c:v>1351</c:v>
                </c:pt>
                <c:pt idx="5">
                  <c:v>1207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897</c:v>
                </c:pt>
                <c:pt idx="1">
                  <c:v>937</c:v>
                </c:pt>
                <c:pt idx="2">
                  <c:v>1048</c:v>
                </c:pt>
                <c:pt idx="3">
                  <c:v>1386</c:v>
                </c:pt>
                <c:pt idx="4">
                  <c:v>1260</c:v>
                </c:pt>
                <c:pt idx="5">
                  <c:v>1529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성과지표 분석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Sheet1!$A$2:$A$8</c:f>
              <c:strCache>
                <c:ptCount val="7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  <c:pt idx="6">
                  <c:v>만화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601</c:v>
                </c:pt>
                <c:pt idx="1">
                  <c:v>806</c:v>
                </c:pt>
                <c:pt idx="2">
                  <c:v>885</c:v>
                </c:pt>
                <c:pt idx="3">
                  <c:v>881</c:v>
                </c:pt>
                <c:pt idx="4">
                  <c:v>985</c:v>
                </c:pt>
                <c:pt idx="5">
                  <c:v>1022</c:v>
                </c:pt>
                <c:pt idx="6">
                  <c:v>1113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Sheet1!$A$2:$A$8</c:f>
              <c:strCache>
                <c:ptCount val="7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  <c:pt idx="6">
                  <c:v>만화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882</c:v>
                </c:pt>
                <c:pt idx="1">
                  <c:v>800</c:v>
                </c:pt>
                <c:pt idx="2">
                  <c:v>1076</c:v>
                </c:pt>
                <c:pt idx="3">
                  <c:v>1146</c:v>
                </c:pt>
                <c:pt idx="4">
                  <c:v>1130</c:v>
                </c:pt>
                <c:pt idx="5">
                  <c:v>1617</c:v>
                </c:pt>
                <c:pt idx="6">
                  <c:v>1418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CHT-061</a:t>
            </a:r>
          </a:p>
        </p:txBody>
      </p:sp>
      <p:graphicFrame>
        <p:nvGraphicFramePr>
          <p:cNvPr id="3" name="asset:CHT-06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CHT-062</a:t>
            </a:r>
          </a:p>
        </p:txBody>
      </p:sp>
      <p:graphicFrame>
        <p:nvGraphicFramePr>
          <p:cNvPr id="3" name="asset:CHT-06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CHT-063</a:t>
            </a:r>
          </a:p>
        </p:txBody>
      </p:sp>
      <p:graphicFrame>
        <p:nvGraphicFramePr>
          <p:cNvPr id="3" name="asset:CHT-06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CHT-064</a:t>
            </a:r>
          </a:p>
        </p:txBody>
      </p:sp>
      <p:graphicFrame>
        <p:nvGraphicFramePr>
          <p:cNvPr id="3" name="asset:CHT-06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CHT-065</a:t>
            </a:r>
          </a:p>
        </p:txBody>
      </p:sp>
      <p:graphicFrame>
        <p:nvGraphicFramePr>
          <p:cNvPr id="3" name="asset:CHT-06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CHT-066</a:t>
            </a:r>
          </a:p>
        </p:txBody>
      </p:sp>
      <p:graphicFrame>
        <p:nvGraphicFramePr>
          <p:cNvPr id="3" name="asset:CHT-06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CHT-067</a:t>
            </a:r>
          </a:p>
        </p:txBody>
      </p:sp>
      <p:graphicFrame>
        <p:nvGraphicFramePr>
          <p:cNvPr id="3" name="asset:CHT-06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CHT-068</a:t>
            </a:r>
          </a:p>
        </p:txBody>
      </p:sp>
      <p:graphicFrame>
        <p:nvGraphicFramePr>
          <p:cNvPr id="3" name="asset:CHT-06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CHT-069</a:t>
            </a:r>
          </a:p>
        </p:txBody>
      </p:sp>
      <p:graphicFrame>
        <p:nvGraphicFramePr>
          <p:cNvPr id="3" name="asset:CHT-06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CHT-070</a:t>
            </a:r>
          </a:p>
        </p:txBody>
      </p:sp>
      <p:graphicFrame>
        <p:nvGraphicFramePr>
          <p:cNvPr id="3" name="asset:CHT-07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CHT-071</a:t>
            </a:r>
          </a:p>
        </p:txBody>
      </p:sp>
      <p:graphicFrame>
        <p:nvGraphicFramePr>
          <p:cNvPr id="3" name="asset:CHT-07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CHT-072</a:t>
            </a:r>
          </a:p>
        </p:txBody>
      </p:sp>
      <p:graphicFrame>
        <p:nvGraphicFramePr>
          <p:cNvPr id="3" name="asset:CHT-07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CHT-073</a:t>
            </a:r>
          </a:p>
        </p:txBody>
      </p:sp>
      <p:graphicFrame>
        <p:nvGraphicFramePr>
          <p:cNvPr id="3" name="asset:CHT-07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CHT-074</a:t>
            </a:r>
          </a:p>
        </p:txBody>
      </p:sp>
      <p:graphicFrame>
        <p:nvGraphicFramePr>
          <p:cNvPr id="3" name="asset:CHT-07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CHT-075</a:t>
            </a:r>
          </a:p>
        </p:txBody>
      </p:sp>
      <p:graphicFrame>
        <p:nvGraphicFramePr>
          <p:cNvPr id="3" name="asset:CHT-07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CHT-076</a:t>
            </a:r>
          </a:p>
        </p:txBody>
      </p:sp>
      <p:graphicFrame>
        <p:nvGraphicFramePr>
          <p:cNvPr id="3" name="asset:CHT-07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CHT-077</a:t>
            </a:r>
          </a:p>
        </p:txBody>
      </p:sp>
      <p:graphicFrame>
        <p:nvGraphicFramePr>
          <p:cNvPr id="3" name="asset:CHT-07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CHT-078</a:t>
            </a:r>
          </a:p>
        </p:txBody>
      </p:sp>
      <p:graphicFrame>
        <p:nvGraphicFramePr>
          <p:cNvPr id="3" name="asset:CHT-07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CHT-079</a:t>
            </a:r>
          </a:p>
        </p:txBody>
      </p:sp>
      <p:graphicFrame>
        <p:nvGraphicFramePr>
          <p:cNvPr id="3" name="asset:CHT-07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CHT-080</a:t>
            </a:r>
          </a:p>
        </p:txBody>
      </p:sp>
      <p:graphicFrame>
        <p:nvGraphicFramePr>
          <p:cNvPr id="3" name="asset:CHT-08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