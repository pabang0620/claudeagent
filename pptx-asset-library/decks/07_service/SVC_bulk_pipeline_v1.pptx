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SVC-064</a:t>
            </a:r>
          </a:p>
        </p:txBody>
      </p:sp>
      <p:grpSp>
        <p:nvGrpSpPr>
          <p:cNvPr id="25" name="asset:SVC-064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데이터 파이프라인 (3단계)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3단계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3200400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968496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80559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4480559" y="1554480"/>
              <a:ext cx="3200400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 · Cleanse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45151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45151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645151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71753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229600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8229600" y="1554480"/>
              <a:ext cx="3200400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394192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394192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394192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22" name="Can 21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2331720" y="3429000"/>
              <a:ext cx="3255263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6574535" y="3429000"/>
              <a:ext cx="3255265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SVC-065</a:t>
            </a:r>
          </a:p>
        </p:txBody>
      </p:sp>
      <p:grpSp>
        <p:nvGrpSpPr>
          <p:cNvPr id="31" name="asset:SVC-065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데이터 파이프라인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4단계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2263139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 · Cleanse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03123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4330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3543300" y="1554480"/>
              <a:ext cx="2263139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07891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07891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07891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843016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355079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6355079" y="1554480"/>
              <a:ext cx="2263139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519671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519671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519671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865479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6686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9166860" y="1554480"/>
              <a:ext cx="2263139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331452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331452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331452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28" name="Can 27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1863089" y="3429000"/>
              <a:ext cx="3723894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 flipH="1">
              <a:off x="6574535" y="3429000"/>
              <a:ext cx="3723895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SVC-066</a:t>
            </a:r>
          </a:p>
        </p:txBody>
      </p:sp>
      <p:grpSp>
        <p:nvGrpSpPr>
          <p:cNvPr id="37" name="asset:SVC-066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데이터 파이프라인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5단계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1700784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2468880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80944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2980944" y="1554480"/>
              <a:ext cx="1700784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145536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45536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45536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4718303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230368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5230368" y="1554480"/>
              <a:ext cx="1700784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394959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394959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394959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6967728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479792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7479792" y="1554480"/>
              <a:ext cx="1700784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 · Serve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644383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644383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644383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9217151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9729216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 Same Side Corner Rectangle 29"/>
            <p:cNvSpPr/>
            <p:nvPr/>
          </p:nvSpPr>
          <p:spPr>
            <a:xfrm>
              <a:off x="9729216" y="1554480"/>
              <a:ext cx="1700784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893808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893808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893808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34" name="Can 33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1581912" y="3429000"/>
              <a:ext cx="4005071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H="1">
              <a:off x="6574535" y="3429000"/>
              <a:ext cx="4005073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SVC-067</a:t>
            </a:r>
          </a:p>
        </p:txBody>
      </p:sp>
      <p:grpSp>
        <p:nvGrpSpPr>
          <p:cNvPr id="25" name="asset:SVC-067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데이터 파이프라인 (3단계)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3단계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3200400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968496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80559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4480559" y="1554480"/>
              <a:ext cx="3200400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45151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45151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645151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71753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229600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8229600" y="1554480"/>
              <a:ext cx="3200400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 · Serve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394192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394192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394192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22" name="Can 21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2331720" y="3429000"/>
              <a:ext cx="3255263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6574535" y="3429000"/>
              <a:ext cx="3255265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SVC-068</a:t>
            </a:r>
          </a:p>
        </p:txBody>
      </p:sp>
      <p:grpSp>
        <p:nvGrpSpPr>
          <p:cNvPr id="31" name="asset:SVC-068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데이터 파이프라인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4단계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2263139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03123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4330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3543300" y="1554480"/>
              <a:ext cx="2263139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 · Serve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07891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07891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07891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843016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355079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6355079" y="1554480"/>
              <a:ext cx="2263139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519671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519671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519671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865479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6686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9166860" y="1554480"/>
              <a:ext cx="2263139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 · Cleanse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331452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331452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331452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28" name="Can 27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1863089" y="3429000"/>
              <a:ext cx="3723894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 flipH="1">
              <a:off x="6574535" y="3429000"/>
              <a:ext cx="3723895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SVC-069</a:t>
            </a:r>
          </a:p>
        </p:txBody>
      </p:sp>
      <p:grpSp>
        <p:nvGrpSpPr>
          <p:cNvPr id="37" name="asset:SVC-069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데이터 파이프라인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5단계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1700784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 · Serve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2468880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80944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2980944" y="1554480"/>
              <a:ext cx="1700784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145536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45536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45536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4718303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230368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5230368" y="1554480"/>
              <a:ext cx="1700784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 · Cleanse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394959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394959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394959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6967728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479792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7479792" y="1554480"/>
              <a:ext cx="1700784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644383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644383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644383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9217151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9729216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 Same Side Corner Rectangle 29"/>
            <p:cNvSpPr/>
            <p:nvPr/>
          </p:nvSpPr>
          <p:spPr>
            <a:xfrm>
              <a:off x="9729216" y="1554480"/>
              <a:ext cx="1700784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893808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893808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893808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34" name="Can 33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1581912" y="3429000"/>
              <a:ext cx="4005071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H="1">
              <a:off x="6574535" y="3429000"/>
              <a:ext cx="4005073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SVC-070</a:t>
            </a:r>
          </a:p>
        </p:txBody>
      </p:sp>
      <p:grpSp>
        <p:nvGrpSpPr>
          <p:cNvPr id="25" name="asset:SVC-070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데이터 파이프라인 (3단계)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3단계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3200400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968496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80559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4480559" y="1554480"/>
              <a:ext cx="3200400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 · Cleanse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45151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45151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645151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71753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229600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8229600" y="1554480"/>
              <a:ext cx="3200400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394192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394192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394192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22" name="Can 21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2331720" y="3429000"/>
              <a:ext cx="3255263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6574535" y="3429000"/>
              <a:ext cx="3255265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SVC-071</a:t>
            </a:r>
          </a:p>
        </p:txBody>
      </p:sp>
      <p:grpSp>
        <p:nvGrpSpPr>
          <p:cNvPr id="31" name="asset:SVC-071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데이터 파이프라인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4단계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2263139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 · Cleanse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03123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4330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3543300" y="1554480"/>
              <a:ext cx="2263139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07891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07891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07891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843016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355079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6355079" y="1554480"/>
              <a:ext cx="2263139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519671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519671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519671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865479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6686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9166860" y="1554480"/>
              <a:ext cx="2263139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331452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331452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331452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28" name="Can 27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1863089" y="3429000"/>
              <a:ext cx="3723894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 flipH="1">
              <a:off x="6574535" y="3429000"/>
              <a:ext cx="3723895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SVC-072</a:t>
            </a:r>
          </a:p>
        </p:txBody>
      </p:sp>
      <p:grpSp>
        <p:nvGrpSpPr>
          <p:cNvPr id="37" name="asset:SVC-072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데이터 파이프라인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5단계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1700784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2468880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80944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2980944" y="1554480"/>
              <a:ext cx="1700784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145536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45536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45536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4718303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230368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5230368" y="1554480"/>
              <a:ext cx="1700784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394959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394959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394959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6967728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479792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7479792" y="1554480"/>
              <a:ext cx="1700784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 · Serve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644383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644383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644383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9217151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9729216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 Same Side Corner Rectangle 29"/>
            <p:cNvSpPr/>
            <p:nvPr/>
          </p:nvSpPr>
          <p:spPr>
            <a:xfrm>
              <a:off x="9729216" y="1554480"/>
              <a:ext cx="1700784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893808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893808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893808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34" name="Can 33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1581912" y="3429000"/>
              <a:ext cx="4005071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H="1">
              <a:off x="6574535" y="3429000"/>
              <a:ext cx="4005073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SVC-073</a:t>
            </a:r>
          </a:p>
        </p:txBody>
      </p:sp>
      <p:grpSp>
        <p:nvGrpSpPr>
          <p:cNvPr id="25" name="asset:SVC-073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데이터 파이프라인 (3단계)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3단계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3200400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968496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80559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4480559" y="1554480"/>
              <a:ext cx="3200400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45151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45151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645151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71753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229600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8229600" y="1554480"/>
              <a:ext cx="3200400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 · Serve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394192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394192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394192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22" name="Can 21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2331720" y="3429000"/>
              <a:ext cx="3255263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6574535" y="3429000"/>
              <a:ext cx="3255265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SVC-074</a:t>
            </a:r>
          </a:p>
        </p:txBody>
      </p:sp>
      <p:grpSp>
        <p:nvGrpSpPr>
          <p:cNvPr id="31" name="asset:SVC-074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데이터 파이프라인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4단계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2263139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03123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4330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3543300" y="1554480"/>
              <a:ext cx="2263139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 · Serve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07891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07891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07891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843016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355079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6355079" y="1554480"/>
              <a:ext cx="2263139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519671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519671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519671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865479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6686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9166860" y="1554480"/>
              <a:ext cx="2263139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 · Cleanse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331452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331452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331452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28" name="Can 27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1863089" y="3429000"/>
              <a:ext cx="3723894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 flipH="1">
              <a:off x="6574535" y="3429000"/>
              <a:ext cx="3723895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SVC-075</a:t>
            </a:r>
          </a:p>
        </p:txBody>
      </p:sp>
      <p:grpSp>
        <p:nvGrpSpPr>
          <p:cNvPr id="37" name="asset:SVC-075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데이터 파이프라인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5단계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1700784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 · Serve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2468880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80944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2980944" y="1554480"/>
              <a:ext cx="1700784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145536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45536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45536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4718303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230368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5230368" y="1554480"/>
              <a:ext cx="1700784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 · Cleanse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394959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394959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394959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6967728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479792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7479792" y="1554480"/>
              <a:ext cx="1700784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644383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644383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644383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9217151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9729216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 Same Side Corner Rectangle 29"/>
            <p:cNvSpPr/>
            <p:nvPr/>
          </p:nvSpPr>
          <p:spPr>
            <a:xfrm>
              <a:off x="9729216" y="1554480"/>
              <a:ext cx="1700784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893808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893808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893808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34" name="Can 33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1581912" y="3429000"/>
              <a:ext cx="4005071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H="1">
              <a:off x="6574535" y="3429000"/>
              <a:ext cx="4005073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SVC-076</a:t>
            </a:r>
          </a:p>
        </p:txBody>
      </p:sp>
      <p:grpSp>
        <p:nvGrpSpPr>
          <p:cNvPr id="25" name="asset:SVC-076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데이터 파이프라인 (3단계)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3단계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3200400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968496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80559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4480559" y="1554480"/>
              <a:ext cx="3200400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 · Cleanse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645151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45151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645151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71753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229600" y="1554480"/>
              <a:ext cx="3200400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8229600" y="1554480"/>
              <a:ext cx="3200400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394192" y="2194560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394192" y="2578608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394192" y="2962656"/>
              <a:ext cx="2871216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22" name="Can 21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2331720" y="3429000"/>
              <a:ext cx="3255263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6574535" y="3429000"/>
              <a:ext cx="3255265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SVC-077</a:t>
            </a:r>
          </a:p>
        </p:txBody>
      </p:sp>
      <p:grpSp>
        <p:nvGrpSpPr>
          <p:cNvPr id="31" name="asset:SVC-077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데이터 파이프라인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4단계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2263139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 · Cleanse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03123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4330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3543300" y="1554480"/>
              <a:ext cx="2263139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07891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07891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07891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843016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355079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6355079" y="1554480"/>
              <a:ext cx="2263139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519671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519671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519671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8654795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66860" y="1554480"/>
              <a:ext cx="2263139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9166860" y="1554480"/>
              <a:ext cx="2263139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331452" y="2194560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331452" y="2578608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331452" y="2962656"/>
              <a:ext cx="1933955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28" name="Can 27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1863089" y="3429000"/>
              <a:ext cx="3723894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 flipH="1">
              <a:off x="6574535" y="3429000"/>
              <a:ext cx="3723895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SVC-078</a:t>
            </a:r>
          </a:p>
        </p:txBody>
      </p:sp>
      <p:grpSp>
        <p:nvGrpSpPr>
          <p:cNvPr id="37" name="asset:SVC-078"/>
          <p:cNvGrpSpPr/>
          <p:nvPr/>
        </p:nvGrpSpPr>
        <p:grpSpPr>
          <a:xfrm>
            <a:off x="502920" y="457200"/>
            <a:ext cx="11155680" cy="5486400"/>
            <a:chOff x="502920" y="457200"/>
            <a:chExt cx="11155680" cy="5486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데이터 파이프라인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수집→변환→적재→분석 등 5단계 처리 + 데이터 웨어하우스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 Same Side Corner Rectangle 5"/>
            <p:cNvSpPr/>
            <p:nvPr/>
          </p:nvSpPr>
          <p:spPr>
            <a:xfrm>
              <a:off x="731520" y="1554480"/>
              <a:ext cx="1700784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변환 · Transform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896112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6112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96112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2468880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80944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 Same Side Corner Rectangle 11"/>
            <p:cNvSpPr/>
            <p:nvPr/>
          </p:nvSpPr>
          <p:spPr>
            <a:xfrm>
              <a:off x="2980944" y="1554480"/>
              <a:ext cx="1700784" cy="530352"/>
            </a:xfrm>
            <a:prstGeom prst="round2Same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적재 · Load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145536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집계·통계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145536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ML 모델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45536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리포트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4718303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230368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 Same Side Corner Rectangle 17"/>
            <p:cNvSpPr/>
            <p:nvPr/>
          </p:nvSpPr>
          <p:spPr>
            <a:xfrm>
              <a:off x="5230368" y="1554480"/>
              <a:ext cx="1700784" cy="530352"/>
            </a:xfrm>
            <a:prstGeom prst="round2Same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 · Analyze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394959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로그 수집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394959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394959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스트리밍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6967728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479792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 Same Side Corner Rectangle 23"/>
            <p:cNvSpPr/>
            <p:nvPr/>
          </p:nvSpPr>
          <p:spPr>
            <a:xfrm>
              <a:off x="7479792" y="1554480"/>
              <a:ext cx="1700784" cy="530352"/>
            </a:xfrm>
            <a:prstGeom prst="round2Same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 · Serve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644383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정제·검증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644383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표준화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644383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가공·매핑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9217151" y="2290571"/>
              <a:ext cx="475488" cy="402336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9729216" y="1554480"/>
              <a:ext cx="1700784" cy="1874519"/>
            </a:xfrm>
            <a:prstGeom prst="roundRect">
              <a:avLst/>
            </a:prstGeom>
            <a:solidFill>
              <a:srgbClr val="F7F9FC"/>
            </a:solidFill>
            <a:ln w="2222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 Same Side Corner Rectangle 29"/>
            <p:cNvSpPr/>
            <p:nvPr/>
          </p:nvSpPr>
          <p:spPr>
            <a:xfrm>
              <a:off x="9729216" y="1554480"/>
              <a:ext cx="1700784" cy="530352"/>
            </a:xfrm>
            <a:prstGeom prst="round2Same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수집 · Ingest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893808" y="2194560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DW 적재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893808" y="2578608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파티셔닝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9893808" y="2962656"/>
              <a:ext cx="1371600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인덱싱</a:t>
              </a:r>
            </a:p>
          </p:txBody>
        </p:sp>
        <p:sp>
          <p:nvSpPr>
            <p:cNvPr id="34" name="Can 33"/>
            <p:cNvSpPr/>
            <p:nvPr/>
          </p:nvSpPr>
          <p:spPr>
            <a:xfrm>
              <a:off x="4846319" y="4754880"/>
              <a:ext cx="2468880" cy="1188720"/>
            </a:xfrm>
            <a:prstGeom prst="ca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웨어하우스</a:t>
              </a:r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1581912" y="3429000"/>
              <a:ext cx="4005071" cy="1325880"/>
            </a:xfrm>
            <a:prstGeom prst="line">
              <a:avLst/>
            </a:prstGeom>
            <a:ln w="2032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H="1">
              <a:off x="6574535" y="3429000"/>
              <a:ext cx="4005073" cy="1325880"/>
            </a:xfrm>
            <a:prstGeom prst="line">
              <a:avLst/>
            </a:prstGeom>
            <a:ln w="2032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