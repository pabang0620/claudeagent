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SVC-095</a:t>
            </a:r>
          </a:p>
        </p:txBody>
      </p:sp>
      <p:grpSp>
        <p:nvGrpSpPr>
          <p:cNvPr id="28" name="asset:SVC-095"/>
          <p:cNvGrpSpPr/>
          <p:nvPr/>
        </p:nvGrpSpPr>
        <p:grpSpPr>
          <a:xfrm>
            <a:off x="502920" y="457200"/>
            <a:ext cx="11155680" cy="5989318"/>
            <a:chOff x="502920" y="457200"/>
            <a:chExt cx="11155680" cy="598931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통합 플랫폼 운영 스윔레인 (3주체)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1.신청서 작성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2.서류 접수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3.자격 심사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4.승인 처리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5.결과 통보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147523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신청인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783080"/>
              <a:ext cx="1603857" cy="1292351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신청서 작성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3331464"/>
              <a:ext cx="1828800" cy="147523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접수 담당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3422904"/>
              <a:ext cx="1603857" cy="1292351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서류 접수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4971287"/>
              <a:ext cx="1828800" cy="147523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심사 위원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5062727"/>
              <a:ext cx="1603857" cy="1292351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자격 심사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SVC-096</a:t>
            </a:r>
          </a:p>
        </p:txBody>
      </p:sp>
      <p:grpSp>
        <p:nvGrpSpPr>
          <p:cNvPr id="34" name="asset:SVC-096"/>
          <p:cNvGrpSpPr/>
          <p:nvPr/>
        </p:nvGrpSpPr>
        <p:grpSpPr>
          <a:xfrm>
            <a:off x="502920" y="457200"/>
            <a:ext cx="11155680" cy="5989319"/>
            <a:chOff x="502920" y="457200"/>
            <a:chExt cx="11155680" cy="598931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데이터 허브 운영 스윔레인 (4주체)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1.서류 접수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2.자격 심사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3.승인 처리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4.결과 통보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5.신청서 작성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106527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접수 담당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783080"/>
              <a:ext cx="1603857" cy="882395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자격 심사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2921508"/>
              <a:ext cx="1828800" cy="106527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심사 위원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3012948"/>
              <a:ext cx="1603857" cy="882395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 처리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4151375"/>
              <a:ext cx="1828800" cy="106527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승인권자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4242815"/>
              <a:ext cx="1603857" cy="882395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결과 통보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640080" y="5381244"/>
              <a:ext cx="1828800" cy="106527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관리자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697480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4502505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307531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112556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917582" y="5472683"/>
              <a:ext cx="1603857" cy="882395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신청서 작성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SVC-097</a:t>
            </a:r>
          </a:p>
        </p:txBody>
      </p:sp>
      <p:grpSp>
        <p:nvGrpSpPr>
          <p:cNvPr id="40" name="asset:SVC-097"/>
          <p:cNvGrpSpPr/>
          <p:nvPr/>
        </p:nvGrpSpPr>
        <p:grpSpPr>
          <a:xfrm>
            <a:off x="502920" y="457200"/>
            <a:ext cx="11155680" cy="5989319"/>
            <a:chOff x="502920" y="457200"/>
            <a:chExt cx="11155680" cy="598931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민원 서비스 운영 스윔레인 (5주체)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1.자격 심사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2.승인 처리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3.결과 통보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4.신청서 작성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5.서류 접수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81930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심사 위원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783080"/>
              <a:ext cx="1603857" cy="636422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결과 통보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2675534"/>
              <a:ext cx="1828800" cy="81930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승인권자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2766974"/>
              <a:ext cx="1603857" cy="636422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신청서 작성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3659428"/>
              <a:ext cx="1828800" cy="81930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관리자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3750868"/>
              <a:ext cx="1603857" cy="636422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서류 접수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640080" y="4643323"/>
              <a:ext cx="1828800" cy="81930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697480" y="4734763"/>
              <a:ext cx="1603857" cy="636422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자격 심사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4502505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307531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112556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917582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640080" y="5627217"/>
              <a:ext cx="1828800" cy="81930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2697480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4502505" y="5718657"/>
              <a:ext cx="1603857" cy="636422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 처리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6307531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8112556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9917582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SVC-098</a:t>
            </a:r>
          </a:p>
        </p:txBody>
      </p:sp>
      <p:grpSp>
        <p:nvGrpSpPr>
          <p:cNvPr id="28" name="asset:SVC-098"/>
          <p:cNvGrpSpPr/>
          <p:nvPr/>
        </p:nvGrpSpPr>
        <p:grpSpPr>
          <a:xfrm>
            <a:off x="502920" y="457200"/>
            <a:ext cx="11155680" cy="5989318"/>
            <a:chOff x="502920" y="457200"/>
            <a:chExt cx="11155680" cy="598931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관제 시스템 운영 스윔레인 (3주체)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1.승인 처리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2.결과 통보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3.신청서 작성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4.서류 접수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5.자격 심사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147523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승인권자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783080"/>
              <a:ext cx="1603857" cy="1292351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서류 접수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3331464"/>
              <a:ext cx="1828800" cy="147523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관리자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3422904"/>
              <a:ext cx="1603857" cy="1292351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자격 심사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4971287"/>
              <a:ext cx="1828800" cy="147523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5062727"/>
              <a:ext cx="1603857" cy="1292351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 처리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SVC-099</a:t>
            </a:r>
          </a:p>
        </p:txBody>
      </p:sp>
      <p:grpSp>
        <p:nvGrpSpPr>
          <p:cNvPr id="34" name="asset:SVC-099"/>
          <p:cNvGrpSpPr/>
          <p:nvPr/>
        </p:nvGrpSpPr>
        <p:grpSpPr>
          <a:xfrm>
            <a:off x="502920" y="457200"/>
            <a:ext cx="11155680" cy="5989319"/>
            <a:chOff x="502920" y="457200"/>
            <a:chExt cx="11155680" cy="598931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지원 사업 운영 스윔레인 (4주체)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1.결과 통보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2.신청서 작성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3.서류 접수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4.자격 심사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5.승인 처리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106527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관리자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783080"/>
              <a:ext cx="1603857" cy="882395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 처리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2921508"/>
              <a:ext cx="1828800" cy="106527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3012948"/>
              <a:ext cx="1603857" cy="882395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결과 통보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4151375"/>
              <a:ext cx="1828800" cy="106527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4242815"/>
              <a:ext cx="1603857" cy="882395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신청서 작성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640080" y="5381244"/>
              <a:ext cx="1828800" cy="106527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정산 담당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697480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4502505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307531" y="5472683"/>
              <a:ext cx="1603857" cy="882395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서류 접수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112556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917582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SVC-100</a:t>
            </a:r>
          </a:p>
        </p:txBody>
      </p:sp>
      <p:grpSp>
        <p:nvGrpSpPr>
          <p:cNvPr id="40" name="asset:SVC-100"/>
          <p:cNvGrpSpPr/>
          <p:nvPr/>
        </p:nvGrpSpPr>
        <p:grpSpPr>
          <a:xfrm>
            <a:off x="502920" y="457200"/>
            <a:ext cx="11155680" cy="5989319"/>
            <a:chOff x="502920" y="457200"/>
            <a:chExt cx="11155680" cy="598931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연계 체계 운영 스윔레인 (5주체)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1.신청서 작성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2.서류 접수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3.자격 심사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4.승인 처리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5.결과 통보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81930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783080"/>
              <a:ext cx="1603857" cy="636422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신청서 작성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2675534"/>
              <a:ext cx="1828800" cy="81930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2766974"/>
              <a:ext cx="1603857" cy="636422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서류 접수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3659428"/>
              <a:ext cx="1828800" cy="81930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정산 담당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3750868"/>
              <a:ext cx="1603857" cy="636422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자격 심사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640080" y="4643323"/>
              <a:ext cx="1828800" cy="81930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신청인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697480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4502505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307531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112556" y="4734763"/>
              <a:ext cx="1603857" cy="636422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 처리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917582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640080" y="5627217"/>
              <a:ext cx="1828800" cy="81930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접수 담당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2697480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4502505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6307531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8112556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9917582" y="5718657"/>
              <a:ext cx="1603857" cy="636422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결과 통보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SVC-101</a:t>
            </a:r>
          </a:p>
        </p:txBody>
      </p:sp>
      <p:grpSp>
        <p:nvGrpSpPr>
          <p:cNvPr id="28" name="asset:SVC-101"/>
          <p:cNvGrpSpPr/>
          <p:nvPr/>
        </p:nvGrpSpPr>
        <p:grpSpPr>
          <a:xfrm>
            <a:off x="502920" y="457200"/>
            <a:ext cx="11155680" cy="5989318"/>
            <a:chOff x="502920" y="457200"/>
            <a:chExt cx="11155680" cy="598931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클라우드 기반 운영 스윔레인 (3주체)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1.서류 접수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2.자격 심사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3.승인 처리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4.결과 통보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5.신청서 작성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147523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783080"/>
              <a:ext cx="1603857" cy="1292351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자격 심사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3331464"/>
              <a:ext cx="1828800" cy="147523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정산 담당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3422904"/>
              <a:ext cx="1603857" cy="1292351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 처리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4971287"/>
              <a:ext cx="1828800" cy="147523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신청인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5062727"/>
              <a:ext cx="1603857" cy="1292351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결과 통보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SVC-102</a:t>
            </a:r>
          </a:p>
        </p:txBody>
      </p:sp>
      <p:grpSp>
        <p:nvGrpSpPr>
          <p:cNvPr id="34" name="asset:SVC-102"/>
          <p:cNvGrpSpPr/>
          <p:nvPr/>
        </p:nvGrpSpPr>
        <p:grpSpPr>
          <a:xfrm>
            <a:off x="502920" y="457200"/>
            <a:ext cx="11155680" cy="5989319"/>
            <a:chOff x="502920" y="457200"/>
            <a:chExt cx="11155680" cy="598931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스마트 서비스 운영 스윔레인 (4주체)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1.자격 심사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2.승인 처리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3.결과 통보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4.신청서 작성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5.서류 접수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106527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정산 담당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783080"/>
              <a:ext cx="1603857" cy="882395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결과 통보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2921508"/>
              <a:ext cx="1828800" cy="106527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신청인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3012948"/>
              <a:ext cx="1603857" cy="882395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신청서 작성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4151375"/>
              <a:ext cx="1828800" cy="106527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접수 담당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4242815"/>
              <a:ext cx="1603857" cy="882395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서류 접수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640080" y="5381244"/>
              <a:ext cx="1828800" cy="106527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심사 위원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697480" y="5472683"/>
              <a:ext cx="1603857" cy="882395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자격 심사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4502505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307531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112556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917582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SVC-103</a:t>
            </a:r>
          </a:p>
        </p:txBody>
      </p:sp>
      <p:grpSp>
        <p:nvGrpSpPr>
          <p:cNvPr id="40" name="asset:SVC-103"/>
          <p:cNvGrpSpPr/>
          <p:nvPr/>
        </p:nvGrpSpPr>
        <p:grpSpPr>
          <a:xfrm>
            <a:off x="502920" y="457200"/>
            <a:ext cx="11155680" cy="5989319"/>
            <a:chOff x="502920" y="457200"/>
            <a:chExt cx="11155680" cy="598931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운영 관리 운영 스윔레인 (5주체)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1.승인 처리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2.결과 통보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3.신청서 작성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4.서류 접수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5.자격 심사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81930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신청인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783080"/>
              <a:ext cx="1603857" cy="636422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서류 접수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2675534"/>
              <a:ext cx="1828800" cy="81930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접수 담당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2766974"/>
              <a:ext cx="1603857" cy="636422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자격 심사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3659428"/>
              <a:ext cx="1828800" cy="81930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심사 위원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3750868"/>
              <a:ext cx="1603857" cy="636422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 처리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640080" y="4643323"/>
              <a:ext cx="1828800" cy="81930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승인권자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697480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4502505" y="4734763"/>
              <a:ext cx="1603857" cy="636422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결과 통보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307531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112556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917582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640080" y="5627217"/>
              <a:ext cx="1828800" cy="81930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관리자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2697480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4502505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6307531" y="5718657"/>
              <a:ext cx="1603857" cy="636422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신청서 작성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8112556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9917582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SVC-104</a:t>
            </a:r>
          </a:p>
        </p:txBody>
      </p:sp>
      <p:grpSp>
        <p:nvGrpSpPr>
          <p:cNvPr id="28" name="asset:SVC-104"/>
          <p:cNvGrpSpPr/>
          <p:nvPr/>
        </p:nvGrpSpPr>
        <p:grpSpPr>
          <a:xfrm>
            <a:off x="502920" y="457200"/>
            <a:ext cx="11155680" cy="5989318"/>
            <a:chOff x="502920" y="457200"/>
            <a:chExt cx="11155680" cy="598931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대민 포털 운영 스윔레인 (3주체)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1.결과 통보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2.신청서 작성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3.서류 접수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4.자격 심사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5.승인 처리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147523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접수 담당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783080"/>
              <a:ext cx="1603857" cy="1292351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 처리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3331464"/>
              <a:ext cx="1828800" cy="147523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심사 위원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3422904"/>
              <a:ext cx="1603857" cy="1292351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결과 통보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4971287"/>
              <a:ext cx="1828800" cy="147523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승인권자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5062727"/>
              <a:ext cx="1603857" cy="1292351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신청서 작성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SVC-105</a:t>
            </a:r>
          </a:p>
        </p:txBody>
      </p:sp>
      <p:grpSp>
        <p:nvGrpSpPr>
          <p:cNvPr id="34" name="asset:SVC-105"/>
          <p:cNvGrpSpPr/>
          <p:nvPr/>
        </p:nvGrpSpPr>
        <p:grpSpPr>
          <a:xfrm>
            <a:off x="502920" y="457200"/>
            <a:ext cx="11155680" cy="5989319"/>
            <a:chOff x="502920" y="457200"/>
            <a:chExt cx="11155680" cy="598931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정보화 사업 운영 스윔레인 (4주체)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1.신청서 작성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2.서류 접수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3.자격 심사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4.승인 처리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5.결과 통보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106527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심사 위원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783080"/>
              <a:ext cx="1603857" cy="882395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신청서 작성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2921508"/>
              <a:ext cx="1828800" cy="106527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승인권자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3012948"/>
              <a:ext cx="1603857" cy="882395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서류 접수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4151375"/>
              <a:ext cx="1828800" cy="106527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관리자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4242815"/>
              <a:ext cx="1603857" cy="882395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자격 심사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640080" y="5381244"/>
              <a:ext cx="1828800" cy="106527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697480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4502505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307531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112556" y="5472683"/>
              <a:ext cx="1603857" cy="882395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 처리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917582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SVC-106</a:t>
            </a:r>
          </a:p>
        </p:txBody>
      </p:sp>
      <p:grpSp>
        <p:nvGrpSpPr>
          <p:cNvPr id="40" name="asset:SVC-106"/>
          <p:cNvGrpSpPr/>
          <p:nvPr/>
        </p:nvGrpSpPr>
        <p:grpSpPr>
          <a:xfrm>
            <a:off x="502920" y="457200"/>
            <a:ext cx="11155680" cy="5989319"/>
            <a:chOff x="502920" y="457200"/>
            <a:chExt cx="11155680" cy="598931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플랫폼 고도화 운영 스윔레인 (5주체)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1.서류 접수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2.자격 심사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3.승인 처리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4.결과 통보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5.신청서 작성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81930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승인권자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783080"/>
              <a:ext cx="1603857" cy="636422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자격 심사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2675534"/>
              <a:ext cx="1828800" cy="81930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관리자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2766974"/>
              <a:ext cx="1603857" cy="636422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 처리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3659428"/>
              <a:ext cx="1828800" cy="81930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3750868"/>
              <a:ext cx="1603857" cy="636422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결과 통보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640080" y="4643323"/>
              <a:ext cx="1828800" cy="81930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697480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4502505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307531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112556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917582" y="4734763"/>
              <a:ext cx="1603857" cy="636422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신청서 작성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640080" y="5627217"/>
              <a:ext cx="1828800" cy="81930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정산 담당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2697480" y="5718657"/>
              <a:ext cx="1603857" cy="636422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서류 접수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4502505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6307531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8112556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9917582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SVC-107</a:t>
            </a:r>
          </a:p>
        </p:txBody>
      </p:sp>
      <p:grpSp>
        <p:nvGrpSpPr>
          <p:cNvPr id="28" name="asset:SVC-107"/>
          <p:cNvGrpSpPr/>
          <p:nvPr/>
        </p:nvGrpSpPr>
        <p:grpSpPr>
          <a:xfrm>
            <a:off x="502920" y="457200"/>
            <a:ext cx="11155680" cy="5989318"/>
            <a:chOff x="502920" y="457200"/>
            <a:chExt cx="11155680" cy="598931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디지털 전환 운영 스윔레인 (3주체)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1.자격 심사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2.승인 처리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3.결과 통보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4.신청서 작성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5.서류 접수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147523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관리자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783080"/>
              <a:ext cx="1603857" cy="1292351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결과 통보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819656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3331464"/>
              <a:ext cx="1828800" cy="147523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3422904"/>
              <a:ext cx="1603857" cy="1292351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신청서 작성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3459480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4971287"/>
              <a:ext cx="1828800" cy="147523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5099303"/>
              <a:ext cx="1603857" cy="121919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5062727"/>
              <a:ext cx="1603857" cy="1292351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서류 접수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SVC-108</a:t>
            </a:r>
          </a:p>
        </p:txBody>
      </p:sp>
      <p:grpSp>
        <p:nvGrpSpPr>
          <p:cNvPr id="34" name="asset:SVC-108"/>
          <p:cNvGrpSpPr/>
          <p:nvPr/>
        </p:nvGrpSpPr>
        <p:grpSpPr>
          <a:xfrm>
            <a:off x="502920" y="457200"/>
            <a:ext cx="11155680" cy="5989319"/>
            <a:chOff x="502920" y="457200"/>
            <a:chExt cx="11155680" cy="598931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공공데이터 개방 운영 스윔레인 (4주체)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1.승인 처리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2.결과 통보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3.신청서 작성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4.서류 접수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5.자격 심사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106527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783080"/>
              <a:ext cx="1603857" cy="882395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서류 접수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819656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2921508"/>
              <a:ext cx="1828800" cy="106527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3049524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3012948"/>
              <a:ext cx="1603857" cy="882395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자격 심사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4151375"/>
              <a:ext cx="1828800" cy="106527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정산 담당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4242815"/>
              <a:ext cx="1603857" cy="882395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 처리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4279391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640080" y="5381244"/>
              <a:ext cx="1828800" cy="106527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신청인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697480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4502505" y="5472683"/>
              <a:ext cx="1603857" cy="882395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결과 통보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307531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112556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917582" y="5509259"/>
              <a:ext cx="1603857" cy="809243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SVC-109</a:t>
            </a:r>
          </a:p>
        </p:txBody>
      </p:sp>
      <p:grpSp>
        <p:nvGrpSpPr>
          <p:cNvPr id="40" name="asset:SVC-109"/>
          <p:cNvGrpSpPr/>
          <p:nvPr/>
        </p:nvGrpSpPr>
        <p:grpSpPr>
          <a:xfrm>
            <a:off x="502920" y="457200"/>
            <a:ext cx="11155680" cy="5989319"/>
            <a:chOff x="502920" y="457200"/>
            <a:chExt cx="11155680" cy="598931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업무 자동화 운영 스윔레인 (5주체)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5개 수행주체 × 5단계 업무 흐름 (레인별 역할 분담)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697480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1.결과 통보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2505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2.신청서 작성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07531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3.서류 접수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12556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4.자격 심사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917582" y="1362456"/>
              <a:ext cx="160385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5.승인 처리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0080" y="1691640"/>
              <a:ext cx="1828800" cy="81930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697480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02505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307531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12556" y="1819656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17582" y="1783080"/>
              <a:ext cx="1603857" cy="636422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 처리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0080" y="2675534"/>
              <a:ext cx="1828800" cy="81930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정산 담당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697480" y="2766974"/>
              <a:ext cx="1603857" cy="636422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결과 통보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502505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07531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112556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917582" y="2803550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3659428"/>
              <a:ext cx="1828800" cy="81930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신청인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697480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502505" y="3750868"/>
              <a:ext cx="1603857" cy="636422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신청서 작성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307531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112556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17582" y="3787444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640080" y="4643323"/>
              <a:ext cx="1828800" cy="81930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접수 담당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697480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4502505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307531" y="4734763"/>
              <a:ext cx="1603857" cy="636422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서류 접수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112556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917582" y="4771339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640080" y="5627217"/>
              <a:ext cx="1828800" cy="81930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심사 위원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2697480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4502505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6307531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8112556" y="5718657"/>
              <a:ext cx="1603857" cy="636422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자격 심사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9917582" y="5755233"/>
              <a:ext cx="1603857" cy="56327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