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SVC-157</a:t>
            </a:r>
          </a:p>
        </p:txBody>
      </p:sp>
      <p:grpSp>
        <p:nvGrpSpPr>
          <p:cNvPr id="18" name="asset:SVC-157"/>
          <p:cNvGrpSpPr/>
          <p:nvPr/>
        </p:nvGrpSpPr>
        <p:grpSpPr>
          <a:xfrm>
            <a:off x="502920" y="457200"/>
            <a:ext cx="11155680" cy="5852160"/>
            <a:chOff x="502920" y="457200"/>
            <a:chExt cx="11155680" cy="585216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통합 플랫폼 개선 전·후 비교 (As-Is/To-Be)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기존 4개 문제점 → 개선 후 4개 효과 (통합·자동화 전환)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640080" y="1554480"/>
              <a:ext cx="4572000" cy="47548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1554480"/>
              <a:ext cx="4572000" cy="658368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As-Is (개선 전)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896112" y="2395728"/>
              <a:ext cx="4059935" cy="82753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시스템 분산 운영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6112" y="3351276"/>
              <a:ext cx="4059935" cy="82753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수기 데이터 입력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96112" y="4306824"/>
              <a:ext cx="4059935" cy="82753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사일로 고립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96112" y="5262372"/>
              <a:ext cx="4059935" cy="82753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실시간 처리 불가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979615" y="1554480"/>
              <a:ext cx="4572000" cy="47548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979615" y="1554480"/>
              <a:ext cx="4572000" cy="658368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To-Be (개선 후)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7235647" y="2395728"/>
              <a:ext cx="4059935" cy="82753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단일 통합 플랫폼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7235647" y="3351276"/>
              <a:ext cx="4059935" cy="82753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자동 연계·수집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235647" y="4306824"/>
              <a:ext cx="4059935" cy="82753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 데이터 관리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7235647" y="5262372"/>
              <a:ext cx="4059935" cy="82753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실시간 처리·분석</a:t>
              </a:r>
            </a:p>
          </p:txBody>
        </p:sp>
        <p:sp>
          <p:nvSpPr>
            <p:cNvPr id="17" name="Right Arrow 16"/>
            <p:cNvSpPr/>
            <p:nvPr/>
          </p:nvSpPr>
          <p:spPr>
            <a:xfrm>
              <a:off x="5382615" y="3474720"/>
              <a:ext cx="1426464" cy="914400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전환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개선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SVC-158</a:t>
            </a:r>
          </a:p>
        </p:txBody>
      </p:sp>
      <p:grpSp>
        <p:nvGrpSpPr>
          <p:cNvPr id="20" name="asset:SVC-158"/>
          <p:cNvGrpSpPr/>
          <p:nvPr/>
        </p:nvGrpSpPr>
        <p:grpSpPr>
          <a:xfrm>
            <a:off x="502920" y="457200"/>
            <a:ext cx="11155680" cy="5852160"/>
            <a:chOff x="502920" y="457200"/>
            <a:chExt cx="11155680" cy="585216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데이터 허브 개선 전·후 비교 (As-Is/To-Be)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기존 5개 문제점 → 개선 후 5개 효과 (통합·자동화 전환)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640080" y="1554480"/>
              <a:ext cx="4572000" cy="47548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1554480"/>
              <a:ext cx="4572000" cy="658368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As-Is (개선 전)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896112" y="2395728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수기 데이터 입력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6112" y="3160166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사일로 고립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96112" y="3924604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실시간 처리 불가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96112" y="4689043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수동 모니터링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96112" y="5453481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반복 수작업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979615" y="1554480"/>
              <a:ext cx="4572000" cy="47548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979615" y="1554480"/>
              <a:ext cx="4572000" cy="658368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To-Be (개선 후)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7235647" y="2395728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자동 연계·수집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235647" y="3160166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 데이터 관리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7235647" y="3924604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실시간 처리·분석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7235647" y="4689043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지능형 관제·알림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7235647" y="5453481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업무 자동화</a:t>
              </a:r>
            </a:p>
          </p:txBody>
        </p:sp>
        <p:sp>
          <p:nvSpPr>
            <p:cNvPr id="19" name="Right Arrow 18"/>
            <p:cNvSpPr/>
            <p:nvPr/>
          </p:nvSpPr>
          <p:spPr>
            <a:xfrm>
              <a:off x="5382615" y="3474720"/>
              <a:ext cx="1426464" cy="914400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전환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개선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SVC-159</a:t>
            </a:r>
          </a:p>
        </p:txBody>
      </p:sp>
      <p:grpSp>
        <p:nvGrpSpPr>
          <p:cNvPr id="22" name="asset:SVC-159"/>
          <p:cNvGrpSpPr/>
          <p:nvPr/>
        </p:nvGrpSpPr>
        <p:grpSpPr>
          <a:xfrm>
            <a:off x="502920" y="457200"/>
            <a:ext cx="11155680" cy="5852160"/>
            <a:chOff x="502920" y="457200"/>
            <a:chExt cx="11155680" cy="585216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민원 서비스 개선 전·후 비교 (As-Is/To-Be)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기존 6개 문제점 → 개선 후 6개 효과 (통합·자동화 전환)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640080" y="1554480"/>
              <a:ext cx="4572000" cy="47548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1554480"/>
              <a:ext cx="4572000" cy="658368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As-Is (개선 전)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896112" y="2395728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사일로 고립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6112" y="3032760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실시간 처리 불가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96112" y="3669792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수동 모니터링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96112" y="4306824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반복 수작업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96112" y="4943856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종이 문서 관리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96112" y="5580888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시스템 분산 운영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979615" y="1554480"/>
              <a:ext cx="4572000" cy="47548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979615" y="1554480"/>
              <a:ext cx="4572000" cy="658368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To-Be (개선 후)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235647" y="2395728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 데이터 관리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7235647" y="3032760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실시간 처리·분석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7235647" y="3669792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지능형 관제·알림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7235647" y="4306824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업무 자동화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7235647" y="4943856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전자 문서 관리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7235647" y="5580888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단일 통합 플랫폼</a:t>
              </a:r>
            </a:p>
          </p:txBody>
        </p:sp>
        <p:sp>
          <p:nvSpPr>
            <p:cNvPr id="21" name="Right Arrow 20"/>
            <p:cNvSpPr/>
            <p:nvPr/>
          </p:nvSpPr>
          <p:spPr>
            <a:xfrm>
              <a:off x="5382615" y="3474720"/>
              <a:ext cx="1426464" cy="914400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전환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개선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SVC-160</a:t>
            </a:r>
          </a:p>
        </p:txBody>
      </p:sp>
      <p:grpSp>
        <p:nvGrpSpPr>
          <p:cNvPr id="18" name="asset:SVC-160"/>
          <p:cNvGrpSpPr/>
          <p:nvPr/>
        </p:nvGrpSpPr>
        <p:grpSpPr>
          <a:xfrm>
            <a:off x="502920" y="457200"/>
            <a:ext cx="11155680" cy="5852160"/>
            <a:chOff x="502920" y="457200"/>
            <a:chExt cx="11155680" cy="585216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관제 시스템 개선 전·후 비교 (As-Is/To-Be)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기존 4개 문제점 → 개선 후 4개 효과 (통합·자동화 전환)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640080" y="1554480"/>
              <a:ext cx="4572000" cy="47548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1554480"/>
              <a:ext cx="4572000" cy="658368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As-Is (개선 전)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896112" y="2395728"/>
              <a:ext cx="4059935" cy="82753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실시간 처리 불가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6112" y="3351276"/>
              <a:ext cx="4059935" cy="82753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수동 모니터링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96112" y="4306824"/>
              <a:ext cx="4059935" cy="82753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반복 수작업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96112" y="5262372"/>
              <a:ext cx="4059935" cy="82753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종이 문서 관리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979615" y="1554480"/>
              <a:ext cx="4572000" cy="47548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979615" y="1554480"/>
              <a:ext cx="4572000" cy="658368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To-Be (개선 후)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7235647" y="2395728"/>
              <a:ext cx="4059935" cy="82753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실시간 처리·분석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7235647" y="3351276"/>
              <a:ext cx="4059935" cy="82753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지능형 관제·알림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235647" y="4306824"/>
              <a:ext cx="4059935" cy="82753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업무 자동화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7235647" y="5262372"/>
              <a:ext cx="4059935" cy="82753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전자 문서 관리</a:t>
              </a:r>
            </a:p>
          </p:txBody>
        </p:sp>
        <p:sp>
          <p:nvSpPr>
            <p:cNvPr id="17" name="Right Arrow 16"/>
            <p:cNvSpPr/>
            <p:nvPr/>
          </p:nvSpPr>
          <p:spPr>
            <a:xfrm>
              <a:off x="5382615" y="3474720"/>
              <a:ext cx="1426464" cy="914400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전환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개선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SVC-161</a:t>
            </a:r>
          </a:p>
        </p:txBody>
      </p:sp>
      <p:grpSp>
        <p:nvGrpSpPr>
          <p:cNvPr id="20" name="asset:SVC-161"/>
          <p:cNvGrpSpPr/>
          <p:nvPr/>
        </p:nvGrpSpPr>
        <p:grpSpPr>
          <a:xfrm>
            <a:off x="502920" y="457200"/>
            <a:ext cx="11155680" cy="5852160"/>
            <a:chOff x="502920" y="457200"/>
            <a:chExt cx="11155680" cy="585216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지원 사업 개선 전·후 비교 (As-Is/To-Be)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기존 5개 문제점 → 개선 후 5개 효과 (통합·자동화 전환)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640080" y="1554480"/>
              <a:ext cx="4572000" cy="47548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1554480"/>
              <a:ext cx="4572000" cy="658368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As-Is (개선 전)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896112" y="2395728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수동 모니터링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6112" y="3160166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반복 수작업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96112" y="3924604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종이 문서 관리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96112" y="4689043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시스템 분산 운영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96112" y="5453481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수기 데이터 입력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979615" y="1554480"/>
              <a:ext cx="4572000" cy="47548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979615" y="1554480"/>
              <a:ext cx="4572000" cy="658368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To-Be (개선 후)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7235647" y="2395728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지능형 관제·알림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235647" y="3160166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업무 자동화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7235647" y="3924604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전자 문서 관리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7235647" y="4689043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단일 통합 플랫폼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7235647" y="5453481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자동 연계·수집</a:t>
              </a:r>
            </a:p>
          </p:txBody>
        </p:sp>
        <p:sp>
          <p:nvSpPr>
            <p:cNvPr id="19" name="Right Arrow 18"/>
            <p:cNvSpPr/>
            <p:nvPr/>
          </p:nvSpPr>
          <p:spPr>
            <a:xfrm>
              <a:off x="5382615" y="3474720"/>
              <a:ext cx="1426464" cy="914400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전환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개선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SVC-162</a:t>
            </a:r>
          </a:p>
        </p:txBody>
      </p:sp>
      <p:grpSp>
        <p:nvGrpSpPr>
          <p:cNvPr id="22" name="asset:SVC-162"/>
          <p:cNvGrpSpPr/>
          <p:nvPr/>
        </p:nvGrpSpPr>
        <p:grpSpPr>
          <a:xfrm>
            <a:off x="502920" y="457200"/>
            <a:ext cx="11155680" cy="5852160"/>
            <a:chOff x="502920" y="457200"/>
            <a:chExt cx="11155680" cy="585216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연계 체계 개선 전·후 비교 (As-Is/To-Be)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기존 6개 문제점 → 개선 후 6개 효과 (통합·자동화 전환)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640080" y="1554480"/>
              <a:ext cx="4572000" cy="47548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1554480"/>
              <a:ext cx="4572000" cy="658368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As-Is (개선 전)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896112" y="2395728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반복 수작업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6112" y="3032760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종이 문서 관리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96112" y="3669792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시스템 분산 운영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96112" y="4306824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수기 데이터 입력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96112" y="4943856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사일로 고립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96112" y="5580888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실시간 처리 불가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979615" y="1554480"/>
              <a:ext cx="4572000" cy="47548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979615" y="1554480"/>
              <a:ext cx="4572000" cy="658368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To-Be (개선 후)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235647" y="2395728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업무 자동화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7235647" y="3032760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전자 문서 관리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7235647" y="3669792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단일 통합 플랫폼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7235647" y="4306824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자동 연계·수집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7235647" y="4943856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 데이터 관리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7235647" y="5580888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실시간 처리·분석</a:t>
              </a:r>
            </a:p>
          </p:txBody>
        </p:sp>
        <p:sp>
          <p:nvSpPr>
            <p:cNvPr id="21" name="Right Arrow 20"/>
            <p:cNvSpPr/>
            <p:nvPr/>
          </p:nvSpPr>
          <p:spPr>
            <a:xfrm>
              <a:off x="5382615" y="3474720"/>
              <a:ext cx="1426464" cy="914400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전환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개선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SVC-163</a:t>
            </a:r>
          </a:p>
        </p:txBody>
      </p:sp>
      <p:grpSp>
        <p:nvGrpSpPr>
          <p:cNvPr id="18" name="asset:SVC-163"/>
          <p:cNvGrpSpPr/>
          <p:nvPr/>
        </p:nvGrpSpPr>
        <p:grpSpPr>
          <a:xfrm>
            <a:off x="502920" y="457200"/>
            <a:ext cx="11155680" cy="5852160"/>
            <a:chOff x="502920" y="457200"/>
            <a:chExt cx="11155680" cy="585216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클라우드 기반 개선 전·후 비교 (As-Is/To-Be)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기존 4개 문제점 → 개선 후 4개 효과 (통합·자동화 전환)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640080" y="1554480"/>
              <a:ext cx="4572000" cy="47548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1554480"/>
              <a:ext cx="4572000" cy="658368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As-Is (개선 전)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896112" y="2395728"/>
              <a:ext cx="4059935" cy="82753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종이 문서 관리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6112" y="3351276"/>
              <a:ext cx="4059935" cy="82753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시스템 분산 운영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96112" y="4306824"/>
              <a:ext cx="4059935" cy="82753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수기 데이터 입력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96112" y="5262372"/>
              <a:ext cx="4059935" cy="82753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사일로 고립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979615" y="1554480"/>
              <a:ext cx="4572000" cy="47548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979615" y="1554480"/>
              <a:ext cx="4572000" cy="658368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To-Be (개선 후)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7235647" y="2395728"/>
              <a:ext cx="4059935" cy="82753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전자 문서 관리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7235647" y="3351276"/>
              <a:ext cx="4059935" cy="82753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단일 통합 플랫폼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235647" y="4306824"/>
              <a:ext cx="4059935" cy="82753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자동 연계·수집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7235647" y="5262372"/>
              <a:ext cx="4059935" cy="82753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 데이터 관리</a:t>
              </a:r>
            </a:p>
          </p:txBody>
        </p:sp>
        <p:sp>
          <p:nvSpPr>
            <p:cNvPr id="17" name="Right Arrow 16"/>
            <p:cNvSpPr/>
            <p:nvPr/>
          </p:nvSpPr>
          <p:spPr>
            <a:xfrm>
              <a:off x="5382615" y="3474720"/>
              <a:ext cx="1426464" cy="914400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전환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개선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SVC-164</a:t>
            </a:r>
          </a:p>
        </p:txBody>
      </p:sp>
      <p:grpSp>
        <p:nvGrpSpPr>
          <p:cNvPr id="20" name="asset:SVC-164"/>
          <p:cNvGrpSpPr/>
          <p:nvPr/>
        </p:nvGrpSpPr>
        <p:grpSpPr>
          <a:xfrm>
            <a:off x="502920" y="457200"/>
            <a:ext cx="11155680" cy="5852160"/>
            <a:chOff x="502920" y="457200"/>
            <a:chExt cx="11155680" cy="585216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스마트 서비스 개선 전·후 비교 (As-Is/To-Be)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기존 5개 문제점 → 개선 후 5개 효과 (통합·자동화 전환)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640080" y="1554480"/>
              <a:ext cx="4572000" cy="47548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1554480"/>
              <a:ext cx="4572000" cy="658368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As-Is (개선 전)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896112" y="2395728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시스템 분산 운영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6112" y="3160166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수기 데이터 입력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96112" y="3924604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사일로 고립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96112" y="4689043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실시간 처리 불가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96112" y="5453481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수동 모니터링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979615" y="1554480"/>
              <a:ext cx="4572000" cy="47548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979615" y="1554480"/>
              <a:ext cx="4572000" cy="658368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To-Be (개선 후)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7235647" y="2395728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단일 통합 플랫폼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235647" y="3160166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자동 연계·수집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7235647" y="3924604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 데이터 관리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7235647" y="4689043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실시간 처리·분석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7235647" y="5453481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지능형 관제·알림</a:t>
              </a:r>
            </a:p>
          </p:txBody>
        </p:sp>
        <p:sp>
          <p:nvSpPr>
            <p:cNvPr id="19" name="Right Arrow 18"/>
            <p:cNvSpPr/>
            <p:nvPr/>
          </p:nvSpPr>
          <p:spPr>
            <a:xfrm>
              <a:off x="5382615" y="3474720"/>
              <a:ext cx="1426464" cy="914400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전환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개선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SVC-165</a:t>
            </a:r>
          </a:p>
        </p:txBody>
      </p:sp>
      <p:grpSp>
        <p:nvGrpSpPr>
          <p:cNvPr id="22" name="asset:SVC-165"/>
          <p:cNvGrpSpPr/>
          <p:nvPr/>
        </p:nvGrpSpPr>
        <p:grpSpPr>
          <a:xfrm>
            <a:off x="502920" y="457200"/>
            <a:ext cx="11155680" cy="5852160"/>
            <a:chOff x="502920" y="457200"/>
            <a:chExt cx="11155680" cy="585216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운영 관리 개선 전·후 비교 (As-Is/To-Be)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기존 6개 문제점 → 개선 후 6개 효과 (통합·자동화 전환)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640080" y="1554480"/>
              <a:ext cx="4572000" cy="47548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1554480"/>
              <a:ext cx="4572000" cy="658368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As-Is (개선 전)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896112" y="2395728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수기 데이터 입력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6112" y="3032760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사일로 고립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96112" y="3669792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실시간 처리 불가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96112" y="4306824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수동 모니터링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96112" y="4943856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반복 수작업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96112" y="5580888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종이 문서 관리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979615" y="1554480"/>
              <a:ext cx="4572000" cy="47548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979615" y="1554480"/>
              <a:ext cx="4572000" cy="658368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To-Be (개선 후)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235647" y="2395728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자동 연계·수집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7235647" y="3032760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 데이터 관리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7235647" y="3669792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실시간 처리·분석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7235647" y="4306824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지능형 관제·알림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7235647" y="4943856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업무 자동화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7235647" y="5580888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전자 문서 관리</a:t>
              </a:r>
            </a:p>
          </p:txBody>
        </p:sp>
        <p:sp>
          <p:nvSpPr>
            <p:cNvPr id="21" name="Right Arrow 20"/>
            <p:cNvSpPr/>
            <p:nvPr/>
          </p:nvSpPr>
          <p:spPr>
            <a:xfrm>
              <a:off x="5382615" y="3474720"/>
              <a:ext cx="1426464" cy="914400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전환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개선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SVC-166</a:t>
            </a:r>
          </a:p>
        </p:txBody>
      </p:sp>
      <p:grpSp>
        <p:nvGrpSpPr>
          <p:cNvPr id="18" name="asset:SVC-166"/>
          <p:cNvGrpSpPr/>
          <p:nvPr/>
        </p:nvGrpSpPr>
        <p:grpSpPr>
          <a:xfrm>
            <a:off x="502920" y="457200"/>
            <a:ext cx="11155680" cy="5852160"/>
            <a:chOff x="502920" y="457200"/>
            <a:chExt cx="11155680" cy="585216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대민 포털 개선 전·후 비교 (As-Is/To-Be)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기존 4개 문제점 → 개선 후 4개 효과 (통합·자동화 전환)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640080" y="1554480"/>
              <a:ext cx="4572000" cy="47548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1554480"/>
              <a:ext cx="4572000" cy="658368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As-Is (개선 전)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896112" y="2395728"/>
              <a:ext cx="4059935" cy="82753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사일로 고립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6112" y="3351276"/>
              <a:ext cx="4059935" cy="82753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실시간 처리 불가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96112" y="4306824"/>
              <a:ext cx="4059935" cy="82753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수동 모니터링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96112" y="5262372"/>
              <a:ext cx="4059935" cy="82753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반복 수작업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979615" y="1554480"/>
              <a:ext cx="4572000" cy="47548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979615" y="1554480"/>
              <a:ext cx="4572000" cy="658368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To-Be (개선 후)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7235647" y="2395728"/>
              <a:ext cx="4059935" cy="82753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 데이터 관리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7235647" y="3351276"/>
              <a:ext cx="4059935" cy="82753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실시간 처리·분석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235647" y="4306824"/>
              <a:ext cx="4059935" cy="82753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지능형 관제·알림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7235647" y="5262372"/>
              <a:ext cx="4059935" cy="82753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업무 자동화</a:t>
              </a:r>
            </a:p>
          </p:txBody>
        </p:sp>
        <p:sp>
          <p:nvSpPr>
            <p:cNvPr id="17" name="Right Arrow 16"/>
            <p:cNvSpPr/>
            <p:nvPr/>
          </p:nvSpPr>
          <p:spPr>
            <a:xfrm>
              <a:off x="5382615" y="3474720"/>
              <a:ext cx="1426464" cy="914400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전환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개선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SVC-167</a:t>
            </a:r>
          </a:p>
        </p:txBody>
      </p:sp>
      <p:grpSp>
        <p:nvGrpSpPr>
          <p:cNvPr id="20" name="asset:SVC-167"/>
          <p:cNvGrpSpPr/>
          <p:nvPr/>
        </p:nvGrpSpPr>
        <p:grpSpPr>
          <a:xfrm>
            <a:off x="502920" y="457200"/>
            <a:ext cx="11155680" cy="5852160"/>
            <a:chOff x="502920" y="457200"/>
            <a:chExt cx="11155680" cy="585216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정보화 사업 개선 전·후 비교 (As-Is/To-Be)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기존 5개 문제점 → 개선 후 5개 효과 (통합·자동화 전환)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640080" y="1554480"/>
              <a:ext cx="4572000" cy="47548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1554480"/>
              <a:ext cx="4572000" cy="658368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As-Is (개선 전)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896112" y="2395728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실시간 처리 불가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6112" y="3160166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수동 모니터링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96112" y="3924604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반복 수작업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96112" y="4689043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종이 문서 관리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96112" y="5453481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시스템 분산 운영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979615" y="1554480"/>
              <a:ext cx="4572000" cy="47548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979615" y="1554480"/>
              <a:ext cx="4572000" cy="658368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To-Be (개선 후)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7235647" y="2395728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실시간 처리·분석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235647" y="3160166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지능형 관제·알림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7235647" y="3924604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업무 자동화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7235647" y="4689043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전자 문서 관리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7235647" y="5453481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단일 통합 플랫폼</a:t>
              </a:r>
            </a:p>
          </p:txBody>
        </p:sp>
        <p:sp>
          <p:nvSpPr>
            <p:cNvPr id="19" name="Right Arrow 18"/>
            <p:cNvSpPr/>
            <p:nvPr/>
          </p:nvSpPr>
          <p:spPr>
            <a:xfrm>
              <a:off x="5382615" y="3474720"/>
              <a:ext cx="1426464" cy="914400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전환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개선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SVC-168</a:t>
            </a:r>
          </a:p>
        </p:txBody>
      </p:sp>
      <p:grpSp>
        <p:nvGrpSpPr>
          <p:cNvPr id="22" name="asset:SVC-168"/>
          <p:cNvGrpSpPr/>
          <p:nvPr/>
        </p:nvGrpSpPr>
        <p:grpSpPr>
          <a:xfrm>
            <a:off x="502920" y="457200"/>
            <a:ext cx="11155680" cy="5852160"/>
            <a:chOff x="502920" y="457200"/>
            <a:chExt cx="11155680" cy="585216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플랫폼 고도화 개선 전·후 비교 (As-Is/To-Be)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기존 6개 문제점 → 개선 후 6개 효과 (통합·자동화 전환)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640080" y="1554480"/>
              <a:ext cx="4572000" cy="47548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1554480"/>
              <a:ext cx="4572000" cy="658368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As-Is (개선 전)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896112" y="2395728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수동 모니터링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6112" y="3032760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반복 수작업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96112" y="3669792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종이 문서 관리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96112" y="4306824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시스템 분산 운영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96112" y="4943856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수기 데이터 입력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96112" y="5580888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사일로 고립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979615" y="1554480"/>
              <a:ext cx="4572000" cy="47548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979615" y="1554480"/>
              <a:ext cx="4572000" cy="658368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To-Be (개선 후)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235647" y="2395728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지능형 관제·알림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7235647" y="3032760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업무 자동화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7235647" y="3669792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전자 문서 관리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7235647" y="4306824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단일 통합 플랫폼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7235647" y="4943856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자동 연계·수집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7235647" y="5580888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 데이터 관리</a:t>
              </a:r>
            </a:p>
          </p:txBody>
        </p:sp>
        <p:sp>
          <p:nvSpPr>
            <p:cNvPr id="21" name="Right Arrow 20"/>
            <p:cNvSpPr/>
            <p:nvPr/>
          </p:nvSpPr>
          <p:spPr>
            <a:xfrm>
              <a:off x="5382615" y="3474720"/>
              <a:ext cx="1426464" cy="914400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전환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개선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SVC-169</a:t>
            </a:r>
          </a:p>
        </p:txBody>
      </p:sp>
      <p:grpSp>
        <p:nvGrpSpPr>
          <p:cNvPr id="18" name="asset:SVC-169"/>
          <p:cNvGrpSpPr/>
          <p:nvPr/>
        </p:nvGrpSpPr>
        <p:grpSpPr>
          <a:xfrm>
            <a:off x="502920" y="457200"/>
            <a:ext cx="11155680" cy="5852160"/>
            <a:chOff x="502920" y="457200"/>
            <a:chExt cx="11155680" cy="585216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디지털 전환 개선 전·후 비교 (As-Is/To-Be)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기존 4개 문제점 → 개선 후 4개 효과 (통합·자동화 전환)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640080" y="1554480"/>
              <a:ext cx="4572000" cy="47548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1554480"/>
              <a:ext cx="4572000" cy="658368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As-Is (개선 전)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896112" y="2395728"/>
              <a:ext cx="4059935" cy="82753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반복 수작업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6112" y="3351276"/>
              <a:ext cx="4059935" cy="82753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종이 문서 관리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96112" y="4306824"/>
              <a:ext cx="4059935" cy="82753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시스템 분산 운영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96112" y="5262372"/>
              <a:ext cx="4059935" cy="82753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수기 데이터 입력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979615" y="1554480"/>
              <a:ext cx="4572000" cy="47548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979615" y="1554480"/>
              <a:ext cx="4572000" cy="658368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To-Be (개선 후)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7235647" y="2395728"/>
              <a:ext cx="4059935" cy="82753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업무 자동화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7235647" y="3351276"/>
              <a:ext cx="4059935" cy="82753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전자 문서 관리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235647" y="4306824"/>
              <a:ext cx="4059935" cy="82753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단일 통합 플랫폼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7235647" y="5262372"/>
              <a:ext cx="4059935" cy="82753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자동 연계·수집</a:t>
              </a:r>
            </a:p>
          </p:txBody>
        </p:sp>
        <p:sp>
          <p:nvSpPr>
            <p:cNvPr id="17" name="Right Arrow 16"/>
            <p:cNvSpPr/>
            <p:nvPr/>
          </p:nvSpPr>
          <p:spPr>
            <a:xfrm>
              <a:off x="5382615" y="3474720"/>
              <a:ext cx="1426464" cy="914400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전환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개선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SVC-170</a:t>
            </a:r>
          </a:p>
        </p:txBody>
      </p:sp>
      <p:grpSp>
        <p:nvGrpSpPr>
          <p:cNvPr id="20" name="asset:SVC-170"/>
          <p:cNvGrpSpPr/>
          <p:nvPr/>
        </p:nvGrpSpPr>
        <p:grpSpPr>
          <a:xfrm>
            <a:off x="502920" y="457200"/>
            <a:ext cx="11155680" cy="5852160"/>
            <a:chOff x="502920" y="457200"/>
            <a:chExt cx="11155680" cy="585216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공공데이터 개방 개선 전·후 비교 (As-Is/To-Be)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기존 5개 문제점 → 개선 후 5개 효과 (통합·자동화 전환)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640080" y="1554480"/>
              <a:ext cx="4572000" cy="47548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1554480"/>
              <a:ext cx="4572000" cy="658368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As-Is (개선 전)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896112" y="2395728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종이 문서 관리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6112" y="3160166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시스템 분산 운영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96112" y="3924604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수기 데이터 입력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96112" y="4689043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사일로 고립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96112" y="5453481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실시간 처리 불가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979615" y="1554480"/>
              <a:ext cx="4572000" cy="47548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979615" y="1554480"/>
              <a:ext cx="4572000" cy="658368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To-Be (개선 후)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7235647" y="2395728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전자 문서 관리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235647" y="3160166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단일 통합 플랫폼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7235647" y="3924604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자동 연계·수집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7235647" y="4689043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 데이터 관리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7235647" y="5453481"/>
              <a:ext cx="4059935" cy="63642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실시간 처리·분석</a:t>
              </a:r>
            </a:p>
          </p:txBody>
        </p:sp>
        <p:sp>
          <p:nvSpPr>
            <p:cNvPr id="19" name="Right Arrow 18"/>
            <p:cNvSpPr/>
            <p:nvPr/>
          </p:nvSpPr>
          <p:spPr>
            <a:xfrm>
              <a:off x="5382615" y="3474720"/>
              <a:ext cx="1426464" cy="914400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전환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개선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SVC-171</a:t>
            </a:r>
          </a:p>
        </p:txBody>
      </p:sp>
      <p:grpSp>
        <p:nvGrpSpPr>
          <p:cNvPr id="22" name="asset:SVC-171"/>
          <p:cNvGrpSpPr/>
          <p:nvPr/>
        </p:nvGrpSpPr>
        <p:grpSpPr>
          <a:xfrm>
            <a:off x="502920" y="457200"/>
            <a:ext cx="11155680" cy="5852160"/>
            <a:chOff x="502920" y="457200"/>
            <a:chExt cx="11155680" cy="585216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업무 자동화 개선 전·후 비교 (As-Is/To-Be)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기존 6개 문제점 → 개선 후 6개 효과 (통합·자동화 전환)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640080" y="1554480"/>
              <a:ext cx="4572000" cy="47548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1554480"/>
              <a:ext cx="4572000" cy="658368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As-Is (개선 전)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896112" y="2395728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시스템 분산 운영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6112" y="3032760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수기 데이터 입력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96112" y="3669792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사일로 고립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96112" y="4306824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실시간 처리 불가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96112" y="4943856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수동 모니터링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96112" y="5580888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반복 수작업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979615" y="1554480"/>
              <a:ext cx="4572000" cy="47548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979615" y="1554480"/>
              <a:ext cx="4572000" cy="658368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To-Be (개선 후)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235647" y="2395728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단일 통합 플랫폼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7235647" y="3032760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자동 연계·수집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7235647" y="3669792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 데이터 관리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7235647" y="4306824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실시간 처리·분석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7235647" y="4943856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지능형 관제·알림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7235647" y="5580888"/>
              <a:ext cx="4059935" cy="50901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업무 자동화</a:t>
              </a:r>
            </a:p>
          </p:txBody>
        </p:sp>
        <p:sp>
          <p:nvSpPr>
            <p:cNvPr id="21" name="Right Arrow 20"/>
            <p:cNvSpPr/>
            <p:nvPr/>
          </p:nvSpPr>
          <p:spPr>
            <a:xfrm>
              <a:off x="5382615" y="3474720"/>
              <a:ext cx="1426464" cy="914400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전환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개선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