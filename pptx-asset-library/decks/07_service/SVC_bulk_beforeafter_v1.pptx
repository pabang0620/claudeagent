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SVC-157</a:t>
            </a:r>
          </a:p>
        </p:txBody>
      </p:sp>
      <p:grpSp>
        <p:nvGrpSpPr>
          <p:cNvPr id="18" name="asset:SVC-157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통합 플랫폼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4개 문제점 → 개선 후 4개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5647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SVC-158</a:t>
            </a:r>
          </a:p>
        </p:txBody>
      </p:sp>
      <p:grpSp>
        <p:nvGrpSpPr>
          <p:cNvPr id="20" name="asset:SVC-158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데이터 허브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5개 문제점 → 개선 후 5개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9" name="Right Arrow 18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SVC-159</a:t>
            </a:r>
          </a:p>
        </p:txBody>
      </p:sp>
      <p:grpSp>
        <p:nvGrpSpPr>
          <p:cNvPr id="22" name="asset:SVC-159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민원 서비스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6개 문제점 → 개선 후 6개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96112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35647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235647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SVC-160</a:t>
            </a:r>
          </a:p>
        </p:txBody>
      </p:sp>
      <p:grpSp>
        <p:nvGrpSpPr>
          <p:cNvPr id="18" name="asset:SVC-160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관제 시스템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4개 문제점 → 개선 후 4개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5647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SVC-161</a:t>
            </a:r>
          </a:p>
        </p:txBody>
      </p:sp>
      <p:grpSp>
        <p:nvGrpSpPr>
          <p:cNvPr id="20" name="asset:SVC-161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지원 사업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5개 문제점 → 개선 후 5개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9" name="Right Arrow 18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SVC-162</a:t>
            </a:r>
          </a:p>
        </p:txBody>
      </p:sp>
      <p:grpSp>
        <p:nvGrpSpPr>
          <p:cNvPr id="22" name="asset:SVC-162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연계 체계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6개 문제점 → 개선 후 6개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96112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35647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235647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SVC-163</a:t>
            </a:r>
          </a:p>
        </p:txBody>
      </p:sp>
      <p:grpSp>
        <p:nvGrpSpPr>
          <p:cNvPr id="18" name="asset:SVC-163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클라우드 기반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4개 문제점 → 개선 후 4개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5647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SVC-164</a:t>
            </a:r>
          </a:p>
        </p:txBody>
      </p:sp>
      <p:grpSp>
        <p:nvGrpSpPr>
          <p:cNvPr id="20" name="asset:SVC-164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스마트 서비스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5개 문제점 → 개선 후 5개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9" name="Right Arrow 18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SVC-165</a:t>
            </a:r>
          </a:p>
        </p:txBody>
      </p:sp>
      <p:grpSp>
        <p:nvGrpSpPr>
          <p:cNvPr id="22" name="asset:SVC-165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운영 관리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6개 문제점 → 개선 후 6개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96112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35647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235647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SVC-166</a:t>
            </a:r>
          </a:p>
        </p:txBody>
      </p:sp>
      <p:grpSp>
        <p:nvGrpSpPr>
          <p:cNvPr id="18" name="asset:SVC-166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대민 포털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4개 문제점 → 개선 후 4개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5647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SVC-167</a:t>
            </a:r>
          </a:p>
        </p:txBody>
      </p:sp>
      <p:grpSp>
        <p:nvGrpSpPr>
          <p:cNvPr id="20" name="asset:SVC-167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정보화 사업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5개 문제점 → 개선 후 5개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9" name="Right Arrow 18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SVC-168</a:t>
            </a:r>
          </a:p>
        </p:txBody>
      </p:sp>
      <p:grpSp>
        <p:nvGrpSpPr>
          <p:cNvPr id="22" name="asset:SVC-168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플랫폼 고도화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6개 문제점 → 개선 후 6개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96112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35647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235647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SVC-169</a:t>
            </a:r>
          </a:p>
        </p:txBody>
      </p:sp>
      <p:grpSp>
        <p:nvGrpSpPr>
          <p:cNvPr id="18" name="asset:SVC-169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디지털 전환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4개 문제점 → 개선 후 4개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7235647" y="2395728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3351276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4306824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5262372"/>
              <a:ext cx="4059935" cy="82753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7" name="Right Arrow 16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SVC-170</a:t>
            </a:r>
          </a:p>
        </p:txBody>
      </p:sp>
      <p:grpSp>
        <p:nvGrpSpPr>
          <p:cNvPr id="20" name="asset:SVC-170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공공데이터 개방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5개 문제점 → 개선 후 5개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종이 문서 관리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7235647" y="2395728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전자 문서 관리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3160166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924604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4689043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5453481"/>
              <a:ext cx="4059935" cy="636422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9" name="Right Arrow 18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SVC-171</a:t>
            </a:r>
          </a:p>
        </p:txBody>
      </p:sp>
      <p:grpSp>
        <p:nvGrpSpPr>
          <p:cNvPr id="22" name="asset:SVC-171"/>
          <p:cNvGrpSpPr/>
          <p:nvPr/>
        </p:nvGrpSpPr>
        <p:grpSpPr>
          <a:xfrm>
            <a:off x="502920" y="457200"/>
            <a:ext cx="11155680" cy="5852160"/>
            <a:chOff x="502920" y="457200"/>
            <a:chExt cx="11155680" cy="5852160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57200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업무 자동화 개선 전·후 비교 (As-Is/To-Be)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14400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기존 6개 문제점 → 개선 후 6개 효과 (통합·자동화 전환)</a:t>
              </a:r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640080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640080" y="1554480"/>
              <a:ext cx="4572000" cy="658368"/>
            </a:xfrm>
            <a:prstGeom prst="roundRect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As-Is (개선 전)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896112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 분산 운영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896112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수기 데이터 입력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896112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데이터 사일로 고립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896112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 불가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896112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수동 모니터링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96112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반복 수작업</a:t>
              </a:r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6979615" y="1554480"/>
              <a:ext cx="4572000" cy="4754880"/>
            </a:xfrm>
            <a:prstGeom prst="roundRect">
              <a:avLst/>
            </a:prstGeom>
            <a:solidFill>
              <a:srgbClr val="F7F9FC"/>
            </a:solidFill>
            <a:ln w="1905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Rounded Rectangle 13"/>
            <p:cNvSpPr/>
            <p:nvPr/>
          </p:nvSpPr>
          <p:spPr>
            <a:xfrm>
              <a:off x="6979615" y="1554480"/>
              <a:ext cx="4572000" cy="658368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To-Be (개선 후)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7235647" y="239572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단일 통합 플랫폼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235647" y="3032760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자동 연계·수집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7235647" y="3669792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 데이터 관리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7235647" y="4306824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실시간 처리·분석</a:t>
              </a:r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7235647" y="4943856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지능형 관제·알림</a:t>
              </a:r>
            </a:p>
          </p:txBody>
        </p:sp>
        <p:sp>
          <p:nvSpPr>
            <p:cNvPr id="20" name="Rounded Rectangle 19"/>
            <p:cNvSpPr/>
            <p:nvPr/>
          </p:nvSpPr>
          <p:spPr>
            <a:xfrm>
              <a:off x="7235647" y="5580888"/>
              <a:ext cx="4059935" cy="50901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업무 자동화</a:t>
              </a: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5382615" y="3474720"/>
              <a:ext cx="1426464" cy="914400"/>
            </a:xfrm>
            <a:prstGeom prst="rightArrow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전환</a:t>
              </a:r>
            </a:p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개선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