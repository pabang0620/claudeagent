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SVC-009</a:t>
            </a:r>
          </a:p>
        </p:txBody>
      </p:sp>
      <p:grpSp>
        <p:nvGrpSpPr>
          <p:cNvPr id="29" name="asset:SVC-009"/>
          <p:cNvGrpSpPr/>
          <p:nvPr/>
        </p:nvGrpSpPr>
        <p:grpSpPr>
          <a:xfrm>
            <a:off x="502920" y="475488"/>
            <a:ext cx="11155680" cy="6126480"/>
            <a:chOff x="502920" y="475488"/>
            <a:chExt cx="11155680" cy="612648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레이어드 아키텍처 (5계층 스택)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표현 → 애플리케이션 → 도메인 → 데이터 접근 → 인프라 (상위 계층에서 하위 계층으로 적층)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1234440" y="1371600"/>
              <a:ext cx="3200400" cy="841248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표현 계층 · Presentation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709159" y="1371600"/>
              <a:ext cx="1950720" cy="841248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웹 UI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842759" y="1371600"/>
              <a:ext cx="1950720" cy="841248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모바일 UI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976360" y="1371600"/>
              <a:ext cx="1950720" cy="841248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관리자 콘솔</a:t>
              </a:r>
            </a:p>
          </p:txBody>
        </p:sp>
        <p:sp>
          <p:nvSpPr>
            <p:cNvPr id="9" name="Down Arrow 8"/>
            <p:cNvSpPr/>
            <p:nvPr/>
          </p:nvSpPr>
          <p:spPr>
            <a:xfrm>
              <a:off x="5879592" y="2221991"/>
              <a:ext cx="402336" cy="237744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1234440" y="2468880"/>
              <a:ext cx="3200400" cy="841248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애플리케이션 계층 · Application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4709159" y="2468880"/>
              <a:ext cx="1950720" cy="841248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업무 서비스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842759" y="2468880"/>
              <a:ext cx="1950720" cy="841248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워크플로우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8976360" y="2468880"/>
              <a:ext cx="1950720" cy="841248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알림 처리</a:t>
              </a:r>
            </a:p>
          </p:txBody>
        </p:sp>
        <p:sp>
          <p:nvSpPr>
            <p:cNvPr id="14" name="Down Arrow 13"/>
            <p:cNvSpPr/>
            <p:nvPr/>
          </p:nvSpPr>
          <p:spPr>
            <a:xfrm>
              <a:off x="5879592" y="3319272"/>
              <a:ext cx="402336" cy="237744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234440" y="3566160"/>
              <a:ext cx="3200400" cy="841248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도메인 계층 · Domain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4709159" y="3566160"/>
              <a:ext cx="1950720" cy="841248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비즈니스 로직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6842759" y="3566160"/>
              <a:ext cx="1950720" cy="841248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규칙 엔진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8976360" y="3566160"/>
              <a:ext cx="1950720" cy="841248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도메인 모델</a:t>
              </a:r>
            </a:p>
          </p:txBody>
        </p:sp>
        <p:sp>
          <p:nvSpPr>
            <p:cNvPr id="19" name="Down Arrow 18"/>
            <p:cNvSpPr/>
            <p:nvPr/>
          </p:nvSpPr>
          <p:spPr>
            <a:xfrm>
              <a:off x="5879592" y="4416552"/>
              <a:ext cx="402336" cy="237744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1234440" y="4663440"/>
              <a:ext cx="3200400" cy="841248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데이터 접근 계층 · Data Access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4709159" y="4663440"/>
              <a:ext cx="1950720" cy="841248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ORM 매퍼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6842759" y="4663440"/>
              <a:ext cx="1950720" cy="841248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캐시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8976360" y="4663440"/>
              <a:ext cx="1950720" cy="841248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쿼리 빌더</a:t>
              </a:r>
            </a:p>
          </p:txBody>
        </p:sp>
        <p:sp>
          <p:nvSpPr>
            <p:cNvPr id="24" name="Down Arrow 23"/>
            <p:cNvSpPr/>
            <p:nvPr/>
          </p:nvSpPr>
          <p:spPr>
            <a:xfrm>
              <a:off x="5879592" y="5513832"/>
              <a:ext cx="402336" cy="237744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1234440" y="5760720"/>
              <a:ext cx="3200400" cy="841248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인프라 계층 · Infrastructure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4709159" y="5760720"/>
              <a:ext cx="1950720" cy="841248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데이터베이스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6842759" y="5760720"/>
              <a:ext cx="1950720" cy="841248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스토리지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8976360" y="5760720"/>
              <a:ext cx="1950720" cy="841248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네트워크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SVC-010</a:t>
            </a:r>
          </a:p>
        </p:txBody>
      </p:sp>
      <p:grpSp>
        <p:nvGrpSpPr>
          <p:cNvPr id="30" name="asset:SVC-010"/>
          <p:cNvGrpSpPr/>
          <p:nvPr/>
        </p:nvGrpSpPr>
        <p:grpSpPr>
          <a:xfrm>
            <a:off x="502920" y="475488"/>
            <a:ext cx="11155680" cy="5330952"/>
            <a:chOff x="502920" y="475488"/>
            <a:chExt cx="11155680" cy="533095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시스템 통합·연계 맵 (EAI / ESB)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중앙 통합 버스 ↔ 주변 연동 시스템 (표준 인터페이스 기반 데이터 연계)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4587087" y="3291840"/>
              <a:ext cx="3017520" cy="1554480"/>
            </a:xfrm>
            <a:prstGeom prst="roundRect">
              <a:avLst/>
            </a:prstGeom>
            <a:solidFill>
              <a:srgbClr val="1F3864"/>
            </a:solidFill>
            <a:ln w="254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 연계 버스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(ESB / API Gateway)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777240" y="1965960"/>
              <a:ext cx="2560320" cy="9144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941832" y="2130552"/>
              <a:ext cx="585216" cy="585216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G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645919" y="1965960"/>
              <a:ext cx="1600199" cy="9144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그룹웨어</a:t>
              </a:r>
            </a:p>
          </p:txBody>
        </p:sp>
        <p:cxnSp>
          <p:nvCxnSpPr>
            <p:cNvPr id="9" name="Connector 8"/>
            <p:cNvCxnSpPr/>
            <p:nvPr/>
          </p:nvCxnSpPr>
          <p:spPr>
            <a:xfrm>
              <a:off x="3337560" y="2423160"/>
              <a:ext cx="1249527" cy="164592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ounded Rectangle 9"/>
            <p:cNvSpPr/>
            <p:nvPr/>
          </p:nvSpPr>
          <p:spPr>
            <a:xfrm>
              <a:off x="777240" y="3429000"/>
              <a:ext cx="2560320" cy="9144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941832" y="3593592"/>
              <a:ext cx="585216" cy="585216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E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645919" y="3429000"/>
              <a:ext cx="1600199" cy="9144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ERP</a:t>
              </a:r>
            </a:p>
          </p:txBody>
        </p:sp>
        <p:cxnSp>
          <p:nvCxnSpPr>
            <p:cNvPr id="13" name="Connector 12"/>
            <p:cNvCxnSpPr/>
            <p:nvPr/>
          </p:nvCxnSpPr>
          <p:spPr>
            <a:xfrm>
              <a:off x="3337560" y="3886200"/>
              <a:ext cx="1249527" cy="18288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ounded Rectangle 13"/>
            <p:cNvSpPr/>
            <p:nvPr/>
          </p:nvSpPr>
          <p:spPr>
            <a:xfrm>
              <a:off x="777240" y="4892040"/>
              <a:ext cx="2560320" cy="9144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941832" y="5056631"/>
              <a:ext cx="585216" cy="585216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₩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645919" y="4892040"/>
              <a:ext cx="1600199" cy="9144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회계 시스템</a:t>
              </a:r>
            </a:p>
          </p:txBody>
        </p:sp>
        <p:cxnSp>
          <p:nvCxnSpPr>
            <p:cNvPr id="17" name="Connector 16"/>
            <p:cNvCxnSpPr/>
            <p:nvPr/>
          </p:nvCxnSpPr>
          <p:spPr>
            <a:xfrm flipV="1">
              <a:off x="3337560" y="4069080"/>
              <a:ext cx="1249527" cy="128016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ounded Rectangle 17"/>
            <p:cNvSpPr/>
            <p:nvPr/>
          </p:nvSpPr>
          <p:spPr>
            <a:xfrm>
              <a:off x="8854135" y="1965960"/>
              <a:ext cx="2560320" cy="9144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9018727" y="2130552"/>
              <a:ext cx="585216" cy="585216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H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722815" y="1965960"/>
              <a:ext cx="1600199" cy="9144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인사 시스템</a:t>
              </a:r>
            </a:p>
          </p:txBody>
        </p:sp>
        <p:cxnSp>
          <p:nvCxnSpPr>
            <p:cNvPr id="21" name="Connector 20"/>
            <p:cNvCxnSpPr/>
            <p:nvPr/>
          </p:nvCxnSpPr>
          <p:spPr>
            <a:xfrm flipH="1">
              <a:off x="7604607" y="2423160"/>
              <a:ext cx="1249528" cy="164592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ounded Rectangle 21"/>
            <p:cNvSpPr/>
            <p:nvPr/>
          </p:nvSpPr>
          <p:spPr>
            <a:xfrm>
              <a:off x="8854135" y="3429000"/>
              <a:ext cx="2560320" cy="9144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9018727" y="3593592"/>
              <a:ext cx="585216" cy="585216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X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9722815" y="3429000"/>
              <a:ext cx="1600199" cy="9144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대외 기관</a:t>
              </a:r>
            </a:p>
          </p:txBody>
        </p:sp>
        <p:cxnSp>
          <p:nvCxnSpPr>
            <p:cNvPr id="25" name="Connector 24"/>
            <p:cNvCxnSpPr/>
            <p:nvPr/>
          </p:nvCxnSpPr>
          <p:spPr>
            <a:xfrm flipH="1">
              <a:off x="7604607" y="3886200"/>
              <a:ext cx="1249528" cy="18288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ounded Rectangle 25"/>
            <p:cNvSpPr/>
            <p:nvPr/>
          </p:nvSpPr>
          <p:spPr>
            <a:xfrm>
              <a:off x="8854135" y="4892040"/>
              <a:ext cx="2560320" cy="9144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9018727" y="5056631"/>
              <a:ext cx="585216" cy="585216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A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9722815" y="4892040"/>
              <a:ext cx="1600199" cy="9144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SSO 인증</a:t>
              </a:r>
            </a:p>
          </p:txBody>
        </p:sp>
        <p:cxnSp>
          <p:nvCxnSpPr>
            <p:cNvPr id="29" name="Connector 28"/>
            <p:cNvCxnSpPr/>
            <p:nvPr/>
          </p:nvCxnSpPr>
          <p:spPr>
            <a:xfrm flipH="1" flipV="1">
              <a:off x="7604607" y="4069080"/>
              <a:ext cx="1249528" cy="128016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SVC-011</a:t>
            </a:r>
          </a:p>
        </p:txBody>
      </p:sp>
      <p:grpSp>
        <p:nvGrpSpPr>
          <p:cNvPr id="26" name="asset:SVC-011"/>
          <p:cNvGrpSpPr/>
          <p:nvPr/>
        </p:nvGrpSpPr>
        <p:grpSpPr>
          <a:xfrm>
            <a:off x="502920" y="475488"/>
            <a:ext cx="11155680" cy="5687568"/>
            <a:chOff x="502920" y="475488"/>
            <a:chExt cx="11155680" cy="5687568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보안 아키텍처 (구간 분리 · 방화벽 계층)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외부 → DMZ → 내부 3구간, 계층별 방화벽으로 트래픽 통제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1005840" y="1417320"/>
              <a:ext cx="10149840" cy="105156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115568" y="1563624"/>
              <a:ext cx="2834640" cy="758951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외부 구간 · Untrusted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114800" y="1600200"/>
              <a:ext cx="216408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일반 사용자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461760" y="1600200"/>
              <a:ext cx="216408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외부 기관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808720" y="1600200"/>
              <a:ext cx="216408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인터넷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1005840" y="2615184"/>
              <a:ext cx="10149840" cy="502920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🔒 DMZ 방화벽 (Perimeter Firewall)</a:t>
              </a:r>
            </a:p>
          </p:txBody>
        </p:sp>
        <p:sp>
          <p:nvSpPr>
            <p:cNvPr id="11" name="Down Arrow 10"/>
            <p:cNvSpPr/>
            <p:nvPr/>
          </p:nvSpPr>
          <p:spPr>
            <a:xfrm>
              <a:off x="1645920" y="2450591"/>
              <a:ext cx="310896" cy="795528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Down Arrow 11"/>
            <p:cNvSpPr/>
            <p:nvPr/>
          </p:nvSpPr>
          <p:spPr>
            <a:xfrm>
              <a:off x="10204704" y="2450591"/>
              <a:ext cx="310896" cy="795528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1005840" y="3264408"/>
              <a:ext cx="10149840" cy="105156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1115568" y="3410712"/>
              <a:ext cx="2834640" cy="758951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DMZ 구간 · Semi-Trusted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4114800" y="3447288"/>
              <a:ext cx="216408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WAF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6461760" y="3447288"/>
              <a:ext cx="216408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리버스 프록시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8808720" y="3447288"/>
              <a:ext cx="216408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웹 서버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1005840" y="4462272"/>
              <a:ext cx="10149840" cy="502920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🔒 내부 방화벽 (Internal Firewall)</a:t>
              </a:r>
            </a:p>
          </p:txBody>
        </p:sp>
        <p:sp>
          <p:nvSpPr>
            <p:cNvPr id="19" name="Down Arrow 18"/>
            <p:cNvSpPr/>
            <p:nvPr/>
          </p:nvSpPr>
          <p:spPr>
            <a:xfrm>
              <a:off x="1645920" y="4297680"/>
              <a:ext cx="310896" cy="795528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Down Arrow 19"/>
            <p:cNvSpPr/>
            <p:nvPr/>
          </p:nvSpPr>
          <p:spPr>
            <a:xfrm>
              <a:off x="10204704" y="4297680"/>
              <a:ext cx="310896" cy="795528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1005840" y="5111496"/>
              <a:ext cx="10149840" cy="105156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1115568" y="5257800"/>
              <a:ext cx="2834640" cy="758951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내부 구간 · Trusted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4114800" y="5294376"/>
              <a:ext cx="216408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WAS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6461760" y="5294376"/>
              <a:ext cx="216408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운영 DB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8808720" y="5294376"/>
              <a:ext cx="216408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내부 시스템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SVC-012</a:t>
            </a:r>
          </a:p>
        </p:txBody>
      </p:sp>
      <p:grpSp>
        <p:nvGrpSpPr>
          <p:cNvPr id="15" name="asset:SVC-012"/>
          <p:cNvGrpSpPr/>
          <p:nvPr/>
        </p:nvGrpSpPr>
        <p:grpSpPr>
          <a:xfrm>
            <a:off x="502920" y="475488"/>
            <a:ext cx="11155680" cy="5879592"/>
            <a:chOff x="502920" y="475488"/>
            <a:chExt cx="11155680" cy="587959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클라우드 인프라 구성도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클라우드 VPC 내 관리형 서비스 블록 구성 + 온프레미스 전용선 연계</a:t>
              </a:r>
            </a:p>
          </p:txBody>
        </p:sp>
        <p:sp>
          <p:nvSpPr>
            <p:cNvPr id="5" name="Cloud 4"/>
            <p:cNvSpPr/>
            <p:nvPr/>
          </p:nvSpPr>
          <p:spPr>
            <a:xfrm>
              <a:off x="1097280" y="1371600"/>
              <a:ext cx="9966960" cy="3383280"/>
            </a:xfrm>
            <a:prstGeom prst="cloud">
              <a:avLst/>
            </a:prstGeom>
            <a:solidFill>
              <a:srgbClr val="F7F9FC"/>
            </a:solidFill>
            <a:ln w="254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194560" y="1481328"/>
              <a:ext cx="3657600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Cloud VPC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286000" y="2057400"/>
              <a:ext cx="2651760" cy="100584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로드밸런서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LB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212080" y="2057400"/>
              <a:ext cx="2651760" cy="100584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컴퓨팅 (VM)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EC2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138160" y="2057400"/>
              <a:ext cx="2651760" cy="100584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컨테이너 (K8s)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POD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2286000" y="3337560"/>
              <a:ext cx="2651760" cy="100584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관리형 DB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RDS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5212080" y="3337560"/>
              <a:ext cx="2651760" cy="100584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오브젝트 스토리지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S3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8138160" y="3337560"/>
              <a:ext cx="2651760" cy="100584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CDN · 캐시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CDN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3977639" y="5486400"/>
              <a:ext cx="4206240" cy="868680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온프레미스 데이터센터 (전용선 연계)</a:t>
              </a:r>
            </a:p>
          </p:txBody>
        </p:sp>
        <p:sp>
          <p:nvSpPr>
            <p:cNvPr id="14" name="Up Arrow 13"/>
            <p:cNvSpPr/>
            <p:nvPr/>
          </p:nvSpPr>
          <p:spPr>
            <a:xfrm>
              <a:off x="5839815" y="4892040"/>
              <a:ext cx="512064" cy="566928"/>
            </a:xfrm>
            <a:prstGeom prst="up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