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SVC-033</a:t>
            </a:r>
          </a:p>
        </p:txBody>
      </p:sp>
      <p:grpSp>
        <p:nvGrpSpPr>
          <p:cNvPr id="22" name="asset:SVC-033"/>
          <p:cNvGrpSpPr/>
          <p:nvPr/>
        </p:nvGrpSpPr>
        <p:grpSpPr>
          <a:xfrm>
            <a:off x="502920" y="457200"/>
            <a:ext cx="11155680" cy="6172199"/>
            <a:chOff x="502920" y="457200"/>
            <a:chExt cx="11155680" cy="617219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통합 플랫폼 3-티어 아키텍처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웹·애플리케이션·데이터 3계층 분리 구조 (티어당 3개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6304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609344"/>
              <a:ext cx="2651760" cy="112471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프레젠테이션 티어 · Web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794760" y="1664208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78880" y="1664208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로드밸런서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763000" y="1664208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프록시</a:t>
              </a: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5897880" y="289864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14400" y="333756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024128" y="3483864"/>
              <a:ext cx="2651760" cy="112471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애플리케이션 티어 · WAS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794760" y="3538728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앱 서버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278880" y="3538728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서비스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8763000" y="3538728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배치 처리</a:t>
              </a:r>
            </a:p>
          </p:txBody>
        </p:sp>
        <p:sp>
          <p:nvSpPr>
            <p:cNvPr id="16" name="Down Arrow 15"/>
            <p:cNvSpPr/>
            <p:nvPr/>
          </p:nvSpPr>
          <p:spPr>
            <a:xfrm>
              <a:off x="5897880" y="477316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914400" y="5212079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024128" y="5358383"/>
              <a:ext cx="2651760" cy="112471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티어 · DB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794760" y="5413247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노드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278880" y="5413247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마스터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763000" y="5413247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복제본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SVC-034</a:t>
            </a:r>
          </a:p>
        </p:txBody>
      </p:sp>
      <p:grpSp>
        <p:nvGrpSpPr>
          <p:cNvPr id="25" name="asset:SVC-034"/>
          <p:cNvGrpSpPr/>
          <p:nvPr/>
        </p:nvGrpSpPr>
        <p:grpSpPr>
          <a:xfrm>
            <a:off x="502920" y="457200"/>
            <a:ext cx="11155680" cy="6172199"/>
            <a:chOff x="502920" y="457200"/>
            <a:chExt cx="11155680" cy="617219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데이터 허브 3-티어 아키텍처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웹·애플리케이션·데이터 3계층 분리 구조 (티어당 4개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6304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609344"/>
              <a:ext cx="2651760" cy="112471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프레젠테이션 티어 · Web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794760" y="166420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프록시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657850" y="166420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앱 서버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520940" y="166420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서비스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384030" y="166420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배치 처리</a:t>
              </a:r>
            </a:p>
          </p:txBody>
        </p:sp>
        <p:sp>
          <p:nvSpPr>
            <p:cNvPr id="11" name="Down Arrow 10"/>
            <p:cNvSpPr/>
            <p:nvPr/>
          </p:nvSpPr>
          <p:spPr>
            <a:xfrm>
              <a:off x="5897880" y="289864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14400" y="333756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024128" y="3483864"/>
              <a:ext cx="2651760" cy="112471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애플리케이션 티어 · WAS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794760" y="353872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배치 처리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657850" y="353872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노드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520940" y="353872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마스터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9384030" y="353872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복제본</a:t>
              </a:r>
            </a:p>
          </p:txBody>
        </p:sp>
        <p:sp>
          <p:nvSpPr>
            <p:cNvPr id="18" name="Down Arrow 17"/>
            <p:cNvSpPr/>
            <p:nvPr/>
          </p:nvSpPr>
          <p:spPr>
            <a:xfrm>
              <a:off x="5897880" y="477316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14400" y="5212079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024128" y="5358383"/>
              <a:ext cx="2651760" cy="112471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티어 · DB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794760" y="5413247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복제본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657850" y="5413247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스토리지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7520940" y="5413247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엔진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384030" y="5413247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메시지 큐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SVC-035</a:t>
            </a:r>
          </a:p>
        </p:txBody>
      </p:sp>
      <p:grpSp>
        <p:nvGrpSpPr>
          <p:cNvPr id="28" name="asset:SVC-035"/>
          <p:cNvGrpSpPr/>
          <p:nvPr/>
        </p:nvGrpSpPr>
        <p:grpSpPr>
          <a:xfrm>
            <a:off x="502920" y="457200"/>
            <a:ext cx="11155680" cy="6172199"/>
            <a:chOff x="502920" y="457200"/>
            <a:chExt cx="11155680" cy="617219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민원 서비스 3-티어 아키텍처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웹·애플리케이션·데이터 3계층 분리 구조 (티어당 5개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6304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609344"/>
              <a:ext cx="2651760" cy="112471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프레젠테이션 티어 · Web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794760" y="166420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서비스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285232" y="166420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배치 처리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775704" y="166420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노드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266176" y="166420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마스터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756648" y="166420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복제본</a:t>
              </a:r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5897880" y="289864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14400" y="333756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024128" y="3483864"/>
              <a:ext cx="2651760" cy="112471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애플리케이션 티어 · WAS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794760" y="353872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마스터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285232" y="353872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복제본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775704" y="353872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스토리지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266176" y="353872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엔진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756648" y="353872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메시지 큐</a:t>
              </a:r>
            </a:p>
          </p:txBody>
        </p:sp>
        <p:sp>
          <p:nvSpPr>
            <p:cNvPr id="20" name="Down Arrow 19"/>
            <p:cNvSpPr/>
            <p:nvPr/>
          </p:nvSpPr>
          <p:spPr>
            <a:xfrm>
              <a:off x="5897880" y="477316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14400" y="5212079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24128" y="5358383"/>
              <a:ext cx="2651760" cy="112471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티어 · DB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3794760" y="5413247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엔진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285232" y="5413247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메시지 큐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775704" y="5413247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266176" y="5413247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로드밸런서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756648" y="5413247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프록시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SVC-036</a:t>
            </a:r>
          </a:p>
        </p:txBody>
      </p:sp>
      <p:grpSp>
        <p:nvGrpSpPr>
          <p:cNvPr id="31" name="asset:SVC-036"/>
          <p:cNvGrpSpPr/>
          <p:nvPr/>
        </p:nvGrpSpPr>
        <p:grpSpPr>
          <a:xfrm>
            <a:off x="502920" y="457200"/>
            <a:ext cx="11155680" cy="6172199"/>
            <a:chOff x="502920" y="457200"/>
            <a:chExt cx="11155680" cy="617219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관제 시스템 3-티어 아키텍처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웹·애플리케이션·데이터 3계층 분리 구조 (티어당 6개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6304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609344"/>
              <a:ext cx="2651760" cy="1124712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프레젠테이션 티어 · Web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794760" y="166420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노드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36820" y="166420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마스터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78880" y="166420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복제본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520940" y="166420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스토리지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763000" y="166420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엔진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0005060" y="166420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메시지 큐</a:t>
              </a:r>
            </a:p>
          </p:txBody>
        </p:sp>
        <p:sp>
          <p:nvSpPr>
            <p:cNvPr id="13" name="Down Arrow 12"/>
            <p:cNvSpPr/>
            <p:nvPr/>
          </p:nvSpPr>
          <p:spPr>
            <a:xfrm>
              <a:off x="5897880" y="289864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914400" y="333756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24128" y="3483864"/>
              <a:ext cx="2651760" cy="112471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애플리케이션 티어 · WAS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794760" y="353872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스토리지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036820" y="353872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엔진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278880" y="353872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메시지 큐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520940" y="353872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763000" y="353872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로드밸런서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0005060" y="353872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프록시</a:t>
              </a:r>
            </a:p>
          </p:txBody>
        </p:sp>
        <p:sp>
          <p:nvSpPr>
            <p:cNvPr id="22" name="Down Arrow 21"/>
            <p:cNvSpPr/>
            <p:nvPr/>
          </p:nvSpPr>
          <p:spPr>
            <a:xfrm>
              <a:off x="5897880" y="477316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14400" y="5212079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024128" y="5358383"/>
              <a:ext cx="2651760" cy="112471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티어 · DB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794760" y="5413247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036820" y="5413247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로드밸런서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278880" y="5413247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프록시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7520940" y="5413247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앱 서버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8763000" y="5413247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서비스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0005060" y="5413247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배치 처리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SVC-037</a:t>
            </a:r>
          </a:p>
        </p:txBody>
      </p:sp>
      <p:grpSp>
        <p:nvGrpSpPr>
          <p:cNvPr id="22" name="asset:SVC-037"/>
          <p:cNvGrpSpPr/>
          <p:nvPr/>
        </p:nvGrpSpPr>
        <p:grpSpPr>
          <a:xfrm>
            <a:off x="502920" y="457200"/>
            <a:ext cx="11155680" cy="6172199"/>
            <a:chOff x="502920" y="457200"/>
            <a:chExt cx="11155680" cy="617219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지원 사업 3-티어 아키텍처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웹·애플리케이션·데이터 3계층 분리 구조 (티어당 3개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6304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609344"/>
              <a:ext cx="2651760" cy="112471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프레젠테이션 티어 · Web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794760" y="1664208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복제본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78880" y="1664208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스토리지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763000" y="1664208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엔진</a:t>
              </a: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5897880" y="289864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14400" y="333756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024128" y="3483864"/>
              <a:ext cx="2651760" cy="112471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애플리케이션 티어 · WAS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794760" y="3538728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메시지 큐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278880" y="3538728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8763000" y="3538728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로드밸런서</a:t>
              </a:r>
            </a:p>
          </p:txBody>
        </p:sp>
        <p:sp>
          <p:nvSpPr>
            <p:cNvPr id="16" name="Down Arrow 15"/>
            <p:cNvSpPr/>
            <p:nvPr/>
          </p:nvSpPr>
          <p:spPr>
            <a:xfrm>
              <a:off x="5897880" y="477316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914400" y="5212079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024128" y="5358383"/>
              <a:ext cx="2651760" cy="112471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티어 · DB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794760" y="5413247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프록시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278880" y="5413247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앱 서버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763000" y="5413247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서비스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SVC-038</a:t>
            </a:r>
          </a:p>
        </p:txBody>
      </p:sp>
      <p:grpSp>
        <p:nvGrpSpPr>
          <p:cNvPr id="25" name="asset:SVC-038"/>
          <p:cNvGrpSpPr/>
          <p:nvPr/>
        </p:nvGrpSpPr>
        <p:grpSpPr>
          <a:xfrm>
            <a:off x="502920" y="457200"/>
            <a:ext cx="11155680" cy="6172199"/>
            <a:chOff x="502920" y="457200"/>
            <a:chExt cx="11155680" cy="617219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연계 체계 3-티어 아키텍처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웹·애플리케이션·데이터 3계층 분리 구조 (티어당 4개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6304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609344"/>
              <a:ext cx="2651760" cy="112471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프레젠테이션 티어 · Web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794760" y="166420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엔진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657850" y="166420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메시지 큐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520940" y="166420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384030" y="166420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로드밸런서</a:t>
              </a:r>
            </a:p>
          </p:txBody>
        </p:sp>
        <p:sp>
          <p:nvSpPr>
            <p:cNvPr id="11" name="Down Arrow 10"/>
            <p:cNvSpPr/>
            <p:nvPr/>
          </p:nvSpPr>
          <p:spPr>
            <a:xfrm>
              <a:off x="5897880" y="289864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14400" y="333756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024128" y="3483864"/>
              <a:ext cx="2651760" cy="112471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애플리케이션 티어 · WAS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794760" y="353872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로드밸런서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657850" y="353872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프록시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520940" y="353872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앱 서버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9384030" y="353872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서비스</a:t>
              </a:r>
            </a:p>
          </p:txBody>
        </p:sp>
        <p:sp>
          <p:nvSpPr>
            <p:cNvPr id="18" name="Down Arrow 17"/>
            <p:cNvSpPr/>
            <p:nvPr/>
          </p:nvSpPr>
          <p:spPr>
            <a:xfrm>
              <a:off x="5897880" y="477316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14400" y="5212079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024128" y="5358383"/>
              <a:ext cx="2651760" cy="112471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티어 · DB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794760" y="5413247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서비스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657850" y="5413247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배치 처리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7520940" y="5413247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노드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384030" y="5413247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마스터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SVC-039</a:t>
            </a:r>
          </a:p>
        </p:txBody>
      </p:sp>
      <p:grpSp>
        <p:nvGrpSpPr>
          <p:cNvPr id="28" name="asset:SVC-039"/>
          <p:cNvGrpSpPr/>
          <p:nvPr/>
        </p:nvGrpSpPr>
        <p:grpSpPr>
          <a:xfrm>
            <a:off x="502920" y="457200"/>
            <a:ext cx="11155680" cy="6172199"/>
            <a:chOff x="502920" y="457200"/>
            <a:chExt cx="11155680" cy="617219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클라우드 기반 3-티어 아키텍처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웹·애플리케이션·데이터 3계층 분리 구조 (티어당 5개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6304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609344"/>
              <a:ext cx="2651760" cy="112471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프레젠테이션 티어 · Web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794760" y="166420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285232" y="166420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로드밸런서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775704" y="166420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프록시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266176" y="166420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앱 서버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756648" y="166420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서비스</a:t>
              </a:r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5897880" y="289864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14400" y="333756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024128" y="3483864"/>
              <a:ext cx="2651760" cy="112471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애플리케이션 티어 · WAS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794760" y="353872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앱 서버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285232" y="353872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서비스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775704" y="353872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배치 처리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266176" y="353872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노드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756648" y="353872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마스터</a:t>
              </a:r>
            </a:p>
          </p:txBody>
        </p:sp>
        <p:sp>
          <p:nvSpPr>
            <p:cNvPr id="20" name="Down Arrow 19"/>
            <p:cNvSpPr/>
            <p:nvPr/>
          </p:nvSpPr>
          <p:spPr>
            <a:xfrm>
              <a:off x="5897880" y="477316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14400" y="5212079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24128" y="5358383"/>
              <a:ext cx="2651760" cy="112471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티어 · DB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3794760" y="5413247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노드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285232" y="5413247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마스터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775704" y="5413247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복제본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266176" y="5413247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스토리지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756648" y="5413247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엔진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SVC-040</a:t>
            </a:r>
          </a:p>
        </p:txBody>
      </p:sp>
      <p:grpSp>
        <p:nvGrpSpPr>
          <p:cNvPr id="31" name="asset:SVC-040"/>
          <p:cNvGrpSpPr/>
          <p:nvPr/>
        </p:nvGrpSpPr>
        <p:grpSpPr>
          <a:xfrm>
            <a:off x="502920" y="457200"/>
            <a:ext cx="11155680" cy="6172199"/>
            <a:chOff x="502920" y="457200"/>
            <a:chExt cx="11155680" cy="617219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스마트 서비스 3-티어 아키텍처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웹·애플리케이션·데이터 3계층 분리 구조 (티어당 6개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6304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609344"/>
              <a:ext cx="2651760" cy="112471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프레젠테이션 티어 · Web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794760" y="166420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프록시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36820" y="166420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앱 서버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78880" y="166420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서비스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520940" y="166420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배치 처리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763000" y="166420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노드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0005060" y="166420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마스터</a:t>
              </a:r>
            </a:p>
          </p:txBody>
        </p:sp>
        <p:sp>
          <p:nvSpPr>
            <p:cNvPr id="13" name="Down Arrow 12"/>
            <p:cNvSpPr/>
            <p:nvPr/>
          </p:nvSpPr>
          <p:spPr>
            <a:xfrm>
              <a:off x="5897880" y="289864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914400" y="333756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24128" y="3483864"/>
              <a:ext cx="2651760" cy="112471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애플리케이션 티어 · WAS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794760" y="353872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배치 처리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036820" y="353872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노드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278880" y="353872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마스터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520940" y="353872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복제본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763000" y="353872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스토리지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0005060" y="353872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엔진</a:t>
              </a:r>
            </a:p>
          </p:txBody>
        </p:sp>
        <p:sp>
          <p:nvSpPr>
            <p:cNvPr id="22" name="Down Arrow 21"/>
            <p:cNvSpPr/>
            <p:nvPr/>
          </p:nvSpPr>
          <p:spPr>
            <a:xfrm>
              <a:off x="5897880" y="477316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14400" y="5212079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024128" y="5358383"/>
              <a:ext cx="2651760" cy="112471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티어 · DB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794760" y="5413247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복제본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036820" y="5413247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스토리지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278880" y="5413247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엔진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7520940" y="5413247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메시지 큐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8763000" y="5413247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0005060" y="5413247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로드밸런서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SVC-041</a:t>
            </a:r>
          </a:p>
        </p:txBody>
      </p:sp>
      <p:grpSp>
        <p:nvGrpSpPr>
          <p:cNvPr id="22" name="asset:SVC-041"/>
          <p:cNvGrpSpPr/>
          <p:nvPr/>
        </p:nvGrpSpPr>
        <p:grpSpPr>
          <a:xfrm>
            <a:off x="502920" y="457200"/>
            <a:ext cx="11155680" cy="6172199"/>
            <a:chOff x="502920" y="457200"/>
            <a:chExt cx="11155680" cy="617219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운영 관리 3-티어 아키텍처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웹·애플리케이션·데이터 3계층 분리 구조 (티어당 3개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6304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609344"/>
              <a:ext cx="2651760" cy="1124712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프레젠테이션 티어 · Web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794760" y="1664208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서비스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78880" y="1664208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배치 처리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763000" y="1664208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노드</a:t>
              </a: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5897880" y="289864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14400" y="333756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024128" y="3483864"/>
              <a:ext cx="2651760" cy="112471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애플리케이션 티어 · WAS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794760" y="3538728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마스터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278880" y="3538728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복제본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8763000" y="3538728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스토리지</a:t>
              </a:r>
            </a:p>
          </p:txBody>
        </p:sp>
        <p:sp>
          <p:nvSpPr>
            <p:cNvPr id="16" name="Down Arrow 15"/>
            <p:cNvSpPr/>
            <p:nvPr/>
          </p:nvSpPr>
          <p:spPr>
            <a:xfrm>
              <a:off x="5897880" y="477316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914400" y="5212079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024128" y="5358383"/>
              <a:ext cx="2651760" cy="112471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티어 · DB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794760" y="5413247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엔진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278880" y="5413247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메시지 큐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763000" y="5413247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SVC-042</a:t>
            </a:r>
          </a:p>
        </p:txBody>
      </p:sp>
      <p:grpSp>
        <p:nvGrpSpPr>
          <p:cNvPr id="25" name="asset:SVC-042"/>
          <p:cNvGrpSpPr/>
          <p:nvPr/>
        </p:nvGrpSpPr>
        <p:grpSpPr>
          <a:xfrm>
            <a:off x="502920" y="457200"/>
            <a:ext cx="11155680" cy="6172199"/>
            <a:chOff x="502920" y="457200"/>
            <a:chExt cx="11155680" cy="617219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대민 포털 3-티어 아키텍처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웹·애플리케이션·데이터 3계층 분리 구조 (티어당 4개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6304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609344"/>
              <a:ext cx="2651760" cy="112471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프레젠테이션 티어 · Web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794760" y="166420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노드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657850" y="166420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마스터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520940" y="166420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복제본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384030" y="166420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스토리지</a:t>
              </a:r>
            </a:p>
          </p:txBody>
        </p:sp>
        <p:sp>
          <p:nvSpPr>
            <p:cNvPr id="11" name="Down Arrow 10"/>
            <p:cNvSpPr/>
            <p:nvPr/>
          </p:nvSpPr>
          <p:spPr>
            <a:xfrm>
              <a:off x="5897880" y="289864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14400" y="333756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024128" y="3483864"/>
              <a:ext cx="2651760" cy="112471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애플리케이션 티어 · WAS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794760" y="353872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스토리지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657850" y="353872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엔진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520940" y="353872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메시지 큐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9384030" y="353872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18" name="Down Arrow 17"/>
            <p:cNvSpPr/>
            <p:nvPr/>
          </p:nvSpPr>
          <p:spPr>
            <a:xfrm>
              <a:off x="5897880" y="477316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14400" y="5212079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024128" y="5358383"/>
              <a:ext cx="2651760" cy="112471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티어 · DB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794760" y="5413247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657850" y="5413247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로드밸런서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7520940" y="5413247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프록시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384030" y="5413247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앱 서버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SVC-043</a:t>
            </a:r>
          </a:p>
        </p:txBody>
      </p:sp>
      <p:grpSp>
        <p:nvGrpSpPr>
          <p:cNvPr id="28" name="asset:SVC-043"/>
          <p:cNvGrpSpPr/>
          <p:nvPr/>
        </p:nvGrpSpPr>
        <p:grpSpPr>
          <a:xfrm>
            <a:off x="502920" y="457200"/>
            <a:ext cx="11155680" cy="6172199"/>
            <a:chOff x="502920" y="457200"/>
            <a:chExt cx="11155680" cy="617219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정보화 사업 3-티어 아키텍처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웹·애플리케이션·데이터 3계층 분리 구조 (티어당 5개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6304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609344"/>
              <a:ext cx="2651760" cy="112471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프레젠테이션 티어 · Web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794760" y="166420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복제본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285232" y="166420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스토리지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775704" y="166420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엔진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266176" y="166420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메시지 큐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756648" y="166420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5897880" y="289864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14400" y="333756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024128" y="3483864"/>
              <a:ext cx="2651760" cy="112471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애플리케이션 티어 · WAS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794760" y="353872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메시지 큐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285232" y="353872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775704" y="353872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로드밸런서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266176" y="353872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프록시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756648" y="353872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앱 서버</a:t>
              </a:r>
            </a:p>
          </p:txBody>
        </p:sp>
        <p:sp>
          <p:nvSpPr>
            <p:cNvPr id="20" name="Down Arrow 19"/>
            <p:cNvSpPr/>
            <p:nvPr/>
          </p:nvSpPr>
          <p:spPr>
            <a:xfrm>
              <a:off x="5897880" y="477316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14400" y="5212079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24128" y="5358383"/>
              <a:ext cx="2651760" cy="112471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티어 · DB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3794760" y="5413247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프록시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285232" y="5413247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앱 서버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775704" y="5413247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서비스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266176" y="5413247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배치 처리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756648" y="5413247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노드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SVC-044</a:t>
            </a:r>
          </a:p>
        </p:txBody>
      </p:sp>
      <p:grpSp>
        <p:nvGrpSpPr>
          <p:cNvPr id="31" name="asset:SVC-044"/>
          <p:cNvGrpSpPr/>
          <p:nvPr/>
        </p:nvGrpSpPr>
        <p:grpSpPr>
          <a:xfrm>
            <a:off x="502920" y="457200"/>
            <a:ext cx="11155680" cy="6172199"/>
            <a:chOff x="502920" y="457200"/>
            <a:chExt cx="11155680" cy="617219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플랫폼 고도화 3-티어 아키텍처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웹·애플리케이션·데이터 3계층 분리 구조 (티어당 6개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6304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609344"/>
              <a:ext cx="2651760" cy="112471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프레젠테이션 티어 · Web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794760" y="166420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엔진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36820" y="166420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메시지 큐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78880" y="166420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520940" y="166420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로드밸런서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8763000" y="166420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프록시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0005060" y="166420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앱 서버</a:t>
              </a:r>
            </a:p>
          </p:txBody>
        </p:sp>
        <p:sp>
          <p:nvSpPr>
            <p:cNvPr id="13" name="Down Arrow 12"/>
            <p:cNvSpPr/>
            <p:nvPr/>
          </p:nvSpPr>
          <p:spPr>
            <a:xfrm>
              <a:off x="5897880" y="289864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914400" y="333756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24128" y="3483864"/>
              <a:ext cx="2651760" cy="112471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애플리케이션 티어 · WAS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794760" y="353872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로드밸런서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036820" y="353872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프록시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278880" y="353872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앱 서버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520940" y="353872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서비스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763000" y="353872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배치 처리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0005060" y="3538728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노드</a:t>
              </a:r>
            </a:p>
          </p:txBody>
        </p:sp>
        <p:sp>
          <p:nvSpPr>
            <p:cNvPr id="22" name="Down Arrow 21"/>
            <p:cNvSpPr/>
            <p:nvPr/>
          </p:nvSpPr>
          <p:spPr>
            <a:xfrm>
              <a:off x="5897880" y="477316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14400" y="5212079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024128" y="5358383"/>
              <a:ext cx="2651760" cy="112471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티어 · DB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794760" y="5413247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서비스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036820" y="5413247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배치 처리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278880" y="5413247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노드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7520940" y="5413247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마스터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8763000" y="5413247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복제본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0005060" y="5413247"/>
              <a:ext cx="105918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스토리지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SVC-045</a:t>
            </a:r>
          </a:p>
        </p:txBody>
      </p:sp>
      <p:grpSp>
        <p:nvGrpSpPr>
          <p:cNvPr id="22" name="asset:SVC-045"/>
          <p:cNvGrpSpPr/>
          <p:nvPr/>
        </p:nvGrpSpPr>
        <p:grpSpPr>
          <a:xfrm>
            <a:off x="502920" y="457200"/>
            <a:ext cx="11155680" cy="6172199"/>
            <a:chOff x="502920" y="457200"/>
            <a:chExt cx="11155680" cy="617219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디지털 전환 3-티어 아키텍처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웹·애플리케이션·데이터 3계층 분리 구조 (티어당 3개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6304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609344"/>
              <a:ext cx="2651760" cy="112471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프레젠테이션 티어 · Web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794760" y="1664208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78880" y="1664208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로드밸런서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763000" y="1664208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프록시</a:t>
              </a: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5897880" y="289864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14400" y="333756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024128" y="3483864"/>
              <a:ext cx="2651760" cy="112471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애플리케이션 티어 · WAS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794760" y="3538728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앱 서버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278880" y="3538728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서비스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8763000" y="3538728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배치 처리</a:t>
              </a:r>
            </a:p>
          </p:txBody>
        </p:sp>
        <p:sp>
          <p:nvSpPr>
            <p:cNvPr id="16" name="Down Arrow 15"/>
            <p:cNvSpPr/>
            <p:nvPr/>
          </p:nvSpPr>
          <p:spPr>
            <a:xfrm>
              <a:off x="5897880" y="477316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914400" y="5212079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024128" y="5358383"/>
              <a:ext cx="2651760" cy="112471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티어 · DB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794760" y="5413247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노드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278880" y="5413247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마스터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763000" y="5413247"/>
              <a:ext cx="230124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복제본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SVC-046</a:t>
            </a:r>
          </a:p>
        </p:txBody>
      </p:sp>
      <p:grpSp>
        <p:nvGrpSpPr>
          <p:cNvPr id="25" name="asset:SVC-046"/>
          <p:cNvGrpSpPr/>
          <p:nvPr/>
        </p:nvGrpSpPr>
        <p:grpSpPr>
          <a:xfrm>
            <a:off x="502920" y="457200"/>
            <a:ext cx="11155680" cy="6172199"/>
            <a:chOff x="502920" y="457200"/>
            <a:chExt cx="11155680" cy="617219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공공데이터 개방 3-티어 아키텍처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웹·애플리케이션·데이터 3계층 분리 구조 (티어당 4개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6304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609344"/>
              <a:ext cx="2651760" cy="1124712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프레젠테이션 티어 · Web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794760" y="166420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프록시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657850" y="166420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앱 서버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520940" y="166420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서비스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384030" y="166420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배치 처리</a:t>
              </a:r>
            </a:p>
          </p:txBody>
        </p:sp>
        <p:sp>
          <p:nvSpPr>
            <p:cNvPr id="11" name="Down Arrow 10"/>
            <p:cNvSpPr/>
            <p:nvPr/>
          </p:nvSpPr>
          <p:spPr>
            <a:xfrm>
              <a:off x="5897880" y="289864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14400" y="333756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024128" y="3483864"/>
              <a:ext cx="2651760" cy="112471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애플리케이션 티어 · WAS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794760" y="353872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배치 처리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657850" y="353872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노드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520940" y="353872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마스터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9384030" y="3538728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복제본</a:t>
              </a:r>
            </a:p>
          </p:txBody>
        </p:sp>
        <p:sp>
          <p:nvSpPr>
            <p:cNvPr id="18" name="Down Arrow 17"/>
            <p:cNvSpPr/>
            <p:nvPr/>
          </p:nvSpPr>
          <p:spPr>
            <a:xfrm>
              <a:off x="5897880" y="477316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14400" y="5212079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024128" y="5358383"/>
              <a:ext cx="2651760" cy="112471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티어 · DB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794760" y="5413247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복제본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657850" y="5413247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스토리지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7520940" y="5413247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엔진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384030" y="5413247"/>
              <a:ext cx="1680210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메시지 큐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SVC-047</a:t>
            </a:r>
          </a:p>
        </p:txBody>
      </p:sp>
      <p:grpSp>
        <p:nvGrpSpPr>
          <p:cNvPr id="28" name="asset:SVC-047"/>
          <p:cNvGrpSpPr/>
          <p:nvPr/>
        </p:nvGrpSpPr>
        <p:grpSpPr>
          <a:xfrm>
            <a:off x="502920" y="457200"/>
            <a:ext cx="11155680" cy="6172199"/>
            <a:chOff x="502920" y="457200"/>
            <a:chExt cx="11155680" cy="6172199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업무 자동화 3-티어 아키텍처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웹·애플리케이션·데이터 3계층 분리 구조 (티어당 5개 노드)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14400" y="146304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4128" y="1609344"/>
              <a:ext cx="2651760" cy="112471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프레젠테이션 티어 · Web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794760" y="166420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서비스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285232" y="166420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배치 처리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775704" y="166420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캐시 노드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266176" y="166420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마스터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756648" y="166420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복제본</a:t>
              </a:r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5897880" y="289864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14400" y="3337560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024128" y="3483864"/>
              <a:ext cx="2651760" cy="112471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애플리케이션 티어 · WAS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794760" y="353872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마스터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285232" y="353872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DB 복제본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775704" y="353872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스토리지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266176" y="353872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엔진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756648" y="3538728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메시지 큐</a:t>
              </a:r>
            </a:p>
          </p:txBody>
        </p:sp>
        <p:sp>
          <p:nvSpPr>
            <p:cNvPr id="20" name="Down Arrow 19"/>
            <p:cNvSpPr/>
            <p:nvPr/>
          </p:nvSpPr>
          <p:spPr>
            <a:xfrm>
              <a:off x="5897880" y="4773168"/>
              <a:ext cx="365760" cy="420624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14400" y="5212079"/>
              <a:ext cx="10332720" cy="141732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24128" y="5358383"/>
              <a:ext cx="2651760" cy="112471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티어 · DB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3794760" y="5413247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검색 엔진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285232" y="5413247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메시지 큐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775704" y="5413247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웹 서버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8266176" y="5413247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로드밸런서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756648" y="5413247"/>
              <a:ext cx="1307592" cy="10149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프록시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