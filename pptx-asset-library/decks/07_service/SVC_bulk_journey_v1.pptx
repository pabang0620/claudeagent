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SVC-172</a:t>
            </a:r>
          </a:p>
        </p:txBody>
      </p:sp>
      <p:grpSp>
        <p:nvGrpSpPr>
          <p:cNvPr id="21" name="asset:SVC-172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사용자 여정 맵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569464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인지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17296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3410712" y="1554480"/>
              <a:ext cx="2569464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탐색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10712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0712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6181344" y="1554480"/>
              <a:ext cx="2569464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가입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181344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81344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71423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8951976" y="1554480"/>
              <a:ext cx="2569464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신청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51976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51976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(인지 → 신청)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SVC-173</a:t>
            </a:r>
          </a:p>
        </p:txBody>
      </p:sp>
      <p:grpSp>
        <p:nvGrpSpPr>
          <p:cNvPr id="25" name="asset:SVC-173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사용자 여정 맵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15337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탐색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61884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856585" y="1554480"/>
              <a:ext cx="2015337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가입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56585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856585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835347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5073091" y="1554480"/>
              <a:ext cx="2015337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신청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73091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73091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05185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7289596" y="1554480"/>
              <a:ext cx="2015337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이용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89596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89596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926835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9506102" y="1554480"/>
              <a:ext cx="2015337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재방문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06102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506102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(탐색 → 재방문)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SVC-174</a:t>
            </a:r>
          </a:p>
        </p:txBody>
      </p:sp>
      <p:grpSp>
        <p:nvGrpSpPr>
          <p:cNvPr id="29" name="asset:SVC-174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사용자 여정 맵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6단계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1645920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가입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249424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487168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신청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487168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487168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09651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4334256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이용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34256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34256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6181344" y="1554480"/>
              <a:ext cx="1645920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재방문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181344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81344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779068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8028431" y="1554480"/>
              <a:ext cx="1645920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인지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28431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028431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9637776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hevron 24"/>
            <p:cNvSpPr/>
            <p:nvPr/>
          </p:nvSpPr>
          <p:spPr>
            <a:xfrm>
              <a:off x="9875519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탐색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875519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75519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(가입 → 탐색)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SVC-175</a:t>
            </a:r>
          </a:p>
        </p:txBody>
      </p:sp>
      <p:grpSp>
        <p:nvGrpSpPr>
          <p:cNvPr id="21" name="asset:SVC-175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사용자 여정 맵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569464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신청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17296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3410712" y="1554480"/>
              <a:ext cx="2569464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이용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10712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0712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6181344" y="1554480"/>
              <a:ext cx="2569464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재방문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181344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81344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71423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8951976" y="1554480"/>
              <a:ext cx="2569464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인지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51976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51976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(신청 → 인지)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SVC-176</a:t>
            </a:r>
          </a:p>
        </p:txBody>
      </p:sp>
      <p:grpSp>
        <p:nvGrpSpPr>
          <p:cNvPr id="25" name="asset:SVC-176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사용자 여정 맵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15337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이용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61884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856585" y="1554480"/>
              <a:ext cx="2015337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재방문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56585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856585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835347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5073091" y="1554480"/>
              <a:ext cx="2015337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인지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73091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73091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05185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7289596" y="1554480"/>
              <a:ext cx="2015337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탐색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89596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89596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926835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9506102" y="1554480"/>
              <a:ext cx="2015337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가입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06102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506102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(이용 → 가입)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SVC-177</a:t>
            </a:r>
          </a:p>
        </p:txBody>
      </p:sp>
      <p:grpSp>
        <p:nvGrpSpPr>
          <p:cNvPr id="29" name="asset:SVC-177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사용자 여정 맵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6단계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재방문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249424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487168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인지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487168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487168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09651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4334256" y="1554480"/>
              <a:ext cx="1645920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탐색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34256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34256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6181344" y="1554480"/>
              <a:ext cx="1645920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가입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181344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81344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779068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8028431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신청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28431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028431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9637776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hevron 24"/>
            <p:cNvSpPr/>
            <p:nvPr/>
          </p:nvSpPr>
          <p:spPr>
            <a:xfrm>
              <a:off x="9875519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이용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875519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75519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(재방문 → 이용)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SVC-178</a:t>
            </a:r>
          </a:p>
        </p:txBody>
      </p:sp>
      <p:grpSp>
        <p:nvGrpSpPr>
          <p:cNvPr id="21" name="asset:SVC-178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사용자 여정 맵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569464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인지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17296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3410712" y="1554480"/>
              <a:ext cx="2569464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탐색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10712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0712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6181344" y="1554480"/>
              <a:ext cx="2569464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가입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181344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81344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71423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8951976" y="1554480"/>
              <a:ext cx="2569464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신청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51976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51976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(인지 → 신청)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SVC-179</a:t>
            </a:r>
          </a:p>
        </p:txBody>
      </p:sp>
      <p:grpSp>
        <p:nvGrpSpPr>
          <p:cNvPr id="25" name="asset:SVC-179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사용자 여정 맵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15337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탐색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61884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856585" y="1554480"/>
              <a:ext cx="2015337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가입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56585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856585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835347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5073091" y="1554480"/>
              <a:ext cx="2015337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신청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73091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73091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05185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7289596" y="1554480"/>
              <a:ext cx="2015337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이용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89596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89596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926835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9506102" y="1554480"/>
              <a:ext cx="2015337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재방문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06102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506102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(탐색 → 재방문)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SVC-180</a:t>
            </a:r>
          </a:p>
        </p:txBody>
      </p:sp>
      <p:grpSp>
        <p:nvGrpSpPr>
          <p:cNvPr id="29" name="asset:SVC-180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사용자 여정 맵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6단계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1645920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가입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249424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487168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신청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487168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487168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09651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4334256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이용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34256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34256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6181344" y="1554480"/>
              <a:ext cx="1645920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재방문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181344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81344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779068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8028431" y="1554480"/>
              <a:ext cx="1645920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인지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28431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028431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9637776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hevron 24"/>
            <p:cNvSpPr/>
            <p:nvPr/>
          </p:nvSpPr>
          <p:spPr>
            <a:xfrm>
              <a:off x="9875519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탐색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875519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75519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(가입 → 탐색)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SVC-181</a:t>
            </a:r>
          </a:p>
        </p:txBody>
      </p:sp>
      <p:grpSp>
        <p:nvGrpSpPr>
          <p:cNvPr id="21" name="asset:SVC-181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사용자 여정 맵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569464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신청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17296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3410712" y="1554480"/>
              <a:ext cx="2569464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이용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10712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0712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6181344" y="1554480"/>
              <a:ext cx="2569464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재방문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181344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81344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71423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8951976" y="1554480"/>
              <a:ext cx="2569464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인지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51976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51976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(신청 → 인지)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SVC-182</a:t>
            </a:r>
          </a:p>
        </p:txBody>
      </p:sp>
      <p:grpSp>
        <p:nvGrpSpPr>
          <p:cNvPr id="25" name="asset:SVC-182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사용자 여정 맵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15337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이용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61884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856585" y="1554480"/>
              <a:ext cx="2015337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재방문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56585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856585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835347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5073091" y="1554480"/>
              <a:ext cx="2015337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인지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73091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73091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05185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7289596" y="1554480"/>
              <a:ext cx="2015337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탐색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89596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89596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926835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9506102" y="1554480"/>
              <a:ext cx="2015337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가입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06102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506102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(이용 → 가입)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SVC-183</a:t>
            </a:r>
          </a:p>
        </p:txBody>
      </p:sp>
      <p:grpSp>
        <p:nvGrpSpPr>
          <p:cNvPr id="29" name="asset:SVC-183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사용자 여정 맵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6단계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재방문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249424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487168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인지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487168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487168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09651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4334256" y="1554480"/>
              <a:ext cx="1645920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탐색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34256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34256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6181344" y="1554480"/>
              <a:ext cx="1645920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가입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181344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81344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779068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8028431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신청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28431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028431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9637776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hevron 24"/>
            <p:cNvSpPr/>
            <p:nvPr/>
          </p:nvSpPr>
          <p:spPr>
            <a:xfrm>
              <a:off x="9875519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이용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875519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75519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(재방문 → 이용)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SVC-184</a:t>
            </a:r>
          </a:p>
        </p:txBody>
      </p:sp>
      <p:grpSp>
        <p:nvGrpSpPr>
          <p:cNvPr id="21" name="asset:SVC-184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사용자 여정 맵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569464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인지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17296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3410712" y="1554480"/>
              <a:ext cx="2569464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탐색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10712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0712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6181344" y="1554480"/>
              <a:ext cx="2569464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가입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181344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81344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71423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8951976" y="1554480"/>
              <a:ext cx="2569464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신청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51976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51976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(인지 → 신청)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SVC-185</a:t>
            </a:r>
          </a:p>
        </p:txBody>
      </p:sp>
      <p:grpSp>
        <p:nvGrpSpPr>
          <p:cNvPr id="25" name="asset:SVC-185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사용자 여정 맵 (5단계)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5단계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015337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탐색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61884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856585" y="1554480"/>
              <a:ext cx="2015337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가입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856585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856585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835347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5073091" y="1554480"/>
              <a:ext cx="2015337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신청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073091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73091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705185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7289596" y="1554480"/>
              <a:ext cx="2015337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이용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7289596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289596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926835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9506102" y="1554480"/>
              <a:ext cx="2015337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재방문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9506102" y="2560320"/>
              <a:ext cx="2015337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506102" y="4343400"/>
              <a:ext cx="2015337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(탐색 → 재방문)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SVC-186</a:t>
            </a:r>
          </a:p>
        </p:txBody>
      </p:sp>
      <p:grpSp>
        <p:nvGrpSpPr>
          <p:cNvPr id="29" name="asset:SVC-186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사용자 여정 맵 (6단계)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6단계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가입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회원가입·인증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신중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2249424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2487168" y="1554480"/>
              <a:ext cx="1645920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신청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2487168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2487168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4096511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4334256" y="1554480"/>
              <a:ext cx="1645920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이용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4334256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334256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6181344" y="1554480"/>
              <a:ext cx="1645920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재방문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181344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6181344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779068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Chevron 20"/>
            <p:cNvSpPr/>
            <p:nvPr/>
          </p:nvSpPr>
          <p:spPr>
            <a:xfrm>
              <a:off x="8028431" y="1554480"/>
              <a:ext cx="1645920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5. 인지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8028431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8028431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9637776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Chevron 24"/>
            <p:cNvSpPr/>
            <p:nvPr/>
          </p:nvSpPr>
          <p:spPr>
            <a:xfrm>
              <a:off x="9875519" y="1554480"/>
              <a:ext cx="1645920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6. 탐색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875519" y="2560320"/>
              <a:ext cx="1645920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홈페이지·검색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875519" y="4343400"/>
              <a:ext cx="1645920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기대</a:t>
              </a:r>
            </a:p>
          </p:txBody>
        </p:sp>
        <p:sp>
          <p:nvSpPr>
            <p:cNvPr id="28" name="Right Arrow 27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(가입 → 탐색)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SVC-187</a:t>
            </a:r>
          </a:p>
        </p:txBody>
      </p:sp>
      <p:grpSp>
        <p:nvGrpSpPr>
          <p:cNvPr id="21" name="asset:SVC-187"/>
          <p:cNvGrpSpPr/>
          <p:nvPr/>
        </p:nvGrpSpPr>
        <p:grpSpPr>
          <a:xfrm>
            <a:off x="502920" y="457200"/>
            <a:ext cx="11155680" cy="5596128"/>
            <a:chOff x="502920" y="457200"/>
            <a:chExt cx="11155680" cy="5596128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보안 관제 체계 사용자 여정 맵 (4단계)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4단계 여정별 터치포인트·사용자 감정 매핑</a:t>
              </a:r>
            </a:p>
          </p:txBody>
        </p:sp>
        <p:sp>
          <p:nvSpPr>
            <p:cNvPr id="5" name="Chevron 4"/>
            <p:cNvSpPr/>
            <p:nvPr/>
          </p:nvSpPr>
          <p:spPr>
            <a:xfrm>
              <a:off x="640080" y="1554480"/>
              <a:ext cx="2569464" cy="777240"/>
            </a:xfrm>
            <a:prstGeom prst="chevron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1. 신청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신청서·상담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40080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집중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172968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 8"/>
            <p:cNvSpPr/>
            <p:nvPr/>
          </p:nvSpPr>
          <p:spPr>
            <a:xfrm>
              <a:off x="3410712" y="1554480"/>
              <a:ext cx="2569464" cy="777240"/>
            </a:xfrm>
            <a:prstGeom prst="chevron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2. 이용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10712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알림·마이페이지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10712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만족</a:t>
              </a:r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5943600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 12"/>
            <p:cNvSpPr/>
            <p:nvPr/>
          </p:nvSpPr>
          <p:spPr>
            <a:xfrm>
              <a:off x="6181344" y="1554480"/>
              <a:ext cx="2569464" cy="777240"/>
            </a:xfrm>
            <a:prstGeom prst="chevron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3. 재방문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181344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추천·재신청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181344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충성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8714232" y="4777740"/>
              <a:ext cx="274320" cy="274320"/>
            </a:xfrm>
            <a:prstGeom prst="rightArrow">
              <a:avLst/>
            </a:prstGeom>
            <a:solidFill>
              <a:srgbClr val="5959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Chevron 16"/>
            <p:cNvSpPr/>
            <p:nvPr/>
          </p:nvSpPr>
          <p:spPr>
            <a:xfrm>
              <a:off x="8951976" y="1554480"/>
              <a:ext cx="2569464" cy="777240"/>
            </a:xfrm>
            <a:prstGeom prst="chevron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 인지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8951976" y="2560320"/>
              <a:ext cx="2569464" cy="146304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터치포인트</a:t>
              </a:r>
            </a:p>
            <a:p>
              <a:pPr algn="ctr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포털 배너·SNS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51976" y="4343400"/>
              <a:ext cx="2569464" cy="11430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감정</a:t>
              </a:r>
            </a:p>
            <a:p>
              <a:pPr algn="ctr"/>
              <a:r>
                <a:rPr sz="11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관심</a:t>
              </a:r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640080" y="5760720"/>
              <a:ext cx="10881360" cy="292608"/>
            </a:xfrm>
            <a:prstGeom prst="rightArrow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여정 흐름 (신청 → 인지)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