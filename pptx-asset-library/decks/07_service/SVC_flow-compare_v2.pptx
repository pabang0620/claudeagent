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SVC-013</a:t>
            </a:r>
          </a:p>
        </p:txBody>
      </p:sp>
      <p:grpSp>
        <p:nvGrpSpPr>
          <p:cNvPr id="20" name="asset:SVC-013"/>
          <p:cNvGrpSpPr/>
          <p:nvPr/>
        </p:nvGrpSpPr>
        <p:grpSpPr>
          <a:xfrm>
            <a:off x="502920" y="475488"/>
            <a:ext cx="11155680" cy="5650992"/>
            <a:chOff x="502920" y="475488"/>
            <a:chExt cx="11155680" cy="565099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시스템 개선 전·후 비교 (As-Is / To-Be)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기존 분산·수기 환경에서 통합·자동화 플랫폼으로 전환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40080" y="1600200"/>
              <a:ext cx="4572000" cy="45262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600200"/>
              <a:ext cx="4572000" cy="685800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As-Is (개선 전)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542032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분산 운영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3255264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수기 데이터 입력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3968496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데이터 사일로 고립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6112" y="4681728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 불가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6112" y="5394960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수동 모니터링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9615" y="1600200"/>
              <a:ext cx="4572000" cy="45262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79615" y="1600200"/>
              <a:ext cx="4572000" cy="68580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To-Be (개선 후)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235647" y="2542032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단일 통합 플랫폼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235647" y="3255264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자동 연계·수집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235647" y="3968496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데이터 관리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235647" y="4681728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실시간 처리·분석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35647" y="5394960"/>
              <a:ext cx="4059935" cy="566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지능형 관제·알림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5364327" y="3360420"/>
              <a:ext cx="1463040" cy="100584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전환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SVC-014</a:t>
            </a:r>
          </a:p>
        </p:txBody>
      </p:sp>
      <p:grpSp>
        <p:nvGrpSpPr>
          <p:cNvPr id="22" name="asset:SVC-014"/>
          <p:cNvGrpSpPr/>
          <p:nvPr/>
        </p:nvGrpSpPr>
        <p:grpSpPr>
          <a:xfrm>
            <a:off x="502920" y="475488"/>
            <a:ext cx="11155680" cy="6117336"/>
            <a:chOff x="502920" y="475488"/>
            <a:chExt cx="11155680" cy="6117336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마이크로서비스 구성도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Gateway · 독립 서비스 모듈 격자 · 이벤트 버스 (비동기 연계)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58368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 · 인증 · 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423160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9600" y="2423160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주문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16239" y="2423160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93591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상품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9600" y="3593591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배송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16239" y="3593591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764024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9600" y="4764024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16239" y="4764024"/>
              <a:ext cx="3322320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484120" y="2029968"/>
              <a:ext cx="0" cy="39319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80759" y="2029968"/>
              <a:ext cx="0" cy="39319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677399" y="2029968"/>
              <a:ext cx="0" cy="39319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822960" y="5952744"/>
              <a:ext cx="10515600" cy="64008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(Kafka · 비동기 이벤트)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484120" y="5678424"/>
              <a:ext cx="0" cy="27432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80759" y="5678424"/>
              <a:ext cx="0" cy="27432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677399" y="5678424"/>
              <a:ext cx="0" cy="27432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SVC-015</a:t>
            </a:r>
          </a:p>
        </p:txBody>
      </p:sp>
      <p:grpSp>
        <p:nvGrpSpPr>
          <p:cNvPr id="31" name="asset:SVC-015"/>
          <p:cNvGrpSpPr/>
          <p:nvPr/>
        </p:nvGrpSpPr>
        <p:grpSpPr>
          <a:xfrm>
            <a:off x="502920" y="475488"/>
            <a:ext cx="11155680" cy="5468112"/>
            <a:chOff x="502920" y="475488"/>
            <a:chExt cx="11155680" cy="54681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파이프라인 구성도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 → 변환 → 적재 → 분석 4단계 처리 + 데이터 웨어하우스 적재/조회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600200"/>
              <a:ext cx="220370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822960" y="1600200"/>
              <a:ext cx="2203704" cy="54864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005840" y="2258568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05840" y="2642615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005840" y="3026663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063240" y="2318004"/>
              <a:ext cx="493776" cy="438912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93592" y="1600200"/>
              <a:ext cx="220370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593592" y="1600200"/>
              <a:ext cx="2203704" cy="54864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76472" y="2258568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76472" y="2642615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76472" y="3026663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833872" y="2318004"/>
              <a:ext cx="493776" cy="438912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364224" y="1600200"/>
              <a:ext cx="220370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364224" y="1600200"/>
              <a:ext cx="2203704" cy="54864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47104" y="2258568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47104" y="2642615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47104" y="3026663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8604504" y="2318004"/>
              <a:ext cx="493776" cy="438912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34856" y="1600200"/>
              <a:ext cx="220370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9134856" y="1600200"/>
              <a:ext cx="2203704" cy="548640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317736" y="2258568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317736" y="2642615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317736" y="3026663"/>
              <a:ext cx="1837944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28" name="Can 27"/>
            <p:cNvSpPr/>
            <p:nvPr/>
          </p:nvSpPr>
          <p:spPr>
            <a:xfrm>
              <a:off x="7616952" y="4709160"/>
              <a:ext cx="2468880" cy="123444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7466076" y="3474720"/>
              <a:ext cx="891540" cy="1234440"/>
            </a:xfrm>
            <a:prstGeom prst="line">
              <a:avLst/>
            </a:prstGeom>
            <a:ln w="22225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V="1">
              <a:off x="9345168" y="3474720"/>
              <a:ext cx="891540" cy="1234440"/>
            </a:xfrm>
            <a:prstGeom prst="line">
              <a:avLst/>
            </a:prstGeom>
            <a:ln w="22225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SVC-016</a:t>
            </a:r>
          </a:p>
        </p:txBody>
      </p:sp>
      <p:grpSp>
        <p:nvGrpSpPr>
          <p:cNvPr id="25" name="asset:SVC-016"/>
          <p:cNvGrpSpPr/>
          <p:nvPr/>
        </p:nvGrpSpPr>
        <p:grpSpPr>
          <a:xfrm>
            <a:off x="502920" y="475488"/>
            <a:ext cx="11155680" cy="5458967"/>
            <a:chOff x="502920" y="475488"/>
            <a:chExt cx="11155680" cy="5458967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사용자 여정 맵 (User Journey Map)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인지 → 탐색 → 가입 → 이용 → 재방문 단계별 터치포인트·사용자 감정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1993392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인지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606040"/>
              <a:ext cx="1993392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 · SNS 광고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206240"/>
              <a:ext cx="1993392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사용자 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592324" y="4608575"/>
              <a:ext cx="310896" cy="292608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862072" y="1554480"/>
              <a:ext cx="1993392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탐색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62072" y="2606040"/>
              <a:ext cx="1993392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 · 검색 · 후기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862072" y="4206240"/>
              <a:ext cx="1993392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사용자 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814316" y="4608575"/>
              <a:ext cx="310896" cy="292608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5084064" y="1554480"/>
              <a:ext cx="1993392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가입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84064" y="2606040"/>
              <a:ext cx="1993392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 · 본인인증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84064" y="4206240"/>
              <a:ext cx="1993392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사용자 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036308" y="4608575"/>
              <a:ext cx="310896" cy="292608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7306056" y="1554480"/>
              <a:ext cx="1993392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이용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306056" y="2606040"/>
              <a:ext cx="1993392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 · 알림 · 상담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306056" y="4206240"/>
              <a:ext cx="1993392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사용자 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9258300" y="4608575"/>
              <a:ext cx="310896" cy="292608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9528048" y="1554480"/>
              <a:ext cx="1993392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재방문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28048" y="2606040"/>
              <a:ext cx="1993392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마이페이지 · 추천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528048" y="4206240"/>
              <a:ext cx="1993392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사용자 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640080" y="5623559"/>
              <a:ext cx="10881360" cy="31089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사용자 여정 흐름 (인지 → 재방문)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