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SVC-048</a:t>
            </a:r>
          </a:p>
        </p:txBody>
      </p:sp>
      <p:grpSp>
        <p:nvGrpSpPr>
          <p:cNvPr id="13" name="asset:SVC-048"/>
          <p:cNvGrpSpPr/>
          <p:nvPr/>
        </p:nvGrpSpPr>
        <p:grpSpPr>
          <a:xfrm>
            <a:off x="502920" y="457200"/>
            <a:ext cx="11155680" cy="5212079"/>
            <a:chOff x="502920" y="457200"/>
            <a:chExt cx="11155680" cy="521207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통합 플랫폼 데이터 흐름도 (3단계)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요청부터 처리·통보까지 3단계 데이터 처리 흐름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31520" y="2194560"/>
              <a:ext cx="3230880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요청 접수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4008119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465320" y="2194560"/>
              <a:ext cx="3230880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자격 검증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7741920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199120" y="2194560"/>
              <a:ext cx="3230880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수집</a:t>
              </a:r>
            </a:p>
          </p:txBody>
        </p:sp>
        <p:sp>
          <p:nvSpPr>
            <p:cNvPr id="10" name="Can 9"/>
            <p:cNvSpPr/>
            <p:nvPr/>
          </p:nvSpPr>
          <p:spPr>
            <a:xfrm>
              <a:off x="4251959" y="4754879"/>
              <a:ext cx="3657600" cy="914400"/>
            </a:xfrm>
            <a:prstGeom prst="ca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데이터 저장소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2346960" y="3474720"/>
              <a:ext cx="2636519" cy="1280159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 flipH="1">
              <a:off x="7178040" y="3474720"/>
              <a:ext cx="2636520" cy="1280159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SVC-049</a:t>
            </a:r>
          </a:p>
        </p:txBody>
      </p:sp>
      <p:grpSp>
        <p:nvGrpSpPr>
          <p:cNvPr id="15" name="asset:SVC-049"/>
          <p:cNvGrpSpPr/>
          <p:nvPr/>
        </p:nvGrpSpPr>
        <p:grpSpPr>
          <a:xfrm>
            <a:off x="502920" y="457200"/>
            <a:ext cx="11155680" cy="5212079"/>
            <a:chOff x="502920" y="457200"/>
            <a:chExt cx="11155680" cy="521207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데이터 허브 데이터 흐름도 (4단계)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요청부터 처리·통보까지 4단계 데이터 처리 흐름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31520" y="2194560"/>
              <a:ext cx="2297429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자격 검증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3074670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531870" y="2194560"/>
              <a:ext cx="2297429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수집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5875020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332220" y="2194560"/>
              <a:ext cx="2297429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업무 처리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8675370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9132570" y="2194560"/>
              <a:ext cx="2297429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승인 심사</a:t>
              </a:r>
            </a:p>
          </p:txBody>
        </p:sp>
        <p:sp>
          <p:nvSpPr>
            <p:cNvPr id="12" name="Can 11"/>
            <p:cNvSpPr/>
            <p:nvPr/>
          </p:nvSpPr>
          <p:spPr>
            <a:xfrm>
              <a:off x="4251959" y="4754879"/>
              <a:ext cx="3657600" cy="914400"/>
            </a:xfrm>
            <a:prstGeom prst="ca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데이터 저장소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1880235" y="3474720"/>
              <a:ext cx="3103244" cy="1280159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 flipH="1">
              <a:off x="7178040" y="3474720"/>
              <a:ext cx="3103245" cy="1280159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SVC-050</a:t>
            </a:r>
          </a:p>
        </p:txBody>
      </p:sp>
      <p:grpSp>
        <p:nvGrpSpPr>
          <p:cNvPr id="17" name="asset:SVC-050"/>
          <p:cNvGrpSpPr/>
          <p:nvPr/>
        </p:nvGrpSpPr>
        <p:grpSpPr>
          <a:xfrm>
            <a:off x="502920" y="457200"/>
            <a:ext cx="11155680" cy="5212079"/>
            <a:chOff x="502920" y="457200"/>
            <a:chExt cx="11155680" cy="521207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민원 서비스 데이터 흐름도 (5단계)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요청부터 처리·통보까지 5단계 데이터 처리 흐름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31520" y="2194560"/>
              <a:ext cx="1737360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수집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2514600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971800" y="2194560"/>
              <a:ext cx="1737360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업무 처리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4754880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212080" y="2194560"/>
              <a:ext cx="1737360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승인 심사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6995159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452360" y="2194560"/>
              <a:ext cx="1737360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결과 생성</a:t>
              </a: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9235440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692640" y="2194560"/>
              <a:ext cx="1737360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5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통보·발송</a:t>
              </a:r>
            </a:p>
          </p:txBody>
        </p:sp>
        <p:sp>
          <p:nvSpPr>
            <p:cNvPr id="14" name="Can 13"/>
            <p:cNvSpPr/>
            <p:nvPr/>
          </p:nvSpPr>
          <p:spPr>
            <a:xfrm>
              <a:off x="4251959" y="4754879"/>
              <a:ext cx="3657600" cy="914400"/>
            </a:xfrm>
            <a:prstGeom prst="ca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데이터 저장소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1600200" y="3474720"/>
              <a:ext cx="3383279" cy="1280159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 flipH="1">
              <a:off x="7178040" y="3474720"/>
              <a:ext cx="3383280" cy="1280159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SVC-051</a:t>
            </a:r>
          </a:p>
        </p:txBody>
      </p:sp>
      <p:grpSp>
        <p:nvGrpSpPr>
          <p:cNvPr id="19" name="asset:SVC-051"/>
          <p:cNvGrpSpPr/>
          <p:nvPr/>
        </p:nvGrpSpPr>
        <p:grpSpPr>
          <a:xfrm>
            <a:off x="502920" y="457200"/>
            <a:ext cx="11155680" cy="5212079"/>
            <a:chOff x="502920" y="457200"/>
            <a:chExt cx="11155680" cy="521207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관제 시스템 데이터 흐름도 (6단계)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요청부터 처리·통보까지 6단계 데이터 처리 흐름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31520" y="2194560"/>
              <a:ext cx="1363979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업무 처리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2141219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598420" y="2194560"/>
              <a:ext cx="1363979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승인 심사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4008119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465320" y="2194560"/>
              <a:ext cx="1363979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결과 생성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5875019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332220" y="2194560"/>
              <a:ext cx="1363979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통보·발송</a:t>
              </a: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7741920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199120" y="2194560"/>
              <a:ext cx="1363979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5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이력 관리</a:t>
              </a:r>
            </a:p>
          </p:txBody>
        </p:sp>
        <p:sp>
          <p:nvSpPr>
            <p:cNvPr id="14" name="Right Arrow 13"/>
            <p:cNvSpPr/>
            <p:nvPr/>
          </p:nvSpPr>
          <p:spPr>
            <a:xfrm>
              <a:off x="9608820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0066020" y="2194560"/>
              <a:ext cx="1363979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6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정산 처리</a:t>
              </a:r>
            </a:p>
          </p:txBody>
        </p:sp>
        <p:sp>
          <p:nvSpPr>
            <p:cNvPr id="16" name="Can 15"/>
            <p:cNvSpPr/>
            <p:nvPr/>
          </p:nvSpPr>
          <p:spPr>
            <a:xfrm>
              <a:off x="4251959" y="4754879"/>
              <a:ext cx="3657600" cy="914400"/>
            </a:xfrm>
            <a:prstGeom prst="ca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데이터 저장소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1413510" y="3474720"/>
              <a:ext cx="3569969" cy="1280159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 flipH="1">
              <a:off x="7178040" y="3474720"/>
              <a:ext cx="3569970" cy="1280159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SVC-052</a:t>
            </a:r>
          </a:p>
        </p:txBody>
      </p:sp>
      <p:grpSp>
        <p:nvGrpSpPr>
          <p:cNvPr id="13" name="asset:SVC-052"/>
          <p:cNvGrpSpPr/>
          <p:nvPr/>
        </p:nvGrpSpPr>
        <p:grpSpPr>
          <a:xfrm>
            <a:off x="502920" y="457200"/>
            <a:ext cx="11155680" cy="5212079"/>
            <a:chOff x="502920" y="457200"/>
            <a:chExt cx="11155680" cy="521207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지원 사업 데이터 흐름도 (3단계)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요청부터 처리·통보까지 3단계 데이터 처리 흐름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31520" y="2194560"/>
              <a:ext cx="3230880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승인 심사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4008119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465320" y="2194560"/>
              <a:ext cx="3230880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결과 생성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7741920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199120" y="2194560"/>
              <a:ext cx="3230880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통보·발송</a:t>
              </a:r>
            </a:p>
          </p:txBody>
        </p:sp>
        <p:sp>
          <p:nvSpPr>
            <p:cNvPr id="10" name="Can 9"/>
            <p:cNvSpPr/>
            <p:nvPr/>
          </p:nvSpPr>
          <p:spPr>
            <a:xfrm>
              <a:off x="4251959" y="4754879"/>
              <a:ext cx="3657600" cy="914400"/>
            </a:xfrm>
            <a:prstGeom prst="ca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데이터 저장소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2346960" y="3474720"/>
              <a:ext cx="2636519" cy="1280159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 flipH="1">
              <a:off x="7178040" y="3474720"/>
              <a:ext cx="2636520" cy="1280159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SVC-053</a:t>
            </a:r>
          </a:p>
        </p:txBody>
      </p:sp>
      <p:grpSp>
        <p:nvGrpSpPr>
          <p:cNvPr id="15" name="asset:SVC-053"/>
          <p:cNvGrpSpPr/>
          <p:nvPr/>
        </p:nvGrpSpPr>
        <p:grpSpPr>
          <a:xfrm>
            <a:off x="502920" y="457200"/>
            <a:ext cx="11155680" cy="5212079"/>
            <a:chOff x="502920" y="457200"/>
            <a:chExt cx="11155680" cy="521207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연계 체계 데이터 흐름도 (4단계)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요청부터 처리·통보까지 4단계 데이터 처리 흐름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31520" y="2194560"/>
              <a:ext cx="2297429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결과 생성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3074670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531870" y="2194560"/>
              <a:ext cx="2297429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통보·발송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5875020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332220" y="2194560"/>
              <a:ext cx="2297429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이력 관리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8675370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9132570" y="2194560"/>
              <a:ext cx="2297429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정산 처리</a:t>
              </a:r>
            </a:p>
          </p:txBody>
        </p:sp>
        <p:sp>
          <p:nvSpPr>
            <p:cNvPr id="12" name="Can 11"/>
            <p:cNvSpPr/>
            <p:nvPr/>
          </p:nvSpPr>
          <p:spPr>
            <a:xfrm>
              <a:off x="4251959" y="4754879"/>
              <a:ext cx="3657600" cy="914400"/>
            </a:xfrm>
            <a:prstGeom prst="ca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데이터 저장소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1880235" y="3474720"/>
              <a:ext cx="3103244" cy="1280159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 flipH="1">
              <a:off x="7178040" y="3474720"/>
              <a:ext cx="3103245" cy="1280159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SVC-054</a:t>
            </a:r>
          </a:p>
        </p:txBody>
      </p:sp>
      <p:grpSp>
        <p:nvGrpSpPr>
          <p:cNvPr id="17" name="asset:SVC-054"/>
          <p:cNvGrpSpPr/>
          <p:nvPr/>
        </p:nvGrpSpPr>
        <p:grpSpPr>
          <a:xfrm>
            <a:off x="502920" y="457200"/>
            <a:ext cx="11155680" cy="5212079"/>
            <a:chOff x="502920" y="457200"/>
            <a:chExt cx="11155680" cy="521207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클라우드 기반 데이터 흐름도 (5단계)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요청부터 처리·통보까지 5단계 데이터 처리 흐름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31520" y="2194560"/>
              <a:ext cx="1737360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통보·발송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2514600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971800" y="2194560"/>
              <a:ext cx="1737360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이력 관리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4754880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212080" y="2194560"/>
              <a:ext cx="1737360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정산 처리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6995159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452360" y="2194560"/>
              <a:ext cx="1737360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모니터링</a:t>
              </a: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9235440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692640" y="2194560"/>
              <a:ext cx="1737360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5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요청 접수</a:t>
              </a:r>
            </a:p>
          </p:txBody>
        </p:sp>
        <p:sp>
          <p:nvSpPr>
            <p:cNvPr id="14" name="Can 13"/>
            <p:cNvSpPr/>
            <p:nvPr/>
          </p:nvSpPr>
          <p:spPr>
            <a:xfrm>
              <a:off x="4251959" y="4754879"/>
              <a:ext cx="3657600" cy="914400"/>
            </a:xfrm>
            <a:prstGeom prst="ca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데이터 저장소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1600200" y="3474720"/>
              <a:ext cx="3383279" cy="1280159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 flipH="1">
              <a:off x="7178040" y="3474720"/>
              <a:ext cx="3383280" cy="1280159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SVC-055</a:t>
            </a:r>
          </a:p>
        </p:txBody>
      </p:sp>
      <p:grpSp>
        <p:nvGrpSpPr>
          <p:cNvPr id="19" name="asset:SVC-055"/>
          <p:cNvGrpSpPr/>
          <p:nvPr/>
        </p:nvGrpSpPr>
        <p:grpSpPr>
          <a:xfrm>
            <a:off x="502920" y="457200"/>
            <a:ext cx="11155680" cy="5212079"/>
            <a:chOff x="502920" y="457200"/>
            <a:chExt cx="11155680" cy="521207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스마트 서비스 데이터 흐름도 (6단계)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요청부터 처리·통보까지 6단계 데이터 처리 흐름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31520" y="2194560"/>
              <a:ext cx="1363979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이력 관리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2141219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598420" y="2194560"/>
              <a:ext cx="1363979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정산 처리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4008119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465320" y="2194560"/>
              <a:ext cx="1363979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모니터링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5875019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332220" y="2194560"/>
              <a:ext cx="1363979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요청 접수</a:t>
              </a: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7741920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199120" y="2194560"/>
              <a:ext cx="1363979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5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자격 검증</a:t>
              </a:r>
            </a:p>
          </p:txBody>
        </p:sp>
        <p:sp>
          <p:nvSpPr>
            <p:cNvPr id="14" name="Right Arrow 13"/>
            <p:cNvSpPr/>
            <p:nvPr/>
          </p:nvSpPr>
          <p:spPr>
            <a:xfrm>
              <a:off x="9608820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0066020" y="2194560"/>
              <a:ext cx="1363979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6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수집</a:t>
              </a:r>
            </a:p>
          </p:txBody>
        </p:sp>
        <p:sp>
          <p:nvSpPr>
            <p:cNvPr id="16" name="Can 15"/>
            <p:cNvSpPr/>
            <p:nvPr/>
          </p:nvSpPr>
          <p:spPr>
            <a:xfrm>
              <a:off x="4251959" y="4754879"/>
              <a:ext cx="3657600" cy="914400"/>
            </a:xfrm>
            <a:prstGeom prst="ca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데이터 저장소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1413510" y="3474720"/>
              <a:ext cx="3569969" cy="1280159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 flipH="1">
              <a:off x="7178040" y="3474720"/>
              <a:ext cx="3569970" cy="1280159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SVC-056</a:t>
            </a:r>
          </a:p>
        </p:txBody>
      </p:sp>
      <p:grpSp>
        <p:nvGrpSpPr>
          <p:cNvPr id="13" name="asset:SVC-056"/>
          <p:cNvGrpSpPr/>
          <p:nvPr/>
        </p:nvGrpSpPr>
        <p:grpSpPr>
          <a:xfrm>
            <a:off x="502920" y="457200"/>
            <a:ext cx="11155680" cy="5212079"/>
            <a:chOff x="502920" y="457200"/>
            <a:chExt cx="11155680" cy="521207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운영 관리 데이터 흐름도 (3단계)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요청부터 처리·통보까지 3단계 데이터 처리 흐름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31520" y="2194560"/>
              <a:ext cx="3230880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정산 처리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4008119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465320" y="2194560"/>
              <a:ext cx="3230880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모니터링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7741920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199120" y="2194560"/>
              <a:ext cx="3230880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요청 접수</a:t>
              </a:r>
            </a:p>
          </p:txBody>
        </p:sp>
        <p:sp>
          <p:nvSpPr>
            <p:cNvPr id="10" name="Can 9"/>
            <p:cNvSpPr/>
            <p:nvPr/>
          </p:nvSpPr>
          <p:spPr>
            <a:xfrm>
              <a:off x="4251959" y="4754879"/>
              <a:ext cx="3657600" cy="914400"/>
            </a:xfrm>
            <a:prstGeom prst="ca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데이터 저장소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2346960" y="3474720"/>
              <a:ext cx="2636519" cy="1280159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 flipH="1">
              <a:off x="7178040" y="3474720"/>
              <a:ext cx="2636520" cy="1280159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SVC-057</a:t>
            </a:r>
          </a:p>
        </p:txBody>
      </p:sp>
      <p:grpSp>
        <p:nvGrpSpPr>
          <p:cNvPr id="15" name="asset:SVC-057"/>
          <p:cNvGrpSpPr/>
          <p:nvPr/>
        </p:nvGrpSpPr>
        <p:grpSpPr>
          <a:xfrm>
            <a:off x="502920" y="457200"/>
            <a:ext cx="11155680" cy="5212079"/>
            <a:chOff x="502920" y="457200"/>
            <a:chExt cx="11155680" cy="521207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대민 포털 데이터 흐름도 (4단계)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요청부터 처리·통보까지 4단계 데이터 처리 흐름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31520" y="2194560"/>
              <a:ext cx="2297429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모니터링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3074670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531870" y="2194560"/>
              <a:ext cx="2297429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요청 접수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5875020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332220" y="2194560"/>
              <a:ext cx="2297429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자격 검증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8675370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9132570" y="2194560"/>
              <a:ext cx="2297429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수집</a:t>
              </a:r>
            </a:p>
          </p:txBody>
        </p:sp>
        <p:sp>
          <p:nvSpPr>
            <p:cNvPr id="12" name="Can 11"/>
            <p:cNvSpPr/>
            <p:nvPr/>
          </p:nvSpPr>
          <p:spPr>
            <a:xfrm>
              <a:off x="4251959" y="4754879"/>
              <a:ext cx="3657600" cy="914400"/>
            </a:xfrm>
            <a:prstGeom prst="ca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데이터 저장소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1880235" y="3474720"/>
              <a:ext cx="3103244" cy="1280159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 flipH="1">
              <a:off x="7178040" y="3474720"/>
              <a:ext cx="3103245" cy="1280159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SVC-058</a:t>
            </a:r>
          </a:p>
        </p:txBody>
      </p:sp>
      <p:grpSp>
        <p:nvGrpSpPr>
          <p:cNvPr id="17" name="asset:SVC-058"/>
          <p:cNvGrpSpPr/>
          <p:nvPr/>
        </p:nvGrpSpPr>
        <p:grpSpPr>
          <a:xfrm>
            <a:off x="502920" y="457200"/>
            <a:ext cx="11155680" cy="5212079"/>
            <a:chOff x="502920" y="457200"/>
            <a:chExt cx="11155680" cy="521207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정보화 사업 데이터 흐름도 (5단계)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요청부터 처리·통보까지 5단계 데이터 처리 흐름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31520" y="2194560"/>
              <a:ext cx="1737360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요청 접수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2514600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971800" y="2194560"/>
              <a:ext cx="1737360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자격 검증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4754880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212080" y="2194560"/>
              <a:ext cx="1737360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수집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6995159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452360" y="2194560"/>
              <a:ext cx="1737360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업무 처리</a:t>
              </a: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9235440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692640" y="2194560"/>
              <a:ext cx="1737360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5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승인 심사</a:t>
              </a:r>
            </a:p>
          </p:txBody>
        </p:sp>
        <p:sp>
          <p:nvSpPr>
            <p:cNvPr id="14" name="Can 13"/>
            <p:cNvSpPr/>
            <p:nvPr/>
          </p:nvSpPr>
          <p:spPr>
            <a:xfrm>
              <a:off x="4251959" y="4754879"/>
              <a:ext cx="3657600" cy="914400"/>
            </a:xfrm>
            <a:prstGeom prst="ca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데이터 저장소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1600200" y="3474720"/>
              <a:ext cx="3383279" cy="1280159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 flipH="1">
              <a:off x="7178040" y="3474720"/>
              <a:ext cx="3383280" cy="1280159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SVC-059</a:t>
            </a:r>
          </a:p>
        </p:txBody>
      </p:sp>
      <p:grpSp>
        <p:nvGrpSpPr>
          <p:cNvPr id="19" name="asset:SVC-059"/>
          <p:cNvGrpSpPr/>
          <p:nvPr/>
        </p:nvGrpSpPr>
        <p:grpSpPr>
          <a:xfrm>
            <a:off x="502920" y="457200"/>
            <a:ext cx="11155680" cy="5212079"/>
            <a:chOff x="502920" y="457200"/>
            <a:chExt cx="11155680" cy="521207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플랫폼 고도화 데이터 흐름도 (6단계)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요청부터 처리·통보까지 6단계 데이터 처리 흐름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31520" y="2194560"/>
              <a:ext cx="1363979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자격 검증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2141219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598420" y="2194560"/>
              <a:ext cx="1363979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수집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4008119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465320" y="2194560"/>
              <a:ext cx="1363979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업무 처리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5875019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332220" y="2194560"/>
              <a:ext cx="1363979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승인 심사</a:t>
              </a: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7741920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199120" y="2194560"/>
              <a:ext cx="1363979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5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결과 생성</a:t>
              </a:r>
            </a:p>
          </p:txBody>
        </p:sp>
        <p:sp>
          <p:nvSpPr>
            <p:cNvPr id="14" name="Right Arrow 13"/>
            <p:cNvSpPr/>
            <p:nvPr/>
          </p:nvSpPr>
          <p:spPr>
            <a:xfrm>
              <a:off x="9608820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0066020" y="2194560"/>
              <a:ext cx="1363979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6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통보·발송</a:t>
              </a:r>
            </a:p>
          </p:txBody>
        </p:sp>
        <p:sp>
          <p:nvSpPr>
            <p:cNvPr id="16" name="Can 15"/>
            <p:cNvSpPr/>
            <p:nvPr/>
          </p:nvSpPr>
          <p:spPr>
            <a:xfrm>
              <a:off x="4251959" y="4754879"/>
              <a:ext cx="3657600" cy="914400"/>
            </a:xfrm>
            <a:prstGeom prst="ca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데이터 저장소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1413510" y="3474720"/>
              <a:ext cx="3569969" cy="1280159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 flipH="1">
              <a:off x="7178040" y="3474720"/>
              <a:ext cx="3569970" cy="1280159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SVC-060</a:t>
            </a:r>
          </a:p>
        </p:txBody>
      </p:sp>
      <p:grpSp>
        <p:nvGrpSpPr>
          <p:cNvPr id="13" name="asset:SVC-060"/>
          <p:cNvGrpSpPr/>
          <p:nvPr/>
        </p:nvGrpSpPr>
        <p:grpSpPr>
          <a:xfrm>
            <a:off x="502920" y="457200"/>
            <a:ext cx="11155680" cy="5212079"/>
            <a:chOff x="502920" y="457200"/>
            <a:chExt cx="11155680" cy="521207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디지털 전환 데이터 흐름도 (3단계)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요청부터 처리·통보까지 3단계 데이터 처리 흐름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31520" y="2194560"/>
              <a:ext cx="3230880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수집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4008119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465320" y="2194560"/>
              <a:ext cx="3230880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업무 처리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7741920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199120" y="2194560"/>
              <a:ext cx="3230880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승인 심사</a:t>
              </a:r>
            </a:p>
          </p:txBody>
        </p:sp>
        <p:sp>
          <p:nvSpPr>
            <p:cNvPr id="10" name="Can 9"/>
            <p:cNvSpPr/>
            <p:nvPr/>
          </p:nvSpPr>
          <p:spPr>
            <a:xfrm>
              <a:off x="4251959" y="4754879"/>
              <a:ext cx="3657600" cy="914400"/>
            </a:xfrm>
            <a:prstGeom prst="ca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데이터 저장소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2346960" y="3474720"/>
              <a:ext cx="2636519" cy="1280159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 flipH="1">
              <a:off x="7178040" y="3474720"/>
              <a:ext cx="2636520" cy="1280159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SVC-061</a:t>
            </a:r>
          </a:p>
        </p:txBody>
      </p:sp>
      <p:grpSp>
        <p:nvGrpSpPr>
          <p:cNvPr id="15" name="asset:SVC-061"/>
          <p:cNvGrpSpPr/>
          <p:nvPr/>
        </p:nvGrpSpPr>
        <p:grpSpPr>
          <a:xfrm>
            <a:off x="502920" y="457200"/>
            <a:ext cx="11155680" cy="5212079"/>
            <a:chOff x="502920" y="457200"/>
            <a:chExt cx="11155680" cy="521207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공공데이터 개방 데이터 흐름도 (4단계)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요청부터 처리·통보까지 4단계 데이터 처리 흐름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31520" y="2194560"/>
              <a:ext cx="2297429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업무 처리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3074670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531870" y="2194560"/>
              <a:ext cx="2297429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승인 심사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5875020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332220" y="2194560"/>
              <a:ext cx="2297429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결과 생성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8675370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9132570" y="2194560"/>
              <a:ext cx="2297429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통보·발송</a:t>
              </a:r>
            </a:p>
          </p:txBody>
        </p:sp>
        <p:sp>
          <p:nvSpPr>
            <p:cNvPr id="12" name="Can 11"/>
            <p:cNvSpPr/>
            <p:nvPr/>
          </p:nvSpPr>
          <p:spPr>
            <a:xfrm>
              <a:off x="4251959" y="4754879"/>
              <a:ext cx="3657600" cy="914400"/>
            </a:xfrm>
            <a:prstGeom prst="ca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데이터 저장소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1880235" y="3474720"/>
              <a:ext cx="3103244" cy="1280159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 flipH="1">
              <a:off x="7178040" y="3474720"/>
              <a:ext cx="3103245" cy="1280159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SVC-062</a:t>
            </a:r>
          </a:p>
        </p:txBody>
      </p:sp>
      <p:grpSp>
        <p:nvGrpSpPr>
          <p:cNvPr id="17" name="asset:SVC-062"/>
          <p:cNvGrpSpPr/>
          <p:nvPr/>
        </p:nvGrpSpPr>
        <p:grpSpPr>
          <a:xfrm>
            <a:off x="502920" y="457200"/>
            <a:ext cx="11155680" cy="5212079"/>
            <a:chOff x="502920" y="457200"/>
            <a:chExt cx="11155680" cy="521207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업무 자동화 데이터 흐름도 (5단계)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요청부터 처리·통보까지 5단계 데이터 처리 흐름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31520" y="2194560"/>
              <a:ext cx="1737360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승인 심사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2514600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971800" y="2194560"/>
              <a:ext cx="1737360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결과 생성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4754880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212080" y="2194560"/>
              <a:ext cx="1737360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통보·발송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6995159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452360" y="2194560"/>
              <a:ext cx="1737360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이력 관리</a:t>
              </a: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9235440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692640" y="2194560"/>
              <a:ext cx="1737360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5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정산 처리</a:t>
              </a:r>
            </a:p>
          </p:txBody>
        </p:sp>
        <p:sp>
          <p:nvSpPr>
            <p:cNvPr id="14" name="Can 13"/>
            <p:cNvSpPr/>
            <p:nvPr/>
          </p:nvSpPr>
          <p:spPr>
            <a:xfrm>
              <a:off x="4251959" y="4754879"/>
              <a:ext cx="3657600" cy="914400"/>
            </a:xfrm>
            <a:prstGeom prst="ca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데이터 저장소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1600200" y="3474720"/>
              <a:ext cx="3383279" cy="1280159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 flipH="1">
              <a:off x="7178040" y="3474720"/>
              <a:ext cx="3383280" cy="1280159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SVC-063</a:t>
            </a:r>
          </a:p>
        </p:txBody>
      </p:sp>
      <p:grpSp>
        <p:nvGrpSpPr>
          <p:cNvPr id="19" name="asset:SVC-063"/>
          <p:cNvGrpSpPr/>
          <p:nvPr/>
        </p:nvGrpSpPr>
        <p:grpSpPr>
          <a:xfrm>
            <a:off x="502920" y="457200"/>
            <a:ext cx="11155680" cy="5212079"/>
            <a:chOff x="502920" y="457200"/>
            <a:chExt cx="11155680" cy="521207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보안 관제 체계 데이터 흐름도 (6단계)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요청부터 처리·통보까지 6단계 데이터 처리 흐름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31520" y="2194560"/>
              <a:ext cx="1363979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결과 생성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2141219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598420" y="2194560"/>
              <a:ext cx="1363979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통보·발송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4008119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465320" y="2194560"/>
              <a:ext cx="1363979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이력 관리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5875019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332220" y="2194560"/>
              <a:ext cx="1363979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정산 처리</a:t>
              </a: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7741920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199120" y="2194560"/>
              <a:ext cx="1363979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5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모니터링</a:t>
              </a:r>
            </a:p>
          </p:txBody>
        </p:sp>
        <p:sp>
          <p:nvSpPr>
            <p:cNvPr id="14" name="Right Arrow 13"/>
            <p:cNvSpPr/>
            <p:nvPr/>
          </p:nvSpPr>
          <p:spPr>
            <a:xfrm>
              <a:off x="9608820" y="2651759"/>
              <a:ext cx="411480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0066020" y="2194560"/>
              <a:ext cx="1363979" cy="1280160"/>
            </a:xfrm>
            <a:prstGeom prst="roundRect">
              <a:avLst/>
            </a:prstGeom>
            <a:solidFill>
              <a:srgbClr val="F7F9FC"/>
            </a:solidFill>
            <a:ln w="2032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6</a:t>
              </a:r>
            </a:p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요청 접수</a:t>
              </a:r>
            </a:p>
          </p:txBody>
        </p:sp>
        <p:sp>
          <p:nvSpPr>
            <p:cNvPr id="16" name="Can 15"/>
            <p:cNvSpPr/>
            <p:nvPr/>
          </p:nvSpPr>
          <p:spPr>
            <a:xfrm>
              <a:off x="4251959" y="4754879"/>
              <a:ext cx="3657600" cy="914400"/>
            </a:xfrm>
            <a:prstGeom prst="ca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데이터 저장소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1413510" y="3474720"/>
              <a:ext cx="3569969" cy="1280159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 flipH="1">
              <a:off x="7178040" y="3474720"/>
              <a:ext cx="3569970" cy="1280159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