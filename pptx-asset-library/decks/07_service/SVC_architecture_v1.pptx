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SVC-001</a:t>
            </a:r>
          </a:p>
        </p:txBody>
      </p:sp>
      <p:grpSp>
        <p:nvGrpSpPr>
          <p:cNvPr id="28" name="asset:SVC-001"/>
          <p:cNvGrpSpPr/>
          <p:nvPr/>
        </p:nvGrpSpPr>
        <p:grpSpPr>
          <a:xfrm>
            <a:off x="502920" y="475488"/>
            <a:ext cx="11155680" cy="5870448"/>
            <a:chOff x="502920" y="475488"/>
            <a:chExt cx="11155680" cy="587044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시스템 구성도 (4계층 아키텍처)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 수집 → 정제·가공 → DB 적재 → 서비스 제공 (계층 간 하향 흐름)</a:t>
              </a:r>
            </a:p>
          </p:txBody>
        </p:sp>
        <p:sp>
          <p:nvSpPr>
            <p:cNvPr id="5" name="SVC-001_bg"/>
            <p:cNvSpPr/>
            <p:nvPr/>
          </p:nvSpPr>
          <p:spPr>
            <a:xfrm>
              <a:off x="777240" y="1371600"/>
              <a:ext cx="10607040" cy="497433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1417320"/>
              <a:ext cx="2103120" cy="9601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계층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46120" y="1417320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공공데이터 API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019800" y="1417320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793480" y="1417320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데이터원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1673351" y="2395728"/>
              <a:ext cx="402336" cy="310896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7091172" y="2395728"/>
              <a:ext cx="402336" cy="310896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2724912"/>
              <a:ext cx="2103120" cy="9601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처리 계층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정제·가공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246120" y="2724912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정제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019800" y="2724912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표준화·변환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793480" y="2724912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검증</a:t>
              </a:r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1673351" y="3703320"/>
              <a:ext cx="402336" cy="310896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7091172" y="3703320"/>
              <a:ext cx="402336" cy="310896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22960" y="4032504"/>
              <a:ext cx="2103120" cy="9601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저장 계층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DB 적재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246120" y="4032504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019800" y="4032504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793480" y="4032504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메타데이터</a:t>
              </a:r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1673351" y="5010912"/>
              <a:ext cx="402336" cy="310896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own Arrow 22"/>
            <p:cNvSpPr/>
            <p:nvPr/>
          </p:nvSpPr>
          <p:spPr>
            <a:xfrm>
              <a:off x="7091172" y="5010912"/>
              <a:ext cx="402336" cy="310896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22960" y="5340096"/>
              <a:ext cx="2103120" cy="9601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제공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246120" y="5340096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Open API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019800" y="5340096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대시보드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8793480" y="5340096"/>
              <a:ext cx="2545080" cy="9601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리포트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SVC-002</a:t>
            </a:r>
          </a:p>
        </p:txBody>
      </p:sp>
      <p:grpSp>
        <p:nvGrpSpPr>
          <p:cNvPr id="24" name="asset:SVC-002"/>
          <p:cNvGrpSpPr/>
          <p:nvPr/>
        </p:nvGrpSpPr>
        <p:grpSpPr>
          <a:xfrm>
            <a:off x="502920" y="475488"/>
            <a:ext cx="11155680" cy="6199631"/>
            <a:chOff x="502920" y="475488"/>
            <a:chExt cx="11155680" cy="619963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3-Tier 아키텍처 구조도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사용자 계층 · 애플리케이션 계층 · 데이터 계층 수평 밴드</a:t>
              </a:r>
            </a:p>
          </p:txBody>
        </p:sp>
        <p:sp>
          <p:nvSpPr>
            <p:cNvPr id="5" name="SVC-002_bg"/>
            <p:cNvSpPr/>
            <p:nvPr/>
          </p:nvSpPr>
          <p:spPr>
            <a:xfrm>
              <a:off x="777240" y="1417320"/>
              <a:ext cx="10607040" cy="525779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1463040"/>
              <a:ext cx="1051560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60120" y="1645920"/>
              <a:ext cx="2377440" cy="105156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사용자 계층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566160" y="1755648"/>
              <a:ext cx="2395728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63056" y="1755648"/>
              <a:ext cx="2395728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759952" y="1755648"/>
              <a:ext cx="2395728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11" name="Left-Right Arrow 10"/>
            <p:cNvSpPr/>
            <p:nvPr/>
          </p:nvSpPr>
          <p:spPr>
            <a:xfrm>
              <a:off x="5806440" y="2898648"/>
              <a:ext cx="548640" cy="420624"/>
            </a:xfrm>
            <a:prstGeom prst="left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3337560"/>
              <a:ext cx="1051560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60120" y="3520440"/>
              <a:ext cx="2377440" cy="10515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566160" y="3630168"/>
              <a:ext cx="1746504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인증·권한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513832" y="3630168"/>
              <a:ext cx="1746504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로직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461504" y="3630168"/>
              <a:ext cx="1746504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409176" y="3630168"/>
              <a:ext cx="1746504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8" name="Left-Right Arrow 17"/>
            <p:cNvSpPr/>
            <p:nvPr/>
          </p:nvSpPr>
          <p:spPr>
            <a:xfrm>
              <a:off x="5806440" y="4773168"/>
              <a:ext cx="548640" cy="420624"/>
            </a:xfrm>
            <a:prstGeom prst="left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22960" y="5212079"/>
              <a:ext cx="1051560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60120" y="5394959"/>
              <a:ext cx="2377440" cy="10515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계층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566160" y="5504688"/>
              <a:ext cx="2395728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163056" y="5504688"/>
              <a:ext cx="2395728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759952" y="5504688"/>
              <a:ext cx="2395728" cy="83210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SVC-003</a:t>
            </a:r>
          </a:p>
        </p:txBody>
      </p:sp>
      <p:grpSp>
        <p:nvGrpSpPr>
          <p:cNvPr id="25" name="asset:SVC-003"/>
          <p:cNvGrpSpPr/>
          <p:nvPr/>
        </p:nvGrpSpPr>
        <p:grpSpPr>
          <a:xfrm>
            <a:off x="502920" y="475488"/>
            <a:ext cx="11155680" cy="5422392"/>
            <a:chOff x="502920" y="475488"/>
            <a:chExt cx="11155680" cy="54223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구조도 (입력 · 플랫폼 · 출력)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좌측 입력 모듈 → 중앙 통합 플랫폼 → 우측 출력 모듈</a:t>
              </a:r>
            </a:p>
          </p:txBody>
        </p:sp>
        <p:sp>
          <p:nvSpPr>
            <p:cNvPr id="5" name="SVC-003_bg"/>
            <p:cNvSpPr/>
            <p:nvPr/>
          </p:nvSpPr>
          <p:spPr>
            <a:xfrm>
              <a:off x="4495647" y="1600200"/>
              <a:ext cx="3200400" cy="429768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495647" y="1828800"/>
              <a:ext cx="3200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데이터 플랫폼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769967" y="2514600"/>
              <a:ext cx="2651760" cy="62179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엔진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769967" y="3291840"/>
              <a:ext cx="2651760" cy="62179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처리 엔진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769967" y="4069080"/>
              <a:ext cx="2651760" cy="62179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저장소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769967" y="4846320"/>
              <a:ext cx="2651760" cy="62179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서버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2960" y="1554480"/>
              <a:ext cx="283464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공공데이터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3703320" y="1897379"/>
              <a:ext cx="746607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22960" y="2926080"/>
              <a:ext cx="283464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14" name="Right Arrow 13"/>
            <p:cNvSpPr/>
            <p:nvPr/>
          </p:nvSpPr>
          <p:spPr>
            <a:xfrm>
              <a:off x="3703320" y="3268980"/>
              <a:ext cx="746607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22960" y="4297680"/>
              <a:ext cx="283464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API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3703320" y="4640580"/>
              <a:ext cx="746607" cy="365760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534095" y="1554480"/>
              <a:ext cx="283464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Open API</a:t>
              </a:r>
            </a:p>
          </p:txBody>
        </p:sp>
        <p:sp>
          <p:nvSpPr>
            <p:cNvPr id="18" name="Right Arrow 17"/>
            <p:cNvSpPr/>
            <p:nvPr/>
          </p:nvSpPr>
          <p:spPr>
            <a:xfrm>
              <a:off x="7741767" y="1897379"/>
              <a:ext cx="746607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534095" y="2926080"/>
              <a:ext cx="283464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7741767" y="3268980"/>
              <a:ext cx="746607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534095" y="4297680"/>
              <a:ext cx="283464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 리포트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7741767" y="4640580"/>
              <a:ext cx="746607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2960" y="1170432"/>
              <a:ext cx="283464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입력 모듈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534095" y="1170432"/>
              <a:ext cx="283464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출력 모듈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SVC-004</a:t>
            </a:r>
          </a:p>
        </p:txBody>
      </p:sp>
      <p:grpSp>
        <p:nvGrpSpPr>
          <p:cNvPr id="25" name="asset:SVC-004"/>
          <p:cNvGrpSpPr/>
          <p:nvPr/>
        </p:nvGrpSpPr>
        <p:grpSpPr>
          <a:xfrm>
            <a:off x="502920" y="475488"/>
            <a:ext cx="11155680" cy="5431534"/>
            <a:chOff x="502920" y="475488"/>
            <a:chExt cx="11155680" cy="543153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흐름도 (수집 → 통합 → 활용)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다중 데이터 소스 → 통합 정제 → 다중 활용처 (좌 → 우)</a:t>
              </a:r>
            </a:p>
          </p:txBody>
        </p:sp>
        <p:sp>
          <p:nvSpPr>
            <p:cNvPr id="5" name="SVC-004_bg"/>
            <p:cNvSpPr/>
            <p:nvPr/>
          </p:nvSpPr>
          <p:spPr>
            <a:xfrm>
              <a:off x="777240" y="1463039"/>
              <a:ext cx="10637215" cy="444398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4952847" y="2130552"/>
              <a:ext cx="2286000" cy="3108960"/>
            </a:xfrm>
            <a:prstGeom prst="hexagon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통합·정제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(ETL)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22960" y="15087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공공데이터 포털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3291840" y="1943100"/>
              <a:ext cx="1661007" cy="1741932"/>
            </a:xfrm>
            <a:prstGeom prst="line">
              <a:avLst/>
            </a:prstGeom>
            <a:ln w="22225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822960" y="2670048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업무 시스템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3291840" y="3104388"/>
              <a:ext cx="1661007" cy="580644"/>
            </a:xfrm>
            <a:prstGeom prst="line">
              <a:avLst/>
            </a:prstGeom>
            <a:ln w="22225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822960" y="3831335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제휴 API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 flipV="1">
              <a:off x="3291840" y="3685032"/>
              <a:ext cx="1661007" cy="580643"/>
            </a:xfrm>
            <a:prstGeom prst="line">
              <a:avLst/>
            </a:prstGeom>
            <a:ln w="22225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822960" y="4992624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센서·로그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 flipV="1">
              <a:off x="3291840" y="3685032"/>
              <a:ext cx="1661007" cy="1741932"/>
            </a:xfrm>
            <a:prstGeom prst="line">
              <a:avLst/>
            </a:prstGeom>
            <a:ln w="22225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8899855" y="15087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정책 의사결정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V="1">
              <a:off x="7238847" y="1943100"/>
              <a:ext cx="1661008" cy="1741932"/>
            </a:xfrm>
            <a:prstGeom prst="line">
              <a:avLst/>
            </a:prstGeom>
            <a:ln w="22225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8899855" y="2670048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대민 서비스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V="1">
              <a:off x="7238847" y="3104388"/>
              <a:ext cx="1661008" cy="580644"/>
            </a:xfrm>
            <a:prstGeom prst="line">
              <a:avLst/>
            </a:prstGeom>
            <a:ln w="22225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8899855" y="3831335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분석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7238847" y="3685032"/>
              <a:ext cx="1661008" cy="580643"/>
            </a:xfrm>
            <a:prstGeom prst="line">
              <a:avLst/>
            </a:prstGeom>
            <a:ln w="22225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8899855" y="4992624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기관 제공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7238847" y="3685032"/>
              <a:ext cx="1661008" cy="1741932"/>
            </a:xfrm>
            <a:prstGeom prst="line">
              <a:avLst/>
            </a:prstGeom>
            <a:ln w="22225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ight Arrow 22"/>
            <p:cNvSpPr/>
            <p:nvPr/>
          </p:nvSpPr>
          <p:spPr>
            <a:xfrm>
              <a:off x="5272887" y="1627632"/>
              <a:ext cx="1645920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5272887" y="5376672"/>
              <a:ext cx="1645920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활용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