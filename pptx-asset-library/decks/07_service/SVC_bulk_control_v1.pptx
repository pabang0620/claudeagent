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SVC-188</a:t>
            </a:r>
          </a:p>
        </p:txBody>
      </p:sp>
      <p:grpSp>
        <p:nvGrpSpPr>
          <p:cNvPr id="19" name="asset:SVC-188"/>
          <p:cNvGrpSpPr/>
          <p:nvPr/>
        </p:nvGrpSpPr>
        <p:grpSpPr>
          <a:xfrm>
            <a:off x="502920" y="457200"/>
            <a:ext cx="11155680" cy="5897880"/>
            <a:chOff x="502920" y="457200"/>
            <a:chExt cx="11155680" cy="589788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통합 플랫폼 통합 관제 구조 (4개 관제영역)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중앙 통합관제센터 + 4개 관제영역 실시간 모니터링·대응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535527" y="1463040"/>
              <a:ext cx="5120640" cy="1051560"/>
            </a:xfrm>
            <a:prstGeom prst="roundRect">
              <a:avLst/>
            </a:prstGeom>
            <a:solidFill>
              <a:srgbClr val="1F3864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통합관제센터 (Integrated Control Center)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3840480"/>
              <a:ext cx="252831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시설 관제</a:t>
              </a:r>
            </a:p>
          </p:txBody>
        </p:sp>
        <p:cxnSp>
          <p:nvCxnSpPr>
            <p:cNvPr id="7" name="Connector 6"/>
            <p:cNvCxnSpPr/>
            <p:nvPr/>
          </p:nvCxnSpPr>
          <p:spPr>
            <a:xfrm flipH="1">
              <a:off x="1904238" y="2514600"/>
              <a:ext cx="4191609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3424428" y="3840480"/>
              <a:ext cx="252831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보안 관제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 flipH="1">
              <a:off x="4688586" y="2514600"/>
              <a:ext cx="1407261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6208776" y="3840480"/>
              <a:ext cx="252831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트래픽 관제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6095847" y="2514600"/>
              <a:ext cx="1377086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8993124" y="3840480"/>
              <a:ext cx="252831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 관제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6095847" y="2514600"/>
              <a:ext cx="4161435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640080" y="5623560"/>
              <a:ext cx="10881360" cy="73152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실시간 상태 대시보드 · 알림 · 로그 수집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1904238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4688586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7472933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10257282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SVC-189</a:t>
            </a:r>
          </a:p>
        </p:txBody>
      </p:sp>
      <p:grpSp>
        <p:nvGrpSpPr>
          <p:cNvPr id="22" name="asset:SVC-189"/>
          <p:cNvGrpSpPr/>
          <p:nvPr/>
        </p:nvGrpSpPr>
        <p:grpSpPr>
          <a:xfrm>
            <a:off x="502920" y="457200"/>
            <a:ext cx="11155680" cy="5897880"/>
            <a:chOff x="502920" y="457200"/>
            <a:chExt cx="11155680" cy="589788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데이터 허브 통합 관제 구조 (5개 관제영역)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중앙 통합관제센터 + 5개 관제영역 실시간 모니터링·대응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535527" y="1463040"/>
              <a:ext cx="5120640" cy="1051560"/>
            </a:xfrm>
            <a:prstGeom prst="roundRect">
              <a:avLst/>
            </a:prstGeom>
            <a:solidFill>
              <a:srgbClr val="1F3864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통합관제센터 (Integrated Control Center)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3840480"/>
              <a:ext cx="197144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보안 관제</a:t>
              </a:r>
            </a:p>
          </p:txBody>
        </p:sp>
        <p:cxnSp>
          <p:nvCxnSpPr>
            <p:cNvPr id="7" name="Connector 6"/>
            <p:cNvCxnSpPr/>
            <p:nvPr/>
          </p:nvCxnSpPr>
          <p:spPr>
            <a:xfrm flipH="1">
              <a:off x="1625803" y="2514600"/>
              <a:ext cx="4470044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2867558" y="3840480"/>
              <a:ext cx="197144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트래픽 관제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 flipH="1">
              <a:off x="3853281" y="2514600"/>
              <a:ext cx="2242566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5095036" y="3840480"/>
              <a:ext cx="197144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 관제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 flipH="1">
              <a:off x="6080760" y="2514600"/>
              <a:ext cx="15087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7322515" y="3840480"/>
              <a:ext cx="197144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장애 관제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6095847" y="2514600"/>
              <a:ext cx="2212391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9549993" y="3840480"/>
              <a:ext cx="197144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성능 관제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6095847" y="2514600"/>
              <a:ext cx="4439869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15"/>
            <p:cNvSpPr/>
            <p:nvPr/>
          </p:nvSpPr>
          <p:spPr>
            <a:xfrm>
              <a:off x="640080" y="5623560"/>
              <a:ext cx="10881360" cy="73152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실시간 상태 대시보드 · 알림 · 로그 수집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1625803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3853281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6080760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8308238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10535716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SVC-190</a:t>
            </a:r>
          </a:p>
        </p:txBody>
      </p:sp>
      <p:grpSp>
        <p:nvGrpSpPr>
          <p:cNvPr id="25" name="asset:SVC-190"/>
          <p:cNvGrpSpPr/>
          <p:nvPr/>
        </p:nvGrpSpPr>
        <p:grpSpPr>
          <a:xfrm>
            <a:off x="502920" y="457200"/>
            <a:ext cx="11155680" cy="5897880"/>
            <a:chOff x="502920" y="457200"/>
            <a:chExt cx="11155680" cy="589788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민원 서비스 통합 관제 구조 (6개 관제영역)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중앙 통합관제센터 + 6개 관제영역 실시간 모니터링·대응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535527" y="1463040"/>
              <a:ext cx="5120640" cy="1051560"/>
            </a:xfrm>
            <a:prstGeom prst="roundRect">
              <a:avLst/>
            </a:prstGeom>
            <a:solidFill>
              <a:srgbClr val="1F3864"/>
            </a:solidFill>
            <a:ln w="254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통합관제센터 (Integrated Control Center)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3840480"/>
              <a:ext cx="1600200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트래픽 관제</a:t>
              </a:r>
            </a:p>
          </p:txBody>
        </p:sp>
        <p:cxnSp>
          <p:nvCxnSpPr>
            <p:cNvPr id="7" name="Connector 6"/>
            <p:cNvCxnSpPr/>
            <p:nvPr/>
          </p:nvCxnSpPr>
          <p:spPr>
            <a:xfrm flipH="1">
              <a:off x="1440180" y="2514600"/>
              <a:ext cx="4655667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2496312" y="3840480"/>
              <a:ext cx="1600200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 관제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 flipH="1">
              <a:off x="3296412" y="2514600"/>
              <a:ext cx="2799435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4352544" y="3840480"/>
              <a:ext cx="1600200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장애 관제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 flipH="1">
              <a:off x="5152644" y="2514600"/>
              <a:ext cx="943203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6208776" y="3840480"/>
              <a:ext cx="1600200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성능 관제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6095847" y="2514600"/>
              <a:ext cx="913029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8065008" y="3840480"/>
              <a:ext cx="1600200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자원 관제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6095847" y="2514600"/>
              <a:ext cx="2769261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15"/>
            <p:cNvSpPr/>
            <p:nvPr/>
          </p:nvSpPr>
          <p:spPr>
            <a:xfrm>
              <a:off x="9921240" y="3840480"/>
              <a:ext cx="1600200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이벤트 관제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6095847" y="2514600"/>
              <a:ext cx="4625493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640080" y="5623560"/>
              <a:ext cx="10881360" cy="73152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실시간 상태 대시보드 · 알림 · 로그 수집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1440180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3296412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5152644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008876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865108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10721340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SVC-191</a:t>
            </a:r>
          </a:p>
        </p:txBody>
      </p:sp>
      <p:grpSp>
        <p:nvGrpSpPr>
          <p:cNvPr id="19" name="asset:SVC-191"/>
          <p:cNvGrpSpPr/>
          <p:nvPr/>
        </p:nvGrpSpPr>
        <p:grpSpPr>
          <a:xfrm>
            <a:off x="502920" y="457200"/>
            <a:ext cx="11155680" cy="5897880"/>
            <a:chOff x="502920" y="457200"/>
            <a:chExt cx="11155680" cy="589788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관제 시스템 통합 관제 구조 (4개 관제영역)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중앙 통합관제센터 + 4개 관제영역 실시간 모니터링·대응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535527" y="1463040"/>
              <a:ext cx="5120640" cy="1051560"/>
            </a:xfrm>
            <a:prstGeom prst="roundRect">
              <a:avLst/>
            </a:prstGeom>
            <a:solidFill>
              <a:srgbClr val="1F3864"/>
            </a:solidFill>
            <a:ln w="254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통합관제센터 (Integrated Control Center)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3840480"/>
              <a:ext cx="252831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 관제</a:t>
              </a:r>
            </a:p>
          </p:txBody>
        </p:sp>
        <p:cxnSp>
          <p:nvCxnSpPr>
            <p:cNvPr id="7" name="Connector 6"/>
            <p:cNvCxnSpPr/>
            <p:nvPr/>
          </p:nvCxnSpPr>
          <p:spPr>
            <a:xfrm flipH="1">
              <a:off x="1904238" y="2514600"/>
              <a:ext cx="4191609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3424428" y="3840480"/>
              <a:ext cx="252831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장애 관제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 flipH="1">
              <a:off x="4688586" y="2514600"/>
              <a:ext cx="1407261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6208776" y="3840480"/>
              <a:ext cx="252831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성능 관제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6095847" y="2514600"/>
              <a:ext cx="1377086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8993124" y="3840480"/>
              <a:ext cx="252831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자원 관제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6095847" y="2514600"/>
              <a:ext cx="4161435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640080" y="5623560"/>
              <a:ext cx="10881360" cy="73152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실시간 상태 대시보드 · 알림 · 로그 수집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1904238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4688586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7472933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10257282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SVC-192</a:t>
            </a:r>
          </a:p>
        </p:txBody>
      </p:sp>
      <p:grpSp>
        <p:nvGrpSpPr>
          <p:cNvPr id="22" name="asset:SVC-192"/>
          <p:cNvGrpSpPr/>
          <p:nvPr/>
        </p:nvGrpSpPr>
        <p:grpSpPr>
          <a:xfrm>
            <a:off x="502920" y="457200"/>
            <a:ext cx="11155680" cy="5897880"/>
            <a:chOff x="502920" y="457200"/>
            <a:chExt cx="11155680" cy="589788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지원 사업 통합 관제 구조 (5개 관제영역)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중앙 통합관제센터 + 5개 관제영역 실시간 모니터링·대응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535527" y="1463040"/>
              <a:ext cx="5120640" cy="1051560"/>
            </a:xfrm>
            <a:prstGeom prst="roundRect">
              <a:avLst/>
            </a:prstGeom>
            <a:solidFill>
              <a:srgbClr val="1F3864"/>
            </a:solidFill>
            <a:ln w="254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통합관제센터 (Integrated Control Center)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3840480"/>
              <a:ext cx="197144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장애 관제</a:t>
              </a:r>
            </a:p>
          </p:txBody>
        </p:sp>
        <p:cxnSp>
          <p:nvCxnSpPr>
            <p:cNvPr id="7" name="Connector 6"/>
            <p:cNvCxnSpPr/>
            <p:nvPr/>
          </p:nvCxnSpPr>
          <p:spPr>
            <a:xfrm flipH="1">
              <a:off x="1625803" y="2514600"/>
              <a:ext cx="4470044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2867558" y="3840480"/>
              <a:ext cx="197144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성능 관제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 flipH="1">
              <a:off x="3853281" y="2514600"/>
              <a:ext cx="2242566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5095036" y="3840480"/>
              <a:ext cx="197144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자원 관제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 flipH="1">
              <a:off x="6080760" y="2514600"/>
              <a:ext cx="15087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7322515" y="3840480"/>
              <a:ext cx="197144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이벤트 관제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6095847" y="2514600"/>
              <a:ext cx="2212391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9549993" y="3840480"/>
              <a:ext cx="197144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시설 관제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6095847" y="2514600"/>
              <a:ext cx="4439869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15"/>
            <p:cNvSpPr/>
            <p:nvPr/>
          </p:nvSpPr>
          <p:spPr>
            <a:xfrm>
              <a:off x="640080" y="5623560"/>
              <a:ext cx="10881360" cy="73152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실시간 상태 대시보드 · 알림 · 로그 수집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1625803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3853281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6080760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8308238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10535716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SVC-193</a:t>
            </a:r>
          </a:p>
        </p:txBody>
      </p:sp>
      <p:grpSp>
        <p:nvGrpSpPr>
          <p:cNvPr id="25" name="asset:SVC-193"/>
          <p:cNvGrpSpPr/>
          <p:nvPr/>
        </p:nvGrpSpPr>
        <p:grpSpPr>
          <a:xfrm>
            <a:off x="502920" y="457200"/>
            <a:ext cx="11155680" cy="5897880"/>
            <a:chOff x="502920" y="457200"/>
            <a:chExt cx="11155680" cy="589788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연계 체계 통합 관제 구조 (6개 관제영역)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중앙 통합관제센터 + 6개 관제영역 실시간 모니터링·대응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535527" y="1463040"/>
              <a:ext cx="5120640" cy="1051560"/>
            </a:xfrm>
            <a:prstGeom prst="roundRect">
              <a:avLst/>
            </a:prstGeom>
            <a:solidFill>
              <a:srgbClr val="1F3864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통합관제센터 (Integrated Control Center)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3840480"/>
              <a:ext cx="1600200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성능 관제</a:t>
              </a:r>
            </a:p>
          </p:txBody>
        </p:sp>
        <p:cxnSp>
          <p:nvCxnSpPr>
            <p:cNvPr id="7" name="Connector 6"/>
            <p:cNvCxnSpPr/>
            <p:nvPr/>
          </p:nvCxnSpPr>
          <p:spPr>
            <a:xfrm flipH="1">
              <a:off x="1440180" y="2514600"/>
              <a:ext cx="4655667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2496312" y="3840480"/>
              <a:ext cx="1600200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자원 관제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 flipH="1">
              <a:off x="3296412" y="2514600"/>
              <a:ext cx="2799435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4352544" y="3840480"/>
              <a:ext cx="1600200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이벤트 관제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 flipH="1">
              <a:off x="5152644" y="2514600"/>
              <a:ext cx="943203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6208776" y="3840480"/>
              <a:ext cx="1600200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시설 관제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6095847" y="2514600"/>
              <a:ext cx="913029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8065008" y="3840480"/>
              <a:ext cx="1600200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보안 관제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6095847" y="2514600"/>
              <a:ext cx="2769261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15"/>
            <p:cNvSpPr/>
            <p:nvPr/>
          </p:nvSpPr>
          <p:spPr>
            <a:xfrm>
              <a:off x="9921240" y="3840480"/>
              <a:ext cx="1600200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트래픽 관제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6095847" y="2514600"/>
              <a:ext cx="4625493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640080" y="5623560"/>
              <a:ext cx="10881360" cy="73152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실시간 상태 대시보드 · 알림 · 로그 수집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1440180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3296412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5152644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008876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865108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10721340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SVC-194</a:t>
            </a:r>
          </a:p>
        </p:txBody>
      </p:sp>
      <p:grpSp>
        <p:nvGrpSpPr>
          <p:cNvPr id="19" name="asset:SVC-194"/>
          <p:cNvGrpSpPr/>
          <p:nvPr/>
        </p:nvGrpSpPr>
        <p:grpSpPr>
          <a:xfrm>
            <a:off x="502920" y="457200"/>
            <a:ext cx="11155680" cy="5897880"/>
            <a:chOff x="502920" y="457200"/>
            <a:chExt cx="11155680" cy="589788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클라우드 기반 통합 관제 구조 (4개 관제영역)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중앙 통합관제센터 + 4개 관제영역 실시간 모니터링·대응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535527" y="1463040"/>
              <a:ext cx="5120640" cy="1051560"/>
            </a:xfrm>
            <a:prstGeom prst="roundRect">
              <a:avLst/>
            </a:prstGeom>
            <a:solidFill>
              <a:srgbClr val="1F3864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통합관제센터 (Integrated Control Center)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3840480"/>
              <a:ext cx="252831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자원 관제</a:t>
              </a:r>
            </a:p>
          </p:txBody>
        </p:sp>
        <p:cxnSp>
          <p:nvCxnSpPr>
            <p:cNvPr id="7" name="Connector 6"/>
            <p:cNvCxnSpPr/>
            <p:nvPr/>
          </p:nvCxnSpPr>
          <p:spPr>
            <a:xfrm flipH="1">
              <a:off x="1904238" y="2514600"/>
              <a:ext cx="4191609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3424428" y="3840480"/>
              <a:ext cx="252831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이벤트 관제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 flipH="1">
              <a:off x="4688586" y="2514600"/>
              <a:ext cx="1407261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6208776" y="3840480"/>
              <a:ext cx="252831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시설 관제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6095847" y="2514600"/>
              <a:ext cx="1377086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8993124" y="3840480"/>
              <a:ext cx="252831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보안 관제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6095847" y="2514600"/>
              <a:ext cx="4161435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640080" y="5623560"/>
              <a:ext cx="10881360" cy="73152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실시간 상태 대시보드 · 알림 · 로그 수집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1904238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4688586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7472933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10257282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SVC-195</a:t>
            </a:r>
          </a:p>
        </p:txBody>
      </p:sp>
      <p:grpSp>
        <p:nvGrpSpPr>
          <p:cNvPr id="22" name="asset:SVC-195"/>
          <p:cNvGrpSpPr/>
          <p:nvPr/>
        </p:nvGrpSpPr>
        <p:grpSpPr>
          <a:xfrm>
            <a:off x="502920" y="457200"/>
            <a:ext cx="11155680" cy="5897880"/>
            <a:chOff x="502920" y="457200"/>
            <a:chExt cx="11155680" cy="589788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스마트 서비스 통합 관제 구조 (5개 관제영역)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중앙 통합관제센터 + 5개 관제영역 실시간 모니터링·대응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535527" y="1463040"/>
              <a:ext cx="5120640" cy="1051560"/>
            </a:xfrm>
            <a:prstGeom prst="roundRect">
              <a:avLst/>
            </a:prstGeom>
            <a:solidFill>
              <a:srgbClr val="1F3864"/>
            </a:solidFill>
            <a:ln w="254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통합관제센터 (Integrated Control Center)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3840480"/>
              <a:ext cx="197144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이벤트 관제</a:t>
              </a:r>
            </a:p>
          </p:txBody>
        </p:sp>
        <p:cxnSp>
          <p:nvCxnSpPr>
            <p:cNvPr id="7" name="Connector 6"/>
            <p:cNvCxnSpPr/>
            <p:nvPr/>
          </p:nvCxnSpPr>
          <p:spPr>
            <a:xfrm flipH="1">
              <a:off x="1625803" y="2514600"/>
              <a:ext cx="4470044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2867558" y="3840480"/>
              <a:ext cx="197144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시설 관제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 flipH="1">
              <a:off x="3853281" y="2514600"/>
              <a:ext cx="2242566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5095036" y="3840480"/>
              <a:ext cx="197144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보안 관제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 flipH="1">
              <a:off x="6080760" y="2514600"/>
              <a:ext cx="15087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7322515" y="3840480"/>
              <a:ext cx="197144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트래픽 관제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6095847" y="2514600"/>
              <a:ext cx="2212391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9549993" y="3840480"/>
              <a:ext cx="197144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 관제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6095847" y="2514600"/>
              <a:ext cx="4439869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15"/>
            <p:cNvSpPr/>
            <p:nvPr/>
          </p:nvSpPr>
          <p:spPr>
            <a:xfrm>
              <a:off x="640080" y="5623560"/>
              <a:ext cx="10881360" cy="73152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실시간 상태 대시보드 · 알림 · 로그 수집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1625803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3853281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6080760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8308238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10535716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SVC-196</a:t>
            </a:r>
          </a:p>
        </p:txBody>
      </p:sp>
      <p:grpSp>
        <p:nvGrpSpPr>
          <p:cNvPr id="25" name="asset:SVC-196"/>
          <p:cNvGrpSpPr/>
          <p:nvPr/>
        </p:nvGrpSpPr>
        <p:grpSpPr>
          <a:xfrm>
            <a:off x="502920" y="457200"/>
            <a:ext cx="11155680" cy="5897880"/>
            <a:chOff x="502920" y="457200"/>
            <a:chExt cx="11155680" cy="589788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운영 관리 통합 관제 구조 (6개 관제영역)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중앙 통합관제센터 + 6개 관제영역 실시간 모니터링·대응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535527" y="1463040"/>
              <a:ext cx="5120640" cy="1051560"/>
            </a:xfrm>
            <a:prstGeom prst="roundRect">
              <a:avLst/>
            </a:prstGeom>
            <a:solidFill>
              <a:srgbClr val="1F3864"/>
            </a:solidFill>
            <a:ln w="254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통합관제센터 (Integrated Control Center)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3840480"/>
              <a:ext cx="1600200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시설 관제</a:t>
              </a:r>
            </a:p>
          </p:txBody>
        </p:sp>
        <p:cxnSp>
          <p:nvCxnSpPr>
            <p:cNvPr id="7" name="Connector 6"/>
            <p:cNvCxnSpPr/>
            <p:nvPr/>
          </p:nvCxnSpPr>
          <p:spPr>
            <a:xfrm flipH="1">
              <a:off x="1440180" y="2514600"/>
              <a:ext cx="4655667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2496312" y="3840480"/>
              <a:ext cx="1600200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보안 관제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 flipH="1">
              <a:off x="3296412" y="2514600"/>
              <a:ext cx="2799435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4352544" y="3840480"/>
              <a:ext cx="1600200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트래픽 관제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 flipH="1">
              <a:off x="5152644" y="2514600"/>
              <a:ext cx="943203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6208776" y="3840480"/>
              <a:ext cx="1600200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 관제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6095847" y="2514600"/>
              <a:ext cx="913029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8065008" y="3840480"/>
              <a:ext cx="1600200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장애 관제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6095847" y="2514600"/>
              <a:ext cx="2769261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15"/>
            <p:cNvSpPr/>
            <p:nvPr/>
          </p:nvSpPr>
          <p:spPr>
            <a:xfrm>
              <a:off x="9921240" y="3840480"/>
              <a:ext cx="1600200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성능 관제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6095847" y="2514600"/>
              <a:ext cx="4625493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640080" y="5623560"/>
              <a:ext cx="10881360" cy="73152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실시간 상태 대시보드 · 알림 · 로그 수집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1440180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3296412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5152644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008876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865108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10721340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SVC-197</a:t>
            </a:r>
          </a:p>
        </p:txBody>
      </p:sp>
      <p:grpSp>
        <p:nvGrpSpPr>
          <p:cNvPr id="19" name="asset:SVC-197"/>
          <p:cNvGrpSpPr/>
          <p:nvPr/>
        </p:nvGrpSpPr>
        <p:grpSpPr>
          <a:xfrm>
            <a:off x="502920" y="457200"/>
            <a:ext cx="11155680" cy="5897880"/>
            <a:chOff x="502920" y="457200"/>
            <a:chExt cx="11155680" cy="589788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대민 포털 통합 관제 구조 (4개 관제영역)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중앙 통합관제센터 + 4개 관제영역 실시간 모니터링·대응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535527" y="1463040"/>
              <a:ext cx="5120640" cy="1051560"/>
            </a:xfrm>
            <a:prstGeom prst="roundRect">
              <a:avLst/>
            </a:prstGeom>
            <a:solidFill>
              <a:srgbClr val="1F3864"/>
            </a:solidFill>
            <a:ln w="254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통합관제센터 (Integrated Control Center)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3840480"/>
              <a:ext cx="252831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보안 관제</a:t>
              </a:r>
            </a:p>
          </p:txBody>
        </p:sp>
        <p:cxnSp>
          <p:nvCxnSpPr>
            <p:cNvPr id="7" name="Connector 6"/>
            <p:cNvCxnSpPr/>
            <p:nvPr/>
          </p:nvCxnSpPr>
          <p:spPr>
            <a:xfrm flipH="1">
              <a:off x="1904238" y="2514600"/>
              <a:ext cx="4191609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3424428" y="3840480"/>
              <a:ext cx="252831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트래픽 관제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 flipH="1">
              <a:off x="4688586" y="2514600"/>
              <a:ext cx="1407261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6208776" y="3840480"/>
              <a:ext cx="252831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 관제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6095847" y="2514600"/>
              <a:ext cx="1377086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8993124" y="3840480"/>
              <a:ext cx="252831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장애 관제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6095847" y="2514600"/>
              <a:ext cx="4161435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640080" y="5623560"/>
              <a:ext cx="10881360" cy="73152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실시간 상태 대시보드 · 알림 · 로그 수집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1904238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4688586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7472933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10257282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SVC-198</a:t>
            </a:r>
          </a:p>
        </p:txBody>
      </p:sp>
      <p:grpSp>
        <p:nvGrpSpPr>
          <p:cNvPr id="22" name="asset:SVC-198"/>
          <p:cNvGrpSpPr/>
          <p:nvPr/>
        </p:nvGrpSpPr>
        <p:grpSpPr>
          <a:xfrm>
            <a:off x="502920" y="457200"/>
            <a:ext cx="11155680" cy="5897880"/>
            <a:chOff x="502920" y="457200"/>
            <a:chExt cx="11155680" cy="589788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정보화 사업 통합 관제 구조 (5개 관제영역)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중앙 통합관제센터 + 5개 관제영역 실시간 모니터링·대응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535527" y="1463040"/>
              <a:ext cx="5120640" cy="1051560"/>
            </a:xfrm>
            <a:prstGeom prst="roundRect">
              <a:avLst/>
            </a:prstGeom>
            <a:solidFill>
              <a:srgbClr val="1F3864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통합관제센터 (Integrated Control Center)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3840480"/>
              <a:ext cx="197144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트래픽 관제</a:t>
              </a:r>
            </a:p>
          </p:txBody>
        </p:sp>
        <p:cxnSp>
          <p:nvCxnSpPr>
            <p:cNvPr id="7" name="Connector 6"/>
            <p:cNvCxnSpPr/>
            <p:nvPr/>
          </p:nvCxnSpPr>
          <p:spPr>
            <a:xfrm flipH="1">
              <a:off x="1625803" y="2514600"/>
              <a:ext cx="4470044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2867558" y="3840480"/>
              <a:ext cx="197144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 관제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 flipH="1">
              <a:off x="3853281" y="2514600"/>
              <a:ext cx="2242566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5095036" y="3840480"/>
              <a:ext cx="197144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장애 관제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 flipH="1">
              <a:off x="6080760" y="2514600"/>
              <a:ext cx="15087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7322515" y="3840480"/>
              <a:ext cx="197144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성능 관제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6095847" y="2514600"/>
              <a:ext cx="2212391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9549993" y="3840480"/>
              <a:ext cx="197144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자원 관제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6095847" y="2514600"/>
              <a:ext cx="4439869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15"/>
            <p:cNvSpPr/>
            <p:nvPr/>
          </p:nvSpPr>
          <p:spPr>
            <a:xfrm>
              <a:off x="640080" y="5623560"/>
              <a:ext cx="10881360" cy="73152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실시간 상태 대시보드 · 알림 · 로그 수집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1625803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3853281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6080760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8308238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10535716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SVC-199</a:t>
            </a:r>
          </a:p>
        </p:txBody>
      </p:sp>
      <p:grpSp>
        <p:nvGrpSpPr>
          <p:cNvPr id="25" name="asset:SVC-199"/>
          <p:cNvGrpSpPr/>
          <p:nvPr/>
        </p:nvGrpSpPr>
        <p:grpSpPr>
          <a:xfrm>
            <a:off x="502920" y="457200"/>
            <a:ext cx="11155680" cy="5897880"/>
            <a:chOff x="502920" y="457200"/>
            <a:chExt cx="11155680" cy="589788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플랫폼 고도화 통합 관제 구조 (6개 관제영역)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중앙 통합관제센터 + 6개 관제영역 실시간 모니터링·대응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535527" y="1463040"/>
              <a:ext cx="5120640" cy="1051560"/>
            </a:xfrm>
            <a:prstGeom prst="roundRect">
              <a:avLst/>
            </a:prstGeom>
            <a:solidFill>
              <a:srgbClr val="1F3864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통합관제센터 (Integrated Control Center)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3840480"/>
              <a:ext cx="1600200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 관제</a:t>
              </a:r>
            </a:p>
          </p:txBody>
        </p:sp>
        <p:cxnSp>
          <p:nvCxnSpPr>
            <p:cNvPr id="7" name="Connector 6"/>
            <p:cNvCxnSpPr/>
            <p:nvPr/>
          </p:nvCxnSpPr>
          <p:spPr>
            <a:xfrm flipH="1">
              <a:off x="1440180" y="2514600"/>
              <a:ext cx="4655667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2496312" y="3840480"/>
              <a:ext cx="1600200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장애 관제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 flipH="1">
              <a:off x="3296412" y="2514600"/>
              <a:ext cx="2799435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4352544" y="3840480"/>
              <a:ext cx="1600200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성능 관제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 flipH="1">
              <a:off x="5152644" y="2514600"/>
              <a:ext cx="943203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6208776" y="3840480"/>
              <a:ext cx="1600200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자원 관제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6095847" y="2514600"/>
              <a:ext cx="913029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8065008" y="3840480"/>
              <a:ext cx="1600200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이벤트 관제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6095847" y="2514600"/>
              <a:ext cx="2769261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15"/>
            <p:cNvSpPr/>
            <p:nvPr/>
          </p:nvSpPr>
          <p:spPr>
            <a:xfrm>
              <a:off x="9921240" y="3840480"/>
              <a:ext cx="1600200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시설 관제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6095847" y="2514600"/>
              <a:ext cx="4625493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640080" y="5623560"/>
              <a:ext cx="10881360" cy="73152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실시간 상태 대시보드 · 알림 · 로그 수집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1440180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3296412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5152644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008876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865108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10721340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SVC-200</a:t>
            </a:r>
          </a:p>
        </p:txBody>
      </p:sp>
      <p:grpSp>
        <p:nvGrpSpPr>
          <p:cNvPr id="19" name="asset:SVC-200"/>
          <p:cNvGrpSpPr/>
          <p:nvPr/>
        </p:nvGrpSpPr>
        <p:grpSpPr>
          <a:xfrm>
            <a:off x="502920" y="457200"/>
            <a:ext cx="11155680" cy="5897880"/>
            <a:chOff x="502920" y="457200"/>
            <a:chExt cx="11155680" cy="589788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디지털 전환 통합 관제 구조 (4개 관제영역)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중앙 통합관제센터 + 4개 관제영역 실시간 모니터링·대응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535527" y="1463040"/>
              <a:ext cx="5120640" cy="1051560"/>
            </a:xfrm>
            <a:prstGeom prst="roundRect">
              <a:avLst/>
            </a:prstGeom>
            <a:solidFill>
              <a:srgbClr val="1F3864"/>
            </a:solidFill>
            <a:ln w="254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통합관제센터 (Integrated Control Center)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3840480"/>
              <a:ext cx="252831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장애 관제</a:t>
              </a:r>
            </a:p>
          </p:txBody>
        </p:sp>
        <p:cxnSp>
          <p:nvCxnSpPr>
            <p:cNvPr id="7" name="Connector 6"/>
            <p:cNvCxnSpPr/>
            <p:nvPr/>
          </p:nvCxnSpPr>
          <p:spPr>
            <a:xfrm flipH="1">
              <a:off x="1904238" y="2514600"/>
              <a:ext cx="4191609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3424428" y="3840480"/>
              <a:ext cx="252831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성능 관제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 flipH="1">
              <a:off x="4688586" y="2514600"/>
              <a:ext cx="1407261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6208776" y="3840480"/>
              <a:ext cx="252831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자원 관제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6095847" y="2514600"/>
              <a:ext cx="1377086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8993124" y="3840480"/>
              <a:ext cx="2528316" cy="137160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이벤트 관제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6095847" y="2514600"/>
              <a:ext cx="4161435" cy="1325880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640080" y="5623560"/>
              <a:ext cx="10881360" cy="73152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실시간 상태 대시보드 · 알림 · 로그 수집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1904238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4688586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7472933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10257282" y="5212080"/>
              <a:ext cx="0" cy="411480"/>
            </a:xfrm>
            <a:prstGeom prst="line">
              <a:avLst/>
            </a:prstGeom>
            <a:ln w="1524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