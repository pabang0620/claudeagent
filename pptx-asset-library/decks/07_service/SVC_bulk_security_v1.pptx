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SVC-126</a:t>
            </a:r>
          </a:p>
        </p:txBody>
      </p:sp>
      <p:grpSp>
        <p:nvGrpSpPr>
          <p:cNvPr id="23" name="asset:SVC-126"/>
          <p:cNvGrpSpPr/>
          <p:nvPr/>
        </p:nvGrpSpPr>
        <p:grpSpPr>
          <a:xfrm>
            <a:off x="502920" y="457200"/>
            <a:ext cx="11155680" cy="5577839"/>
            <a:chOff x="502920" y="457200"/>
            <a:chExt cx="11155680" cy="557783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통합 플랫폼 보안 아키텍처 (구간 분리)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외부→DMZ→내부 3구간 분리 + 방화벽 계층 (구간당 2개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17320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563624"/>
              <a:ext cx="2743200" cy="758951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구간 · Untrusted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931920" y="1600200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일반 사용자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589520" y="1600200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외부 기관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14400" y="260603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Perimeter Firewall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1554480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10314432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14400" y="320039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024128" y="3346703"/>
              <a:ext cx="2743200" cy="75895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DMZ 구간 · Semi-Trusted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931920" y="3383279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리버스 프록시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589520" y="3383279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14400" y="438911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Internal Firewall</a:t>
              </a:r>
            </a:p>
          </p:txBody>
        </p:sp>
        <p:sp>
          <p:nvSpPr>
            <p:cNvPr id="17" name="Down Arrow 16"/>
            <p:cNvSpPr/>
            <p:nvPr/>
          </p:nvSpPr>
          <p:spPr>
            <a:xfrm>
              <a:off x="1554480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Down Arrow 17"/>
            <p:cNvSpPr/>
            <p:nvPr/>
          </p:nvSpPr>
          <p:spPr>
            <a:xfrm>
              <a:off x="10314432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14400" y="498347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24128" y="5129783"/>
              <a:ext cx="2743200" cy="75895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내부 구간 · Trusted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931920" y="5166359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내부 시스템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589520" y="5166359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백업 스토리지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SVC-127</a:t>
            </a:r>
          </a:p>
        </p:txBody>
      </p:sp>
      <p:grpSp>
        <p:nvGrpSpPr>
          <p:cNvPr id="26" name="asset:SVC-127"/>
          <p:cNvGrpSpPr/>
          <p:nvPr/>
        </p:nvGrpSpPr>
        <p:grpSpPr>
          <a:xfrm>
            <a:off x="502920" y="457200"/>
            <a:ext cx="11155680" cy="5577839"/>
            <a:chOff x="502920" y="457200"/>
            <a:chExt cx="11155680" cy="557783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데이터 허브 보안 아키텍처 (구간 분리)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외부→DMZ→내부 3구간 분리 + 방화벽 계층 (구간당 3개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17320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563624"/>
              <a:ext cx="2743200" cy="758951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구간 · Untrusted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931920" y="1600200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외부 기관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370320" y="1600200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인터넷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808720" y="1600200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WAF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14400" y="260603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Perimeter Firewall</a:t>
              </a:r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1554480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10314432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4400" y="320039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024128" y="3346703"/>
              <a:ext cx="2743200" cy="75895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DMZ 구간 · Semi-Trusted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931920" y="338327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370320" y="338327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WAS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808720" y="338327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14400" y="438911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Internal Firewall</a:t>
              </a:r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1554480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Down Arrow 19"/>
            <p:cNvSpPr/>
            <p:nvPr/>
          </p:nvSpPr>
          <p:spPr>
            <a:xfrm>
              <a:off x="10314432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14400" y="498347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24128" y="5129783"/>
              <a:ext cx="2743200" cy="75895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내부 구간 · Trusted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931920" y="516635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백업 스토리지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370320" y="516635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 콘솔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8808720" y="516635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서버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SVC-128</a:t>
            </a:r>
          </a:p>
        </p:txBody>
      </p:sp>
      <p:grpSp>
        <p:nvGrpSpPr>
          <p:cNvPr id="29" name="asset:SVC-128"/>
          <p:cNvGrpSpPr/>
          <p:nvPr/>
        </p:nvGrpSpPr>
        <p:grpSpPr>
          <a:xfrm>
            <a:off x="502920" y="457200"/>
            <a:ext cx="11155680" cy="5577839"/>
            <a:chOff x="502920" y="457200"/>
            <a:chExt cx="11155680" cy="557783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민원 서비스 보안 아키텍처 (구간 분리)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외부→DMZ→내부 3구간 분리 + 방화벽 계층 (구간당 4개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17320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563624"/>
              <a:ext cx="2743200" cy="758951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구간 · Untrusted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931920" y="1600200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인터넷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760720" y="1600200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WAF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589520" y="1600200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리버스 프록시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418320" y="1600200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14400" y="260603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Perimeter Firewall</a:t>
              </a: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1554480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Down Arrow 12"/>
            <p:cNvSpPr/>
            <p:nvPr/>
          </p:nvSpPr>
          <p:spPr>
            <a:xfrm>
              <a:off x="10314432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14400" y="320039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24128" y="3346703"/>
              <a:ext cx="2743200" cy="75895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DMZ 구간 · Semi-Trusted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931920" y="338327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WAS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760720" y="338327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589520" y="338327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내부 시스템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418320" y="338327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백업 스토리지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914400" y="438911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Internal Firewall</a:t>
              </a:r>
            </a:p>
          </p:txBody>
        </p:sp>
        <p:sp>
          <p:nvSpPr>
            <p:cNvPr id="21" name="Down Arrow 20"/>
            <p:cNvSpPr/>
            <p:nvPr/>
          </p:nvSpPr>
          <p:spPr>
            <a:xfrm>
              <a:off x="1554480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Down Arrow 21"/>
            <p:cNvSpPr/>
            <p:nvPr/>
          </p:nvSpPr>
          <p:spPr>
            <a:xfrm>
              <a:off x="10314432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14400" y="498347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024128" y="5129783"/>
              <a:ext cx="2743200" cy="75895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내부 구간 · Trusted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931920" y="516635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 콘솔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760720" y="516635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서버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589520" y="516635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일반 사용자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418320" y="516635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외부 기관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SVC-129</a:t>
            </a:r>
          </a:p>
        </p:txBody>
      </p:sp>
      <p:grpSp>
        <p:nvGrpSpPr>
          <p:cNvPr id="23" name="asset:SVC-129"/>
          <p:cNvGrpSpPr/>
          <p:nvPr/>
        </p:nvGrpSpPr>
        <p:grpSpPr>
          <a:xfrm>
            <a:off x="502920" y="457200"/>
            <a:ext cx="11155680" cy="5577839"/>
            <a:chOff x="502920" y="457200"/>
            <a:chExt cx="11155680" cy="557783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관제 시스템 보안 아키텍처 (구간 분리)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외부→DMZ→내부 3구간 분리 + 방화벽 계층 (구간당 2개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17320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563624"/>
              <a:ext cx="2743200" cy="758951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구간 · Untrusted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931920" y="1600200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WAF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589520" y="1600200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리버스 프록시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14400" y="260603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Perimeter Firewall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1554480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10314432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14400" y="320039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024128" y="3346703"/>
              <a:ext cx="2743200" cy="75895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DMZ 구간 · Semi-Trusted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931920" y="3383279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589520" y="3383279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내부 시스템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14400" y="438911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Internal Firewall</a:t>
              </a:r>
            </a:p>
          </p:txBody>
        </p:sp>
        <p:sp>
          <p:nvSpPr>
            <p:cNvPr id="17" name="Down Arrow 16"/>
            <p:cNvSpPr/>
            <p:nvPr/>
          </p:nvSpPr>
          <p:spPr>
            <a:xfrm>
              <a:off x="1554480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Down Arrow 17"/>
            <p:cNvSpPr/>
            <p:nvPr/>
          </p:nvSpPr>
          <p:spPr>
            <a:xfrm>
              <a:off x="10314432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14400" y="498347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24128" y="5129783"/>
              <a:ext cx="2743200" cy="75895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내부 구간 · Trusted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931920" y="5166359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서버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589520" y="5166359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일반 사용자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SVC-130</a:t>
            </a:r>
          </a:p>
        </p:txBody>
      </p:sp>
      <p:grpSp>
        <p:nvGrpSpPr>
          <p:cNvPr id="26" name="asset:SVC-130"/>
          <p:cNvGrpSpPr/>
          <p:nvPr/>
        </p:nvGrpSpPr>
        <p:grpSpPr>
          <a:xfrm>
            <a:off x="502920" y="457200"/>
            <a:ext cx="11155680" cy="5577839"/>
            <a:chOff x="502920" y="457200"/>
            <a:chExt cx="11155680" cy="557783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지원 사업 보안 아키텍처 (구간 분리)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외부→DMZ→내부 3구간 분리 + 방화벽 계층 (구간당 3개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17320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563624"/>
              <a:ext cx="2743200" cy="758951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구간 · Untrusted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931920" y="1600200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리버스 프록시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370320" y="1600200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808720" y="1600200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WAS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14400" y="260603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Perimeter Firewall</a:t>
              </a:r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1554480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10314432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4400" y="320039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024128" y="3346703"/>
              <a:ext cx="2743200" cy="75895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DMZ 구간 · Semi-Trusted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931920" y="338327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내부 시스템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370320" y="338327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백업 스토리지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808720" y="338327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 콘솔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14400" y="438911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Internal Firewall</a:t>
              </a:r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1554480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Down Arrow 19"/>
            <p:cNvSpPr/>
            <p:nvPr/>
          </p:nvSpPr>
          <p:spPr>
            <a:xfrm>
              <a:off x="10314432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14400" y="498347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24128" y="5129783"/>
              <a:ext cx="2743200" cy="75895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내부 구간 · Trusted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931920" y="516635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일반 사용자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370320" y="516635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외부 기관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8808720" y="516635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인터넷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SVC-131</a:t>
            </a:r>
          </a:p>
        </p:txBody>
      </p:sp>
      <p:grpSp>
        <p:nvGrpSpPr>
          <p:cNvPr id="29" name="asset:SVC-131"/>
          <p:cNvGrpSpPr/>
          <p:nvPr/>
        </p:nvGrpSpPr>
        <p:grpSpPr>
          <a:xfrm>
            <a:off x="502920" y="457200"/>
            <a:ext cx="11155680" cy="5577839"/>
            <a:chOff x="502920" y="457200"/>
            <a:chExt cx="11155680" cy="557783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연계 체계 보안 아키텍처 (구간 분리)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외부→DMZ→내부 3구간 분리 + 방화벽 계층 (구간당 4개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17320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563624"/>
              <a:ext cx="2743200" cy="758951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구간 · Untrusted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931920" y="1600200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760720" y="1600200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WAS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589520" y="1600200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418320" y="1600200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내부 시스템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14400" y="260603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Perimeter Firewall</a:t>
              </a: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1554480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Down Arrow 12"/>
            <p:cNvSpPr/>
            <p:nvPr/>
          </p:nvSpPr>
          <p:spPr>
            <a:xfrm>
              <a:off x="10314432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14400" y="320039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24128" y="3346703"/>
              <a:ext cx="2743200" cy="75895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DMZ 구간 · Semi-Trusted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931920" y="338327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백업 스토리지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760720" y="338327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 콘솔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589520" y="338327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서버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418320" y="338327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일반 사용자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914400" y="438911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Internal Firewall</a:t>
              </a:r>
            </a:p>
          </p:txBody>
        </p:sp>
        <p:sp>
          <p:nvSpPr>
            <p:cNvPr id="21" name="Down Arrow 20"/>
            <p:cNvSpPr/>
            <p:nvPr/>
          </p:nvSpPr>
          <p:spPr>
            <a:xfrm>
              <a:off x="1554480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Down Arrow 21"/>
            <p:cNvSpPr/>
            <p:nvPr/>
          </p:nvSpPr>
          <p:spPr>
            <a:xfrm>
              <a:off x="10314432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14400" y="498347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024128" y="5129783"/>
              <a:ext cx="2743200" cy="75895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내부 구간 · Trusted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931920" y="516635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외부 기관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760720" y="516635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인터넷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589520" y="516635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WAF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418320" y="516635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리버스 프록시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SVC-132</a:t>
            </a:r>
          </a:p>
        </p:txBody>
      </p:sp>
      <p:grpSp>
        <p:nvGrpSpPr>
          <p:cNvPr id="23" name="asset:SVC-132"/>
          <p:cNvGrpSpPr/>
          <p:nvPr/>
        </p:nvGrpSpPr>
        <p:grpSpPr>
          <a:xfrm>
            <a:off x="502920" y="457200"/>
            <a:ext cx="11155680" cy="5577839"/>
            <a:chOff x="502920" y="457200"/>
            <a:chExt cx="11155680" cy="557783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클라우드 기반 보안 아키텍처 (구간 분리)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외부→DMZ→내부 3구간 분리 + 방화벽 계층 (구간당 2개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17320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563624"/>
              <a:ext cx="2743200" cy="758951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구간 · Untrusted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931920" y="1600200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WAS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589520" y="1600200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14400" y="260603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Perimeter Firewall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1554480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10314432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14400" y="320039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024128" y="3346703"/>
              <a:ext cx="2743200" cy="75895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DMZ 구간 · Semi-Trusted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931920" y="3383279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 콘솔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589520" y="3383279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서버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14400" y="438911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Internal Firewall</a:t>
              </a:r>
            </a:p>
          </p:txBody>
        </p:sp>
        <p:sp>
          <p:nvSpPr>
            <p:cNvPr id="17" name="Down Arrow 16"/>
            <p:cNvSpPr/>
            <p:nvPr/>
          </p:nvSpPr>
          <p:spPr>
            <a:xfrm>
              <a:off x="1554480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Down Arrow 17"/>
            <p:cNvSpPr/>
            <p:nvPr/>
          </p:nvSpPr>
          <p:spPr>
            <a:xfrm>
              <a:off x="10314432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14400" y="498347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24128" y="5129783"/>
              <a:ext cx="2743200" cy="75895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내부 구간 · Trusted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931920" y="5166359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인터넷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589520" y="5166359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WAF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SVC-133</a:t>
            </a:r>
          </a:p>
        </p:txBody>
      </p:sp>
      <p:grpSp>
        <p:nvGrpSpPr>
          <p:cNvPr id="26" name="asset:SVC-133"/>
          <p:cNvGrpSpPr/>
          <p:nvPr/>
        </p:nvGrpSpPr>
        <p:grpSpPr>
          <a:xfrm>
            <a:off x="502920" y="457200"/>
            <a:ext cx="11155680" cy="5577839"/>
            <a:chOff x="502920" y="457200"/>
            <a:chExt cx="11155680" cy="557783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스마트 서비스 보안 아키텍처 (구간 분리)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외부→DMZ→내부 3구간 분리 + 방화벽 계층 (구간당 3개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17320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563624"/>
              <a:ext cx="2743200" cy="758951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구간 · Untrusted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931920" y="1600200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370320" y="1600200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내부 시스템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808720" y="1600200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백업 스토리지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14400" y="260603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Perimeter Firewall</a:t>
              </a:r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1554480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10314432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4400" y="320039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024128" y="3346703"/>
              <a:ext cx="2743200" cy="75895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DMZ 구간 · Semi-Trusted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931920" y="338327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서버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370320" y="338327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일반 사용자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808720" y="338327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외부 기관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14400" y="438911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Internal Firewall</a:t>
              </a:r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1554480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Down Arrow 19"/>
            <p:cNvSpPr/>
            <p:nvPr/>
          </p:nvSpPr>
          <p:spPr>
            <a:xfrm>
              <a:off x="10314432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14400" y="498347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24128" y="5129783"/>
              <a:ext cx="2743200" cy="75895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내부 구간 · Trusted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931920" y="516635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WAF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370320" y="516635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리버스 프록시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8808720" y="516635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SVC-134</a:t>
            </a:r>
          </a:p>
        </p:txBody>
      </p:sp>
      <p:grpSp>
        <p:nvGrpSpPr>
          <p:cNvPr id="29" name="asset:SVC-134"/>
          <p:cNvGrpSpPr/>
          <p:nvPr/>
        </p:nvGrpSpPr>
        <p:grpSpPr>
          <a:xfrm>
            <a:off x="502920" y="457200"/>
            <a:ext cx="11155680" cy="5577839"/>
            <a:chOff x="502920" y="457200"/>
            <a:chExt cx="11155680" cy="557783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운영 관리 보안 아키텍처 (구간 분리)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외부→DMZ→내부 3구간 분리 + 방화벽 계층 (구간당 4개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17320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563624"/>
              <a:ext cx="2743200" cy="758951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구간 · Untrusted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931920" y="1600200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내부 시스템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760720" y="1600200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백업 스토리지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589520" y="1600200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 콘솔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418320" y="1600200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서버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14400" y="260603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Perimeter Firewall</a:t>
              </a: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1554480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Down Arrow 12"/>
            <p:cNvSpPr/>
            <p:nvPr/>
          </p:nvSpPr>
          <p:spPr>
            <a:xfrm>
              <a:off x="10314432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14400" y="320039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24128" y="3346703"/>
              <a:ext cx="2743200" cy="75895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DMZ 구간 · Semi-Trusted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931920" y="338327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일반 사용자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760720" y="338327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외부 기관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589520" y="338327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인터넷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418320" y="338327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WAF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914400" y="438911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Internal Firewall</a:t>
              </a:r>
            </a:p>
          </p:txBody>
        </p:sp>
        <p:sp>
          <p:nvSpPr>
            <p:cNvPr id="21" name="Down Arrow 20"/>
            <p:cNvSpPr/>
            <p:nvPr/>
          </p:nvSpPr>
          <p:spPr>
            <a:xfrm>
              <a:off x="1554480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Down Arrow 21"/>
            <p:cNvSpPr/>
            <p:nvPr/>
          </p:nvSpPr>
          <p:spPr>
            <a:xfrm>
              <a:off x="10314432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14400" y="498347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024128" y="5129783"/>
              <a:ext cx="2743200" cy="75895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내부 구간 · Trusted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931920" y="516635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리버스 프록시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760720" y="516635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589520" y="516635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WAS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418320" y="516635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SVC-135</a:t>
            </a:r>
          </a:p>
        </p:txBody>
      </p:sp>
      <p:grpSp>
        <p:nvGrpSpPr>
          <p:cNvPr id="23" name="asset:SVC-135"/>
          <p:cNvGrpSpPr/>
          <p:nvPr/>
        </p:nvGrpSpPr>
        <p:grpSpPr>
          <a:xfrm>
            <a:off x="502920" y="457200"/>
            <a:ext cx="11155680" cy="5577839"/>
            <a:chOff x="502920" y="457200"/>
            <a:chExt cx="11155680" cy="557783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대민 포털 보안 아키텍처 (구간 분리)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외부→DMZ→내부 3구간 분리 + 방화벽 계층 (구간당 2개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17320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563624"/>
              <a:ext cx="2743200" cy="758951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구간 · Untrusted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931920" y="1600200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백업 스토리지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589520" y="1600200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 콘솔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14400" y="260603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Perimeter Firewall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1554480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10314432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14400" y="320039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024128" y="3346703"/>
              <a:ext cx="2743200" cy="75895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DMZ 구간 · Semi-Trusted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931920" y="3383279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외부 기관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589520" y="3383279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인터넷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14400" y="438911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Internal Firewall</a:t>
              </a:r>
            </a:p>
          </p:txBody>
        </p:sp>
        <p:sp>
          <p:nvSpPr>
            <p:cNvPr id="17" name="Down Arrow 16"/>
            <p:cNvSpPr/>
            <p:nvPr/>
          </p:nvSpPr>
          <p:spPr>
            <a:xfrm>
              <a:off x="1554480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Down Arrow 17"/>
            <p:cNvSpPr/>
            <p:nvPr/>
          </p:nvSpPr>
          <p:spPr>
            <a:xfrm>
              <a:off x="10314432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14400" y="498347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24128" y="5129783"/>
              <a:ext cx="2743200" cy="75895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내부 구간 · Trusted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931920" y="5166359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589520" y="5166359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SVC-136</a:t>
            </a:r>
          </a:p>
        </p:txBody>
      </p:sp>
      <p:grpSp>
        <p:nvGrpSpPr>
          <p:cNvPr id="26" name="asset:SVC-136"/>
          <p:cNvGrpSpPr/>
          <p:nvPr/>
        </p:nvGrpSpPr>
        <p:grpSpPr>
          <a:xfrm>
            <a:off x="502920" y="457200"/>
            <a:ext cx="11155680" cy="5577839"/>
            <a:chOff x="502920" y="457200"/>
            <a:chExt cx="11155680" cy="557783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정보화 사업 보안 아키텍처 (구간 분리)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외부→DMZ→내부 3구간 분리 + 방화벽 계층 (구간당 3개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17320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563624"/>
              <a:ext cx="2743200" cy="758951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구간 · Untrusted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931920" y="1600200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 콘솔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370320" y="1600200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서버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808720" y="1600200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일반 사용자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14400" y="260603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Perimeter Firewall</a:t>
              </a:r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1554480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10314432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4400" y="320039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024128" y="3346703"/>
              <a:ext cx="2743200" cy="75895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DMZ 구간 · Semi-Trusted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931920" y="338327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인터넷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370320" y="338327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WAF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808720" y="338327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리버스 프록시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14400" y="438911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Internal Firewall</a:t>
              </a:r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1554480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Down Arrow 19"/>
            <p:cNvSpPr/>
            <p:nvPr/>
          </p:nvSpPr>
          <p:spPr>
            <a:xfrm>
              <a:off x="10314432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14400" y="498347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24128" y="5129783"/>
              <a:ext cx="2743200" cy="75895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내부 구간 · Trusted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931920" y="516635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WAS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370320" y="516635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8808720" y="516635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내부 시스템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SVC-137</a:t>
            </a:r>
          </a:p>
        </p:txBody>
      </p:sp>
      <p:grpSp>
        <p:nvGrpSpPr>
          <p:cNvPr id="29" name="asset:SVC-137"/>
          <p:cNvGrpSpPr/>
          <p:nvPr/>
        </p:nvGrpSpPr>
        <p:grpSpPr>
          <a:xfrm>
            <a:off x="502920" y="457200"/>
            <a:ext cx="11155680" cy="5577839"/>
            <a:chOff x="502920" y="457200"/>
            <a:chExt cx="11155680" cy="557783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플랫폼 고도화 보안 아키텍처 (구간 분리)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외부→DMZ→내부 3구간 분리 + 방화벽 계층 (구간당 4개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17320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563624"/>
              <a:ext cx="2743200" cy="758951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구간 · Untrusted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931920" y="1600200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서버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760720" y="1600200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일반 사용자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589520" y="1600200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외부 기관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418320" y="1600200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인터넷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14400" y="260603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Perimeter Firewall</a:t>
              </a: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1554480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Down Arrow 12"/>
            <p:cNvSpPr/>
            <p:nvPr/>
          </p:nvSpPr>
          <p:spPr>
            <a:xfrm>
              <a:off x="10314432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14400" y="320039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24128" y="3346703"/>
              <a:ext cx="2743200" cy="75895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DMZ 구간 · Semi-Trusted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931920" y="338327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WAF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760720" y="338327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리버스 프록시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589520" y="338327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418320" y="338327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WAS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914400" y="438911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Internal Firewall</a:t>
              </a:r>
            </a:p>
          </p:txBody>
        </p:sp>
        <p:sp>
          <p:nvSpPr>
            <p:cNvPr id="21" name="Down Arrow 20"/>
            <p:cNvSpPr/>
            <p:nvPr/>
          </p:nvSpPr>
          <p:spPr>
            <a:xfrm>
              <a:off x="1554480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Down Arrow 21"/>
            <p:cNvSpPr/>
            <p:nvPr/>
          </p:nvSpPr>
          <p:spPr>
            <a:xfrm>
              <a:off x="10314432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14400" y="498347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024128" y="5129783"/>
              <a:ext cx="2743200" cy="75895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내부 구간 · Trusted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931920" y="516635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760720" y="516635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내부 시스템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589520" y="516635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백업 스토리지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418320" y="516635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 콘솔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SVC-138</a:t>
            </a:r>
          </a:p>
        </p:txBody>
      </p:sp>
      <p:grpSp>
        <p:nvGrpSpPr>
          <p:cNvPr id="23" name="asset:SVC-138"/>
          <p:cNvGrpSpPr/>
          <p:nvPr/>
        </p:nvGrpSpPr>
        <p:grpSpPr>
          <a:xfrm>
            <a:off x="502920" y="457200"/>
            <a:ext cx="11155680" cy="5577839"/>
            <a:chOff x="502920" y="457200"/>
            <a:chExt cx="11155680" cy="557783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디지털 전환 보안 아키텍처 (구간 분리)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외부→DMZ→내부 3구간 분리 + 방화벽 계층 (구간당 2개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17320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563624"/>
              <a:ext cx="2743200" cy="758951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구간 · Untrusted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931920" y="1600200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일반 사용자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589520" y="1600200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외부 기관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14400" y="260603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Perimeter Firewall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1554480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10314432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14400" y="320039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024128" y="3346703"/>
              <a:ext cx="2743200" cy="75895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DMZ 구간 · Semi-Trusted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931920" y="3383279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리버스 프록시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589520" y="3383279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14400" y="438911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Internal Firewall</a:t>
              </a:r>
            </a:p>
          </p:txBody>
        </p:sp>
        <p:sp>
          <p:nvSpPr>
            <p:cNvPr id="17" name="Down Arrow 16"/>
            <p:cNvSpPr/>
            <p:nvPr/>
          </p:nvSpPr>
          <p:spPr>
            <a:xfrm>
              <a:off x="1554480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Down Arrow 17"/>
            <p:cNvSpPr/>
            <p:nvPr/>
          </p:nvSpPr>
          <p:spPr>
            <a:xfrm>
              <a:off x="10314432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14400" y="498347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24128" y="5129783"/>
              <a:ext cx="2743200" cy="75895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내부 구간 · Trusted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931920" y="5166359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내부 시스템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589520" y="5166359"/>
              <a:ext cx="34747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백업 스토리지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SVC-139</a:t>
            </a:r>
          </a:p>
        </p:txBody>
      </p:sp>
      <p:grpSp>
        <p:nvGrpSpPr>
          <p:cNvPr id="26" name="asset:SVC-139"/>
          <p:cNvGrpSpPr/>
          <p:nvPr/>
        </p:nvGrpSpPr>
        <p:grpSpPr>
          <a:xfrm>
            <a:off x="502920" y="457200"/>
            <a:ext cx="11155680" cy="5577839"/>
            <a:chOff x="502920" y="457200"/>
            <a:chExt cx="11155680" cy="557783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공공데이터 개방 보안 아키텍처 (구간 분리)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외부→DMZ→내부 3구간 분리 + 방화벽 계층 (구간당 3개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17320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563624"/>
              <a:ext cx="2743200" cy="758951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구간 · Untrusted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931920" y="1600200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외부 기관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370320" y="1600200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인터넷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808720" y="1600200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WAF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14400" y="260603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Perimeter Firewall</a:t>
              </a:r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1554480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10314432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4400" y="320039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024128" y="3346703"/>
              <a:ext cx="2743200" cy="75895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DMZ 구간 · Semi-Trusted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931920" y="338327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370320" y="338327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WAS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808720" y="338327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14400" y="438911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Internal Firewall</a:t>
              </a:r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1554480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Down Arrow 19"/>
            <p:cNvSpPr/>
            <p:nvPr/>
          </p:nvSpPr>
          <p:spPr>
            <a:xfrm>
              <a:off x="10314432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14400" y="498347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24128" y="5129783"/>
              <a:ext cx="2743200" cy="75895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내부 구간 · Trusted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931920" y="516635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백업 스토리지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370320" y="516635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 콘솔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8808720" y="5166359"/>
              <a:ext cx="22555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서버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SVC-140</a:t>
            </a:r>
          </a:p>
        </p:txBody>
      </p:sp>
      <p:grpSp>
        <p:nvGrpSpPr>
          <p:cNvPr id="29" name="asset:SVC-140"/>
          <p:cNvGrpSpPr/>
          <p:nvPr/>
        </p:nvGrpSpPr>
        <p:grpSpPr>
          <a:xfrm>
            <a:off x="502920" y="457200"/>
            <a:ext cx="11155680" cy="5577839"/>
            <a:chOff x="502920" y="457200"/>
            <a:chExt cx="11155680" cy="557783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업무 자동화 보안 아키텍처 (구간 분리)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외부→DMZ→내부 3구간 분리 + 방화벽 계층 (구간당 4개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17320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563624"/>
              <a:ext cx="2743200" cy="758951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구간 · Untrusted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931920" y="1600200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인터넷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760720" y="1600200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WAF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589520" y="1600200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리버스 프록시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418320" y="1600200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14400" y="260603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Perimeter Firewall</a:t>
              </a: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1554480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Down Arrow 12"/>
            <p:cNvSpPr/>
            <p:nvPr/>
          </p:nvSpPr>
          <p:spPr>
            <a:xfrm>
              <a:off x="10314432" y="245059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14400" y="320039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24128" y="3346703"/>
              <a:ext cx="2743200" cy="75895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DMZ 구간 · Semi-Trusted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931920" y="338327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WAS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760720" y="338327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 DB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589520" y="338327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내부 시스템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418320" y="338327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백업 스토리지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914400" y="4389119"/>
              <a:ext cx="10332720" cy="4572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🔒 Internal Firewall</a:t>
              </a:r>
            </a:p>
          </p:txBody>
        </p:sp>
        <p:sp>
          <p:nvSpPr>
            <p:cNvPr id="21" name="Down Arrow 20"/>
            <p:cNvSpPr/>
            <p:nvPr/>
          </p:nvSpPr>
          <p:spPr>
            <a:xfrm>
              <a:off x="1554480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Down Arrow 21"/>
            <p:cNvSpPr/>
            <p:nvPr/>
          </p:nvSpPr>
          <p:spPr>
            <a:xfrm>
              <a:off x="10314432" y="4233671"/>
              <a:ext cx="292608" cy="73152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14400" y="4983479"/>
              <a:ext cx="10332720" cy="10515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024128" y="5129783"/>
              <a:ext cx="2743200" cy="75895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내부 구간 · Trusted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931920" y="516635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관리 콘솔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760720" y="516635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서버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589520" y="516635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일반 사용자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418320" y="5166359"/>
              <a:ext cx="1645920" cy="685799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외부 기관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