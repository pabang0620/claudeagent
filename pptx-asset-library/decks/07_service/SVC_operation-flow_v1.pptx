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SVC-005</a:t>
            </a:r>
          </a:p>
        </p:txBody>
      </p:sp>
      <p:grpSp>
        <p:nvGrpSpPr>
          <p:cNvPr id="18" name="asset:SVC-005"/>
          <p:cNvGrpSpPr/>
          <p:nvPr/>
        </p:nvGrpSpPr>
        <p:grpSpPr>
          <a:xfrm>
            <a:off x="502920" y="475488"/>
            <a:ext cx="11155680" cy="5797296"/>
            <a:chOff x="502920" y="475488"/>
            <a:chExt cx="11155680" cy="5797296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서비스 운영 프로세스 (스윔레인)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신청 → 검토 → 승인 → 제공 (신청 기관 · 수행 기관 2개 레인)</a:t>
              </a:r>
            </a:p>
          </p:txBody>
        </p:sp>
        <p:sp>
          <p:nvSpPr>
            <p:cNvPr id="5" name="SVC-005_bg"/>
            <p:cNvSpPr/>
            <p:nvPr/>
          </p:nvSpPr>
          <p:spPr>
            <a:xfrm>
              <a:off x="777240" y="1508760"/>
              <a:ext cx="10637215" cy="43891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560320" y="1554480"/>
              <a:ext cx="8808415" cy="20116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22960" y="1554480"/>
              <a:ext cx="1737360" cy="201168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 기관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60320" y="3840480"/>
              <a:ext cx="8808415" cy="20116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840480"/>
              <a:ext cx="1737360" cy="201168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 기관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834639" y="2057400"/>
              <a:ext cx="1687753" cy="1005840"/>
            </a:xfrm>
            <a:prstGeom prst="roundRect">
              <a:avLst/>
            </a:prstGeom>
            <a:solidFill>
              <a:srgbClr val="FFFFFF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① 신청서 제출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025313" y="4343400"/>
              <a:ext cx="1687753" cy="1005840"/>
            </a:xfrm>
            <a:prstGeom prst="roundRect">
              <a:avLst/>
            </a:prstGeom>
            <a:solidFill>
              <a:srgbClr val="FFFFFF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② 서류 검토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215987" y="4343400"/>
              <a:ext cx="1687753" cy="1005840"/>
            </a:xfrm>
            <a:prstGeom prst="roundRect">
              <a:avLst/>
            </a:prstGeom>
            <a:solidFill>
              <a:srgbClr val="FFFFFF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③ 승인 심의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406661" y="2057400"/>
              <a:ext cx="1687753" cy="1005840"/>
            </a:xfrm>
            <a:prstGeom prst="roundRect">
              <a:avLst/>
            </a:prstGeom>
            <a:solidFill>
              <a:srgbClr val="FFFFFF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④ 서비스 제공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4522393" y="2560320"/>
              <a:ext cx="502920" cy="2286000"/>
            </a:xfrm>
            <a:prstGeom prst="line">
              <a:avLst/>
            </a:prstGeom>
            <a:ln w="254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713067" y="4846320"/>
              <a:ext cx="502920" cy="0"/>
            </a:xfrm>
            <a:prstGeom prst="line">
              <a:avLst/>
            </a:prstGeom>
            <a:ln w="254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8903741" y="2560320"/>
              <a:ext cx="502920" cy="2286000"/>
            </a:xfrm>
            <a:prstGeom prst="line">
              <a:avLst/>
            </a:prstGeom>
            <a:ln w="254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ight Arrow 16"/>
            <p:cNvSpPr/>
            <p:nvPr/>
          </p:nvSpPr>
          <p:spPr>
            <a:xfrm>
              <a:off x="2560320" y="5961888"/>
              <a:ext cx="8808415" cy="310896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처리 흐름 (신청 → 제공)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SVC-006</a:t>
            </a:r>
          </a:p>
        </p:txBody>
      </p:sp>
      <p:grpSp>
        <p:nvGrpSpPr>
          <p:cNvPr id="29" name="asset:SVC-006"/>
          <p:cNvGrpSpPr/>
          <p:nvPr/>
        </p:nvGrpSpPr>
        <p:grpSpPr>
          <a:xfrm>
            <a:off x="502920" y="475488"/>
            <a:ext cx="11155680" cy="5102351"/>
            <a:chOff x="502920" y="475488"/>
            <a:chExt cx="11155680" cy="510235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사업 추진 개념도 (로직 모델)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투입(Input) → 활동(Activity) → 산출(Output) → 성과(Outcome)</a:t>
              </a:r>
            </a:p>
          </p:txBody>
        </p:sp>
        <p:sp>
          <p:nvSpPr>
            <p:cNvPr id="5" name="SVC-006_bg"/>
            <p:cNvSpPr/>
            <p:nvPr/>
          </p:nvSpPr>
          <p:spPr>
            <a:xfrm>
              <a:off x="777240" y="1554480"/>
              <a:ext cx="10637215" cy="40233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1600200"/>
              <a:ext cx="2293543" cy="39319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822960" y="1600200"/>
              <a:ext cx="2293543" cy="868680"/>
            </a:xfrm>
            <a:prstGeom prst="round2Same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투입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Input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24128" y="2724912"/>
              <a:ext cx="1891207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예산·인력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024128" y="3593592"/>
              <a:ext cx="1891207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인프라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24128" y="4462272"/>
              <a:ext cx="1891207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자산</a:t>
              </a:r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3143935" y="3310128"/>
              <a:ext cx="402336" cy="512064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573703" y="1600200"/>
              <a:ext cx="2293543" cy="39319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 Same Side Corner Rectangle 12"/>
            <p:cNvSpPr/>
            <p:nvPr/>
          </p:nvSpPr>
          <p:spPr>
            <a:xfrm>
              <a:off x="3573703" y="1600200"/>
              <a:ext cx="2293543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활동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Activity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74871" y="2724912"/>
              <a:ext cx="1891207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구축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74871" y="3593592"/>
              <a:ext cx="1891207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정제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774871" y="4462272"/>
              <a:ext cx="1891207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교육·홍보</a:t>
              </a: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5894679" y="3310128"/>
              <a:ext cx="402336" cy="512064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324447" y="1600200"/>
              <a:ext cx="2293543" cy="39319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 Same Side Corner Rectangle 18"/>
            <p:cNvSpPr/>
            <p:nvPr/>
          </p:nvSpPr>
          <p:spPr>
            <a:xfrm>
              <a:off x="6324447" y="1600200"/>
              <a:ext cx="2293543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산출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Output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525615" y="2724912"/>
              <a:ext cx="1891207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 시스템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525615" y="3593592"/>
              <a:ext cx="1891207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 데이터셋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525615" y="4462272"/>
              <a:ext cx="1891207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매뉴얼</a:t>
              </a:r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8645423" y="3310128"/>
              <a:ext cx="402336" cy="512064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075191" y="1600200"/>
              <a:ext cx="2293543" cy="39319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 Same Side Corner Rectangle 24"/>
            <p:cNvSpPr/>
            <p:nvPr/>
          </p:nvSpPr>
          <p:spPr>
            <a:xfrm>
              <a:off x="9075191" y="1600200"/>
              <a:ext cx="2293543" cy="86868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성과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Outcome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276359" y="2724912"/>
              <a:ext cx="1891207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업무 효율화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276359" y="3593592"/>
              <a:ext cx="1891207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대민 만족도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276359" y="4462272"/>
              <a:ext cx="1891207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 관리 체계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SVC-007</a:t>
            </a:r>
          </a:p>
        </p:txBody>
      </p:sp>
      <p:grpSp>
        <p:nvGrpSpPr>
          <p:cNvPr id="18" name="asset:SVC-007"/>
          <p:cNvGrpSpPr/>
          <p:nvPr/>
        </p:nvGrpSpPr>
        <p:grpSpPr>
          <a:xfrm>
            <a:off x="502920" y="475488"/>
            <a:ext cx="11155680" cy="6268212"/>
            <a:chOff x="502920" y="475488"/>
            <a:chExt cx="11155680" cy="62682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 연계도 (기관 간 데이터 연계)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연계 허브 ↔ 참여 기관 (허브-스포크, 양방향 연계)</a:t>
              </a:r>
            </a:p>
          </p:txBody>
        </p:sp>
        <p:sp>
          <p:nvSpPr>
            <p:cNvPr id="5" name="SVC-007_bg"/>
            <p:cNvSpPr/>
            <p:nvPr/>
          </p:nvSpPr>
          <p:spPr>
            <a:xfrm>
              <a:off x="4769967" y="3291839"/>
              <a:ext cx="2651760" cy="137160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연계 허브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6095847" y="1645919"/>
              <a:ext cx="0" cy="233172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ounded Rectangle 6"/>
            <p:cNvSpPr/>
            <p:nvPr/>
          </p:nvSpPr>
          <p:spPr>
            <a:xfrm>
              <a:off x="5044287" y="1211579"/>
              <a:ext cx="210312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중앙부처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 flipH="1" flipV="1">
              <a:off x="2373947" y="2811779"/>
              <a:ext cx="3721900" cy="116586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1322387" y="2377439"/>
              <a:ext cx="210312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광역 지자체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 flipH="1">
              <a:off x="2373947" y="3977639"/>
              <a:ext cx="3721900" cy="116586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>
              <a:off x="1322387" y="4709159"/>
              <a:ext cx="210312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기초 지자체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6095847" y="3977639"/>
              <a:ext cx="0" cy="233172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5044287" y="5875020"/>
              <a:ext cx="210312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공공기관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6095847" y="3977639"/>
              <a:ext cx="3721900" cy="1165861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8766187" y="4709160"/>
              <a:ext cx="210312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유관 기관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 flipV="1">
              <a:off x="6095847" y="2811779"/>
              <a:ext cx="3721900" cy="116586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8766187" y="2377439"/>
              <a:ext cx="210312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민간 협력사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SVC-008</a:t>
            </a:r>
          </a:p>
        </p:txBody>
      </p:sp>
      <p:grpSp>
        <p:nvGrpSpPr>
          <p:cNvPr id="27" name="asset:SVC-008"/>
          <p:cNvGrpSpPr/>
          <p:nvPr/>
        </p:nvGrpSpPr>
        <p:grpSpPr>
          <a:xfrm>
            <a:off x="502920" y="475488"/>
            <a:ext cx="11155680" cy="5330952"/>
            <a:chOff x="502920" y="475488"/>
            <a:chExt cx="11155680" cy="533095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관제·모니터링 구조도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 수집 → 실시간 분석 → 대시보드 → 이상 알림</a:t>
              </a:r>
            </a:p>
          </p:txBody>
        </p:sp>
        <p:sp>
          <p:nvSpPr>
            <p:cNvPr id="5" name="SVC-008_bg"/>
            <p:cNvSpPr/>
            <p:nvPr/>
          </p:nvSpPr>
          <p:spPr>
            <a:xfrm>
              <a:off x="822960" y="1463040"/>
              <a:ext cx="10545775" cy="82296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관제 센터 (24시간 모니터링)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834640"/>
              <a:ext cx="2156383" cy="1828800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822960" y="2834640"/>
              <a:ext cx="2156383" cy="566928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32688" y="3493008"/>
              <a:ext cx="1936927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로그·지표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메트릭 수집</a:t>
              </a:r>
            </a:p>
          </p:txBody>
        </p:sp>
        <p:sp>
          <p:nvSpPr>
            <p:cNvPr id="9" name="Down Arrow 8"/>
            <p:cNvSpPr/>
            <p:nvPr/>
          </p:nvSpPr>
          <p:spPr>
            <a:xfrm>
              <a:off x="1754847" y="2304288"/>
              <a:ext cx="292608" cy="457200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025063" y="3511296"/>
              <a:ext cx="548640" cy="47548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619423" y="2834640"/>
              <a:ext cx="2156383" cy="1828800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3619423" y="2834640"/>
              <a:ext cx="2156383" cy="566928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729151" y="3493008"/>
              <a:ext cx="1936927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임계치 판정</a:t>
              </a: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4551311" y="2304288"/>
              <a:ext cx="292608" cy="457200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5821527" y="3511296"/>
              <a:ext cx="548640" cy="47548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15887" y="2834640"/>
              <a:ext cx="2156383" cy="1828800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 Same Side Corner Rectangle 16"/>
            <p:cNvSpPr/>
            <p:nvPr/>
          </p:nvSpPr>
          <p:spPr>
            <a:xfrm>
              <a:off x="6415887" y="2834640"/>
              <a:ext cx="2156383" cy="566928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25615" y="3493008"/>
              <a:ext cx="1936927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시각화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지표 모니터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7347775" y="2304288"/>
              <a:ext cx="292608" cy="457200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8617991" y="3511296"/>
              <a:ext cx="548640" cy="47548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212351" y="2834640"/>
              <a:ext cx="2156383" cy="1828800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 Same Side Corner Rectangle 21"/>
            <p:cNvSpPr/>
            <p:nvPr/>
          </p:nvSpPr>
          <p:spPr>
            <a:xfrm>
              <a:off x="9212351" y="2834640"/>
              <a:ext cx="2156383" cy="566928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알림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322079" y="3493008"/>
              <a:ext cx="1936927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이상 탐지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경보·통지</a:t>
              </a:r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10144239" y="2304288"/>
              <a:ext cx="292608" cy="457200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22960" y="5074920"/>
              <a:ext cx="10545775" cy="7315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소스: 서버 · 네트워크 · 애플리케이션 · 사용자 이벤트</a:t>
              </a:r>
            </a:p>
          </p:txBody>
        </p:sp>
        <p:sp>
          <p:nvSpPr>
            <p:cNvPr id="26" name="Up Arrow 25"/>
            <p:cNvSpPr/>
            <p:nvPr/>
          </p:nvSpPr>
          <p:spPr>
            <a:xfrm>
              <a:off x="5949543" y="4681727"/>
              <a:ext cx="292608" cy="384048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