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SVC-079</a:t>
            </a:r>
          </a:p>
        </p:txBody>
      </p:sp>
      <p:grpSp>
        <p:nvGrpSpPr>
          <p:cNvPr id="22" name="asset:SVC-079"/>
          <p:cNvGrpSpPr/>
          <p:nvPr/>
        </p:nvGrpSpPr>
        <p:grpSpPr>
          <a:xfrm>
            <a:off x="502920" y="457200"/>
            <a:ext cx="11155680" cy="5074920"/>
            <a:chOff x="502920" y="457200"/>
            <a:chExt cx="11155680" cy="507492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통합 플랫폼 허브 앤 스포크 연계맵 (4개 연동)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중앙 통합 허브 ↔ 4개 연동 시스템 (표준 인터페이스 기반)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4632807" y="3383280"/>
              <a:ext cx="2926080" cy="1463040"/>
            </a:xfrm>
            <a:prstGeom prst="roundRect">
              <a:avLst/>
            </a:prstGeom>
            <a:solidFill>
              <a:srgbClr val="1F3864"/>
            </a:solidFill>
            <a:ln w="254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 플랫폼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 허브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40080" y="173736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786384" y="1915667"/>
              <a:ext cx="512064" cy="512064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그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417319" y="173736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그룹웨어</a:t>
              </a:r>
            </a:p>
          </p:txBody>
        </p:sp>
        <p:cxnSp>
          <p:nvCxnSpPr>
            <p:cNvPr id="9" name="Connector 8"/>
            <p:cNvCxnSpPr/>
            <p:nvPr/>
          </p:nvCxnSpPr>
          <p:spPr>
            <a:xfrm>
              <a:off x="3108960" y="2171700"/>
              <a:ext cx="1523847" cy="194310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ounded Rectangle 9"/>
            <p:cNvSpPr/>
            <p:nvPr/>
          </p:nvSpPr>
          <p:spPr>
            <a:xfrm>
              <a:off x="640080" y="466344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786384" y="4841747"/>
              <a:ext cx="512064" cy="512064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E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417319" y="466344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ERP 시스템</a:t>
              </a:r>
            </a:p>
          </p:txBody>
        </p:sp>
        <p:cxnSp>
          <p:nvCxnSpPr>
            <p:cNvPr id="13" name="Connector 12"/>
            <p:cNvCxnSpPr/>
            <p:nvPr/>
          </p:nvCxnSpPr>
          <p:spPr>
            <a:xfrm flipV="1">
              <a:off x="3108960" y="4114800"/>
              <a:ext cx="1523847" cy="982979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ounded Rectangle 13"/>
            <p:cNvSpPr/>
            <p:nvPr/>
          </p:nvSpPr>
          <p:spPr>
            <a:xfrm>
              <a:off x="9082735" y="173736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9229039" y="1915667"/>
              <a:ext cx="512064" cy="512064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회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859975" y="173736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회계 시스템</a:t>
              </a:r>
            </a:p>
          </p:txBody>
        </p:sp>
        <p:cxnSp>
          <p:nvCxnSpPr>
            <p:cNvPr id="17" name="Connector 16"/>
            <p:cNvCxnSpPr/>
            <p:nvPr/>
          </p:nvCxnSpPr>
          <p:spPr>
            <a:xfrm flipH="1">
              <a:off x="7558887" y="2171700"/>
              <a:ext cx="1523848" cy="194310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Rounded Rectangle 17"/>
            <p:cNvSpPr/>
            <p:nvPr/>
          </p:nvSpPr>
          <p:spPr>
            <a:xfrm>
              <a:off x="9082735" y="466344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9229039" y="4841747"/>
              <a:ext cx="512064" cy="512064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인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859975" y="466344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인사 시스템</a:t>
              </a:r>
            </a:p>
          </p:txBody>
        </p:sp>
        <p:cxnSp>
          <p:nvCxnSpPr>
            <p:cNvPr id="21" name="Connector 20"/>
            <p:cNvCxnSpPr/>
            <p:nvPr/>
          </p:nvCxnSpPr>
          <p:spPr>
            <a:xfrm flipH="1" flipV="1">
              <a:off x="7558887" y="4114800"/>
              <a:ext cx="1523848" cy="982979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SVC-080</a:t>
            </a:r>
          </a:p>
        </p:txBody>
      </p:sp>
      <p:grpSp>
        <p:nvGrpSpPr>
          <p:cNvPr id="26" name="asset:SVC-080"/>
          <p:cNvGrpSpPr/>
          <p:nvPr/>
        </p:nvGrpSpPr>
        <p:grpSpPr>
          <a:xfrm>
            <a:off x="502920" y="457200"/>
            <a:ext cx="11155680" cy="5074920"/>
            <a:chOff x="502920" y="457200"/>
            <a:chExt cx="11155680" cy="507492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데이터 허브 허브 앤 스포크 연계맵 (5개 연동)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중앙 통합 허브 ↔ 5개 연동 시스템 (표준 인터페이스 기반)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4632807" y="3383280"/>
              <a:ext cx="2926080" cy="1463040"/>
            </a:xfrm>
            <a:prstGeom prst="roundRect">
              <a:avLst/>
            </a:prstGeom>
            <a:solidFill>
              <a:srgbClr val="1F3864"/>
            </a:solidFill>
            <a:ln w="254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데이터 허브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 허브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40080" y="173736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786384" y="1915667"/>
              <a:ext cx="512064" cy="512064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E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417319" y="173736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ERP 시스템</a:t>
              </a:r>
            </a:p>
          </p:txBody>
        </p:sp>
        <p:cxnSp>
          <p:nvCxnSpPr>
            <p:cNvPr id="9" name="Connector 8"/>
            <p:cNvCxnSpPr/>
            <p:nvPr/>
          </p:nvCxnSpPr>
          <p:spPr>
            <a:xfrm>
              <a:off x="3108960" y="2171700"/>
              <a:ext cx="1523847" cy="194310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ounded Rectangle 9"/>
            <p:cNvSpPr/>
            <p:nvPr/>
          </p:nvSpPr>
          <p:spPr>
            <a:xfrm>
              <a:off x="640080" y="320040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786384" y="3378708"/>
              <a:ext cx="512064" cy="512064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회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417319" y="320040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회계 시스템</a:t>
              </a:r>
            </a:p>
          </p:txBody>
        </p:sp>
        <p:cxnSp>
          <p:nvCxnSpPr>
            <p:cNvPr id="13" name="Connector 12"/>
            <p:cNvCxnSpPr/>
            <p:nvPr/>
          </p:nvCxnSpPr>
          <p:spPr>
            <a:xfrm>
              <a:off x="3108960" y="3634740"/>
              <a:ext cx="1523847" cy="48006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ounded Rectangle 13"/>
            <p:cNvSpPr/>
            <p:nvPr/>
          </p:nvSpPr>
          <p:spPr>
            <a:xfrm>
              <a:off x="640080" y="466344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786384" y="4841747"/>
              <a:ext cx="512064" cy="512064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인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417319" y="466344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인사 시스템</a:t>
              </a:r>
            </a:p>
          </p:txBody>
        </p:sp>
        <p:cxnSp>
          <p:nvCxnSpPr>
            <p:cNvPr id="17" name="Connector 16"/>
            <p:cNvCxnSpPr/>
            <p:nvPr/>
          </p:nvCxnSpPr>
          <p:spPr>
            <a:xfrm flipV="1">
              <a:off x="3108960" y="4114800"/>
              <a:ext cx="1523847" cy="982979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Rounded Rectangle 17"/>
            <p:cNvSpPr/>
            <p:nvPr/>
          </p:nvSpPr>
          <p:spPr>
            <a:xfrm>
              <a:off x="9082735" y="173736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9229039" y="1915667"/>
              <a:ext cx="512064" cy="512064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대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859975" y="173736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대외 기관</a:t>
              </a:r>
            </a:p>
          </p:txBody>
        </p:sp>
        <p:cxnSp>
          <p:nvCxnSpPr>
            <p:cNvPr id="21" name="Connector 20"/>
            <p:cNvCxnSpPr/>
            <p:nvPr/>
          </p:nvCxnSpPr>
          <p:spPr>
            <a:xfrm flipH="1">
              <a:off x="7558887" y="2171700"/>
              <a:ext cx="1523848" cy="194310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ounded Rectangle 21"/>
            <p:cNvSpPr/>
            <p:nvPr/>
          </p:nvSpPr>
          <p:spPr>
            <a:xfrm>
              <a:off x="9082735" y="466344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9229039" y="4841747"/>
              <a:ext cx="512064" cy="512064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S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9859975" y="466344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SSO 인증</a:t>
              </a:r>
            </a:p>
          </p:txBody>
        </p:sp>
        <p:cxnSp>
          <p:nvCxnSpPr>
            <p:cNvPr id="25" name="Connector 24"/>
            <p:cNvCxnSpPr/>
            <p:nvPr/>
          </p:nvCxnSpPr>
          <p:spPr>
            <a:xfrm flipH="1" flipV="1">
              <a:off x="7558887" y="4114800"/>
              <a:ext cx="1523848" cy="982979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SVC-081</a:t>
            </a:r>
          </a:p>
        </p:txBody>
      </p:sp>
      <p:grpSp>
        <p:nvGrpSpPr>
          <p:cNvPr id="30" name="asset:SVC-081"/>
          <p:cNvGrpSpPr/>
          <p:nvPr/>
        </p:nvGrpSpPr>
        <p:grpSpPr>
          <a:xfrm>
            <a:off x="502920" y="457200"/>
            <a:ext cx="11155680" cy="5074920"/>
            <a:chOff x="502920" y="457200"/>
            <a:chExt cx="11155680" cy="507492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민원 서비스 허브 앤 스포크 연계맵 (6개 연동)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중앙 통합 허브 ↔ 6개 연동 시스템 (표준 인터페이스 기반)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4632807" y="3383280"/>
              <a:ext cx="2926080" cy="1463040"/>
            </a:xfrm>
            <a:prstGeom prst="roundRect">
              <a:avLst/>
            </a:prstGeom>
            <a:solidFill>
              <a:srgbClr val="1F3864"/>
            </a:solidFill>
            <a:ln w="254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민원 서비스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 허브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40080" y="173736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786384" y="1915667"/>
              <a:ext cx="512064" cy="512064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회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417319" y="173736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회계 시스템</a:t>
              </a:r>
            </a:p>
          </p:txBody>
        </p:sp>
        <p:cxnSp>
          <p:nvCxnSpPr>
            <p:cNvPr id="9" name="Connector 8"/>
            <p:cNvCxnSpPr/>
            <p:nvPr/>
          </p:nvCxnSpPr>
          <p:spPr>
            <a:xfrm>
              <a:off x="3108960" y="2171700"/>
              <a:ext cx="1523847" cy="194310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ounded Rectangle 9"/>
            <p:cNvSpPr/>
            <p:nvPr/>
          </p:nvSpPr>
          <p:spPr>
            <a:xfrm>
              <a:off x="640080" y="320040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786384" y="3378708"/>
              <a:ext cx="512064" cy="512064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인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417319" y="320040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인사 시스템</a:t>
              </a:r>
            </a:p>
          </p:txBody>
        </p:sp>
        <p:cxnSp>
          <p:nvCxnSpPr>
            <p:cNvPr id="13" name="Connector 12"/>
            <p:cNvCxnSpPr/>
            <p:nvPr/>
          </p:nvCxnSpPr>
          <p:spPr>
            <a:xfrm>
              <a:off x="3108960" y="3634740"/>
              <a:ext cx="1523847" cy="48006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ounded Rectangle 13"/>
            <p:cNvSpPr/>
            <p:nvPr/>
          </p:nvSpPr>
          <p:spPr>
            <a:xfrm>
              <a:off x="640080" y="466344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786384" y="4841747"/>
              <a:ext cx="512064" cy="512064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대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417319" y="466344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대외 기관</a:t>
              </a:r>
            </a:p>
          </p:txBody>
        </p:sp>
        <p:cxnSp>
          <p:nvCxnSpPr>
            <p:cNvPr id="17" name="Connector 16"/>
            <p:cNvCxnSpPr/>
            <p:nvPr/>
          </p:nvCxnSpPr>
          <p:spPr>
            <a:xfrm flipV="1">
              <a:off x="3108960" y="4114800"/>
              <a:ext cx="1523847" cy="982979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Rounded Rectangle 17"/>
            <p:cNvSpPr/>
            <p:nvPr/>
          </p:nvSpPr>
          <p:spPr>
            <a:xfrm>
              <a:off x="9082735" y="173736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9229039" y="1915667"/>
              <a:ext cx="512064" cy="512064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S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859975" y="173736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SSO 인증</a:t>
              </a:r>
            </a:p>
          </p:txBody>
        </p:sp>
        <p:cxnSp>
          <p:nvCxnSpPr>
            <p:cNvPr id="21" name="Connector 20"/>
            <p:cNvCxnSpPr/>
            <p:nvPr/>
          </p:nvCxnSpPr>
          <p:spPr>
            <a:xfrm flipH="1">
              <a:off x="7558887" y="2171700"/>
              <a:ext cx="1523848" cy="194310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ounded Rectangle 21"/>
            <p:cNvSpPr/>
            <p:nvPr/>
          </p:nvSpPr>
          <p:spPr>
            <a:xfrm>
              <a:off x="9082735" y="320040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9229039" y="3378708"/>
              <a:ext cx="512064" cy="512064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민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9859975" y="320040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민원 포털</a:t>
              </a:r>
            </a:p>
          </p:txBody>
        </p:sp>
        <p:cxnSp>
          <p:nvCxnSpPr>
            <p:cNvPr id="25" name="Connector 24"/>
            <p:cNvCxnSpPr/>
            <p:nvPr/>
          </p:nvCxnSpPr>
          <p:spPr>
            <a:xfrm flipH="1">
              <a:off x="7558887" y="3634740"/>
              <a:ext cx="1523848" cy="48006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Rounded Rectangle 25"/>
            <p:cNvSpPr/>
            <p:nvPr/>
          </p:nvSpPr>
          <p:spPr>
            <a:xfrm>
              <a:off x="9082735" y="466344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9229039" y="4841747"/>
              <a:ext cx="512064" cy="512064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9859975" y="466344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통계 시스템</a:t>
              </a:r>
            </a:p>
          </p:txBody>
        </p:sp>
        <p:cxnSp>
          <p:nvCxnSpPr>
            <p:cNvPr id="29" name="Connector 28"/>
            <p:cNvCxnSpPr/>
            <p:nvPr/>
          </p:nvCxnSpPr>
          <p:spPr>
            <a:xfrm flipH="1" flipV="1">
              <a:off x="7558887" y="4114800"/>
              <a:ext cx="1523848" cy="982979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SVC-082</a:t>
            </a:r>
          </a:p>
        </p:txBody>
      </p:sp>
      <p:grpSp>
        <p:nvGrpSpPr>
          <p:cNvPr id="34" name="asset:SVC-082"/>
          <p:cNvGrpSpPr/>
          <p:nvPr/>
        </p:nvGrpSpPr>
        <p:grpSpPr>
          <a:xfrm>
            <a:off x="502920" y="457200"/>
            <a:ext cx="11155680" cy="5074920"/>
            <a:chOff x="502920" y="457200"/>
            <a:chExt cx="11155680" cy="507492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관제 시스템 허브 앤 스포크 연계맵 (7개 연동)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중앙 통합 허브 ↔ 7개 연동 시스템 (표준 인터페이스 기반)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4632807" y="3383280"/>
              <a:ext cx="2926080" cy="1463040"/>
            </a:xfrm>
            <a:prstGeom prst="roundRect">
              <a:avLst/>
            </a:prstGeom>
            <a:solidFill>
              <a:srgbClr val="1F3864"/>
            </a:solidFill>
            <a:ln w="254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관제 시스템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 허브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40080" y="173736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786384" y="1915667"/>
              <a:ext cx="512064" cy="512064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인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417319" y="173736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인사 시스템</a:t>
              </a:r>
            </a:p>
          </p:txBody>
        </p:sp>
        <p:cxnSp>
          <p:nvCxnSpPr>
            <p:cNvPr id="9" name="Connector 8"/>
            <p:cNvCxnSpPr/>
            <p:nvPr/>
          </p:nvCxnSpPr>
          <p:spPr>
            <a:xfrm>
              <a:off x="3108960" y="2171700"/>
              <a:ext cx="1523847" cy="194310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ounded Rectangle 9"/>
            <p:cNvSpPr/>
            <p:nvPr/>
          </p:nvSpPr>
          <p:spPr>
            <a:xfrm>
              <a:off x="640080" y="271272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786384" y="2891028"/>
              <a:ext cx="512064" cy="512064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대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417319" y="271272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대외 기관</a:t>
              </a:r>
            </a:p>
          </p:txBody>
        </p:sp>
        <p:cxnSp>
          <p:nvCxnSpPr>
            <p:cNvPr id="13" name="Connector 12"/>
            <p:cNvCxnSpPr/>
            <p:nvPr/>
          </p:nvCxnSpPr>
          <p:spPr>
            <a:xfrm>
              <a:off x="3108960" y="3147060"/>
              <a:ext cx="1523847" cy="96774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ounded Rectangle 13"/>
            <p:cNvSpPr/>
            <p:nvPr/>
          </p:nvSpPr>
          <p:spPr>
            <a:xfrm>
              <a:off x="640080" y="368808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786384" y="3866387"/>
              <a:ext cx="512064" cy="512064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S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417319" y="368808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SSO 인증</a:t>
              </a:r>
            </a:p>
          </p:txBody>
        </p:sp>
        <p:cxnSp>
          <p:nvCxnSpPr>
            <p:cNvPr id="17" name="Connector 16"/>
            <p:cNvCxnSpPr/>
            <p:nvPr/>
          </p:nvCxnSpPr>
          <p:spPr>
            <a:xfrm flipV="1">
              <a:off x="3108960" y="4114800"/>
              <a:ext cx="1523847" cy="7619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Rounded Rectangle 17"/>
            <p:cNvSpPr/>
            <p:nvPr/>
          </p:nvSpPr>
          <p:spPr>
            <a:xfrm>
              <a:off x="640080" y="466344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786384" y="4841747"/>
              <a:ext cx="512064" cy="512064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민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417319" y="466344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민원 포털</a:t>
              </a:r>
            </a:p>
          </p:txBody>
        </p:sp>
        <p:cxnSp>
          <p:nvCxnSpPr>
            <p:cNvPr id="21" name="Connector 20"/>
            <p:cNvCxnSpPr/>
            <p:nvPr/>
          </p:nvCxnSpPr>
          <p:spPr>
            <a:xfrm flipV="1">
              <a:off x="3108960" y="4114800"/>
              <a:ext cx="1523847" cy="982979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ounded Rectangle 21"/>
            <p:cNvSpPr/>
            <p:nvPr/>
          </p:nvSpPr>
          <p:spPr>
            <a:xfrm>
              <a:off x="9082735" y="173736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9229039" y="1915667"/>
              <a:ext cx="512064" cy="512064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9859975" y="173736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통계 시스템</a:t>
              </a:r>
            </a:p>
          </p:txBody>
        </p:sp>
        <p:cxnSp>
          <p:nvCxnSpPr>
            <p:cNvPr id="25" name="Connector 24"/>
            <p:cNvCxnSpPr/>
            <p:nvPr/>
          </p:nvCxnSpPr>
          <p:spPr>
            <a:xfrm flipH="1">
              <a:off x="7558887" y="2171700"/>
              <a:ext cx="1523848" cy="194310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Rounded Rectangle 25"/>
            <p:cNvSpPr/>
            <p:nvPr/>
          </p:nvSpPr>
          <p:spPr>
            <a:xfrm>
              <a:off x="9082735" y="320040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9229039" y="3378708"/>
              <a:ext cx="512064" cy="512064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알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9859975" y="320040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알림 센터</a:t>
              </a:r>
            </a:p>
          </p:txBody>
        </p:sp>
        <p:cxnSp>
          <p:nvCxnSpPr>
            <p:cNvPr id="29" name="Connector 28"/>
            <p:cNvCxnSpPr/>
            <p:nvPr/>
          </p:nvCxnSpPr>
          <p:spPr>
            <a:xfrm flipH="1">
              <a:off x="7558887" y="3634740"/>
              <a:ext cx="1523848" cy="48006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Rounded Rectangle 29"/>
            <p:cNvSpPr/>
            <p:nvPr/>
          </p:nvSpPr>
          <p:spPr>
            <a:xfrm>
              <a:off x="9082735" y="466344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9229039" y="4841747"/>
              <a:ext cx="512064" cy="512064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9859975" y="466344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전자결재</a:t>
              </a:r>
            </a:p>
          </p:txBody>
        </p:sp>
        <p:cxnSp>
          <p:nvCxnSpPr>
            <p:cNvPr id="33" name="Connector 32"/>
            <p:cNvCxnSpPr/>
            <p:nvPr/>
          </p:nvCxnSpPr>
          <p:spPr>
            <a:xfrm flipH="1" flipV="1">
              <a:off x="7558887" y="4114800"/>
              <a:ext cx="1523848" cy="982979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SVC-083</a:t>
            </a:r>
          </a:p>
        </p:txBody>
      </p:sp>
      <p:grpSp>
        <p:nvGrpSpPr>
          <p:cNvPr id="38" name="asset:SVC-083"/>
          <p:cNvGrpSpPr/>
          <p:nvPr/>
        </p:nvGrpSpPr>
        <p:grpSpPr>
          <a:xfrm>
            <a:off x="502920" y="457200"/>
            <a:ext cx="11155680" cy="5074920"/>
            <a:chOff x="502920" y="457200"/>
            <a:chExt cx="11155680" cy="507492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지원 사업 허브 앤 스포크 연계맵 (8개 연동)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중앙 통합 허브 ↔ 8개 연동 시스템 (표준 인터페이스 기반)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4632807" y="3383280"/>
              <a:ext cx="2926080" cy="1463040"/>
            </a:xfrm>
            <a:prstGeom prst="roundRect">
              <a:avLst/>
            </a:prstGeom>
            <a:solidFill>
              <a:srgbClr val="1F3864"/>
            </a:solidFill>
            <a:ln w="254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지원 사업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 허브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40080" y="173736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786384" y="1915667"/>
              <a:ext cx="512064" cy="512064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대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417319" y="173736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대외 기관</a:t>
              </a:r>
            </a:p>
          </p:txBody>
        </p:sp>
        <p:cxnSp>
          <p:nvCxnSpPr>
            <p:cNvPr id="9" name="Connector 8"/>
            <p:cNvCxnSpPr/>
            <p:nvPr/>
          </p:nvCxnSpPr>
          <p:spPr>
            <a:xfrm>
              <a:off x="3108960" y="2171700"/>
              <a:ext cx="1523847" cy="194310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ounded Rectangle 9"/>
            <p:cNvSpPr/>
            <p:nvPr/>
          </p:nvSpPr>
          <p:spPr>
            <a:xfrm>
              <a:off x="640080" y="271272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786384" y="2891028"/>
              <a:ext cx="512064" cy="512064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S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417319" y="271272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SSO 인증</a:t>
              </a:r>
            </a:p>
          </p:txBody>
        </p:sp>
        <p:cxnSp>
          <p:nvCxnSpPr>
            <p:cNvPr id="13" name="Connector 12"/>
            <p:cNvCxnSpPr/>
            <p:nvPr/>
          </p:nvCxnSpPr>
          <p:spPr>
            <a:xfrm>
              <a:off x="3108960" y="3147060"/>
              <a:ext cx="1523847" cy="96774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ounded Rectangle 13"/>
            <p:cNvSpPr/>
            <p:nvPr/>
          </p:nvSpPr>
          <p:spPr>
            <a:xfrm>
              <a:off x="640080" y="368808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786384" y="3866387"/>
              <a:ext cx="512064" cy="512064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민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417319" y="368808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민원 포털</a:t>
              </a:r>
            </a:p>
          </p:txBody>
        </p:sp>
        <p:cxnSp>
          <p:nvCxnSpPr>
            <p:cNvPr id="17" name="Connector 16"/>
            <p:cNvCxnSpPr/>
            <p:nvPr/>
          </p:nvCxnSpPr>
          <p:spPr>
            <a:xfrm flipV="1">
              <a:off x="3108960" y="4114800"/>
              <a:ext cx="1523847" cy="7619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Rounded Rectangle 17"/>
            <p:cNvSpPr/>
            <p:nvPr/>
          </p:nvSpPr>
          <p:spPr>
            <a:xfrm>
              <a:off x="640080" y="466344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786384" y="4841747"/>
              <a:ext cx="512064" cy="512064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417319" y="466344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통계 시스템</a:t>
              </a:r>
            </a:p>
          </p:txBody>
        </p:sp>
        <p:cxnSp>
          <p:nvCxnSpPr>
            <p:cNvPr id="21" name="Connector 20"/>
            <p:cNvCxnSpPr/>
            <p:nvPr/>
          </p:nvCxnSpPr>
          <p:spPr>
            <a:xfrm flipV="1">
              <a:off x="3108960" y="4114800"/>
              <a:ext cx="1523847" cy="982979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ounded Rectangle 21"/>
            <p:cNvSpPr/>
            <p:nvPr/>
          </p:nvSpPr>
          <p:spPr>
            <a:xfrm>
              <a:off x="9082735" y="173736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9229039" y="1915667"/>
              <a:ext cx="512064" cy="512064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알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9859975" y="173736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알림 센터</a:t>
              </a:r>
            </a:p>
          </p:txBody>
        </p:sp>
        <p:cxnSp>
          <p:nvCxnSpPr>
            <p:cNvPr id="25" name="Connector 24"/>
            <p:cNvCxnSpPr/>
            <p:nvPr/>
          </p:nvCxnSpPr>
          <p:spPr>
            <a:xfrm flipH="1">
              <a:off x="7558887" y="2171700"/>
              <a:ext cx="1523848" cy="194310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Rounded Rectangle 25"/>
            <p:cNvSpPr/>
            <p:nvPr/>
          </p:nvSpPr>
          <p:spPr>
            <a:xfrm>
              <a:off x="9082735" y="271272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9229039" y="2891028"/>
              <a:ext cx="512064" cy="512064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9859975" y="271272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전자결재</a:t>
              </a:r>
            </a:p>
          </p:txBody>
        </p:sp>
        <p:cxnSp>
          <p:nvCxnSpPr>
            <p:cNvPr id="29" name="Connector 28"/>
            <p:cNvCxnSpPr/>
            <p:nvPr/>
          </p:nvCxnSpPr>
          <p:spPr>
            <a:xfrm flipH="1">
              <a:off x="7558887" y="3147060"/>
              <a:ext cx="1523848" cy="96774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Rounded Rectangle 29"/>
            <p:cNvSpPr/>
            <p:nvPr/>
          </p:nvSpPr>
          <p:spPr>
            <a:xfrm>
              <a:off x="9082735" y="368808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9229039" y="3866387"/>
              <a:ext cx="512064" cy="512064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그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9859975" y="368808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그룹웨어</a:t>
              </a:r>
            </a:p>
          </p:txBody>
        </p:sp>
        <p:cxnSp>
          <p:nvCxnSpPr>
            <p:cNvPr id="33" name="Connector 32"/>
            <p:cNvCxnSpPr/>
            <p:nvPr/>
          </p:nvCxnSpPr>
          <p:spPr>
            <a:xfrm flipH="1" flipV="1">
              <a:off x="7558887" y="4114800"/>
              <a:ext cx="1523848" cy="7619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Rounded Rectangle 33"/>
            <p:cNvSpPr/>
            <p:nvPr/>
          </p:nvSpPr>
          <p:spPr>
            <a:xfrm>
              <a:off x="9082735" y="466344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Rounded Rectangle 34"/>
            <p:cNvSpPr/>
            <p:nvPr/>
          </p:nvSpPr>
          <p:spPr>
            <a:xfrm>
              <a:off x="9229039" y="4841747"/>
              <a:ext cx="512064" cy="512064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E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9859975" y="466344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ERP 시스템</a:t>
              </a:r>
            </a:p>
          </p:txBody>
        </p:sp>
        <p:cxnSp>
          <p:nvCxnSpPr>
            <p:cNvPr id="37" name="Connector 36"/>
            <p:cNvCxnSpPr/>
            <p:nvPr/>
          </p:nvCxnSpPr>
          <p:spPr>
            <a:xfrm flipH="1" flipV="1">
              <a:off x="7558887" y="4114800"/>
              <a:ext cx="1523848" cy="982979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SVC-084</a:t>
            </a:r>
          </a:p>
        </p:txBody>
      </p:sp>
      <p:grpSp>
        <p:nvGrpSpPr>
          <p:cNvPr id="22" name="asset:SVC-084"/>
          <p:cNvGrpSpPr/>
          <p:nvPr/>
        </p:nvGrpSpPr>
        <p:grpSpPr>
          <a:xfrm>
            <a:off x="502920" y="457200"/>
            <a:ext cx="11155680" cy="5074920"/>
            <a:chOff x="502920" y="457200"/>
            <a:chExt cx="11155680" cy="507492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연계 체계 허브 앤 스포크 연계맵 (4개 연동)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중앙 통합 허브 ↔ 4개 연동 시스템 (표준 인터페이스 기반)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4632807" y="3383280"/>
              <a:ext cx="2926080" cy="1463040"/>
            </a:xfrm>
            <a:prstGeom prst="roundRect">
              <a:avLst/>
            </a:prstGeom>
            <a:solidFill>
              <a:srgbClr val="1F3864"/>
            </a:solidFill>
            <a:ln w="254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연계 체계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 허브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40080" y="173736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786384" y="1915667"/>
              <a:ext cx="512064" cy="512064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S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417319" y="173736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SSO 인증</a:t>
              </a:r>
            </a:p>
          </p:txBody>
        </p:sp>
        <p:cxnSp>
          <p:nvCxnSpPr>
            <p:cNvPr id="9" name="Connector 8"/>
            <p:cNvCxnSpPr/>
            <p:nvPr/>
          </p:nvCxnSpPr>
          <p:spPr>
            <a:xfrm>
              <a:off x="3108960" y="2171700"/>
              <a:ext cx="1523847" cy="194310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ounded Rectangle 9"/>
            <p:cNvSpPr/>
            <p:nvPr/>
          </p:nvSpPr>
          <p:spPr>
            <a:xfrm>
              <a:off x="640080" y="466344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786384" y="4841747"/>
              <a:ext cx="512064" cy="512064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민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417319" y="466344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민원 포털</a:t>
              </a:r>
            </a:p>
          </p:txBody>
        </p:sp>
        <p:cxnSp>
          <p:nvCxnSpPr>
            <p:cNvPr id="13" name="Connector 12"/>
            <p:cNvCxnSpPr/>
            <p:nvPr/>
          </p:nvCxnSpPr>
          <p:spPr>
            <a:xfrm flipV="1">
              <a:off x="3108960" y="4114800"/>
              <a:ext cx="1523847" cy="982979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ounded Rectangle 13"/>
            <p:cNvSpPr/>
            <p:nvPr/>
          </p:nvSpPr>
          <p:spPr>
            <a:xfrm>
              <a:off x="9082735" y="173736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9229039" y="1915667"/>
              <a:ext cx="512064" cy="512064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859975" y="173736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통계 시스템</a:t>
              </a:r>
            </a:p>
          </p:txBody>
        </p:sp>
        <p:cxnSp>
          <p:nvCxnSpPr>
            <p:cNvPr id="17" name="Connector 16"/>
            <p:cNvCxnSpPr/>
            <p:nvPr/>
          </p:nvCxnSpPr>
          <p:spPr>
            <a:xfrm flipH="1">
              <a:off x="7558887" y="2171700"/>
              <a:ext cx="1523848" cy="194310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Rounded Rectangle 17"/>
            <p:cNvSpPr/>
            <p:nvPr/>
          </p:nvSpPr>
          <p:spPr>
            <a:xfrm>
              <a:off x="9082735" y="466344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9229039" y="4841747"/>
              <a:ext cx="512064" cy="512064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알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859975" y="466344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알림 센터</a:t>
              </a:r>
            </a:p>
          </p:txBody>
        </p:sp>
        <p:cxnSp>
          <p:nvCxnSpPr>
            <p:cNvPr id="21" name="Connector 20"/>
            <p:cNvCxnSpPr/>
            <p:nvPr/>
          </p:nvCxnSpPr>
          <p:spPr>
            <a:xfrm flipH="1" flipV="1">
              <a:off x="7558887" y="4114800"/>
              <a:ext cx="1523848" cy="982979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SVC-085</a:t>
            </a:r>
          </a:p>
        </p:txBody>
      </p:sp>
      <p:grpSp>
        <p:nvGrpSpPr>
          <p:cNvPr id="26" name="asset:SVC-085"/>
          <p:cNvGrpSpPr/>
          <p:nvPr/>
        </p:nvGrpSpPr>
        <p:grpSpPr>
          <a:xfrm>
            <a:off x="502920" y="457200"/>
            <a:ext cx="11155680" cy="5074920"/>
            <a:chOff x="502920" y="457200"/>
            <a:chExt cx="11155680" cy="507492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클라우드 기반 허브 앤 스포크 연계맵 (5개 연동)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중앙 통합 허브 ↔ 5개 연동 시스템 (표준 인터페이스 기반)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4632807" y="3383280"/>
              <a:ext cx="2926080" cy="1463040"/>
            </a:xfrm>
            <a:prstGeom prst="roundRect">
              <a:avLst/>
            </a:prstGeom>
            <a:solidFill>
              <a:srgbClr val="1F3864"/>
            </a:solidFill>
            <a:ln w="254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클라우드 기반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 허브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40080" y="173736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786384" y="1915667"/>
              <a:ext cx="512064" cy="512064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민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417319" y="173736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민원 포털</a:t>
              </a:r>
            </a:p>
          </p:txBody>
        </p:sp>
        <p:cxnSp>
          <p:nvCxnSpPr>
            <p:cNvPr id="9" name="Connector 8"/>
            <p:cNvCxnSpPr/>
            <p:nvPr/>
          </p:nvCxnSpPr>
          <p:spPr>
            <a:xfrm>
              <a:off x="3108960" y="2171700"/>
              <a:ext cx="1523847" cy="194310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ounded Rectangle 9"/>
            <p:cNvSpPr/>
            <p:nvPr/>
          </p:nvSpPr>
          <p:spPr>
            <a:xfrm>
              <a:off x="640080" y="320040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786384" y="3378708"/>
              <a:ext cx="512064" cy="512064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417319" y="320040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통계 시스템</a:t>
              </a:r>
            </a:p>
          </p:txBody>
        </p:sp>
        <p:cxnSp>
          <p:nvCxnSpPr>
            <p:cNvPr id="13" name="Connector 12"/>
            <p:cNvCxnSpPr/>
            <p:nvPr/>
          </p:nvCxnSpPr>
          <p:spPr>
            <a:xfrm>
              <a:off x="3108960" y="3634740"/>
              <a:ext cx="1523847" cy="48006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ounded Rectangle 13"/>
            <p:cNvSpPr/>
            <p:nvPr/>
          </p:nvSpPr>
          <p:spPr>
            <a:xfrm>
              <a:off x="640080" y="466344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786384" y="4841747"/>
              <a:ext cx="512064" cy="512064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알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417319" y="466344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알림 센터</a:t>
              </a:r>
            </a:p>
          </p:txBody>
        </p:sp>
        <p:cxnSp>
          <p:nvCxnSpPr>
            <p:cNvPr id="17" name="Connector 16"/>
            <p:cNvCxnSpPr/>
            <p:nvPr/>
          </p:nvCxnSpPr>
          <p:spPr>
            <a:xfrm flipV="1">
              <a:off x="3108960" y="4114800"/>
              <a:ext cx="1523847" cy="982979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Rounded Rectangle 17"/>
            <p:cNvSpPr/>
            <p:nvPr/>
          </p:nvSpPr>
          <p:spPr>
            <a:xfrm>
              <a:off x="9082735" y="173736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9229039" y="1915667"/>
              <a:ext cx="512064" cy="512064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859975" y="173736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전자결재</a:t>
              </a:r>
            </a:p>
          </p:txBody>
        </p:sp>
        <p:cxnSp>
          <p:nvCxnSpPr>
            <p:cNvPr id="21" name="Connector 20"/>
            <p:cNvCxnSpPr/>
            <p:nvPr/>
          </p:nvCxnSpPr>
          <p:spPr>
            <a:xfrm flipH="1">
              <a:off x="7558887" y="2171700"/>
              <a:ext cx="1523848" cy="194310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ounded Rectangle 21"/>
            <p:cNvSpPr/>
            <p:nvPr/>
          </p:nvSpPr>
          <p:spPr>
            <a:xfrm>
              <a:off x="9082735" y="466344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9229039" y="4841747"/>
              <a:ext cx="512064" cy="512064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그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9859975" y="466344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그룹웨어</a:t>
              </a:r>
            </a:p>
          </p:txBody>
        </p:sp>
        <p:cxnSp>
          <p:nvCxnSpPr>
            <p:cNvPr id="25" name="Connector 24"/>
            <p:cNvCxnSpPr/>
            <p:nvPr/>
          </p:nvCxnSpPr>
          <p:spPr>
            <a:xfrm flipH="1" flipV="1">
              <a:off x="7558887" y="4114800"/>
              <a:ext cx="1523848" cy="982979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SVC-086</a:t>
            </a:r>
          </a:p>
        </p:txBody>
      </p:sp>
      <p:grpSp>
        <p:nvGrpSpPr>
          <p:cNvPr id="30" name="asset:SVC-086"/>
          <p:cNvGrpSpPr/>
          <p:nvPr/>
        </p:nvGrpSpPr>
        <p:grpSpPr>
          <a:xfrm>
            <a:off x="502920" y="457200"/>
            <a:ext cx="11155680" cy="5074920"/>
            <a:chOff x="502920" y="457200"/>
            <a:chExt cx="11155680" cy="507492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스마트 서비스 허브 앤 스포크 연계맵 (6개 연동)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중앙 통합 허브 ↔ 6개 연동 시스템 (표준 인터페이스 기반)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4632807" y="3383280"/>
              <a:ext cx="2926080" cy="1463040"/>
            </a:xfrm>
            <a:prstGeom prst="roundRect">
              <a:avLst/>
            </a:prstGeom>
            <a:solidFill>
              <a:srgbClr val="1F3864"/>
            </a:solidFill>
            <a:ln w="254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스마트 서비스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 허브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40080" y="173736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786384" y="1915667"/>
              <a:ext cx="512064" cy="512064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417319" y="173736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통계 시스템</a:t>
              </a:r>
            </a:p>
          </p:txBody>
        </p:sp>
        <p:cxnSp>
          <p:nvCxnSpPr>
            <p:cNvPr id="9" name="Connector 8"/>
            <p:cNvCxnSpPr/>
            <p:nvPr/>
          </p:nvCxnSpPr>
          <p:spPr>
            <a:xfrm>
              <a:off x="3108960" y="2171700"/>
              <a:ext cx="1523847" cy="194310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ounded Rectangle 9"/>
            <p:cNvSpPr/>
            <p:nvPr/>
          </p:nvSpPr>
          <p:spPr>
            <a:xfrm>
              <a:off x="640080" y="320040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786384" y="3378708"/>
              <a:ext cx="512064" cy="512064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알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417319" y="320040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알림 센터</a:t>
              </a:r>
            </a:p>
          </p:txBody>
        </p:sp>
        <p:cxnSp>
          <p:nvCxnSpPr>
            <p:cNvPr id="13" name="Connector 12"/>
            <p:cNvCxnSpPr/>
            <p:nvPr/>
          </p:nvCxnSpPr>
          <p:spPr>
            <a:xfrm>
              <a:off x="3108960" y="3634740"/>
              <a:ext cx="1523847" cy="48006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ounded Rectangle 13"/>
            <p:cNvSpPr/>
            <p:nvPr/>
          </p:nvSpPr>
          <p:spPr>
            <a:xfrm>
              <a:off x="640080" y="466344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786384" y="4841747"/>
              <a:ext cx="512064" cy="512064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417319" y="466344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전자결재</a:t>
              </a:r>
            </a:p>
          </p:txBody>
        </p:sp>
        <p:cxnSp>
          <p:nvCxnSpPr>
            <p:cNvPr id="17" name="Connector 16"/>
            <p:cNvCxnSpPr/>
            <p:nvPr/>
          </p:nvCxnSpPr>
          <p:spPr>
            <a:xfrm flipV="1">
              <a:off x="3108960" y="4114800"/>
              <a:ext cx="1523847" cy="982979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Rounded Rectangle 17"/>
            <p:cNvSpPr/>
            <p:nvPr/>
          </p:nvSpPr>
          <p:spPr>
            <a:xfrm>
              <a:off x="9082735" y="173736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9229039" y="1915667"/>
              <a:ext cx="512064" cy="512064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그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859975" y="173736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그룹웨어</a:t>
              </a:r>
            </a:p>
          </p:txBody>
        </p:sp>
        <p:cxnSp>
          <p:nvCxnSpPr>
            <p:cNvPr id="21" name="Connector 20"/>
            <p:cNvCxnSpPr/>
            <p:nvPr/>
          </p:nvCxnSpPr>
          <p:spPr>
            <a:xfrm flipH="1">
              <a:off x="7558887" y="2171700"/>
              <a:ext cx="1523848" cy="194310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ounded Rectangle 21"/>
            <p:cNvSpPr/>
            <p:nvPr/>
          </p:nvSpPr>
          <p:spPr>
            <a:xfrm>
              <a:off x="9082735" y="320040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9229039" y="3378708"/>
              <a:ext cx="512064" cy="512064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E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9859975" y="320040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ERP 시스템</a:t>
              </a:r>
            </a:p>
          </p:txBody>
        </p:sp>
        <p:cxnSp>
          <p:nvCxnSpPr>
            <p:cNvPr id="25" name="Connector 24"/>
            <p:cNvCxnSpPr/>
            <p:nvPr/>
          </p:nvCxnSpPr>
          <p:spPr>
            <a:xfrm flipH="1">
              <a:off x="7558887" y="3634740"/>
              <a:ext cx="1523848" cy="48006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Rounded Rectangle 25"/>
            <p:cNvSpPr/>
            <p:nvPr/>
          </p:nvSpPr>
          <p:spPr>
            <a:xfrm>
              <a:off x="9082735" y="466344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9229039" y="4841747"/>
              <a:ext cx="512064" cy="512064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회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9859975" y="466344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회계 시스템</a:t>
              </a:r>
            </a:p>
          </p:txBody>
        </p:sp>
        <p:cxnSp>
          <p:nvCxnSpPr>
            <p:cNvPr id="29" name="Connector 28"/>
            <p:cNvCxnSpPr/>
            <p:nvPr/>
          </p:nvCxnSpPr>
          <p:spPr>
            <a:xfrm flipH="1" flipV="1">
              <a:off x="7558887" y="4114800"/>
              <a:ext cx="1523848" cy="982979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SVC-087</a:t>
            </a:r>
          </a:p>
        </p:txBody>
      </p:sp>
      <p:grpSp>
        <p:nvGrpSpPr>
          <p:cNvPr id="34" name="asset:SVC-087"/>
          <p:cNvGrpSpPr/>
          <p:nvPr/>
        </p:nvGrpSpPr>
        <p:grpSpPr>
          <a:xfrm>
            <a:off x="502920" y="457200"/>
            <a:ext cx="11155680" cy="5074920"/>
            <a:chOff x="502920" y="457200"/>
            <a:chExt cx="11155680" cy="507492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운영 관리 허브 앤 스포크 연계맵 (7개 연동)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중앙 통합 허브 ↔ 7개 연동 시스템 (표준 인터페이스 기반)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4632807" y="3383280"/>
              <a:ext cx="2926080" cy="1463040"/>
            </a:xfrm>
            <a:prstGeom prst="roundRect">
              <a:avLst/>
            </a:prstGeom>
            <a:solidFill>
              <a:srgbClr val="1F3864"/>
            </a:solidFill>
            <a:ln w="254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운영 관리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 허브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40080" y="173736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786384" y="1915667"/>
              <a:ext cx="512064" cy="512064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알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417319" y="173736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알림 센터</a:t>
              </a:r>
            </a:p>
          </p:txBody>
        </p:sp>
        <p:cxnSp>
          <p:nvCxnSpPr>
            <p:cNvPr id="9" name="Connector 8"/>
            <p:cNvCxnSpPr/>
            <p:nvPr/>
          </p:nvCxnSpPr>
          <p:spPr>
            <a:xfrm>
              <a:off x="3108960" y="2171700"/>
              <a:ext cx="1523847" cy="194310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ounded Rectangle 9"/>
            <p:cNvSpPr/>
            <p:nvPr/>
          </p:nvSpPr>
          <p:spPr>
            <a:xfrm>
              <a:off x="640080" y="271272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786384" y="2891028"/>
              <a:ext cx="512064" cy="512064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417319" y="271272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전자결재</a:t>
              </a:r>
            </a:p>
          </p:txBody>
        </p:sp>
        <p:cxnSp>
          <p:nvCxnSpPr>
            <p:cNvPr id="13" name="Connector 12"/>
            <p:cNvCxnSpPr/>
            <p:nvPr/>
          </p:nvCxnSpPr>
          <p:spPr>
            <a:xfrm>
              <a:off x="3108960" y="3147060"/>
              <a:ext cx="1523847" cy="96774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ounded Rectangle 13"/>
            <p:cNvSpPr/>
            <p:nvPr/>
          </p:nvSpPr>
          <p:spPr>
            <a:xfrm>
              <a:off x="640080" y="368808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786384" y="3866387"/>
              <a:ext cx="512064" cy="512064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그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417319" y="368808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그룹웨어</a:t>
              </a:r>
            </a:p>
          </p:txBody>
        </p:sp>
        <p:cxnSp>
          <p:nvCxnSpPr>
            <p:cNvPr id="17" name="Connector 16"/>
            <p:cNvCxnSpPr/>
            <p:nvPr/>
          </p:nvCxnSpPr>
          <p:spPr>
            <a:xfrm flipV="1">
              <a:off x="3108960" y="4114800"/>
              <a:ext cx="1523847" cy="7619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Rounded Rectangle 17"/>
            <p:cNvSpPr/>
            <p:nvPr/>
          </p:nvSpPr>
          <p:spPr>
            <a:xfrm>
              <a:off x="640080" y="466344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786384" y="4841747"/>
              <a:ext cx="512064" cy="512064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E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417319" y="466344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ERP 시스템</a:t>
              </a:r>
            </a:p>
          </p:txBody>
        </p:sp>
        <p:cxnSp>
          <p:nvCxnSpPr>
            <p:cNvPr id="21" name="Connector 20"/>
            <p:cNvCxnSpPr/>
            <p:nvPr/>
          </p:nvCxnSpPr>
          <p:spPr>
            <a:xfrm flipV="1">
              <a:off x="3108960" y="4114800"/>
              <a:ext cx="1523847" cy="982979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ounded Rectangle 21"/>
            <p:cNvSpPr/>
            <p:nvPr/>
          </p:nvSpPr>
          <p:spPr>
            <a:xfrm>
              <a:off x="9082735" y="173736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9229039" y="1915667"/>
              <a:ext cx="512064" cy="512064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회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9859975" y="173736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회계 시스템</a:t>
              </a:r>
            </a:p>
          </p:txBody>
        </p:sp>
        <p:cxnSp>
          <p:nvCxnSpPr>
            <p:cNvPr id="25" name="Connector 24"/>
            <p:cNvCxnSpPr/>
            <p:nvPr/>
          </p:nvCxnSpPr>
          <p:spPr>
            <a:xfrm flipH="1">
              <a:off x="7558887" y="2171700"/>
              <a:ext cx="1523848" cy="194310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Rounded Rectangle 25"/>
            <p:cNvSpPr/>
            <p:nvPr/>
          </p:nvSpPr>
          <p:spPr>
            <a:xfrm>
              <a:off x="9082735" y="320040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9229039" y="3378708"/>
              <a:ext cx="512064" cy="512064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인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9859975" y="320040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인사 시스템</a:t>
              </a:r>
            </a:p>
          </p:txBody>
        </p:sp>
        <p:cxnSp>
          <p:nvCxnSpPr>
            <p:cNvPr id="29" name="Connector 28"/>
            <p:cNvCxnSpPr/>
            <p:nvPr/>
          </p:nvCxnSpPr>
          <p:spPr>
            <a:xfrm flipH="1">
              <a:off x="7558887" y="3634740"/>
              <a:ext cx="1523848" cy="48006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Rounded Rectangle 29"/>
            <p:cNvSpPr/>
            <p:nvPr/>
          </p:nvSpPr>
          <p:spPr>
            <a:xfrm>
              <a:off x="9082735" y="466344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9229039" y="4841747"/>
              <a:ext cx="512064" cy="512064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대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9859975" y="466344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대외 기관</a:t>
              </a:r>
            </a:p>
          </p:txBody>
        </p:sp>
        <p:cxnSp>
          <p:nvCxnSpPr>
            <p:cNvPr id="33" name="Connector 32"/>
            <p:cNvCxnSpPr/>
            <p:nvPr/>
          </p:nvCxnSpPr>
          <p:spPr>
            <a:xfrm flipH="1" flipV="1">
              <a:off x="7558887" y="4114800"/>
              <a:ext cx="1523848" cy="982979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SVC-088</a:t>
            </a:r>
          </a:p>
        </p:txBody>
      </p:sp>
      <p:grpSp>
        <p:nvGrpSpPr>
          <p:cNvPr id="38" name="asset:SVC-088"/>
          <p:cNvGrpSpPr/>
          <p:nvPr/>
        </p:nvGrpSpPr>
        <p:grpSpPr>
          <a:xfrm>
            <a:off x="502920" y="457200"/>
            <a:ext cx="11155680" cy="5074920"/>
            <a:chOff x="502920" y="457200"/>
            <a:chExt cx="11155680" cy="507492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대민 포털 허브 앤 스포크 연계맵 (8개 연동)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중앙 통합 허브 ↔ 8개 연동 시스템 (표준 인터페이스 기반)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4632807" y="3383280"/>
              <a:ext cx="2926080" cy="1463040"/>
            </a:xfrm>
            <a:prstGeom prst="roundRect">
              <a:avLst/>
            </a:prstGeom>
            <a:solidFill>
              <a:srgbClr val="1F3864"/>
            </a:solidFill>
            <a:ln w="254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대민 포털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 허브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40080" y="173736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786384" y="1915667"/>
              <a:ext cx="512064" cy="512064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417319" y="173736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전자결재</a:t>
              </a:r>
            </a:p>
          </p:txBody>
        </p:sp>
        <p:cxnSp>
          <p:nvCxnSpPr>
            <p:cNvPr id="9" name="Connector 8"/>
            <p:cNvCxnSpPr/>
            <p:nvPr/>
          </p:nvCxnSpPr>
          <p:spPr>
            <a:xfrm>
              <a:off x="3108960" y="2171700"/>
              <a:ext cx="1523847" cy="194310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ounded Rectangle 9"/>
            <p:cNvSpPr/>
            <p:nvPr/>
          </p:nvSpPr>
          <p:spPr>
            <a:xfrm>
              <a:off x="640080" y="271272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786384" y="2891028"/>
              <a:ext cx="512064" cy="512064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그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417319" y="271272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그룹웨어</a:t>
              </a:r>
            </a:p>
          </p:txBody>
        </p:sp>
        <p:cxnSp>
          <p:nvCxnSpPr>
            <p:cNvPr id="13" name="Connector 12"/>
            <p:cNvCxnSpPr/>
            <p:nvPr/>
          </p:nvCxnSpPr>
          <p:spPr>
            <a:xfrm>
              <a:off x="3108960" y="3147060"/>
              <a:ext cx="1523847" cy="96774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ounded Rectangle 13"/>
            <p:cNvSpPr/>
            <p:nvPr/>
          </p:nvSpPr>
          <p:spPr>
            <a:xfrm>
              <a:off x="640080" y="368808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786384" y="3866387"/>
              <a:ext cx="512064" cy="512064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E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417319" y="368808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ERP 시스템</a:t>
              </a:r>
            </a:p>
          </p:txBody>
        </p:sp>
        <p:cxnSp>
          <p:nvCxnSpPr>
            <p:cNvPr id="17" name="Connector 16"/>
            <p:cNvCxnSpPr/>
            <p:nvPr/>
          </p:nvCxnSpPr>
          <p:spPr>
            <a:xfrm flipV="1">
              <a:off x="3108960" y="4114800"/>
              <a:ext cx="1523847" cy="7619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Rounded Rectangle 17"/>
            <p:cNvSpPr/>
            <p:nvPr/>
          </p:nvSpPr>
          <p:spPr>
            <a:xfrm>
              <a:off x="640080" y="466344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786384" y="4841747"/>
              <a:ext cx="512064" cy="512064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회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417319" y="466344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회계 시스템</a:t>
              </a:r>
            </a:p>
          </p:txBody>
        </p:sp>
        <p:cxnSp>
          <p:nvCxnSpPr>
            <p:cNvPr id="21" name="Connector 20"/>
            <p:cNvCxnSpPr/>
            <p:nvPr/>
          </p:nvCxnSpPr>
          <p:spPr>
            <a:xfrm flipV="1">
              <a:off x="3108960" y="4114800"/>
              <a:ext cx="1523847" cy="982979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ounded Rectangle 21"/>
            <p:cNvSpPr/>
            <p:nvPr/>
          </p:nvSpPr>
          <p:spPr>
            <a:xfrm>
              <a:off x="9082735" y="173736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9229039" y="1915667"/>
              <a:ext cx="512064" cy="512064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인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9859975" y="173736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인사 시스템</a:t>
              </a:r>
            </a:p>
          </p:txBody>
        </p:sp>
        <p:cxnSp>
          <p:nvCxnSpPr>
            <p:cNvPr id="25" name="Connector 24"/>
            <p:cNvCxnSpPr/>
            <p:nvPr/>
          </p:nvCxnSpPr>
          <p:spPr>
            <a:xfrm flipH="1">
              <a:off x="7558887" y="2171700"/>
              <a:ext cx="1523848" cy="194310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Rounded Rectangle 25"/>
            <p:cNvSpPr/>
            <p:nvPr/>
          </p:nvSpPr>
          <p:spPr>
            <a:xfrm>
              <a:off x="9082735" y="271272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9229039" y="2891028"/>
              <a:ext cx="512064" cy="512064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대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9859975" y="271272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대외 기관</a:t>
              </a:r>
            </a:p>
          </p:txBody>
        </p:sp>
        <p:cxnSp>
          <p:nvCxnSpPr>
            <p:cNvPr id="29" name="Connector 28"/>
            <p:cNvCxnSpPr/>
            <p:nvPr/>
          </p:nvCxnSpPr>
          <p:spPr>
            <a:xfrm flipH="1">
              <a:off x="7558887" y="3147060"/>
              <a:ext cx="1523848" cy="96774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Rounded Rectangle 29"/>
            <p:cNvSpPr/>
            <p:nvPr/>
          </p:nvSpPr>
          <p:spPr>
            <a:xfrm>
              <a:off x="9082735" y="368808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9229039" y="3866387"/>
              <a:ext cx="512064" cy="512064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S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9859975" y="368808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SSO 인증</a:t>
              </a:r>
            </a:p>
          </p:txBody>
        </p:sp>
        <p:cxnSp>
          <p:nvCxnSpPr>
            <p:cNvPr id="33" name="Connector 32"/>
            <p:cNvCxnSpPr/>
            <p:nvPr/>
          </p:nvCxnSpPr>
          <p:spPr>
            <a:xfrm flipH="1" flipV="1">
              <a:off x="7558887" y="4114800"/>
              <a:ext cx="1523848" cy="7619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Rounded Rectangle 33"/>
            <p:cNvSpPr/>
            <p:nvPr/>
          </p:nvSpPr>
          <p:spPr>
            <a:xfrm>
              <a:off x="9082735" y="466344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Rounded Rectangle 34"/>
            <p:cNvSpPr/>
            <p:nvPr/>
          </p:nvSpPr>
          <p:spPr>
            <a:xfrm>
              <a:off x="9229039" y="4841747"/>
              <a:ext cx="512064" cy="512064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민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9859975" y="466344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민원 포털</a:t>
              </a:r>
            </a:p>
          </p:txBody>
        </p:sp>
        <p:cxnSp>
          <p:nvCxnSpPr>
            <p:cNvPr id="37" name="Connector 36"/>
            <p:cNvCxnSpPr/>
            <p:nvPr/>
          </p:nvCxnSpPr>
          <p:spPr>
            <a:xfrm flipH="1" flipV="1">
              <a:off x="7558887" y="4114800"/>
              <a:ext cx="1523848" cy="982979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SVC-089</a:t>
            </a:r>
          </a:p>
        </p:txBody>
      </p:sp>
      <p:grpSp>
        <p:nvGrpSpPr>
          <p:cNvPr id="22" name="asset:SVC-089"/>
          <p:cNvGrpSpPr/>
          <p:nvPr/>
        </p:nvGrpSpPr>
        <p:grpSpPr>
          <a:xfrm>
            <a:off x="502920" y="457200"/>
            <a:ext cx="11155680" cy="5074920"/>
            <a:chOff x="502920" y="457200"/>
            <a:chExt cx="11155680" cy="507492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정보화 사업 허브 앤 스포크 연계맵 (4개 연동)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중앙 통합 허브 ↔ 4개 연동 시스템 (표준 인터페이스 기반)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4632807" y="3383280"/>
              <a:ext cx="2926080" cy="1463040"/>
            </a:xfrm>
            <a:prstGeom prst="roundRect">
              <a:avLst/>
            </a:prstGeom>
            <a:solidFill>
              <a:srgbClr val="1F3864"/>
            </a:solidFill>
            <a:ln w="254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정보화 사업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 허브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40080" y="173736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786384" y="1915667"/>
              <a:ext cx="512064" cy="512064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그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417319" y="173736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그룹웨어</a:t>
              </a:r>
            </a:p>
          </p:txBody>
        </p:sp>
        <p:cxnSp>
          <p:nvCxnSpPr>
            <p:cNvPr id="9" name="Connector 8"/>
            <p:cNvCxnSpPr/>
            <p:nvPr/>
          </p:nvCxnSpPr>
          <p:spPr>
            <a:xfrm>
              <a:off x="3108960" y="2171700"/>
              <a:ext cx="1523847" cy="194310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ounded Rectangle 9"/>
            <p:cNvSpPr/>
            <p:nvPr/>
          </p:nvSpPr>
          <p:spPr>
            <a:xfrm>
              <a:off x="640080" y="466344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786384" y="4841747"/>
              <a:ext cx="512064" cy="512064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E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417319" y="466344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ERP 시스템</a:t>
              </a:r>
            </a:p>
          </p:txBody>
        </p:sp>
        <p:cxnSp>
          <p:nvCxnSpPr>
            <p:cNvPr id="13" name="Connector 12"/>
            <p:cNvCxnSpPr/>
            <p:nvPr/>
          </p:nvCxnSpPr>
          <p:spPr>
            <a:xfrm flipV="1">
              <a:off x="3108960" y="4114800"/>
              <a:ext cx="1523847" cy="982979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ounded Rectangle 13"/>
            <p:cNvSpPr/>
            <p:nvPr/>
          </p:nvSpPr>
          <p:spPr>
            <a:xfrm>
              <a:off x="9082735" y="173736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9229039" y="1915667"/>
              <a:ext cx="512064" cy="512064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회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859975" y="173736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회계 시스템</a:t>
              </a:r>
            </a:p>
          </p:txBody>
        </p:sp>
        <p:cxnSp>
          <p:nvCxnSpPr>
            <p:cNvPr id="17" name="Connector 16"/>
            <p:cNvCxnSpPr/>
            <p:nvPr/>
          </p:nvCxnSpPr>
          <p:spPr>
            <a:xfrm flipH="1">
              <a:off x="7558887" y="2171700"/>
              <a:ext cx="1523848" cy="194310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Rounded Rectangle 17"/>
            <p:cNvSpPr/>
            <p:nvPr/>
          </p:nvSpPr>
          <p:spPr>
            <a:xfrm>
              <a:off x="9082735" y="466344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9229039" y="4841747"/>
              <a:ext cx="512064" cy="512064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인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859975" y="466344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인사 시스템</a:t>
              </a:r>
            </a:p>
          </p:txBody>
        </p:sp>
        <p:cxnSp>
          <p:nvCxnSpPr>
            <p:cNvPr id="21" name="Connector 20"/>
            <p:cNvCxnSpPr/>
            <p:nvPr/>
          </p:nvCxnSpPr>
          <p:spPr>
            <a:xfrm flipH="1" flipV="1">
              <a:off x="7558887" y="4114800"/>
              <a:ext cx="1523848" cy="982979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SVC-090</a:t>
            </a:r>
          </a:p>
        </p:txBody>
      </p:sp>
      <p:grpSp>
        <p:nvGrpSpPr>
          <p:cNvPr id="26" name="asset:SVC-090"/>
          <p:cNvGrpSpPr/>
          <p:nvPr/>
        </p:nvGrpSpPr>
        <p:grpSpPr>
          <a:xfrm>
            <a:off x="502920" y="457200"/>
            <a:ext cx="11155680" cy="5074920"/>
            <a:chOff x="502920" y="457200"/>
            <a:chExt cx="11155680" cy="507492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플랫폼 고도화 허브 앤 스포크 연계맵 (5개 연동)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중앙 통합 허브 ↔ 5개 연동 시스템 (표준 인터페이스 기반)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4632807" y="3383280"/>
              <a:ext cx="2926080" cy="1463040"/>
            </a:xfrm>
            <a:prstGeom prst="roundRect">
              <a:avLst/>
            </a:prstGeom>
            <a:solidFill>
              <a:srgbClr val="1F3864"/>
            </a:solidFill>
            <a:ln w="254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플랫폼 고도화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 허브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40080" y="173736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786384" y="1915667"/>
              <a:ext cx="512064" cy="512064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E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417319" y="173736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ERP 시스템</a:t>
              </a:r>
            </a:p>
          </p:txBody>
        </p:sp>
        <p:cxnSp>
          <p:nvCxnSpPr>
            <p:cNvPr id="9" name="Connector 8"/>
            <p:cNvCxnSpPr/>
            <p:nvPr/>
          </p:nvCxnSpPr>
          <p:spPr>
            <a:xfrm>
              <a:off x="3108960" y="2171700"/>
              <a:ext cx="1523847" cy="194310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ounded Rectangle 9"/>
            <p:cNvSpPr/>
            <p:nvPr/>
          </p:nvSpPr>
          <p:spPr>
            <a:xfrm>
              <a:off x="640080" y="320040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786384" y="3378708"/>
              <a:ext cx="512064" cy="512064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회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417319" y="320040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회계 시스템</a:t>
              </a:r>
            </a:p>
          </p:txBody>
        </p:sp>
        <p:cxnSp>
          <p:nvCxnSpPr>
            <p:cNvPr id="13" name="Connector 12"/>
            <p:cNvCxnSpPr/>
            <p:nvPr/>
          </p:nvCxnSpPr>
          <p:spPr>
            <a:xfrm>
              <a:off x="3108960" y="3634740"/>
              <a:ext cx="1523847" cy="48006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ounded Rectangle 13"/>
            <p:cNvSpPr/>
            <p:nvPr/>
          </p:nvSpPr>
          <p:spPr>
            <a:xfrm>
              <a:off x="640080" y="466344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786384" y="4841747"/>
              <a:ext cx="512064" cy="512064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인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417319" y="466344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인사 시스템</a:t>
              </a:r>
            </a:p>
          </p:txBody>
        </p:sp>
        <p:cxnSp>
          <p:nvCxnSpPr>
            <p:cNvPr id="17" name="Connector 16"/>
            <p:cNvCxnSpPr/>
            <p:nvPr/>
          </p:nvCxnSpPr>
          <p:spPr>
            <a:xfrm flipV="1">
              <a:off x="3108960" y="4114800"/>
              <a:ext cx="1523847" cy="982979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Rounded Rectangle 17"/>
            <p:cNvSpPr/>
            <p:nvPr/>
          </p:nvSpPr>
          <p:spPr>
            <a:xfrm>
              <a:off x="9082735" y="173736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9229039" y="1915667"/>
              <a:ext cx="512064" cy="512064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대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859975" y="173736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대외 기관</a:t>
              </a:r>
            </a:p>
          </p:txBody>
        </p:sp>
        <p:cxnSp>
          <p:nvCxnSpPr>
            <p:cNvPr id="21" name="Connector 20"/>
            <p:cNvCxnSpPr/>
            <p:nvPr/>
          </p:nvCxnSpPr>
          <p:spPr>
            <a:xfrm flipH="1">
              <a:off x="7558887" y="2171700"/>
              <a:ext cx="1523848" cy="194310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ounded Rectangle 21"/>
            <p:cNvSpPr/>
            <p:nvPr/>
          </p:nvSpPr>
          <p:spPr>
            <a:xfrm>
              <a:off x="9082735" y="466344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9229039" y="4841747"/>
              <a:ext cx="512064" cy="512064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S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9859975" y="466344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SSO 인증</a:t>
              </a:r>
            </a:p>
          </p:txBody>
        </p:sp>
        <p:cxnSp>
          <p:nvCxnSpPr>
            <p:cNvPr id="25" name="Connector 24"/>
            <p:cNvCxnSpPr/>
            <p:nvPr/>
          </p:nvCxnSpPr>
          <p:spPr>
            <a:xfrm flipH="1" flipV="1">
              <a:off x="7558887" y="4114800"/>
              <a:ext cx="1523848" cy="982979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SVC-091</a:t>
            </a:r>
          </a:p>
        </p:txBody>
      </p:sp>
      <p:grpSp>
        <p:nvGrpSpPr>
          <p:cNvPr id="30" name="asset:SVC-091"/>
          <p:cNvGrpSpPr/>
          <p:nvPr/>
        </p:nvGrpSpPr>
        <p:grpSpPr>
          <a:xfrm>
            <a:off x="502920" y="457200"/>
            <a:ext cx="11155680" cy="5074920"/>
            <a:chOff x="502920" y="457200"/>
            <a:chExt cx="11155680" cy="507492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디지털 전환 허브 앤 스포크 연계맵 (6개 연동)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중앙 통합 허브 ↔ 6개 연동 시스템 (표준 인터페이스 기반)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4632807" y="3383280"/>
              <a:ext cx="2926080" cy="1463040"/>
            </a:xfrm>
            <a:prstGeom prst="roundRect">
              <a:avLst/>
            </a:prstGeom>
            <a:solidFill>
              <a:srgbClr val="1F3864"/>
            </a:solidFill>
            <a:ln w="254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디지털 전환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 허브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40080" y="173736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786384" y="1915667"/>
              <a:ext cx="512064" cy="512064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회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417319" y="173736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회계 시스템</a:t>
              </a:r>
            </a:p>
          </p:txBody>
        </p:sp>
        <p:cxnSp>
          <p:nvCxnSpPr>
            <p:cNvPr id="9" name="Connector 8"/>
            <p:cNvCxnSpPr/>
            <p:nvPr/>
          </p:nvCxnSpPr>
          <p:spPr>
            <a:xfrm>
              <a:off x="3108960" y="2171700"/>
              <a:ext cx="1523847" cy="194310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ounded Rectangle 9"/>
            <p:cNvSpPr/>
            <p:nvPr/>
          </p:nvSpPr>
          <p:spPr>
            <a:xfrm>
              <a:off x="640080" y="320040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786384" y="3378708"/>
              <a:ext cx="512064" cy="512064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인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417319" y="320040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인사 시스템</a:t>
              </a:r>
            </a:p>
          </p:txBody>
        </p:sp>
        <p:cxnSp>
          <p:nvCxnSpPr>
            <p:cNvPr id="13" name="Connector 12"/>
            <p:cNvCxnSpPr/>
            <p:nvPr/>
          </p:nvCxnSpPr>
          <p:spPr>
            <a:xfrm>
              <a:off x="3108960" y="3634740"/>
              <a:ext cx="1523847" cy="48006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ounded Rectangle 13"/>
            <p:cNvSpPr/>
            <p:nvPr/>
          </p:nvSpPr>
          <p:spPr>
            <a:xfrm>
              <a:off x="640080" y="466344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786384" y="4841747"/>
              <a:ext cx="512064" cy="512064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대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417319" y="466344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대외 기관</a:t>
              </a:r>
            </a:p>
          </p:txBody>
        </p:sp>
        <p:cxnSp>
          <p:nvCxnSpPr>
            <p:cNvPr id="17" name="Connector 16"/>
            <p:cNvCxnSpPr/>
            <p:nvPr/>
          </p:nvCxnSpPr>
          <p:spPr>
            <a:xfrm flipV="1">
              <a:off x="3108960" y="4114800"/>
              <a:ext cx="1523847" cy="982979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Rounded Rectangle 17"/>
            <p:cNvSpPr/>
            <p:nvPr/>
          </p:nvSpPr>
          <p:spPr>
            <a:xfrm>
              <a:off x="9082735" y="173736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9229039" y="1915667"/>
              <a:ext cx="512064" cy="512064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S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859975" y="173736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SSO 인증</a:t>
              </a:r>
            </a:p>
          </p:txBody>
        </p:sp>
        <p:cxnSp>
          <p:nvCxnSpPr>
            <p:cNvPr id="21" name="Connector 20"/>
            <p:cNvCxnSpPr/>
            <p:nvPr/>
          </p:nvCxnSpPr>
          <p:spPr>
            <a:xfrm flipH="1">
              <a:off x="7558887" y="2171700"/>
              <a:ext cx="1523848" cy="194310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ounded Rectangle 21"/>
            <p:cNvSpPr/>
            <p:nvPr/>
          </p:nvSpPr>
          <p:spPr>
            <a:xfrm>
              <a:off x="9082735" y="320040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9229039" y="3378708"/>
              <a:ext cx="512064" cy="512064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민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9859975" y="320040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민원 포털</a:t>
              </a:r>
            </a:p>
          </p:txBody>
        </p:sp>
        <p:cxnSp>
          <p:nvCxnSpPr>
            <p:cNvPr id="25" name="Connector 24"/>
            <p:cNvCxnSpPr/>
            <p:nvPr/>
          </p:nvCxnSpPr>
          <p:spPr>
            <a:xfrm flipH="1">
              <a:off x="7558887" y="3634740"/>
              <a:ext cx="1523848" cy="48006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Rounded Rectangle 25"/>
            <p:cNvSpPr/>
            <p:nvPr/>
          </p:nvSpPr>
          <p:spPr>
            <a:xfrm>
              <a:off x="9082735" y="466344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9229039" y="4841747"/>
              <a:ext cx="512064" cy="512064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9859975" y="466344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통계 시스템</a:t>
              </a:r>
            </a:p>
          </p:txBody>
        </p:sp>
        <p:cxnSp>
          <p:nvCxnSpPr>
            <p:cNvPr id="29" name="Connector 28"/>
            <p:cNvCxnSpPr/>
            <p:nvPr/>
          </p:nvCxnSpPr>
          <p:spPr>
            <a:xfrm flipH="1" flipV="1">
              <a:off x="7558887" y="4114800"/>
              <a:ext cx="1523848" cy="982979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SVC-092</a:t>
            </a:r>
          </a:p>
        </p:txBody>
      </p:sp>
      <p:grpSp>
        <p:nvGrpSpPr>
          <p:cNvPr id="34" name="asset:SVC-092"/>
          <p:cNvGrpSpPr/>
          <p:nvPr/>
        </p:nvGrpSpPr>
        <p:grpSpPr>
          <a:xfrm>
            <a:off x="502920" y="457200"/>
            <a:ext cx="11155680" cy="5074920"/>
            <a:chOff x="502920" y="457200"/>
            <a:chExt cx="11155680" cy="507492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공공데이터 개방 허브 앤 스포크 연계맵 (7개 연동)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중앙 통합 허브 ↔ 7개 연동 시스템 (표준 인터페이스 기반)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4632807" y="3383280"/>
              <a:ext cx="2926080" cy="1463040"/>
            </a:xfrm>
            <a:prstGeom prst="roundRect">
              <a:avLst/>
            </a:prstGeom>
            <a:solidFill>
              <a:srgbClr val="1F3864"/>
            </a:solidFill>
            <a:ln w="254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공공데이터 개방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 허브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40080" y="173736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786384" y="1915667"/>
              <a:ext cx="512064" cy="512064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인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417319" y="173736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인사 시스템</a:t>
              </a:r>
            </a:p>
          </p:txBody>
        </p:sp>
        <p:cxnSp>
          <p:nvCxnSpPr>
            <p:cNvPr id="9" name="Connector 8"/>
            <p:cNvCxnSpPr/>
            <p:nvPr/>
          </p:nvCxnSpPr>
          <p:spPr>
            <a:xfrm>
              <a:off x="3108960" y="2171700"/>
              <a:ext cx="1523847" cy="194310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ounded Rectangle 9"/>
            <p:cNvSpPr/>
            <p:nvPr/>
          </p:nvSpPr>
          <p:spPr>
            <a:xfrm>
              <a:off x="640080" y="271272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786384" y="2891028"/>
              <a:ext cx="512064" cy="512064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대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417319" y="271272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대외 기관</a:t>
              </a:r>
            </a:p>
          </p:txBody>
        </p:sp>
        <p:cxnSp>
          <p:nvCxnSpPr>
            <p:cNvPr id="13" name="Connector 12"/>
            <p:cNvCxnSpPr/>
            <p:nvPr/>
          </p:nvCxnSpPr>
          <p:spPr>
            <a:xfrm>
              <a:off x="3108960" y="3147060"/>
              <a:ext cx="1523847" cy="96774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ounded Rectangle 13"/>
            <p:cNvSpPr/>
            <p:nvPr/>
          </p:nvSpPr>
          <p:spPr>
            <a:xfrm>
              <a:off x="640080" y="368808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786384" y="3866387"/>
              <a:ext cx="512064" cy="512064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S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417319" y="368808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SSO 인증</a:t>
              </a:r>
            </a:p>
          </p:txBody>
        </p:sp>
        <p:cxnSp>
          <p:nvCxnSpPr>
            <p:cNvPr id="17" name="Connector 16"/>
            <p:cNvCxnSpPr/>
            <p:nvPr/>
          </p:nvCxnSpPr>
          <p:spPr>
            <a:xfrm flipV="1">
              <a:off x="3108960" y="4114800"/>
              <a:ext cx="1523847" cy="7619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Rounded Rectangle 17"/>
            <p:cNvSpPr/>
            <p:nvPr/>
          </p:nvSpPr>
          <p:spPr>
            <a:xfrm>
              <a:off x="640080" y="466344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786384" y="4841747"/>
              <a:ext cx="512064" cy="512064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민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417319" y="466344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민원 포털</a:t>
              </a:r>
            </a:p>
          </p:txBody>
        </p:sp>
        <p:cxnSp>
          <p:nvCxnSpPr>
            <p:cNvPr id="21" name="Connector 20"/>
            <p:cNvCxnSpPr/>
            <p:nvPr/>
          </p:nvCxnSpPr>
          <p:spPr>
            <a:xfrm flipV="1">
              <a:off x="3108960" y="4114800"/>
              <a:ext cx="1523847" cy="982979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ounded Rectangle 21"/>
            <p:cNvSpPr/>
            <p:nvPr/>
          </p:nvSpPr>
          <p:spPr>
            <a:xfrm>
              <a:off x="9082735" y="173736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9229039" y="1915667"/>
              <a:ext cx="512064" cy="512064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9859975" y="173736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통계 시스템</a:t>
              </a:r>
            </a:p>
          </p:txBody>
        </p:sp>
        <p:cxnSp>
          <p:nvCxnSpPr>
            <p:cNvPr id="25" name="Connector 24"/>
            <p:cNvCxnSpPr/>
            <p:nvPr/>
          </p:nvCxnSpPr>
          <p:spPr>
            <a:xfrm flipH="1">
              <a:off x="7558887" y="2171700"/>
              <a:ext cx="1523848" cy="194310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Rounded Rectangle 25"/>
            <p:cNvSpPr/>
            <p:nvPr/>
          </p:nvSpPr>
          <p:spPr>
            <a:xfrm>
              <a:off x="9082735" y="320040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9229039" y="3378708"/>
              <a:ext cx="512064" cy="512064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알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9859975" y="320040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알림 센터</a:t>
              </a:r>
            </a:p>
          </p:txBody>
        </p:sp>
        <p:cxnSp>
          <p:nvCxnSpPr>
            <p:cNvPr id="29" name="Connector 28"/>
            <p:cNvCxnSpPr/>
            <p:nvPr/>
          </p:nvCxnSpPr>
          <p:spPr>
            <a:xfrm flipH="1">
              <a:off x="7558887" y="3634740"/>
              <a:ext cx="1523848" cy="48006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Rounded Rectangle 29"/>
            <p:cNvSpPr/>
            <p:nvPr/>
          </p:nvSpPr>
          <p:spPr>
            <a:xfrm>
              <a:off x="9082735" y="466344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9229039" y="4841747"/>
              <a:ext cx="512064" cy="512064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9859975" y="466344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전자결재</a:t>
              </a:r>
            </a:p>
          </p:txBody>
        </p:sp>
        <p:cxnSp>
          <p:nvCxnSpPr>
            <p:cNvPr id="33" name="Connector 32"/>
            <p:cNvCxnSpPr/>
            <p:nvPr/>
          </p:nvCxnSpPr>
          <p:spPr>
            <a:xfrm flipH="1" flipV="1">
              <a:off x="7558887" y="4114800"/>
              <a:ext cx="1523848" cy="982979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SVC-093</a:t>
            </a:r>
          </a:p>
        </p:txBody>
      </p:sp>
      <p:grpSp>
        <p:nvGrpSpPr>
          <p:cNvPr id="38" name="asset:SVC-093"/>
          <p:cNvGrpSpPr/>
          <p:nvPr/>
        </p:nvGrpSpPr>
        <p:grpSpPr>
          <a:xfrm>
            <a:off x="502920" y="457200"/>
            <a:ext cx="11155680" cy="5074920"/>
            <a:chOff x="502920" y="457200"/>
            <a:chExt cx="11155680" cy="507492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업무 자동화 허브 앤 스포크 연계맵 (8개 연동)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중앙 통합 허브 ↔ 8개 연동 시스템 (표준 인터페이스 기반)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4632807" y="3383280"/>
              <a:ext cx="2926080" cy="1463040"/>
            </a:xfrm>
            <a:prstGeom prst="roundRect">
              <a:avLst/>
            </a:prstGeom>
            <a:solidFill>
              <a:srgbClr val="1F3864"/>
            </a:solidFill>
            <a:ln w="254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업무 자동화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 허브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40080" y="173736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786384" y="1915667"/>
              <a:ext cx="512064" cy="512064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대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417319" y="173736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대외 기관</a:t>
              </a:r>
            </a:p>
          </p:txBody>
        </p:sp>
        <p:cxnSp>
          <p:nvCxnSpPr>
            <p:cNvPr id="9" name="Connector 8"/>
            <p:cNvCxnSpPr/>
            <p:nvPr/>
          </p:nvCxnSpPr>
          <p:spPr>
            <a:xfrm>
              <a:off x="3108960" y="2171700"/>
              <a:ext cx="1523847" cy="194310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ounded Rectangle 9"/>
            <p:cNvSpPr/>
            <p:nvPr/>
          </p:nvSpPr>
          <p:spPr>
            <a:xfrm>
              <a:off x="640080" y="271272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786384" y="2891028"/>
              <a:ext cx="512064" cy="512064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S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417319" y="271272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SSO 인증</a:t>
              </a:r>
            </a:p>
          </p:txBody>
        </p:sp>
        <p:cxnSp>
          <p:nvCxnSpPr>
            <p:cNvPr id="13" name="Connector 12"/>
            <p:cNvCxnSpPr/>
            <p:nvPr/>
          </p:nvCxnSpPr>
          <p:spPr>
            <a:xfrm>
              <a:off x="3108960" y="3147060"/>
              <a:ext cx="1523847" cy="96774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ounded Rectangle 13"/>
            <p:cNvSpPr/>
            <p:nvPr/>
          </p:nvSpPr>
          <p:spPr>
            <a:xfrm>
              <a:off x="640080" y="368808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786384" y="3866387"/>
              <a:ext cx="512064" cy="512064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민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417319" y="368808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민원 포털</a:t>
              </a:r>
            </a:p>
          </p:txBody>
        </p:sp>
        <p:cxnSp>
          <p:nvCxnSpPr>
            <p:cNvPr id="17" name="Connector 16"/>
            <p:cNvCxnSpPr/>
            <p:nvPr/>
          </p:nvCxnSpPr>
          <p:spPr>
            <a:xfrm flipV="1">
              <a:off x="3108960" y="4114800"/>
              <a:ext cx="1523847" cy="7619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Rounded Rectangle 17"/>
            <p:cNvSpPr/>
            <p:nvPr/>
          </p:nvSpPr>
          <p:spPr>
            <a:xfrm>
              <a:off x="640080" y="466344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786384" y="4841747"/>
              <a:ext cx="512064" cy="512064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417319" y="466344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통계 시스템</a:t>
              </a:r>
            </a:p>
          </p:txBody>
        </p:sp>
        <p:cxnSp>
          <p:nvCxnSpPr>
            <p:cNvPr id="21" name="Connector 20"/>
            <p:cNvCxnSpPr/>
            <p:nvPr/>
          </p:nvCxnSpPr>
          <p:spPr>
            <a:xfrm flipV="1">
              <a:off x="3108960" y="4114800"/>
              <a:ext cx="1523847" cy="982979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ounded Rectangle 21"/>
            <p:cNvSpPr/>
            <p:nvPr/>
          </p:nvSpPr>
          <p:spPr>
            <a:xfrm>
              <a:off x="9082735" y="173736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9229039" y="1915667"/>
              <a:ext cx="512064" cy="512064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알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9859975" y="173736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알림 센터</a:t>
              </a:r>
            </a:p>
          </p:txBody>
        </p:sp>
        <p:cxnSp>
          <p:nvCxnSpPr>
            <p:cNvPr id="25" name="Connector 24"/>
            <p:cNvCxnSpPr/>
            <p:nvPr/>
          </p:nvCxnSpPr>
          <p:spPr>
            <a:xfrm flipH="1">
              <a:off x="7558887" y="2171700"/>
              <a:ext cx="1523848" cy="194310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Rounded Rectangle 25"/>
            <p:cNvSpPr/>
            <p:nvPr/>
          </p:nvSpPr>
          <p:spPr>
            <a:xfrm>
              <a:off x="9082735" y="271272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9229039" y="2891028"/>
              <a:ext cx="512064" cy="512064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9859975" y="271272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전자결재</a:t>
              </a:r>
            </a:p>
          </p:txBody>
        </p:sp>
        <p:cxnSp>
          <p:nvCxnSpPr>
            <p:cNvPr id="29" name="Connector 28"/>
            <p:cNvCxnSpPr/>
            <p:nvPr/>
          </p:nvCxnSpPr>
          <p:spPr>
            <a:xfrm flipH="1">
              <a:off x="7558887" y="3147060"/>
              <a:ext cx="1523848" cy="96774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Rounded Rectangle 29"/>
            <p:cNvSpPr/>
            <p:nvPr/>
          </p:nvSpPr>
          <p:spPr>
            <a:xfrm>
              <a:off x="9082735" y="368808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9229039" y="3866387"/>
              <a:ext cx="512064" cy="512064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그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9859975" y="368808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그룹웨어</a:t>
              </a:r>
            </a:p>
          </p:txBody>
        </p:sp>
        <p:cxnSp>
          <p:nvCxnSpPr>
            <p:cNvPr id="33" name="Connector 32"/>
            <p:cNvCxnSpPr/>
            <p:nvPr/>
          </p:nvCxnSpPr>
          <p:spPr>
            <a:xfrm flipH="1" flipV="1">
              <a:off x="7558887" y="4114800"/>
              <a:ext cx="1523848" cy="7619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Rounded Rectangle 33"/>
            <p:cNvSpPr/>
            <p:nvPr/>
          </p:nvSpPr>
          <p:spPr>
            <a:xfrm>
              <a:off x="9082735" y="466344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Rounded Rectangle 34"/>
            <p:cNvSpPr/>
            <p:nvPr/>
          </p:nvSpPr>
          <p:spPr>
            <a:xfrm>
              <a:off x="9229039" y="4841747"/>
              <a:ext cx="512064" cy="512064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E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9859975" y="466344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ERP 시스템</a:t>
              </a:r>
            </a:p>
          </p:txBody>
        </p:sp>
        <p:cxnSp>
          <p:nvCxnSpPr>
            <p:cNvPr id="37" name="Connector 36"/>
            <p:cNvCxnSpPr/>
            <p:nvPr/>
          </p:nvCxnSpPr>
          <p:spPr>
            <a:xfrm flipH="1" flipV="1">
              <a:off x="7558887" y="4114800"/>
              <a:ext cx="1523848" cy="982979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SVC-094</a:t>
            </a:r>
          </a:p>
        </p:txBody>
      </p:sp>
      <p:grpSp>
        <p:nvGrpSpPr>
          <p:cNvPr id="22" name="asset:SVC-094"/>
          <p:cNvGrpSpPr/>
          <p:nvPr/>
        </p:nvGrpSpPr>
        <p:grpSpPr>
          <a:xfrm>
            <a:off x="502920" y="457200"/>
            <a:ext cx="11155680" cy="5074920"/>
            <a:chOff x="502920" y="457200"/>
            <a:chExt cx="11155680" cy="507492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보안 관제 체계 허브 앤 스포크 연계맵 (4개 연동)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중앙 통합 허브 ↔ 4개 연동 시스템 (표준 인터페이스 기반)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4632807" y="3383280"/>
              <a:ext cx="2926080" cy="1463040"/>
            </a:xfrm>
            <a:prstGeom prst="roundRect">
              <a:avLst/>
            </a:prstGeom>
            <a:solidFill>
              <a:srgbClr val="1F3864"/>
            </a:solidFill>
            <a:ln w="254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보안 관제 체계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 허브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40080" y="173736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786384" y="1915667"/>
              <a:ext cx="512064" cy="512064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S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417319" y="173736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SSO 인증</a:t>
              </a:r>
            </a:p>
          </p:txBody>
        </p:sp>
        <p:cxnSp>
          <p:nvCxnSpPr>
            <p:cNvPr id="9" name="Connector 8"/>
            <p:cNvCxnSpPr/>
            <p:nvPr/>
          </p:nvCxnSpPr>
          <p:spPr>
            <a:xfrm>
              <a:off x="3108960" y="2171700"/>
              <a:ext cx="1523847" cy="194310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ounded Rectangle 9"/>
            <p:cNvSpPr/>
            <p:nvPr/>
          </p:nvSpPr>
          <p:spPr>
            <a:xfrm>
              <a:off x="640080" y="466344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786384" y="4841747"/>
              <a:ext cx="512064" cy="512064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민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417319" y="466344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민원 포털</a:t>
              </a:r>
            </a:p>
          </p:txBody>
        </p:sp>
        <p:cxnSp>
          <p:nvCxnSpPr>
            <p:cNvPr id="13" name="Connector 12"/>
            <p:cNvCxnSpPr/>
            <p:nvPr/>
          </p:nvCxnSpPr>
          <p:spPr>
            <a:xfrm flipV="1">
              <a:off x="3108960" y="4114800"/>
              <a:ext cx="1523847" cy="982979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ounded Rectangle 13"/>
            <p:cNvSpPr/>
            <p:nvPr/>
          </p:nvSpPr>
          <p:spPr>
            <a:xfrm>
              <a:off x="9082735" y="173736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9229039" y="1915667"/>
              <a:ext cx="512064" cy="512064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859975" y="173736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통계 시스템</a:t>
              </a:r>
            </a:p>
          </p:txBody>
        </p:sp>
        <p:cxnSp>
          <p:nvCxnSpPr>
            <p:cNvPr id="17" name="Connector 16"/>
            <p:cNvCxnSpPr/>
            <p:nvPr/>
          </p:nvCxnSpPr>
          <p:spPr>
            <a:xfrm flipH="1">
              <a:off x="7558887" y="2171700"/>
              <a:ext cx="1523848" cy="194310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Rounded Rectangle 17"/>
            <p:cNvSpPr/>
            <p:nvPr/>
          </p:nvSpPr>
          <p:spPr>
            <a:xfrm>
              <a:off x="9082735" y="466344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9229039" y="4841747"/>
              <a:ext cx="512064" cy="512064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알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859975" y="4663440"/>
              <a:ext cx="16002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알림 센터</a:t>
              </a:r>
            </a:p>
          </p:txBody>
        </p:sp>
        <p:cxnSp>
          <p:nvCxnSpPr>
            <p:cNvPr id="21" name="Connector 20"/>
            <p:cNvCxnSpPr/>
            <p:nvPr/>
          </p:nvCxnSpPr>
          <p:spPr>
            <a:xfrm flipH="1" flipV="1">
              <a:off x="7558887" y="4114800"/>
              <a:ext cx="1523848" cy="982979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