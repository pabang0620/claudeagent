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SVC-079</a:t>
            </a:r>
          </a:p>
        </p:txBody>
      </p:sp>
      <p:grpSp>
        <p:nvGrpSpPr>
          <p:cNvPr id="22" name="asset:SVC-079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통합 플랫폼 허브 앤 스포크 연계맵 (4개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4개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플랫폼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그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그룹웨어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ERP 시스템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회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회계 시스템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인사 시스템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SVC-080</a:t>
            </a:r>
          </a:p>
        </p:txBody>
      </p:sp>
      <p:grpSp>
        <p:nvGrpSpPr>
          <p:cNvPr id="26" name="asset:SVC-080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데이터 허브 허브 앤 스포크 연계맵 (5개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5개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데이터 허브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ERP 시스템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320040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3378708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회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320040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회계 시스템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108960" y="3634740"/>
              <a:ext cx="1523847" cy="48006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인사 시스템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대외 기관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SSO 인증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SVC-081</a:t>
            </a:r>
          </a:p>
        </p:txBody>
      </p:sp>
      <p:grpSp>
        <p:nvGrpSpPr>
          <p:cNvPr id="30" name="asset:SVC-081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민원 서비스 허브 앤 스포크 연계맵 (6개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6개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민원 서비스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회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회계 시스템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320040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3378708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320040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인사 시스템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108960" y="3634740"/>
              <a:ext cx="1523847" cy="48006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대외 기관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SSO 인증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9082735" y="320040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29039" y="3378708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민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59975" y="320040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민원 포털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>
              <a:off x="7558887" y="3634740"/>
              <a:ext cx="1523848" cy="48006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시스템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SVC-082</a:t>
            </a:r>
          </a:p>
        </p:txBody>
      </p:sp>
      <p:grpSp>
        <p:nvGrpSpPr>
          <p:cNvPr id="34" name="asset:SVC-082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관제 시스템 허브 앤 스포크 연계맵 (7개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7개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관제 시스템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인사 시스템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271272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2891028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271272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대외 기관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108960" y="3147060"/>
              <a:ext cx="1523847" cy="96774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368808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" y="386638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19" y="368808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SSO 인증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108960" y="4114800"/>
              <a:ext cx="1523847" cy="761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민원 포털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시스템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9082735" y="320040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229039" y="3378708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알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859975" y="320040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센터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>
              <a:off x="7558887" y="3634740"/>
              <a:ext cx="1523848" cy="48006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전자결재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SVC-083</a:t>
            </a:r>
          </a:p>
        </p:txBody>
      </p:sp>
      <p:grpSp>
        <p:nvGrpSpPr>
          <p:cNvPr id="38" name="asset:SVC-083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지원 사업 허브 앤 스포크 연계맵 (8개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8개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지원 사업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대외 기관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271272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2891028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271272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SSO 인증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108960" y="3147060"/>
              <a:ext cx="1523847" cy="96774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368808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" y="386638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민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19" y="368808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민원 포털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108960" y="4114800"/>
              <a:ext cx="1523847" cy="761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시스템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알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센터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9082735" y="271272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229039" y="2891028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859975" y="271272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전자결재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>
              <a:off x="7558887" y="3147060"/>
              <a:ext cx="1523848" cy="96774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/>
            <p:cNvSpPr/>
            <p:nvPr/>
          </p:nvSpPr>
          <p:spPr>
            <a:xfrm>
              <a:off x="9082735" y="368808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229039" y="386638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그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859975" y="368808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그룹웨어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 flipH="1" flipV="1">
              <a:off x="7558887" y="4114800"/>
              <a:ext cx="1523848" cy="761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ounded Rectangle 33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ERP 시스템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SVC-084</a:t>
            </a:r>
          </a:p>
        </p:txBody>
      </p:sp>
      <p:grpSp>
        <p:nvGrpSpPr>
          <p:cNvPr id="22" name="asset:SVC-084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연계 체계 허브 앤 스포크 연계맵 (4개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4개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연계 체계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SSO 인증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민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민원 포털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시스템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알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센터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SVC-085</a:t>
            </a:r>
          </a:p>
        </p:txBody>
      </p:sp>
      <p:grpSp>
        <p:nvGrpSpPr>
          <p:cNvPr id="26" name="asset:SVC-085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클라우드 기반 허브 앤 스포크 연계맵 (5개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5개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클라우드 기반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민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민원 포털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320040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3378708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320040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시스템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108960" y="3634740"/>
              <a:ext cx="1523847" cy="48006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알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센터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전자결재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그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그룹웨어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SVC-086</a:t>
            </a:r>
          </a:p>
        </p:txBody>
      </p:sp>
      <p:grpSp>
        <p:nvGrpSpPr>
          <p:cNvPr id="30" name="asset:SVC-086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스마트 서비스 허브 앤 스포크 연계맵 (6개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6개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스마트 서비스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시스템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320040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3378708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알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320040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센터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108960" y="3634740"/>
              <a:ext cx="1523847" cy="48006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전자결재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그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그룹웨어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9082735" y="320040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29039" y="3378708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59975" y="320040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ERP 시스템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>
              <a:off x="7558887" y="3634740"/>
              <a:ext cx="1523848" cy="48006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회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회계 시스템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SVC-087</a:t>
            </a:r>
          </a:p>
        </p:txBody>
      </p:sp>
      <p:grpSp>
        <p:nvGrpSpPr>
          <p:cNvPr id="34" name="asset:SVC-087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운영 관리 허브 앤 스포크 연계맵 (7개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7개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운영 관리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알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센터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271272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2891028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271272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전자결재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108960" y="3147060"/>
              <a:ext cx="1523847" cy="96774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368808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" y="386638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그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19" y="368808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그룹웨어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108960" y="4114800"/>
              <a:ext cx="1523847" cy="761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ERP 시스템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회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회계 시스템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9082735" y="320040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229039" y="3378708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859975" y="320040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인사 시스템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>
              <a:off x="7558887" y="3634740"/>
              <a:ext cx="1523848" cy="48006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대외 기관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SVC-088</a:t>
            </a:r>
          </a:p>
        </p:txBody>
      </p:sp>
      <p:grpSp>
        <p:nvGrpSpPr>
          <p:cNvPr id="38" name="asset:SVC-088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대민 포털 허브 앤 스포크 연계맵 (8개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8개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대민 포털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전자결재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271272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2891028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그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271272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그룹웨어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108960" y="3147060"/>
              <a:ext cx="1523847" cy="96774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368808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" y="386638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19" y="368808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ERP 시스템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108960" y="4114800"/>
              <a:ext cx="1523847" cy="761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회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회계 시스템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인사 시스템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9082735" y="271272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229039" y="2891028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859975" y="271272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대외 기관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>
              <a:off x="7558887" y="3147060"/>
              <a:ext cx="1523848" cy="96774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/>
            <p:cNvSpPr/>
            <p:nvPr/>
          </p:nvSpPr>
          <p:spPr>
            <a:xfrm>
              <a:off x="9082735" y="368808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229039" y="386638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859975" y="368808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SSO 인증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 flipH="1" flipV="1">
              <a:off x="7558887" y="4114800"/>
              <a:ext cx="1523848" cy="761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ounded Rectangle 33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민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민원 포털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SVC-089</a:t>
            </a:r>
          </a:p>
        </p:txBody>
      </p:sp>
      <p:grpSp>
        <p:nvGrpSpPr>
          <p:cNvPr id="22" name="asset:SVC-089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정보화 사업 허브 앤 스포크 연계맵 (4개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4개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정보화 사업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그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그룹웨어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ERP 시스템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회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회계 시스템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인사 시스템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SVC-090</a:t>
            </a:r>
          </a:p>
        </p:txBody>
      </p:sp>
      <p:grpSp>
        <p:nvGrpSpPr>
          <p:cNvPr id="26" name="asset:SVC-090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플랫폼 고도화 허브 앤 스포크 연계맵 (5개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5개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플랫폼 고도화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ERP 시스템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320040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3378708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회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320040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회계 시스템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108960" y="3634740"/>
              <a:ext cx="1523847" cy="48006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인사 시스템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대외 기관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SSO 인증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SVC-091</a:t>
            </a:r>
          </a:p>
        </p:txBody>
      </p:sp>
      <p:grpSp>
        <p:nvGrpSpPr>
          <p:cNvPr id="30" name="asset:SVC-091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디지털 전환 허브 앤 스포크 연계맵 (6개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6개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디지털 전환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회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회계 시스템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320040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3378708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320040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인사 시스템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108960" y="3634740"/>
              <a:ext cx="1523847" cy="48006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대외 기관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SSO 인증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9082735" y="320040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29039" y="3378708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민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59975" y="320040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민원 포털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>
              <a:off x="7558887" y="3634740"/>
              <a:ext cx="1523848" cy="48006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시스템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SVC-092</a:t>
            </a:r>
          </a:p>
        </p:txBody>
      </p:sp>
      <p:grpSp>
        <p:nvGrpSpPr>
          <p:cNvPr id="34" name="asset:SVC-092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공공데이터 개방 허브 앤 스포크 연계맵 (7개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7개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공공데이터 개방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인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인사 시스템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271272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2891028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271272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대외 기관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108960" y="3147060"/>
              <a:ext cx="1523847" cy="96774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368808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" y="386638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19" y="368808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SSO 인증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108960" y="4114800"/>
              <a:ext cx="1523847" cy="761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민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민원 포털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시스템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9082735" y="320040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229039" y="3378708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알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859975" y="320040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센터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>
              <a:off x="7558887" y="3634740"/>
              <a:ext cx="1523848" cy="48006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전자결재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SVC-093</a:t>
            </a:r>
          </a:p>
        </p:txBody>
      </p:sp>
      <p:grpSp>
        <p:nvGrpSpPr>
          <p:cNvPr id="38" name="asset:SVC-093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업무 자동화 허브 앤 스포크 연계맵 (8개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8개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업무 자동화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대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대외 기관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271272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2891028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271272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SSO 인증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3108960" y="3147060"/>
              <a:ext cx="1523847" cy="96774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640080" y="368808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786384" y="386638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민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1417319" y="368808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민원 포털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V="1">
              <a:off x="3108960" y="4114800"/>
              <a:ext cx="1523847" cy="761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시스템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Rounded Rectangle 22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알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센터</a:t>
              </a:r>
            </a:p>
          </p:txBody>
        </p:sp>
        <p:cxnSp>
          <p:nvCxnSpPr>
            <p:cNvPr id="25" name="Connector 24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9082735" y="271272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9229039" y="2891028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전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9859975" y="271272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전자결재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>
              <a:off x="7558887" y="3147060"/>
              <a:ext cx="1523848" cy="96774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ounded Rectangle 29"/>
            <p:cNvSpPr/>
            <p:nvPr/>
          </p:nvSpPr>
          <p:spPr>
            <a:xfrm>
              <a:off x="9082735" y="368808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229039" y="386638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그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9859975" y="368808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그룹웨어</a:t>
              </a:r>
            </a:p>
          </p:txBody>
        </p:sp>
        <p:cxnSp>
          <p:nvCxnSpPr>
            <p:cNvPr id="33" name="Connector 32"/>
            <p:cNvCxnSpPr/>
            <p:nvPr/>
          </p:nvCxnSpPr>
          <p:spPr>
            <a:xfrm flipH="1" flipV="1">
              <a:off x="7558887" y="4114800"/>
              <a:ext cx="1523848" cy="761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ounded Rectangle 33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E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ERP 시스템</a:t>
              </a:r>
            </a:p>
          </p:txBody>
        </p:sp>
        <p:cxnSp>
          <p:nvCxnSpPr>
            <p:cNvPr id="37" name="Connector 36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SVC-094</a:t>
            </a:r>
          </a:p>
        </p:txBody>
      </p:sp>
      <p:grpSp>
        <p:nvGrpSpPr>
          <p:cNvPr id="22" name="asset:SVC-094"/>
          <p:cNvGrpSpPr/>
          <p:nvPr/>
        </p:nvGrpSpPr>
        <p:grpSpPr>
          <a:xfrm>
            <a:off x="502920" y="457200"/>
            <a:ext cx="11155680" cy="5074920"/>
            <a:chOff x="502920" y="457200"/>
            <a:chExt cx="11155680" cy="5074920"/>
          </a:xfrm>
        </p:grpSpPr>
        <p:sp>
          <p:nvSpPr>
            <p:cNvPr id="3" name="TextBox 2"/>
            <p:cNvSpPr txBox="1"/>
            <p:nvPr/>
          </p:nvSpPr>
          <p:spPr>
            <a:xfrm>
              <a:off x="502920" y="457200"/>
              <a:ext cx="111556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8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보안 관제 체계 허브 앤 스포크 연계맵 (4개 연동)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02920" y="914400"/>
              <a:ext cx="111556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0">
                  <a:solidFill>
                    <a:srgbClr val="595959"/>
                  </a:solidFill>
                  <a:latin typeface="Pretendard"/>
                  <a:ea typeface="Pretendard"/>
                  <a:cs typeface="Pretendard"/>
                </a:rPr>
                <a:t>중앙 통합 허브 ↔ 4개 연동 시스템 (표준 인터페이스 기반)</a:t>
              </a: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4632807" y="3383280"/>
              <a:ext cx="2926080" cy="1463040"/>
            </a:xfrm>
            <a:prstGeom prst="roundRect">
              <a:avLst/>
            </a:prstGeom>
            <a:solidFill>
              <a:srgbClr val="1F3864"/>
            </a:solidFill>
            <a:ln w="2540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보안 관제 체계</a:t>
              </a:r>
            </a:p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통합 허브</a:t>
              </a:r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640080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E75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786384" y="1915667"/>
              <a:ext cx="512064" cy="512064"/>
            </a:xfrm>
            <a:prstGeom prst="round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S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417319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SSO 인증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3108960" y="2171700"/>
              <a:ext cx="1523847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640080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29ABE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86384" y="4841747"/>
              <a:ext cx="512064" cy="512064"/>
            </a:xfrm>
            <a:prstGeom prst="roundRect">
              <a:avLst/>
            </a:prstGeom>
            <a:solidFill>
              <a:srgbClr val="29ABE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민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417319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민원 포털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 flipV="1">
              <a:off x="3108960" y="4114800"/>
              <a:ext cx="1523847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ounded Rectangle 13"/>
            <p:cNvSpPr/>
            <p:nvPr/>
          </p:nvSpPr>
          <p:spPr>
            <a:xfrm>
              <a:off x="9082735" y="173736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1F9E8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9229039" y="1915667"/>
              <a:ext cx="512064" cy="512064"/>
            </a:xfrm>
            <a:prstGeom prst="round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통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859975" y="173736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통계 시스템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 flipH="1">
              <a:off x="7558887" y="2171700"/>
              <a:ext cx="1523848" cy="1943100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9082735" y="4663440"/>
              <a:ext cx="2468880" cy="868680"/>
            </a:xfrm>
            <a:prstGeom prst="roundRect">
              <a:avLst/>
            </a:prstGeom>
            <a:solidFill>
              <a:srgbClr val="F7F9FC"/>
            </a:solidFill>
            <a:ln w="19050">
              <a:solidFill>
                <a:srgbClr val="7B2D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ounded Rectangle 18"/>
            <p:cNvSpPr/>
            <p:nvPr/>
          </p:nvSpPr>
          <p:spPr>
            <a:xfrm>
              <a:off x="9229039" y="4841747"/>
              <a:ext cx="512064" cy="512064"/>
            </a:xfrm>
            <a:prstGeom prst="round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알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859975" y="4663440"/>
              <a:ext cx="1600200" cy="8686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1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알림 센터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 flipH="1" flipV="1">
              <a:off x="7558887" y="4114800"/>
              <a:ext cx="1523848" cy="982979"/>
            </a:xfrm>
            <a:prstGeom prst="line">
              <a:avLst/>
            </a:prstGeom>
            <a:ln w="20320">
              <a:solidFill>
                <a:srgbClr val="595959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