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SVC-141</a:t>
            </a:r>
          </a:p>
        </p:txBody>
      </p:sp>
      <p:grpSp>
        <p:nvGrpSpPr>
          <p:cNvPr id="13" name="asset:SVC-141"/>
          <p:cNvGrpSpPr/>
          <p:nvPr/>
        </p:nvGrpSpPr>
        <p:grpSpPr>
          <a:xfrm>
            <a:off x="502920" y="457200"/>
            <a:ext cx="11155680" cy="5916168"/>
            <a:chOff x="502920" y="457200"/>
            <a:chExt cx="11155680" cy="5916168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통합 플랫폼 클라우드 인프라 구성도 (4블록)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클라우드 VPC 내 관리형 서비스 4블록 + 온프레미스 전용선 연계</a:t>
              </a:r>
            </a:p>
          </p:txBody>
        </p:sp>
        <p:sp>
          <p:nvSpPr>
            <p:cNvPr id="5" name="Cloud 4"/>
            <p:cNvSpPr/>
            <p:nvPr/>
          </p:nvSpPr>
          <p:spPr>
            <a:xfrm>
              <a:off x="1097280" y="1371600"/>
              <a:ext cx="9966960" cy="3474720"/>
            </a:xfrm>
            <a:prstGeom prst="cloud">
              <a:avLst/>
            </a:prstGeom>
            <a:solidFill>
              <a:srgbClr val="F7F9FC"/>
            </a:solidFill>
            <a:ln w="254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2194560" y="1517904"/>
              <a:ext cx="3657600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Cloud VPC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2286000" y="2057400"/>
              <a:ext cx="4114800" cy="109728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로드밸런서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6675120" y="2057400"/>
              <a:ext cx="4114800" cy="109728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컴퓨팅 (VM)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2286000" y="3429000"/>
              <a:ext cx="4114800" cy="109728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컨테이너 (K8s)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6675120" y="3429000"/>
              <a:ext cx="4114800" cy="109728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관리형 DB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3992727" y="5532120"/>
              <a:ext cx="4206240" cy="841248"/>
            </a:xfrm>
            <a:prstGeom prst="round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온프레미스 데이터센터 (전용선)</a:t>
              </a:r>
            </a:p>
          </p:txBody>
        </p:sp>
        <p:sp>
          <p:nvSpPr>
            <p:cNvPr id="12" name="Up Arrow 11"/>
            <p:cNvSpPr/>
            <p:nvPr/>
          </p:nvSpPr>
          <p:spPr>
            <a:xfrm>
              <a:off x="5858103" y="4937760"/>
              <a:ext cx="475488" cy="548640"/>
            </a:xfrm>
            <a:prstGeom prst="up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SVC-142</a:t>
            </a:r>
          </a:p>
        </p:txBody>
      </p:sp>
      <p:grpSp>
        <p:nvGrpSpPr>
          <p:cNvPr id="15" name="asset:SVC-142"/>
          <p:cNvGrpSpPr/>
          <p:nvPr/>
        </p:nvGrpSpPr>
        <p:grpSpPr>
          <a:xfrm>
            <a:off x="502920" y="457200"/>
            <a:ext cx="11155680" cy="5916168"/>
            <a:chOff x="502920" y="457200"/>
            <a:chExt cx="11155680" cy="5916168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데이터 허브 클라우드 인프라 구성도 (6블록)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클라우드 VPC 내 관리형 서비스 6블록 + 온프레미스 전용선 연계</a:t>
              </a:r>
            </a:p>
          </p:txBody>
        </p:sp>
        <p:sp>
          <p:nvSpPr>
            <p:cNvPr id="5" name="Cloud 4"/>
            <p:cNvSpPr/>
            <p:nvPr/>
          </p:nvSpPr>
          <p:spPr>
            <a:xfrm>
              <a:off x="1097280" y="1371600"/>
              <a:ext cx="9966960" cy="3474720"/>
            </a:xfrm>
            <a:prstGeom prst="cloud">
              <a:avLst/>
            </a:prstGeom>
            <a:solidFill>
              <a:srgbClr val="F7F9FC"/>
            </a:solidFill>
            <a:ln w="254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2194560" y="1517904"/>
              <a:ext cx="3657600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Cloud VPC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2286000" y="2057400"/>
              <a:ext cx="2651760" cy="109728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컴퓨팅 (VM)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5212080" y="2057400"/>
              <a:ext cx="2651760" cy="109728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컨테이너 (K8s)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8138160" y="2057400"/>
              <a:ext cx="2651760" cy="109728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관리형 DB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2286000" y="3429000"/>
              <a:ext cx="2651760" cy="109728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오브젝트 스토리지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5212080" y="3429000"/>
              <a:ext cx="2651760" cy="109728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CDN · 캐시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8138160" y="3429000"/>
              <a:ext cx="2651760" cy="109728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서버리스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3992727" y="5532120"/>
              <a:ext cx="4206240" cy="841248"/>
            </a:xfrm>
            <a:prstGeom prst="round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온프레미스 데이터센터 (전용선)</a:t>
              </a:r>
            </a:p>
          </p:txBody>
        </p:sp>
        <p:sp>
          <p:nvSpPr>
            <p:cNvPr id="14" name="Up Arrow 13"/>
            <p:cNvSpPr/>
            <p:nvPr/>
          </p:nvSpPr>
          <p:spPr>
            <a:xfrm>
              <a:off x="5858103" y="4937760"/>
              <a:ext cx="475488" cy="548640"/>
            </a:xfrm>
            <a:prstGeom prst="up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SVC-143</a:t>
            </a:r>
          </a:p>
        </p:txBody>
      </p:sp>
      <p:grpSp>
        <p:nvGrpSpPr>
          <p:cNvPr id="17" name="asset:SVC-143"/>
          <p:cNvGrpSpPr/>
          <p:nvPr/>
        </p:nvGrpSpPr>
        <p:grpSpPr>
          <a:xfrm>
            <a:off x="502920" y="457200"/>
            <a:ext cx="11155680" cy="5916168"/>
            <a:chOff x="502920" y="457200"/>
            <a:chExt cx="11155680" cy="5916168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민원 서비스 클라우드 인프라 구성도 (8블록)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클라우드 VPC 내 관리형 서비스 8블록 + 온프레미스 전용선 연계</a:t>
              </a:r>
            </a:p>
          </p:txBody>
        </p:sp>
        <p:sp>
          <p:nvSpPr>
            <p:cNvPr id="5" name="Cloud 4"/>
            <p:cNvSpPr/>
            <p:nvPr/>
          </p:nvSpPr>
          <p:spPr>
            <a:xfrm>
              <a:off x="1097280" y="1371600"/>
              <a:ext cx="9966960" cy="3474720"/>
            </a:xfrm>
            <a:prstGeom prst="cloud">
              <a:avLst/>
            </a:prstGeom>
            <a:solidFill>
              <a:srgbClr val="F7F9FC"/>
            </a:solidFill>
            <a:ln w="254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2194560" y="1517904"/>
              <a:ext cx="3657600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Cloud VPC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2286000" y="2057400"/>
              <a:ext cx="2651760" cy="64008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컨테이너 (K8s)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5212080" y="2057400"/>
              <a:ext cx="2651760" cy="64008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관리형 DB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8138160" y="2057400"/>
              <a:ext cx="2651760" cy="64008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오브젝트 스토리지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2286000" y="2971800"/>
              <a:ext cx="2651760" cy="64008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CDN · 캐시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5212080" y="2971800"/>
              <a:ext cx="2651760" cy="64008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서버리스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8138160" y="2971800"/>
              <a:ext cx="2651760" cy="64008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메시지 큐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2286000" y="3886200"/>
              <a:ext cx="2651760" cy="64008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모니터링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5212080" y="3886200"/>
              <a:ext cx="2651760" cy="64008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시크릿 관리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3992727" y="5532120"/>
              <a:ext cx="4206240" cy="841248"/>
            </a:xfrm>
            <a:prstGeom prst="round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온프레미스 데이터센터 (전용선)</a:t>
              </a:r>
            </a:p>
          </p:txBody>
        </p:sp>
        <p:sp>
          <p:nvSpPr>
            <p:cNvPr id="16" name="Up Arrow 15"/>
            <p:cNvSpPr/>
            <p:nvPr/>
          </p:nvSpPr>
          <p:spPr>
            <a:xfrm>
              <a:off x="5858103" y="4937760"/>
              <a:ext cx="475488" cy="548640"/>
            </a:xfrm>
            <a:prstGeom prst="up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SVC-144</a:t>
            </a:r>
          </a:p>
        </p:txBody>
      </p:sp>
      <p:grpSp>
        <p:nvGrpSpPr>
          <p:cNvPr id="13" name="asset:SVC-144"/>
          <p:cNvGrpSpPr/>
          <p:nvPr/>
        </p:nvGrpSpPr>
        <p:grpSpPr>
          <a:xfrm>
            <a:off x="502920" y="457200"/>
            <a:ext cx="11155680" cy="5916168"/>
            <a:chOff x="502920" y="457200"/>
            <a:chExt cx="11155680" cy="5916168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관제 시스템 클라우드 인프라 구성도 (4블록)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클라우드 VPC 내 관리형 서비스 4블록 + 온프레미스 전용선 연계</a:t>
              </a:r>
            </a:p>
          </p:txBody>
        </p:sp>
        <p:sp>
          <p:nvSpPr>
            <p:cNvPr id="5" name="Cloud 4"/>
            <p:cNvSpPr/>
            <p:nvPr/>
          </p:nvSpPr>
          <p:spPr>
            <a:xfrm>
              <a:off x="1097280" y="1371600"/>
              <a:ext cx="9966960" cy="3474720"/>
            </a:xfrm>
            <a:prstGeom prst="cloud">
              <a:avLst/>
            </a:prstGeom>
            <a:solidFill>
              <a:srgbClr val="F7F9FC"/>
            </a:solidFill>
            <a:ln w="254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2194560" y="1517904"/>
              <a:ext cx="3657600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Cloud VPC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2286000" y="2057400"/>
              <a:ext cx="4114800" cy="109728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관리형 DB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6675120" y="2057400"/>
              <a:ext cx="4114800" cy="109728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오브젝트 스토리지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2286000" y="3429000"/>
              <a:ext cx="4114800" cy="109728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CDN · 캐시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6675120" y="3429000"/>
              <a:ext cx="4114800" cy="109728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서버리스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3992727" y="5532120"/>
              <a:ext cx="4206240" cy="841248"/>
            </a:xfrm>
            <a:prstGeom prst="round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온프레미스 데이터센터 (전용선)</a:t>
              </a:r>
            </a:p>
          </p:txBody>
        </p:sp>
        <p:sp>
          <p:nvSpPr>
            <p:cNvPr id="12" name="Up Arrow 11"/>
            <p:cNvSpPr/>
            <p:nvPr/>
          </p:nvSpPr>
          <p:spPr>
            <a:xfrm>
              <a:off x="5858103" y="4937760"/>
              <a:ext cx="475488" cy="548640"/>
            </a:xfrm>
            <a:prstGeom prst="up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SVC-145</a:t>
            </a:r>
          </a:p>
        </p:txBody>
      </p:sp>
      <p:grpSp>
        <p:nvGrpSpPr>
          <p:cNvPr id="15" name="asset:SVC-145"/>
          <p:cNvGrpSpPr/>
          <p:nvPr/>
        </p:nvGrpSpPr>
        <p:grpSpPr>
          <a:xfrm>
            <a:off x="502920" y="457200"/>
            <a:ext cx="11155680" cy="5916168"/>
            <a:chOff x="502920" y="457200"/>
            <a:chExt cx="11155680" cy="5916168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지원 사업 클라우드 인프라 구성도 (6블록)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클라우드 VPC 내 관리형 서비스 6블록 + 온프레미스 전용선 연계</a:t>
              </a:r>
            </a:p>
          </p:txBody>
        </p:sp>
        <p:sp>
          <p:nvSpPr>
            <p:cNvPr id="5" name="Cloud 4"/>
            <p:cNvSpPr/>
            <p:nvPr/>
          </p:nvSpPr>
          <p:spPr>
            <a:xfrm>
              <a:off x="1097280" y="1371600"/>
              <a:ext cx="9966960" cy="3474720"/>
            </a:xfrm>
            <a:prstGeom prst="cloud">
              <a:avLst/>
            </a:prstGeom>
            <a:solidFill>
              <a:srgbClr val="F7F9FC"/>
            </a:solidFill>
            <a:ln w="254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2194560" y="1517904"/>
              <a:ext cx="3657600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Cloud VPC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2286000" y="2057400"/>
              <a:ext cx="2651760" cy="109728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오브젝트 스토리지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5212080" y="2057400"/>
              <a:ext cx="2651760" cy="109728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CDN · 캐시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8138160" y="2057400"/>
              <a:ext cx="2651760" cy="109728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서버리스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2286000" y="3429000"/>
              <a:ext cx="2651760" cy="109728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메시지 큐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5212080" y="3429000"/>
              <a:ext cx="2651760" cy="109728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모니터링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8138160" y="3429000"/>
              <a:ext cx="2651760" cy="109728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시크릿 관리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3992727" y="5532120"/>
              <a:ext cx="4206240" cy="841248"/>
            </a:xfrm>
            <a:prstGeom prst="round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온프레미스 데이터센터 (전용선)</a:t>
              </a:r>
            </a:p>
          </p:txBody>
        </p:sp>
        <p:sp>
          <p:nvSpPr>
            <p:cNvPr id="14" name="Up Arrow 13"/>
            <p:cNvSpPr/>
            <p:nvPr/>
          </p:nvSpPr>
          <p:spPr>
            <a:xfrm>
              <a:off x="5858103" y="4937760"/>
              <a:ext cx="475488" cy="548640"/>
            </a:xfrm>
            <a:prstGeom prst="up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SVC-146</a:t>
            </a:r>
          </a:p>
        </p:txBody>
      </p:sp>
      <p:grpSp>
        <p:nvGrpSpPr>
          <p:cNvPr id="17" name="asset:SVC-146"/>
          <p:cNvGrpSpPr/>
          <p:nvPr/>
        </p:nvGrpSpPr>
        <p:grpSpPr>
          <a:xfrm>
            <a:off x="502920" y="457200"/>
            <a:ext cx="11155680" cy="5916168"/>
            <a:chOff x="502920" y="457200"/>
            <a:chExt cx="11155680" cy="5916168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연계 체계 클라우드 인프라 구성도 (8블록)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클라우드 VPC 내 관리형 서비스 8블록 + 온프레미스 전용선 연계</a:t>
              </a:r>
            </a:p>
          </p:txBody>
        </p:sp>
        <p:sp>
          <p:nvSpPr>
            <p:cNvPr id="5" name="Cloud 4"/>
            <p:cNvSpPr/>
            <p:nvPr/>
          </p:nvSpPr>
          <p:spPr>
            <a:xfrm>
              <a:off x="1097280" y="1371600"/>
              <a:ext cx="9966960" cy="3474720"/>
            </a:xfrm>
            <a:prstGeom prst="cloud">
              <a:avLst/>
            </a:prstGeom>
            <a:solidFill>
              <a:srgbClr val="F7F9FC"/>
            </a:solidFill>
            <a:ln w="254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2194560" y="1517904"/>
              <a:ext cx="3657600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Cloud VPC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2286000" y="2057400"/>
              <a:ext cx="2651760" cy="64008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CDN · 캐시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5212080" y="2057400"/>
              <a:ext cx="2651760" cy="64008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서버리스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8138160" y="2057400"/>
              <a:ext cx="2651760" cy="64008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메시지 큐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2286000" y="2971800"/>
              <a:ext cx="2651760" cy="64008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모니터링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5212080" y="2971800"/>
              <a:ext cx="2651760" cy="64008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시크릿 관리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8138160" y="2971800"/>
              <a:ext cx="2651760" cy="64008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로드밸런서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2286000" y="3886200"/>
              <a:ext cx="2651760" cy="64008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컴퓨팅 (VM)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5212080" y="3886200"/>
              <a:ext cx="2651760" cy="64008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컨테이너 (K8s)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3992727" y="5532120"/>
              <a:ext cx="4206240" cy="841248"/>
            </a:xfrm>
            <a:prstGeom prst="round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온프레미스 데이터센터 (전용선)</a:t>
              </a:r>
            </a:p>
          </p:txBody>
        </p:sp>
        <p:sp>
          <p:nvSpPr>
            <p:cNvPr id="16" name="Up Arrow 15"/>
            <p:cNvSpPr/>
            <p:nvPr/>
          </p:nvSpPr>
          <p:spPr>
            <a:xfrm>
              <a:off x="5858103" y="4937760"/>
              <a:ext cx="475488" cy="548640"/>
            </a:xfrm>
            <a:prstGeom prst="up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SVC-147</a:t>
            </a:r>
          </a:p>
        </p:txBody>
      </p:sp>
      <p:grpSp>
        <p:nvGrpSpPr>
          <p:cNvPr id="13" name="asset:SVC-147"/>
          <p:cNvGrpSpPr/>
          <p:nvPr/>
        </p:nvGrpSpPr>
        <p:grpSpPr>
          <a:xfrm>
            <a:off x="502920" y="457200"/>
            <a:ext cx="11155680" cy="5916168"/>
            <a:chOff x="502920" y="457200"/>
            <a:chExt cx="11155680" cy="5916168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클라우드 기반 클라우드 인프라 구성도 (4블록)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클라우드 VPC 내 관리형 서비스 4블록 + 온프레미스 전용선 연계</a:t>
              </a:r>
            </a:p>
          </p:txBody>
        </p:sp>
        <p:sp>
          <p:nvSpPr>
            <p:cNvPr id="5" name="Cloud 4"/>
            <p:cNvSpPr/>
            <p:nvPr/>
          </p:nvSpPr>
          <p:spPr>
            <a:xfrm>
              <a:off x="1097280" y="1371600"/>
              <a:ext cx="9966960" cy="3474720"/>
            </a:xfrm>
            <a:prstGeom prst="cloud">
              <a:avLst/>
            </a:prstGeom>
            <a:solidFill>
              <a:srgbClr val="F7F9FC"/>
            </a:solidFill>
            <a:ln w="254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2194560" y="1517904"/>
              <a:ext cx="3657600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Cloud VPC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2286000" y="2057400"/>
              <a:ext cx="4114800" cy="109728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서버리스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6675120" y="2057400"/>
              <a:ext cx="4114800" cy="109728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메시지 큐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2286000" y="3429000"/>
              <a:ext cx="4114800" cy="109728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모니터링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6675120" y="3429000"/>
              <a:ext cx="4114800" cy="109728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시크릿 관리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3992727" y="5532120"/>
              <a:ext cx="4206240" cy="841248"/>
            </a:xfrm>
            <a:prstGeom prst="round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온프레미스 데이터센터 (전용선)</a:t>
              </a:r>
            </a:p>
          </p:txBody>
        </p:sp>
        <p:sp>
          <p:nvSpPr>
            <p:cNvPr id="12" name="Up Arrow 11"/>
            <p:cNvSpPr/>
            <p:nvPr/>
          </p:nvSpPr>
          <p:spPr>
            <a:xfrm>
              <a:off x="5858103" y="4937760"/>
              <a:ext cx="475488" cy="548640"/>
            </a:xfrm>
            <a:prstGeom prst="up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SVC-148</a:t>
            </a:r>
          </a:p>
        </p:txBody>
      </p:sp>
      <p:grpSp>
        <p:nvGrpSpPr>
          <p:cNvPr id="15" name="asset:SVC-148"/>
          <p:cNvGrpSpPr/>
          <p:nvPr/>
        </p:nvGrpSpPr>
        <p:grpSpPr>
          <a:xfrm>
            <a:off x="502920" y="457200"/>
            <a:ext cx="11155680" cy="5916168"/>
            <a:chOff x="502920" y="457200"/>
            <a:chExt cx="11155680" cy="5916168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스마트 서비스 클라우드 인프라 구성도 (6블록)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클라우드 VPC 내 관리형 서비스 6블록 + 온프레미스 전용선 연계</a:t>
              </a:r>
            </a:p>
          </p:txBody>
        </p:sp>
        <p:sp>
          <p:nvSpPr>
            <p:cNvPr id="5" name="Cloud 4"/>
            <p:cNvSpPr/>
            <p:nvPr/>
          </p:nvSpPr>
          <p:spPr>
            <a:xfrm>
              <a:off x="1097280" y="1371600"/>
              <a:ext cx="9966960" cy="3474720"/>
            </a:xfrm>
            <a:prstGeom prst="cloud">
              <a:avLst/>
            </a:prstGeom>
            <a:solidFill>
              <a:srgbClr val="F7F9FC"/>
            </a:solidFill>
            <a:ln w="254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2194560" y="1517904"/>
              <a:ext cx="3657600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Cloud VPC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2286000" y="2057400"/>
              <a:ext cx="2651760" cy="109728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메시지 큐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5212080" y="2057400"/>
              <a:ext cx="2651760" cy="109728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모니터링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8138160" y="2057400"/>
              <a:ext cx="2651760" cy="109728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시크릿 관리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2286000" y="3429000"/>
              <a:ext cx="2651760" cy="109728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로드밸런서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5212080" y="3429000"/>
              <a:ext cx="2651760" cy="109728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컴퓨팅 (VM)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8138160" y="3429000"/>
              <a:ext cx="2651760" cy="109728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컨테이너 (K8s)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3992727" y="5532120"/>
              <a:ext cx="4206240" cy="841248"/>
            </a:xfrm>
            <a:prstGeom prst="round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온프레미스 데이터센터 (전용선)</a:t>
              </a:r>
            </a:p>
          </p:txBody>
        </p:sp>
        <p:sp>
          <p:nvSpPr>
            <p:cNvPr id="14" name="Up Arrow 13"/>
            <p:cNvSpPr/>
            <p:nvPr/>
          </p:nvSpPr>
          <p:spPr>
            <a:xfrm>
              <a:off x="5858103" y="4937760"/>
              <a:ext cx="475488" cy="548640"/>
            </a:xfrm>
            <a:prstGeom prst="up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SVC-149</a:t>
            </a:r>
          </a:p>
        </p:txBody>
      </p:sp>
      <p:grpSp>
        <p:nvGrpSpPr>
          <p:cNvPr id="17" name="asset:SVC-149"/>
          <p:cNvGrpSpPr/>
          <p:nvPr/>
        </p:nvGrpSpPr>
        <p:grpSpPr>
          <a:xfrm>
            <a:off x="502920" y="457200"/>
            <a:ext cx="11155680" cy="5916168"/>
            <a:chOff x="502920" y="457200"/>
            <a:chExt cx="11155680" cy="5916168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운영 관리 클라우드 인프라 구성도 (8블록)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클라우드 VPC 내 관리형 서비스 8블록 + 온프레미스 전용선 연계</a:t>
              </a:r>
            </a:p>
          </p:txBody>
        </p:sp>
        <p:sp>
          <p:nvSpPr>
            <p:cNvPr id="5" name="Cloud 4"/>
            <p:cNvSpPr/>
            <p:nvPr/>
          </p:nvSpPr>
          <p:spPr>
            <a:xfrm>
              <a:off x="1097280" y="1371600"/>
              <a:ext cx="9966960" cy="3474720"/>
            </a:xfrm>
            <a:prstGeom prst="cloud">
              <a:avLst/>
            </a:prstGeom>
            <a:solidFill>
              <a:srgbClr val="F7F9FC"/>
            </a:solidFill>
            <a:ln w="254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2194560" y="1517904"/>
              <a:ext cx="3657600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Cloud VPC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2286000" y="2057400"/>
              <a:ext cx="2651760" cy="64008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모니터링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5212080" y="2057400"/>
              <a:ext cx="2651760" cy="64008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시크릿 관리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8138160" y="2057400"/>
              <a:ext cx="2651760" cy="64008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로드밸런서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2286000" y="2971800"/>
              <a:ext cx="2651760" cy="64008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컴퓨팅 (VM)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5212080" y="2971800"/>
              <a:ext cx="2651760" cy="64008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컨테이너 (K8s)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8138160" y="2971800"/>
              <a:ext cx="2651760" cy="64008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관리형 DB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2286000" y="3886200"/>
              <a:ext cx="2651760" cy="64008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오브젝트 스토리지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5212080" y="3886200"/>
              <a:ext cx="2651760" cy="64008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CDN · 캐시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3992727" y="5532120"/>
              <a:ext cx="4206240" cy="841248"/>
            </a:xfrm>
            <a:prstGeom prst="round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온프레미스 데이터센터 (전용선)</a:t>
              </a:r>
            </a:p>
          </p:txBody>
        </p:sp>
        <p:sp>
          <p:nvSpPr>
            <p:cNvPr id="16" name="Up Arrow 15"/>
            <p:cNvSpPr/>
            <p:nvPr/>
          </p:nvSpPr>
          <p:spPr>
            <a:xfrm>
              <a:off x="5858103" y="4937760"/>
              <a:ext cx="475488" cy="548640"/>
            </a:xfrm>
            <a:prstGeom prst="up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SVC-150</a:t>
            </a:r>
          </a:p>
        </p:txBody>
      </p:sp>
      <p:grpSp>
        <p:nvGrpSpPr>
          <p:cNvPr id="13" name="asset:SVC-150"/>
          <p:cNvGrpSpPr/>
          <p:nvPr/>
        </p:nvGrpSpPr>
        <p:grpSpPr>
          <a:xfrm>
            <a:off x="502920" y="457200"/>
            <a:ext cx="11155680" cy="5916168"/>
            <a:chOff x="502920" y="457200"/>
            <a:chExt cx="11155680" cy="5916168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대민 포털 클라우드 인프라 구성도 (4블록)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클라우드 VPC 내 관리형 서비스 4블록 + 온프레미스 전용선 연계</a:t>
              </a:r>
            </a:p>
          </p:txBody>
        </p:sp>
        <p:sp>
          <p:nvSpPr>
            <p:cNvPr id="5" name="Cloud 4"/>
            <p:cNvSpPr/>
            <p:nvPr/>
          </p:nvSpPr>
          <p:spPr>
            <a:xfrm>
              <a:off x="1097280" y="1371600"/>
              <a:ext cx="9966960" cy="3474720"/>
            </a:xfrm>
            <a:prstGeom prst="cloud">
              <a:avLst/>
            </a:prstGeom>
            <a:solidFill>
              <a:srgbClr val="F7F9FC"/>
            </a:solidFill>
            <a:ln w="254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2194560" y="1517904"/>
              <a:ext cx="3657600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Cloud VPC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2286000" y="2057400"/>
              <a:ext cx="4114800" cy="109728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시크릿 관리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6675120" y="2057400"/>
              <a:ext cx="4114800" cy="109728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로드밸런서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2286000" y="3429000"/>
              <a:ext cx="4114800" cy="109728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컴퓨팅 (VM)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6675120" y="3429000"/>
              <a:ext cx="4114800" cy="109728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컨테이너 (K8s)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3992727" y="5532120"/>
              <a:ext cx="4206240" cy="841248"/>
            </a:xfrm>
            <a:prstGeom prst="round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온프레미스 데이터센터 (전용선)</a:t>
              </a:r>
            </a:p>
          </p:txBody>
        </p:sp>
        <p:sp>
          <p:nvSpPr>
            <p:cNvPr id="12" name="Up Arrow 11"/>
            <p:cNvSpPr/>
            <p:nvPr/>
          </p:nvSpPr>
          <p:spPr>
            <a:xfrm>
              <a:off x="5858103" y="4937760"/>
              <a:ext cx="475488" cy="548640"/>
            </a:xfrm>
            <a:prstGeom prst="up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SVC-151</a:t>
            </a:r>
          </a:p>
        </p:txBody>
      </p:sp>
      <p:grpSp>
        <p:nvGrpSpPr>
          <p:cNvPr id="15" name="asset:SVC-151"/>
          <p:cNvGrpSpPr/>
          <p:nvPr/>
        </p:nvGrpSpPr>
        <p:grpSpPr>
          <a:xfrm>
            <a:off x="502920" y="457200"/>
            <a:ext cx="11155680" cy="5916168"/>
            <a:chOff x="502920" y="457200"/>
            <a:chExt cx="11155680" cy="5916168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정보화 사업 클라우드 인프라 구성도 (6블록)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클라우드 VPC 내 관리형 서비스 6블록 + 온프레미스 전용선 연계</a:t>
              </a:r>
            </a:p>
          </p:txBody>
        </p:sp>
        <p:sp>
          <p:nvSpPr>
            <p:cNvPr id="5" name="Cloud 4"/>
            <p:cNvSpPr/>
            <p:nvPr/>
          </p:nvSpPr>
          <p:spPr>
            <a:xfrm>
              <a:off x="1097280" y="1371600"/>
              <a:ext cx="9966960" cy="3474720"/>
            </a:xfrm>
            <a:prstGeom prst="cloud">
              <a:avLst/>
            </a:prstGeom>
            <a:solidFill>
              <a:srgbClr val="F7F9FC"/>
            </a:solidFill>
            <a:ln w="254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2194560" y="1517904"/>
              <a:ext cx="3657600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Cloud VPC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2286000" y="2057400"/>
              <a:ext cx="2651760" cy="109728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로드밸런서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5212080" y="2057400"/>
              <a:ext cx="2651760" cy="109728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컴퓨팅 (VM)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8138160" y="2057400"/>
              <a:ext cx="2651760" cy="109728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컨테이너 (K8s)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2286000" y="3429000"/>
              <a:ext cx="2651760" cy="109728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관리형 DB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5212080" y="3429000"/>
              <a:ext cx="2651760" cy="109728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오브젝트 스토리지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8138160" y="3429000"/>
              <a:ext cx="2651760" cy="109728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CDN · 캐시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3992727" y="5532120"/>
              <a:ext cx="4206240" cy="841248"/>
            </a:xfrm>
            <a:prstGeom prst="round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온프레미스 데이터센터 (전용선)</a:t>
              </a:r>
            </a:p>
          </p:txBody>
        </p:sp>
        <p:sp>
          <p:nvSpPr>
            <p:cNvPr id="14" name="Up Arrow 13"/>
            <p:cNvSpPr/>
            <p:nvPr/>
          </p:nvSpPr>
          <p:spPr>
            <a:xfrm>
              <a:off x="5858103" y="4937760"/>
              <a:ext cx="475488" cy="548640"/>
            </a:xfrm>
            <a:prstGeom prst="up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SVC-152</a:t>
            </a:r>
          </a:p>
        </p:txBody>
      </p:sp>
      <p:grpSp>
        <p:nvGrpSpPr>
          <p:cNvPr id="17" name="asset:SVC-152"/>
          <p:cNvGrpSpPr/>
          <p:nvPr/>
        </p:nvGrpSpPr>
        <p:grpSpPr>
          <a:xfrm>
            <a:off x="502920" y="457200"/>
            <a:ext cx="11155680" cy="5916168"/>
            <a:chOff x="502920" y="457200"/>
            <a:chExt cx="11155680" cy="5916168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플랫폼 고도화 클라우드 인프라 구성도 (8블록)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클라우드 VPC 내 관리형 서비스 8블록 + 온프레미스 전용선 연계</a:t>
              </a:r>
            </a:p>
          </p:txBody>
        </p:sp>
        <p:sp>
          <p:nvSpPr>
            <p:cNvPr id="5" name="Cloud 4"/>
            <p:cNvSpPr/>
            <p:nvPr/>
          </p:nvSpPr>
          <p:spPr>
            <a:xfrm>
              <a:off x="1097280" y="1371600"/>
              <a:ext cx="9966960" cy="3474720"/>
            </a:xfrm>
            <a:prstGeom prst="cloud">
              <a:avLst/>
            </a:prstGeom>
            <a:solidFill>
              <a:srgbClr val="F7F9FC"/>
            </a:solidFill>
            <a:ln w="254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2194560" y="1517904"/>
              <a:ext cx="3657600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Cloud VPC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2286000" y="2057400"/>
              <a:ext cx="2651760" cy="64008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컴퓨팅 (VM)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5212080" y="2057400"/>
              <a:ext cx="2651760" cy="64008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컨테이너 (K8s)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8138160" y="2057400"/>
              <a:ext cx="2651760" cy="64008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관리형 DB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2286000" y="2971800"/>
              <a:ext cx="2651760" cy="64008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오브젝트 스토리지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5212080" y="2971800"/>
              <a:ext cx="2651760" cy="64008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CDN · 캐시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8138160" y="2971800"/>
              <a:ext cx="2651760" cy="64008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서버리스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2286000" y="3886200"/>
              <a:ext cx="2651760" cy="64008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메시지 큐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5212080" y="3886200"/>
              <a:ext cx="2651760" cy="64008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모니터링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3992727" y="5532120"/>
              <a:ext cx="4206240" cy="841248"/>
            </a:xfrm>
            <a:prstGeom prst="round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온프레미스 데이터센터 (전용선)</a:t>
              </a:r>
            </a:p>
          </p:txBody>
        </p:sp>
        <p:sp>
          <p:nvSpPr>
            <p:cNvPr id="16" name="Up Arrow 15"/>
            <p:cNvSpPr/>
            <p:nvPr/>
          </p:nvSpPr>
          <p:spPr>
            <a:xfrm>
              <a:off x="5858103" y="4937760"/>
              <a:ext cx="475488" cy="548640"/>
            </a:xfrm>
            <a:prstGeom prst="up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SVC-153</a:t>
            </a:r>
          </a:p>
        </p:txBody>
      </p:sp>
      <p:grpSp>
        <p:nvGrpSpPr>
          <p:cNvPr id="13" name="asset:SVC-153"/>
          <p:cNvGrpSpPr/>
          <p:nvPr/>
        </p:nvGrpSpPr>
        <p:grpSpPr>
          <a:xfrm>
            <a:off x="502920" y="457200"/>
            <a:ext cx="11155680" cy="5916168"/>
            <a:chOff x="502920" y="457200"/>
            <a:chExt cx="11155680" cy="5916168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디지털 전환 클라우드 인프라 구성도 (4블록)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클라우드 VPC 내 관리형 서비스 4블록 + 온프레미스 전용선 연계</a:t>
              </a:r>
            </a:p>
          </p:txBody>
        </p:sp>
        <p:sp>
          <p:nvSpPr>
            <p:cNvPr id="5" name="Cloud 4"/>
            <p:cNvSpPr/>
            <p:nvPr/>
          </p:nvSpPr>
          <p:spPr>
            <a:xfrm>
              <a:off x="1097280" y="1371600"/>
              <a:ext cx="9966960" cy="3474720"/>
            </a:xfrm>
            <a:prstGeom prst="cloud">
              <a:avLst/>
            </a:prstGeom>
            <a:solidFill>
              <a:srgbClr val="F7F9FC"/>
            </a:solidFill>
            <a:ln w="254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2194560" y="1517904"/>
              <a:ext cx="3657600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Cloud VPC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2286000" y="2057400"/>
              <a:ext cx="4114800" cy="109728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컨테이너 (K8s)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6675120" y="2057400"/>
              <a:ext cx="4114800" cy="109728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관리형 DB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2286000" y="3429000"/>
              <a:ext cx="4114800" cy="109728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오브젝트 스토리지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6675120" y="3429000"/>
              <a:ext cx="4114800" cy="109728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CDN · 캐시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3992727" y="5532120"/>
              <a:ext cx="4206240" cy="841248"/>
            </a:xfrm>
            <a:prstGeom prst="round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온프레미스 데이터센터 (전용선)</a:t>
              </a:r>
            </a:p>
          </p:txBody>
        </p:sp>
        <p:sp>
          <p:nvSpPr>
            <p:cNvPr id="12" name="Up Arrow 11"/>
            <p:cNvSpPr/>
            <p:nvPr/>
          </p:nvSpPr>
          <p:spPr>
            <a:xfrm>
              <a:off x="5858103" y="4937760"/>
              <a:ext cx="475488" cy="548640"/>
            </a:xfrm>
            <a:prstGeom prst="up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SVC-154</a:t>
            </a:r>
          </a:p>
        </p:txBody>
      </p:sp>
      <p:grpSp>
        <p:nvGrpSpPr>
          <p:cNvPr id="15" name="asset:SVC-154"/>
          <p:cNvGrpSpPr/>
          <p:nvPr/>
        </p:nvGrpSpPr>
        <p:grpSpPr>
          <a:xfrm>
            <a:off x="502920" y="457200"/>
            <a:ext cx="11155680" cy="5916168"/>
            <a:chOff x="502920" y="457200"/>
            <a:chExt cx="11155680" cy="5916168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공공데이터 개방 클라우드 인프라 구성도 (6블록)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클라우드 VPC 내 관리형 서비스 6블록 + 온프레미스 전용선 연계</a:t>
              </a:r>
            </a:p>
          </p:txBody>
        </p:sp>
        <p:sp>
          <p:nvSpPr>
            <p:cNvPr id="5" name="Cloud 4"/>
            <p:cNvSpPr/>
            <p:nvPr/>
          </p:nvSpPr>
          <p:spPr>
            <a:xfrm>
              <a:off x="1097280" y="1371600"/>
              <a:ext cx="9966960" cy="3474720"/>
            </a:xfrm>
            <a:prstGeom prst="cloud">
              <a:avLst/>
            </a:prstGeom>
            <a:solidFill>
              <a:srgbClr val="F7F9FC"/>
            </a:solidFill>
            <a:ln w="254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2194560" y="1517904"/>
              <a:ext cx="3657600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Cloud VPC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2286000" y="2057400"/>
              <a:ext cx="2651760" cy="109728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관리형 DB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5212080" y="2057400"/>
              <a:ext cx="2651760" cy="109728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오브젝트 스토리지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8138160" y="2057400"/>
              <a:ext cx="2651760" cy="109728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CDN · 캐시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2286000" y="3429000"/>
              <a:ext cx="2651760" cy="109728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서버리스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5212080" y="3429000"/>
              <a:ext cx="2651760" cy="109728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메시지 큐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8138160" y="3429000"/>
              <a:ext cx="2651760" cy="109728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모니터링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3992727" y="5532120"/>
              <a:ext cx="4206240" cy="841248"/>
            </a:xfrm>
            <a:prstGeom prst="round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온프레미스 데이터센터 (전용선)</a:t>
              </a:r>
            </a:p>
          </p:txBody>
        </p:sp>
        <p:sp>
          <p:nvSpPr>
            <p:cNvPr id="14" name="Up Arrow 13"/>
            <p:cNvSpPr/>
            <p:nvPr/>
          </p:nvSpPr>
          <p:spPr>
            <a:xfrm>
              <a:off x="5858103" y="4937760"/>
              <a:ext cx="475488" cy="548640"/>
            </a:xfrm>
            <a:prstGeom prst="up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SVC-155</a:t>
            </a:r>
          </a:p>
        </p:txBody>
      </p:sp>
      <p:grpSp>
        <p:nvGrpSpPr>
          <p:cNvPr id="17" name="asset:SVC-155"/>
          <p:cNvGrpSpPr/>
          <p:nvPr/>
        </p:nvGrpSpPr>
        <p:grpSpPr>
          <a:xfrm>
            <a:off x="502920" y="457200"/>
            <a:ext cx="11155680" cy="5916168"/>
            <a:chOff x="502920" y="457200"/>
            <a:chExt cx="11155680" cy="5916168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업무 자동화 클라우드 인프라 구성도 (8블록)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클라우드 VPC 내 관리형 서비스 8블록 + 온프레미스 전용선 연계</a:t>
              </a:r>
            </a:p>
          </p:txBody>
        </p:sp>
        <p:sp>
          <p:nvSpPr>
            <p:cNvPr id="5" name="Cloud 4"/>
            <p:cNvSpPr/>
            <p:nvPr/>
          </p:nvSpPr>
          <p:spPr>
            <a:xfrm>
              <a:off x="1097280" y="1371600"/>
              <a:ext cx="9966960" cy="3474720"/>
            </a:xfrm>
            <a:prstGeom prst="cloud">
              <a:avLst/>
            </a:prstGeom>
            <a:solidFill>
              <a:srgbClr val="F7F9FC"/>
            </a:solidFill>
            <a:ln w="254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2194560" y="1517904"/>
              <a:ext cx="3657600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Cloud VPC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2286000" y="2057400"/>
              <a:ext cx="2651760" cy="64008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오브젝트 스토리지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5212080" y="2057400"/>
              <a:ext cx="2651760" cy="64008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CDN · 캐시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8138160" y="2057400"/>
              <a:ext cx="2651760" cy="64008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서버리스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2286000" y="2971800"/>
              <a:ext cx="2651760" cy="64008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메시지 큐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5212080" y="2971800"/>
              <a:ext cx="2651760" cy="64008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모니터링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8138160" y="2971800"/>
              <a:ext cx="2651760" cy="64008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시크릿 관리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2286000" y="3886200"/>
              <a:ext cx="2651760" cy="64008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로드밸런서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5212080" y="3886200"/>
              <a:ext cx="2651760" cy="64008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컴퓨팅 (VM)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3992727" y="5532120"/>
              <a:ext cx="4206240" cy="841248"/>
            </a:xfrm>
            <a:prstGeom prst="round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온프레미스 데이터센터 (전용선)</a:t>
              </a:r>
            </a:p>
          </p:txBody>
        </p:sp>
        <p:sp>
          <p:nvSpPr>
            <p:cNvPr id="16" name="Up Arrow 15"/>
            <p:cNvSpPr/>
            <p:nvPr/>
          </p:nvSpPr>
          <p:spPr>
            <a:xfrm>
              <a:off x="5858103" y="4937760"/>
              <a:ext cx="475488" cy="548640"/>
            </a:xfrm>
            <a:prstGeom prst="up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SVC-156</a:t>
            </a:r>
          </a:p>
        </p:txBody>
      </p:sp>
      <p:grpSp>
        <p:nvGrpSpPr>
          <p:cNvPr id="13" name="asset:SVC-156"/>
          <p:cNvGrpSpPr/>
          <p:nvPr/>
        </p:nvGrpSpPr>
        <p:grpSpPr>
          <a:xfrm>
            <a:off x="502920" y="457200"/>
            <a:ext cx="11155680" cy="5916168"/>
            <a:chOff x="502920" y="457200"/>
            <a:chExt cx="11155680" cy="5916168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보안 관제 체계 클라우드 인프라 구성도 (4블록)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클라우드 VPC 내 관리형 서비스 4블록 + 온프레미스 전용선 연계</a:t>
              </a:r>
            </a:p>
          </p:txBody>
        </p:sp>
        <p:sp>
          <p:nvSpPr>
            <p:cNvPr id="5" name="Cloud 4"/>
            <p:cNvSpPr/>
            <p:nvPr/>
          </p:nvSpPr>
          <p:spPr>
            <a:xfrm>
              <a:off x="1097280" y="1371600"/>
              <a:ext cx="9966960" cy="3474720"/>
            </a:xfrm>
            <a:prstGeom prst="cloud">
              <a:avLst/>
            </a:prstGeom>
            <a:solidFill>
              <a:srgbClr val="F7F9FC"/>
            </a:solidFill>
            <a:ln w="254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2194560" y="1517904"/>
              <a:ext cx="3657600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Cloud VPC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2286000" y="2057400"/>
              <a:ext cx="4114800" cy="109728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CDN · 캐시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6675120" y="2057400"/>
              <a:ext cx="4114800" cy="109728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서버리스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2286000" y="3429000"/>
              <a:ext cx="4114800" cy="109728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메시지 큐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6675120" y="3429000"/>
              <a:ext cx="4114800" cy="109728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모니터링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3992727" y="5532120"/>
              <a:ext cx="4206240" cy="841248"/>
            </a:xfrm>
            <a:prstGeom prst="round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온프레미스 데이터센터 (전용선)</a:t>
              </a:r>
            </a:p>
          </p:txBody>
        </p:sp>
        <p:sp>
          <p:nvSpPr>
            <p:cNvPr id="12" name="Up Arrow 11"/>
            <p:cNvSpPr/>
            <p:nvPr/>
          </p:nvSpPr>
          <p:spPr>
            <a:xfrm>
              <a:off x="5858103" y="4937760"/>
              <a:ext cx="475488" cy="548640"/>
            </a:xfrm>
            <a:prstGeom prst="up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