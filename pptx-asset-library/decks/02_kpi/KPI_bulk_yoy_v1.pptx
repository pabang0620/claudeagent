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2카드 · blue_500</a:t>
            </a:r>
          </a:p>
        </p:txBody>
      </p:sp>
      <p:grpSp>
        <p:nvGrpSpPr>
          <p:cNvPr id="18" name="asset:KPI-071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7872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7872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016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7872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7872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3카드 · teal_500</a:t>
            </a:r>
          </a:p>
        </p:txBody>
      </p:sp>
      <p:grpSp>
        <p:nvGrpSpPr>
          <p:cNvPr id="25" name="asset:KPI-072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6516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6516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516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5660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6516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6516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6516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09228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09228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9228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8372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9228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9228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9228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4카드 · cyan_500</a:t>
            </a:r>
          </a:p>
        </p:txBody>
      </p:sp>
      <p:grpSp>
        <p:nvGrpSpPr>
          <p:cNvPr id="32" name="asset:KPI-073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5838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55838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5838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4982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5838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5838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5838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72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7872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7872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016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7872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7872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7872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9906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9906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99906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9050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9906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9906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9906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5카드 · purple_600</a:t>
            </a:r>
          </a:p>
        </p:txBody>
      </p:sp>
      <p:grpSp>
        <p:nvGrpSpPr>
          <p:cNvPr id="39" name="asset:KPI-074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4319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14319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14319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5759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14319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14319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4319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190591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190591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90591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82031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90591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90591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90591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366863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366863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66863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58303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6863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66863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66863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543135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543135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543135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34575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84%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543135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43135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3135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+13% 전년比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2카드 · navy_600</a:t>
            </a:r>
          </a:p>
        </p:txBody>
      </p:sp>
      <p:grpSp>
        <p:nvGrpSpPr>
          <p:cNvPr id="18" name="asset:KPI-075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7872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7872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016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7872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7872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3카드 · navy_800</a:t>
            </a:r>
          </a:p>
        </p:txBody>
      </p:sp>
      <p:grpSp>
        <p:nvGrpSpPr>
          <p:cNvPr id="25" name="asset:KPI-076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6516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6516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516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5660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6516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6516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6516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09228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09228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9228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8372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9228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9228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9228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4카드 · blue_500</a:t>
            </a:r>
          </a:p>
        </p:txBody>
      </p:sp>
      <p:grpSp>
        <p:nvGrpSpPr>
          <p:cNvPr id="32" name="asset:KPI-077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5838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55838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5838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4982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5838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5838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5838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72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7872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7872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016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7872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7872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7872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9906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9906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99906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9050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9906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9906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9906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5카드 · teal_500</a:t>
            </a:r>
          </a:p>
        </p:txBody>
      </p:sp>
      <p:grpSp>
        <p:nvGrpSpPr>
          <p:cNvPr id="39" name="asset:KPI-078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4319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14319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14319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5759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14319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14319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4319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190591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190591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90591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82031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90591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90591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90591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366863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366863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66863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58303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6863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66863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66863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543135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543135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543135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34575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84%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543135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43135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3135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+13% 전년比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2카드 · cyan_500</a:t>
            </a:r>
          </a:p>
        </p:txBody>
      </p:sp>
      <p:grpSp>
        <p:nvGrpSpPr>
          <p:cNvPr id="18" name="asset:KPI-079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7872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7872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016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7872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7872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3카드 · purple_600</a:t>
            </a:r>
          </a:p>
        </p:txBody>
      </p:sp>
      <p:grpSp>
        <p:nvGrpSpPr>
          <p:cNvPr id="25" name="asset:KPI-080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6516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46516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516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5660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6516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6516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6516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092287" y="1554480"/>
              <a:ext cx="326136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092287" y="1554480"/>
              <a:ext cx="3261360" cy="47548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92287" y="1554480"/>
              <a:ext cx="326136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83727" y="2212848"/>
              <a:ext cx="307847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92287" y="2578608"/>
              <a:ext cx="3261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92287" y="301752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92287" y="4297680"/>
              <a:ext cx="32613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4카드 · navy_600</a:t>
            </a:r>
          </a:p>
        </p:txBody>
      </p:sp>
      <p:grpSp>
        <p:nvGrpSpPr>
          <p:cNvPr id="32" name="asset:KPI-081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5838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55838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5838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4982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5838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5838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5838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72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27872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7872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016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7872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7872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7872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99067" y="1554480"/>
              <a:ext cx="235458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99067" y="1554480"/>
              <a:ext cx="2354580" cy="47548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999067" y="1554480"/>
              <a:ext cx="235458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90507" y="2212848"/>
              <a:ext cx="21717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99067" y="2578608"/>
              <a:ext cx="23545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99067" y="301752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99067" y="4297680"/>
              <a:ext cx="23545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5카드 · navy_800</a:t>
            </a:r>
          </a:p>
        </p:txBody>
      </p:sp>
      <p:grpSp>
        <p:nvGrpSpPr>
          <p:cNvPr id="39" name="asset:KPI-082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4319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14319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14319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5759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14319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14319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4319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190591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190591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90591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82031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33만$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90591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90591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90591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+27% 전년比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366863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366863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66863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58303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4.2점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66863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66863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66863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+10% 전년比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543135" y="1554480"/>
              <a:ext cx="1810512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543135" y="1554480"/>
              <a:ext cx="1810512" cy="47548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543135" y="1554480"/>
              <a:ext cx="1810512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34575" y="2212848"/>
              <a:ext cx="162763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84%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543135" y="2578608"/>
              <a:ext cx="181051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43135" y="301752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3135" y="4297680"/>
              <a:ext cx="1810512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+13% 전년比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전년대비 증감 카드 · 2카드 · blue_500</a:t>
            </a:r>
          </a:p>
        </p:txBody>
      </p:sp>
      <p:grpSp>
        <p:nvGrpSpPr>
          <p:cNvPr id="18" name="asset:KPI-083"/>
          <p:cNvGrpSpPr/>
          <p:nvPr/>
        </p:nvGrpSpPr>
        <p:grpSpPr>
          <a:xfrm>
            <a:off x="838047" y="1554480"/>
            <a:ext cx="10515600" cy="3291840"/>
            <a:chOff x="838047" y="1554480"/>
            <a:chExt cx="10515600" cy="329184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820건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804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804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804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+22% 전년比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78727" y="1554480"/>
              <a:ext cx="5074920" cy="32918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554480"/>
              <a:ext cx="5074920" cy="47548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78727" y="1554480"/>
              <a:ext cx="5074920" cy="47548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0167" y="2212848"/>
              <a:ext cx="489204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전년 28개사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578608"/>
              <a:ext cx="5074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▲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78727" y="301752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78727" y="4297680"/>
              <a:ext cx="507492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+43% 전년比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