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0905360" cy="7772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KPI-201</a:t>
            </a:r>
          </a:p>
        </p:txBody>
      </p:sp>
      <p:grpSp>
        <p:nvGrpSpPr>
          <p:cNvPr id="15" name="asset:KPI-201"/>
          <p:cNvGrpSpPr/>
          <p:nvPr/>
        </p:nvGrpSpPr>
        <p:grpSpPr>
          <a:xfrm>
            <a:off x="1225296" y="2203704"/>
            <a:ext cx="8458200" cy="2322576"/>
            <a:chOff x="1225296" y="2203704"/>
            <a:chExt cx="8458200" cy="2322576"/>
          </a:xfrm>
        </p:grpSpPr>
        <p:sp>
          <p:nvSpPr>
            <p:cNvPr id="3" name="Oval 2"/>
            <p:cNvSpPr/>
            <p:nvPr/>
          </p:nvSpPr>
          <p:spPr>
            <a:xfrm>
              <a:off x="1325880" y="220370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2E469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Oval 3"/>
            <p:cNvSpPr/>
            <p:nvPr/>
          </p:nvSpPr>
          <p:spPr>
            <a:xfrm>
              <a:off x="1408176" y="2286000"/>
              <a:ext cx="1645920" cy="1645920"/>
            </a:xfrm>
            <a:prstGeom prst="ellipse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98%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25296" y="406908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정시 집행률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3474720" y="220370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7030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557016" y="2286000"/>
              <a:ext cx="1645920" cy="1645920"/>
            </a:xfrm>
            <a:prstGeom prst="ellipse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4.8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74136" y="406908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주민 만족도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5623560" y="220370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5705856" y="2286000"/>
              <a:ext cx="1645920" cy="1645920"/>
            </a:xfrm>
            <a:prstGeom prst="ellipse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120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522976" y="406908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참여 기관수</a:t>
              </a:r>
            </a:p>
          </p:txBody>
        </p:sp>
        <p:sp>
          <p:nvSpPr>
            <p:cNvPr id="12" name="Oval 11"/>
            <p:cNvSpPr/>
            <p:nvPr/>
          </p:nvSpPr>
          <p:spPr>
            <a:xfrm>
              <a:off x="7772400" y="2203704"/>
              <a:ext cx="1810512" cy="1810512"/>
            </a:xfrm>
            <a:prstGeom prst="ellipse">
              <a:avLst/>
            </a:prstGeom>
            <a:noFill/>
            <a:ln w="19050">
              <a:solidFill>
                <a:srgbClr val="6975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7854696" y="2286000"/>
              <a:ext cx="1645920" cy="1645920"/>
            </a:xfrm>
            <a:prstGeom prst="ellipse">
              <a:avLst/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2600" b="1">
                  <a:solidFill>
                    <a:srgbClr val="FFFFFF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32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671816" y="4069080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연계 지자체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KPI-202</a:t>
            </a:r>
          </a:p>
        </p:txBody>
      </p:sp>
      <p:grpSp>
        <p:nvGrpSpPr>
          <p:cNvPr id="18" name="asset:KPI-202"/>
          <p:cNvGrpSpPr/>
          <p:nvPr/>
        </p:nvGrpSpPr>
        <p:grpSpPr>
          <a:xfrm>
            <a:off x="1431036" y="2194560"/>
            <a:ext cx="8046720" cy="2761488"/>
            <a:chOff x="1431036" y="2194560"/>
            <a:chExt cx="8046720" cy="2761488"/>
          </a:xfrm>
        </p:grpSpPr>
        <p:sp>
          <p:nvSpPr>
            <p:cNvPr id="3" name="Oval 2"/>
            <p:cNvSpPr/>
            <p:nvPr/>
          </p:nvSpPr>
          <p:spPr>
            <a:xfrm>
              <a:off x="1431036" y="2194560"/>
              <a:ext cx="2194560" cy="2194560"/>
            </a:xfrm>
            <a:prstGeom prst="ellipse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Pie 3"/>
            <p:cNvSpPr/>
            <p:nvPr/>
          </p:nvSpPr>
          <p:spPr>
            <a:xfrm>
              <a:off x="1431036" y="2194560"/>
              <a:ext cx="2194560" cy="219456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1716328" y="247985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431036" y="2880359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000000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95</a:t>
              </a:r>
              <a:r>
                <a:rPr sz="1300" b="1">
                  <a:solidFill>
                    <a:srgbClr val="2E4692"/>
                  </a:solidFill>
                  <a:latin typeface="Pretendard GOV SemiBold"/>
                  <a:ea typeface="Pretendard GOV SemiBold"/>
                  <a:cs typeface="Pretendard GOV SemiBold"/>
                </a:rPr>
                <a:t> %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431036" y="449884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사업 목표 달성률</a:t>
              </a:r>
            </a:p>
          </p:txBody>
        </p:sp>
        <p:sp>
          <p:nvSpPr>
            <p:cNvPr id="8" name="Oval 7"/>
            <p:cNvSpPr/>
            <p:nvPr/>
          </p:nvSpPr>
          <p:spPr>
            <a:xfrm>
              <a:off x="4357116" y="2194560"/>
              <a:ext cx="2194560" cy="2194560"/>
            </a:xfrm>
            <a:prstGeom prst="ellipse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Pie 8"/>
            <p:cNvSpPr/>
            <p:nvPr/>
          </p:nvSpPr>
          <p:spPr>
            <a:xfrm>
              <a:off x="4357116" y="2194560"/>
              <a:ext cx="2194560" cy="2194560"/>
            </a:xfrm>
            <a:prstGeom prst="pie">
              <a:avLst>
                <a:gd name="adj1" fmla="val -9000000"/>
                <a:gd name="adj2" fmla="val 20520000"/>
              </a:avLst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4642408" y="247985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357116" y="2880359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000000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82</a:t>
              </a:r>
              <a:r>
                <a:rPr sz="1300" b="1">
                  <a:solidFill>
                    <a:srgbClr val="7030A0"/>
                  </a:solidFill>
                  <a:latin typeface="Pretendard GOV SemiBold"/>
                  <a:ea typeface="Pretendard GOV SemiBold"/>
                  <a:cs typeface="Pretendard GOV SemiBold"/>
                </a:rPr>
                <a:t> %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357116" y="449884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주민 만족도</a:t>
              </a:r>
            </a:p>
          </p:txBody>
        </p:sp>
        <p:sp>
          <p:nvSpPr>
            <p:cNvPr id="13" name="Oval 12"/>
            <p:cNvSpPr/>
            <p:nvPr/>
          </p:nvSpPr>
          <p:spPr>
            <a:xfrm>
              <a:off x="7283196" y="2194560"/>
              <a:ext cx="2194560" cy="2194560"/>
            </a:xfrm>
            <a:prstGeom prst="ellipse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Pie 13"/>
            <p:cNvSpPr/>
            <p:nvPr/>
          </p:nvSpPr>
          <p:spPr>
            <a:xfrm>
              <a:off x="7283196" y="2194560"/>
              <a:ext cx="2194560" cy="2194560"/>
            </a:xfrm>
            <a:prstGeom prst="pie">
              <a:avLst>
                <a:gd name="adj1" fmla="val -9000000"/>
                <a:gd name="adj2" fmla="val 15480000"/>
              </a:avLst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Oval 14"/>
            <p:cNvSpPr/>
            <p:nvPr/>
          </p:nvSpPr>
          <p:spPr>
            <a:xfrm>
              <a:off x="7568488" y="2479852"/>
              <a:ext cx="1623974" cy="1623974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7283196" y="2880359"/>
              <a:ext cx="21945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2800" b="1">
                  <a:solidFill>
                    <a:srgbClr val="000000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68</a:t>
              </a:r>
              <a:r>
                <a:rPr sz="1300" b="1">
                  <a:solidFill>
                    <a:srgbClr val="D05548"/>
                  </a:solidFill>
                  <a:latin typeface="Pretendard GOV SemiBold"/>
                  <a:ea typeface="Pretendard GOV SemiBold"/>
                  <a:cs typeface="Pretendard GOV SemiBold"/>
                </a:rPr>
                <a:t> %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283196" y="4498848"/>
              <a:ext cx="219456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예산 집행률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KPI-203</a:t>
            </a:r>
          </a:p>
        </p:txBody>
      </p:sp>
      <p:grpSp>
        <p:nvGrpSpPr>
          <p:cNvPr id="9" name="asset:KPI-203"/>
          <p:cNvGrpSpPr/>
          <p:nvPr/>
        </p:nvGrpSpPr>
        <p:grpSpPr>
          <a:xfrm>
            <a:off x="1280160" y="1554480"/>
            <a:ext cx="8348471" cy="4206240"/>
            <a:chOff x="1280160" y="1554480"/>
            <a:chExt cx="8348471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1280160" y="1554480"/>
              <a:ext cx="8348471" cy="4206240"/>
            </a:xfrm>
            <a:prstGeom prst="roundRect">
              <a:avLst>
                <a:gd name="adj" fmla="val 6000"/>
              </a:avLst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1554480" y="1874519"/>
              <a:ext cx="77998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2E4692"/>
                  </a:solidFill>
                  <a:latin typeface="Pretendard GOV ExtraBold"/>
                  <a:ea typeface="Pretendard GOV ExtraBold"/>
                  <a:cs typeface="Pretendard GOV ExtraBold"/>
                </a:rPr>
                <a:t>연간 핵심 성과지표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554480" y="2514600"/>
              <a:ext cx="7799831" cy="201168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96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12,500</a:t>
              </a:r>
              <a:r>
                <a:rPr sz="28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554480" y="4617720"/>
              <a:ext cx="7799831" cy="50292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누적 민원 처리건수 — 전년 대비 28% 증가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1554480" y="5257800"/>
              <a:ext cx="7799831" cy="128016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554480" y="5257800"/>
              <a:ext cx="6707855" cy="128016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KPI-204</a:t>
            </a:r>
          </a:p>
        </p:txBody>
      </p:sp>
      <p:grpSp>
        <p:nvGrpSpPr>
          <p:cNvPr id="19" name="asset:KPI-204"/>
          <p:cNvGrpSpPr/>
          <p:nvPr/>
        </p:nvGrpSpPr>
        <p:grpSpPr>
          <a:xfrm>
            <a:off x="822960" y="1417320"/>
            <a:ext cx="9738360" cy="4251960"/>
            <a:chOff x="822960" y="1417320"/>
            <a:chExt cx="9738360" cy="4251960"/>
          </a:xfrm>
        </p:grpSpPr>
        <p:sp>
          <p:nvSpPr>
            <p:cNvPr id="3" name="Rounded Rectangle 2"/>
            <p:cNvSpPr/>
            <p:nvPr/>
          </p:nvSpPr>
          <p:spPr>
            <a:xfrm>
              <a:off x="822960" y="1417320"/>
              <a:ext cx="4709160" cy="19659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822960" y="1417320"/>
              <a:ext cx="146304" cy="196596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1234440" y="1645920"/>
              <a:ext cx="406908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1,000</a:t>
              </a:r>
              <a:r>
                <a:rPr sz="16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234440" y="2788920"/>
              <a:ext cx="4069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검증완료 사업 DB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852160" y="1417320"/>
              <a:ext cx="4709160" cy="19659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852160" y="1417320"/>
              <a:ext cx="146304" cy="196596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263640" y="1645920"/>
              <a:ext cx="406908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7030A0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40</a:t>
              </a:r>
              <a:r>
                <a:rPr sz="16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개소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263640" y="2788920"/>
              <a:ext cx="4069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참여 지역기관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22960" y="3703320"/>
              <a:ext cx="4709160" cy="19659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822960" y="3703320"/>
              <a:ext cx="146304" cy="1965960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234440" y="3931920"/>
              <a:ext cx="406908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D05548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42</a:t>
              </a:r>
              <a:r>
                <a:rPr sz="16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억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1234440" y="5074919"/>
              <a:ext cx="4069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연계 예산 규모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5852160" y="3703320"/>
              <a:ext cx="4709160" cy="19659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5852160" y="3703320"/>
              <a:ext cx="146304" cy="1965960"/>
            </a:xfrm>
            <a:prstGeom prst="rect">
              <a:avLst/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263640" y="3931920"/>
              <a:ext cx="406908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4000" b="1">
                  <a:solidFill>
                    <a:srgbClr val="697591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95</a:t>
              </a:r>
              <a:r>
                <a:rPr sz="16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6263640" y="5074919"/>
              <a:ext cx="40690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사업 목표 달성률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KPI-205</a:t>
            </a:r>
          </a:p>
        </p:txBody>
      </p:sp>
      <p:grpSp>
        <p:nvGrpSpPr>
          <p:cNvPr id="30" name="asset:KPI-205"/>
          <p:cNvGrpSpPr/>
          <p:nvPr/>
        </p:nvGrpSpPr>
        <p:grpSpPr>
          <a:xfrm>
            <a:off x="457200" y="1737360"/>
            <a:ext cx="9994391" cy="3566160"/>
            <a:chOff x="457200" y="1737360"/>
            <a:chExt cx="9994391" cy="3566160"/>
          </a:xfrm>
        </p:grpSpPr>
        <p:sp>
          <p:nvSpPr>
            <p:cNvPr id="3" name="Rounded Rectangle 2"/>
            <p:cNvSpPr/>
            <p:nvPr/>
          </p:nvSpPr>
          <p:spPr>
            <a:xfrm>
              <a:off x="457200" y="1737360"/>
              <a:ext cx="3087624" cy="35661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685800" y="2011679"/>
              <a:ext cx="263042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민원 처리건수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685800" y="2395728"/>
              <a:ext cx="2630424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4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1,000</a:t>
              </a:r>
              <a:r>
                <a:rPr sz="14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3200400"/>
              <a:ext cx="2630424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2E4692"/>
                  </a:solidFill>
                  <a:latin typeface="Pretendard GOV Medium"/>
                  <a:ea typeface="Pretendard GOV Medium"/>
                  <a:cs typeface="Pretendard GOV Medium"/>
                </a:rPr>
                <a:t>▲ +18% 전년比</a:t>
              </a:r>
            </a:p>
          </p:txBody>
        </p:sp>
        <p:sp>
          <p:nvSpPr>
            <p:cNvPr id="7" name="Rectangle 6"/>
            <p:cNvSpPr/>
            <p:nvPr/>
          </p:nvSpPr>
          <p:spPr>
            <a:xfrm>
              <a:off x="931163" y="4480559"/>
              <a:ext cx="310896" cy="4572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388363" y="4279392"/>
              <a:ext cx="310896" cy="65836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1845563" y="4370831"/>
              <a:ext cx="310896" cy="56692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2302764" y="4069079"/>
              <a:ext cx="310896" cy="86868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759964" y="3794759"/>
              <a:ext cx="310896" cy="1143000"/>
            </a:xfrm>
            <a:prstGeom prst="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3910583" y="1737360"/>
              <a:ext cx="3087624" cy="35661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139183" y="2011679"/>
              <a:ext cx="263042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예산 집행액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139183" y="2395728"/>
              <a:ext cx="2630424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4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42</a:t>
              </a:r>
              <a:r>
                <a:rPr sz="14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억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139183" y="3200400"/>
              <a:ext cx="2630424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D05548"/>
                  </a:solidFill>
                  <a:latin typeface="Pretendard GOV Medium"/>
                  <a:ea typeface="Pretendard GOV Medium"/>
                  <a:cs typeface="Pretendard GOV Medium"/>
                </a:rPr>
                <a:t>▲ +27% 전년比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4384548" y="4480559"/>
              <a:ext cx="310896" cy="4572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841748" y="4279392"/>
              <a:ext cx="310896" cy="65836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5298948" y="4370831"/>
              <a:ext cx="310896" cy="56692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5756148" y="4069079"/>
              <a:ext cx="310896" cy="86868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6213348" y="3794759"/>
              <a:ext cx="310896" cy="1143000"/>
            </a:xfrm>
            <a:prstGeom prst="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7363967" y="1737360"/>
              <a:ext cx="3087624" cy="356616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E9EAF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7592567" y="2011679"/>
              <a:ext cx="2630424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4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주민 만족도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7592567" y="2395728"/>
              <a:ext cx="2630424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l"/>
              <a:r>
                <a:rPr sz="34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4.6</a:t>
              </a:r>
              <a:r>
                <a:rPr sz="14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점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7592567" y="3200400"/>
              <a:ext cx="2630424" cy="3200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7030A0"/>
                  </a:solidFill>
                  <a:latin typeface="Pretendard GOV Medium"/>
                  <a:ea typeface="Pretendard GOV Medium"/>
                  <a:cs typeface="Pretendard GOV Medium"/>
                </a:rPr>
                <a:t>▲ +5% 전년比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7837931" y="4480559"/>
              <a:ext cx="310896" cy="45720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295131" y="4279392"/>
              <a:ext cx="310896" cy="65836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8752331" y="4370831"/>
              <a:ext cx="310896" cy="566928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209531" y="4069079"/>
              <a:ext cx="310896" cy="868680"/>
            </a:xfrm>
            <a:prstGeom prst="rect">
              <a:avLst/>
            </a:prstGeom>
            <a:solidFill>
              <a:srgbClr val="E9EA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9666731" y="3794759"/>
              <a:ext cx="310896" cy="1143000"/>
            </a:xfrm>
            <a:prstGeom prst="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" y="54864"/>
            <a:ext cx="3291840" cy="2560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697591"/>
                </a:solidFill>
                <a:latin typeface="Pretendard GOV Light"/>
                <a:ea typeface="Pretendard GOV Light"/>
                <a:cs typeface="Pretendard GOV Light"/>
              </a:rPr>
              <a:t>KPI-206</a:t>
            </a:r>
          </a:p>
        </p:txBody>
      </p:sp>
      <p:grpSp>
        <p:nvGrpSpPr>
          <p:cNvPr id="23" name="asset:KPI-206"/>
          <p:cNvGrpSpPr/>
          <p:nvPr/>
        </p:nvGrpSpPr>
        <p:grpSpPr>
          <a:xfrm>
            <a:off x="379476" y="2331720"/>
            <a:ext cx="10149840" cy="2468880"/>
            <a:chOff x="379476" y="2331720"/>
            <a:chExt cx="10149840" cy="2468880"/>
          </a:xfrm>
        </p:grpSpPr>
        <p:sp>
          <p:nvSpPr>
            <p:cNvPr id="3" name="Rounded Rectangle 2"/>
            <p:cNvSpPr/>
            <p:nvPr/>
          </p:nvSpPr>
          <p:spPr>
            <a:xfrm>
              <a:off x="379476" y="2331720"/>
              <a:ext cx="2331720" cy="24688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2E469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ounded Rectangle 3"/>
            <p:cNvSpPr/>
            <p:nvPr/>
          </p:nvSpPr>
          <p:spPr>
            <a:xfrm>
              <a:off x="379476" y="2331720"/>
              <a:ext cx="2331720" cy="457200"/>
            </a:xfrm>
            <a:prstGeom prst="roundRect">
              <a:avLst/>
            </a:prstGeom>
            <a:solidFill>
              <a:srgbClr val="2E469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379476" y="2331720"/>
              <a:ext cx="2331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지표 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79476" y="3017520"/>
              <a:ext cx="233172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2E4692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1,000</a:t>
              </a:r>
              <a:r>
                <a:rPr sz="13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70916" y="4251960"/>
              <a:ext cx="21488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검증 사업 DB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2985515" y="2331720"/>
              <a:ext cx="2331720" cy="24688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7030A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85515" y="2331720"/>
              <a:ext cx="2331720" cy="457200"/>
            </a:xfrm>
            <a:prstGeom prst="roundRect">
              <a:avLst/>
            </a:prstGeom>
            <a:solidFill>
              <a:srgbClr val="7030A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985515" y="2331720"/>
              <a:ext cx="2331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지표 2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2985515" y="3017520"/>
              <a:ext cx="233172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7030A0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40</a:t>
              </a:r>
              <a:r>
                <a:rPr sz="13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개소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3076956" y="4251960"/>
              <a:ext cx="21488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참여기관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5591555" y="2331720"/>
              <a:ext cx="2331720" cy="24688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D05548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5591555" y="2331720"/>
              <a:ext cx="2331720" cy="457200"/>
            </a:xfrm>
            <a:prstGeom prst="roundRect">
              <a:avLst/>
            </a:prstGeom>
            <a:solidFill>
              <a:srgbClr val="D05548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591555" y="2331720"/>
              <a:ext cx="2331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지표 3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591555" y="3017520"/>
              <a:ext cx="233172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D05548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42</a:t>
              </a:r>
              <a:r>
                <a:rPr sz="13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억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682995" y="4251960"/>
              <a:ext cx="21488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연계 예산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8197596" y="2331720"/>
              <a:ext cx="2331720" cy="24688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 w="14287">
              <a:solidFill>
                <a:srgbClr val="6975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8197596" y="2331720"/>
              <a:ext cx="2331720" cy="457200"/>
            </a:xfrm>
            <a:prstGeom prst="roundRect">
              <a:avLst/>
            </a:prstGeom>
            <a:solidFill>
              <a:srgbClr val="69759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8197596" y="2331720"/>
              <a:ext cx="233172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 GOV Medium"/>
                  <a:ea typeface="Pretendard GOV Medium"/>
                  <a:cs typeface="Pretendard GOV Medium"/>
                </a:rPr>
                <a:t>지표 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8197596" y="3017520"/>
              <a:ext cx="2331720" cy="100584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000" b="1">
                  <a:solidFill>
                    <a:srgbClr val="697591"/>
                  </a:solidFill>
                  <a:latin typeface="페이퍼로지 8 ExtraBold"/>
                  <a:ea typeface="페이퍼로지 8 ExtraBold"/>
                  <a:cs typeface="페이퍼로지 8 ExtraBold"/>
                </a:rPr>
                <a:t>4.6</a:t>
              </a:r>
              <a:r>
                <a:rPr sz="1300" b="1">
                  <a:solidFill>
                    <a:srgbClr val="000000"/>
                  </a:solidFill>
                  <a:latin typeface="Pretendard GOV SemiBold"/>
                  <a:ea typeface="Pretendard GOV SemiBold"/>
                  <a:cs typeface="Pretendard GOV SemiBold"/>
                </a:rPr>
                <a:t> 점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8289036" y="4251960"/>
              <a:ext cx="2148839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000000"/>
                  </a:solidFill>
                  <a:latin typeface="Pretendard GOV Medium"/>
                  <a:ea typeface="Pretendard GOV Medium"/>
                  <a:cs typeface="Pretendard GOV Medium"/>
                </a:rPr>
                <a:t>만족도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