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KPI-201</a:t>
            </a:r>
          </a:p>
        </p:txBody>
      </p:sp>
      <p:grpSp>
        <p:nvGrpSpPr>
          <p:cNvPr id="15" name="asset:KPI-201"/>
          <p:cNvGrpSpPr/>
          <p:nvPr/>
        </p:nvGrpSpPr>
        <p:grpSpPr>
          <a:xfrm>
            <a:off x="1225296" y="2203704"/>
            <a:ext cx="8458200" cy="2322576"/>
            <a:chOff x="1225296" y="2203704"/>
            <a:chExt cx="8458200" cy="2322576"/>
          </a:xfrm>
        </p:grpSpPr>
        <p:sp>
          <p:nvSpPr>
            <p:cNvPr id="3" name="Oval 2"/>
            <p:cNvSpPr/>
            <p:nvPr/>
          </p:nvSpPr>
          <p:spPr>
            <a:xfrm>
              <a:off x="132588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408176" y="2286000"/>
              <a:ext cx="1645920" cy="16459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98%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2529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정시 집행률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47472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557016" y="2286000"/>
              <a:ext cx="1645920" cy="164592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7413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2356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5705856" y="2286000"/>
              <a:ext cx="1645920" cy="1645920"/>
            </a:xfrm>
            <a:prstGeom prst="ellipse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297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기관수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77240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7854696" y="2286000"/>
              <a:ext cx="1645920" cy="1645920"/>
            </a:xfrm>
            <a:prstGeom prst="ellipse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32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7181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지자체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KPI-202</a:t>
            </a:r>
          </a:p>
        </p:txBody>
      </p:sp>
      <p:grpSp>
        <p:nvGrpSpPr>
          <p:cNvPr id="18" name="asset:KPI-202"/>
          <p:cNvGrpSpPr/>
          <p:nvPr/>
        </p:nvGrpSpPr>
        <p:grpSpPr>
          <a:xfrm>
            <a:off x="1431036" y="2194560"/>
            <a:ext cx="8046720" cy="2761488"/>
            <a:chOff x="1431036" y="2194560"/>
            <a:chExt cx="8046720" cy="2761488"/>
          </a:xfrm>
        </p:grpSpPr>
        <p:sp>
          <p:nvSpPr>
            <p:cNvPr id="3" name="Oval 2"/>
            <p:cNvSpPr/>
            <p:nvPr/>
          </p:nvSpPr>
          <p:spPr>
            <a:xfrm>
              <a:off x="143103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ie 3"/>
            <p:cNvSpPr/>
            <p:nvPr/>
          </p:nvSpPr>
          <p:spPr>
            <a:xfrm>
              <a:off x="1431036" y="2194560"/>
              <a:ext cx="2194560" cy="219456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632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3103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300" b="1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3103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35711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ie 8"/>
            <p:cNvSpPr/>
            <p:nvPr/>
          </p:nvSpPr>
          <p:spPr>
            <a:xfrm>
              <a:off x="4357116" y="2194560"/>
              <a:ext cx="2194560" cy="219456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64240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5711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82</a:t>
              </a:r>
              <a:r>
                <a:rPr sz="1300" b="1">
                  <a:solidFill>
                    <a:srgbClr val="7030A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5711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28319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e 13"/>
            <p:cNvSpPr/>
            <p:nvPr/>
          </p:nvSpPr>
          <p:spPr>
            <a:xfrm>
              <a:off x="7283196" y="2194560"/>
              <a:ext cx="2194560" cy="219456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56848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8319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68</a:t>
              </a:r>
              <a:r>
                <a:rPr sz="1300" b="1">
                  <a:solidFill>
                    <a:srgbClr val="D05548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8319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집행률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KPI-203</a:t>
            </a:r>
          </a:p>
        </p:txBody>
      </p:sp>
      <p:grpSp>
        <p:nvGrpSpPr>
          <p:cNvPr id="9" name="asset:KPI-203"/>
          <p:cNvGrpSpPr/>
          <p:nvPr/>
        </p:nvGrpSpPr>
        <p:grpSpPr>
          <a:xfrm>
            <a:off x="1280160" y="1554480"/>
            <a:ext cx="8348471" cy="4206240"/>
            <a:chOff x="1280160" y="1554480"/>
            <a:chExt cx="8348471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1280160" y="1554480"/>
              <a:ext cx="8348471" cy="4206240"/>
            </a:xfrm>
            <a:prstGeom prst="roundRect">
              <a:avLst>
                <a:gd name="adj" fmla="val 6000"/>
              </a:avLst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554480" y="1874519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연간 핵심 성과지표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54480" y="2514600"/>
              <a:ext cx="7799831" cy="20116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96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12,500</a:t>
              </a:r>
              <a:r>
                <a:rPr sz="28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4617720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누적 민원 처리건수 — 전년 대비 28% 증가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554480" y="5257800"/>
              <a:ext cx="7799831" cy="128016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54480" y="5257800"/>
              <a:ext cx="6707855" cy="12801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KPI-204</a:t>
            </a:r>
          </a:p>
        </p:txBody>
      </p:sp>
      <p:grpSp>
        <p:nvGrpSpPr>
          <p:cNvPr id="19" name="asset:KPI-204"/>
          <p:cNvGrpSpPr/>
          <p:nvPr/>
        </p:nvGrpSpPr>
        <p:grpSpPr>
          <a:xfrm>
            <a:off x="822960" y="1417320"/>
            <a:ext cx="9738360" cy="4251960"/>
            <a:chOff x="822960" y="1417320"/>
            <a:chExt cx="9738360" cy="425196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417320"/>
              <a:ext cx="146304" cy="196596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검증완료 사업 DB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521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852160" y="1417320"/>
              <a:ext cx="146304" cy="19659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636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636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지역기관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29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22960" y="3703320"/>
              <a:ext cx="146304" cy="196596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344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344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 규모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521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852160" y="3703320"/>
              <a:ext cx="146304" cy="196596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636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636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KPI-205</a:t>
            </a:r>
          </a:p>
        </p:txBody>
      </p:sp>
      <p:grpSp>
        <p:nvGrpSpPr>
          <p:cNvPr id="30" name="asset:KPI-205"/>
          <p:cNvGrpSpPr/>
          <p:nvPr/>
        </p:nvGrpSpPr>
        <p:grpSpPr>
          <a:xfrm>
            <a:off x="457200" y="1737360"/>
            <a:ext cx="9994391" cy="3566160"/>
            <a:chOff x="457200" y="1737360"/>
            <a:chExt cx="9994391" cy="356616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5800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민원 처리건수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▲ +18% 전년比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931163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88363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5563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02764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59964" y="3794759"/>
              <a:ext cx="310896" cy="11430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10583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39183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집행액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39183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39183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D05548"/>
                  </a:solidFill>
                  <a:latin typeface="Pretendard GOV Medium"/>
                  <a:ea typeface="Pretendard GOV Medium"/>
                  <a:cs typeface="Pretendard GOV Medium"/>
                </a:rPr>
                <a:t>▲ +27% 전년比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4548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841748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8948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56148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213348" y="3794759"/>
              <a:ext cx="310896" cy="114300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363967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92567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92567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92567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030A0"/>
                  </a:solidFill>
                  <a:latin typeface="Pretendard GOV Medium"/>
                  <a:ea typeface="Pretendard GOV Medium"/>
                  <a:cs typeface="Pretendard GOV Medium"/>
                </a:rPr>
                <a:t>▲ +5% 전년比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837931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295131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752331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09531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666731" y="3794759"/>
              <a:ext cx="310896" cy="1143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KPI-206</a:t>
            </a:r>
          </a:p>
        </p:txBody>
      </p:sp>
      <p:grpSp>
        <p:nvGrpSpPr>
          <p:cNvPr id="23" name="asset:KPI-206"/>
          <p:cNvGrpSpPr/>
          <p:nvPr/>
        </p:nvGrpSpPr>
        <p:grpSpPr>
          <a:xfrm>
            <a:off x="379476" y="2331720"/>
            <a:ext cx="10149840" cy="2468880"/>
            <a:chOff x="379476" y="2331720"/>
            <a:chExt cx="10149840" cy="2468880"/>
          </a:xfrm>
        </p:grpSpPr>
        <p:sp>
          <p:nvSpPr>
            <p:cNvPr id="3" name="Rounded Rectangle 2"/>
            <p:cNvSpPr/>
            <p:nvPr/>
          </p:nvSpPr>
          <p:spPr>
            <a:xfrm>
              <a:off x="37947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79476" y="2331720"/>
              <a:ext cx="2331720" cy="457200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947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947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091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 사업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98551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85515" y="2331720"/>
              <a:ext cx="2331720" cy="4572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8551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551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7695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참여기관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59155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591555" y="2331720"/>
              <a:ext cx="2331720" cy="457200"/>
            </a:xfrm>
            <a:prstGeom prst="round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59155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9155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82995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9759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97596" y="2331720"/>
              <a:ext cx="2331720" cy="457200"/>
            </a:xfrm>
            <a:prstGeom prst="round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759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9759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8903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만족도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