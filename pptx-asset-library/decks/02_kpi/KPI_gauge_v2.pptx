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00584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링 프로그레스 세트 (얇은 도넛 링 + % 강조)</a:t>
            </a:r>
          </a:p>
        </p:txBody>
      </p:sp>
      <p:grpSp>
        <p:nvGrpSpPr>
          <p:cNvPr id="19" name="asset:KPI-011"/>
          <p:cNvGrpSpPr/>
          <p:nvPr/>
        </p:nvGrpSpPr>
        <p:grpSpPr>
          <a:xfrm>
            <a:off x="2072487" y="1828800"/>
            <a:ext cx="8046720" cy="2761488"/>
            <a:chOff x="2072487" y="1828800"/>
            <a:chExt cx="8046720" cy="2761488"/>
          </a:xfrm>
        </p:grpSpPr>
        <p:sp>
          <p:nvSpPr>
            <p:cNvPr id="4" name="Oval 3"/>
            <p:cNvSpPr/>
            <p:nvPr/>
          </p:nvSpPr>
          <p:spPr>
            <a:xfrm>
              <a:off x="2072487" y="1828800"/>
              <a:ext cx="2194560" cy="219456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Pie 4"/>
            <p:cNvSpPr/>
            <p:nvPr/>
          </p:nvSpPr>
          <p:spPr>
            <a:xfrm>
              <a:off x="2072487" y="1828800"/>
              <a:ext cx="2194560" cy="2194560"/>
            </a:xfrm>
            <a:prstGeom prst="pie">
              <a:avLst>
                <a:gd name="adj1" fmla="val -9000000"/>
                <a:gd name="adj2" fmla="val 2520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357780" y="2114092"/>
              <a:ext cx="1623974" cy="162397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072487" y="2514600"/>
              <a:ext cx="21945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072487" y="4133088"/>
              <a:ext cx="21945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4998567" y="1828800"/>
              <a:ext cx="2194560" cy="219456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Pie 9"/>
            <p:cNvSpPr/>
            <p:nvPr/>
          </p:nvSpPr>
          <p:spPr>
            <a:xfrm>
              <a:off x="4998567" y="1828800"/>
              <a:ext cx="2194560" cy="2194560"/>
            </a:xfrm>
            <a:prstGeom prst="pie">
              <a:avLst>
                <a:gd name="adj1" fmla="val -9000000"/>
                <a:gd name="adj2" fmla="val 2052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5283860" y="2114092"/>
              <a:ext cx="1623974" cy="162397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998567" y="2514600"/>
              <a:ext cx="21945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82</a:t>
              </a:r>
              <a:r>
                <a:rPr sz="14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998567" y="4133088"/>
              <a:ext cx="21945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고객 만족도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7924647" y="1828800"/>
              <a:ext cx="2194560" cy="219456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Pie 14"/>
            <p:cNvSpPr/>
            <p:nvPr/>
          </p:nvSpPr>
          <p:spPr>
            <a:xfrm>
              <a:off x="7924647" y="1828800"/>
              <a:ext cx="2194560" cy="2194560"/>
            </a:xfrm>
            <a:prstGeom prst="pie">
              <a:avLst>
                <a:gd name="adj1" fmla="val -9000000"/>
                <a:gd name="adj2" fmla="val 1548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8209940" y="2114092"/>
              <a:ext cx="1623974" cy="162397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924647" y="2514600"/>
              <a:ext cx="21945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68</a:t>
              </a:r>
              <a:r>
                <a:rPr sz="14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924647" y="4133088"/>
              <a:ext cx="21945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 전환율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00584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배지형 지표 (둥근 배지 안 숫자)</a:t>
            </a:r>
          </a:p>
        </p:txBody>
      </p:sp>
      <p:grpSp>
        <p:nvGrpSpPr>
          <p:cNvPr id="16" name="asset:KPI-015"/>
          <p:cNvGrpSpPr/>
          <p:nvPr/>
        </p:nvGrpSpPr>
        <p:grpSpPr>
          <a:xfrm>
            <a:off x="1866747" y="1929384"/>
            <a:ext cx="8458200" cy="2322576"/>
            <a:chOff x="1866747" y="1929384"/>
            <a:chExt cx="8458200" cy="2322576"/>
          </a:xfrm>
        </p:grpSpPr>
        <p:sp>
          <p:nvSpPr>
            <p:cNvPr id="4" name="Oval 3"/>
            <p:cNvSpPr/>
            <p:nvPr/>
          </p:nvSpPr>
          <p:spPr>
            <a:xfrm>
              <a:off x="1967331" y="1929384"/>
              <a:ext cx="1810512" cy="1810512"/>
            </a:xfrm>
            <a:prstGeom prst="ellipse">
              <a:avLst/>
            </a:prstGeom>
            <a:noFill/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2049627" y="2011680"/>
              <a:ext cx="1645920" cy="164592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3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98%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866747" y="379476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정시 납품률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4116171" y="1929384"/>
              <a:ext cx="1810512" cy="1810512"/>
            </a:xfrm>
            <a:prstGeom prst="ellipse">
              <a:avLst/>
            </a:prstGeom>
            <a:noFill/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4198467" y="2011680"/>
              <a:ext cx="1645920" cy="164592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3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4.8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015587" y="379476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6265011" y="1929384"/>
              <a:ext cx="1810512" cy="1810512"/>
            </a:xfrm>
            <a:prstGeom prst="ellipse">
              <a:avLst/>
            </a:prstGeom>
            <a:noFill/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6347307" y="2011680"/>
              <a:ext cx="1645920" cy="164592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3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120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164427" y="379476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협력 기업수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8413851" y="1929384"/>
              <a:ext cx="1810512" cy="1810512"/>
            </a:xfrm>
            <a:prstGeom prst="ellipse">
              <a:avLst/>
            </a:prstGeom>
            <a:noFill/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8496147" y="2011680"/>
              <a:ext cx="1645920" cy="164592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3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32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313267" y="379476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 대상국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00584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반원 게이지 (semicircle gauge)</a:t>
            </a:r>
          </a:p>
        </p:txBody>
      </p:sp>
      <p:grpSp>
        <p:nvGrpSpPr>
          <p:cNvPr id="22" name="asset:KPI-016"/>
          <p:cNvGrpSpPr/>
          <p:nvPr/>
        </p:nvGrpSpPr>
        <p:grpSpPr>
          <a:xfrm>
            <a:off x="1386687" y="1920240"/>
            <a:ext cx="9418320" cy="2651760"/>
            <a:chOff x="1386687" y="1920240"/>
            <a:chExt cx="9418320" cy="2651760"/>
          </a:xfrm>
        </p:grpSpPr>
        <p:sp>
          <p:nvSpPr>
            <p:cNvPr id="4" name="Oval 3"/>
            <p:cNvSpPr/>
            <p:nvPr/>
          </p:nvSpPr>
          <p:spPr>
            <a:xfrm>
              <a:off x="1432407" y="1920240"/>
              <a:ext cx="2560320" cy="256032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Pie 4"/>
            <p:cNvSpPr/>
            <p:nvPr/>
          </p:nvSpPr>
          <p:spPr>
            <a:xfrm>
              <a:off x="1432407" y="1920240"/>
              <a:ext cx="2560320" cy="2560320"/>
            </a:xfrm>
            <a:prstGeom prst="pie">
              <a:avLst>
                <a:gd name="adj1" fmla="val 18000000"/>
                <a:gd name="adj2" fmla="val 3384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970074" y="2457907"/>
              <a:ext cx="1484985" cy="148498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386687" y="3200400"/>
              <a:ext cx="2651760" cy="1371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432407" y="2542032"/>
              <a:ext cx="25603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88</a:t>
              </a:r>
              <a:r>
                <a:rPr sz="13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432407" y="3310128"/>
              <a:ext cx="25603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예산 집행률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4815687" y="1920240"/>
              <a:ext cx="2560320" cy="256032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Pie 10"/>
            <p:cNvSpPr/>
            <p:nvPr/>
          </p:nvSpPr>
          <p:spPr>
            <a:xfrm>
              <a:off x="4815687" y="1920240"/>
              <a:ext cx="2560320" cy="2560320"/>
            </a:xfrm>
            <a:prstGeom prst="pie">
              <a:avLst>
                <a:gd name="adj1" fmla="val 18000000"/>
                <a:gd name="adj2" fmla="val 31139999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5353354" y="2457907"/>
              <a:ext cx="1484985" cy="148498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769967" y="3200400"/>
              <a:ext cx="2651760" cy="1371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815687" y="2542032"/>
              <a:ext cx="25603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73</a:t>
              </a:r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815687" y="3310128"/>
              <a:ext cx="25603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사업 목표 달성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8198967" y="1920240"/>
              <a:ext cx="2560320" cy="256032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Pie 16"/>
            <p:cNvSpPr/>
            <p:nvPr/>
          </p:nvSpPr>
          <p:spPr>
            <a:xfrm>
              <a:off x="8198967" y="1920240"/>
              <a:ext cx="2560320" cy="2560320"/>
            </a:xfrm>
            <a:prstGeom prst="pie">
              <a:avLst>
                <a:gd name="adj1" fmla="val 18000000"/>
                <a:gd name="adj2" fmla="val 3510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8736634" y="2457907"/>
              <a:ext cx="1484985" cy="148498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153247" y="3200400"/>
              <a:ext cx="2651760" cy="1371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198967" y="2542032"/>
              <a:ext cx="25603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3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198967" y="3310128"/>
              <a:ext cx="25603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 가동률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00584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비교 KPI (전년 vs 올해 대비)</a:t>
            </a:r>
          </a:p>
        </p:txBody>
      </p:sp>
      <p:grpSp>
        <p:nvGrpSpPr>
          <p:cNvPr id="28" name="asset:KPI-017"/>
          <p:cNvGrpSpPr/>
          <p:nvPr/>
        </p:nvGrpSpPr>
        <p:grpSpPr>
          <a:xfrm>
            <a:off x="457200" y="1554480"/>
            <a:ext cx="11277294" cy="3291840"/>
            <a:chOff x="457200" y="1554480"/>
            <a:chExt cx="11277294" cy="329184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1554480"/>
              <a:ext cx="3515258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57200" y="1554480"/>
              <a:ext cx="3515258" cy="50292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57200" y="1554480"/>
              <a:ext cx="3515258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48640" y="2240280"/>
              <a:ext cx="3332378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48640" y="2514600"/>
              <a:ext cx="3332378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33</a:t>
              </a:r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57200" y="3337560"/>
              <a:ext cx="351525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48640" y="3611880"/>
              <a:ext cx="3332378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올해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48640" y="3886200"/>
              <a:ext cx="3332378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338218" y="1554480"/>
              <a:ext cx="3515258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338218" y="1554480"/>
              <a:ext cx="3515258" cy="50292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338218" y="1554480"/>
              <a:ext cx="3515258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429658" y="2240280"/>
              <a:ext cx="3332378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429658" y="2514600"/>
              <a:ext cx="3332378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28</a:t>
              </a:r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338218" y="3337560"/>
              <a:ext cx="351525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▼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429658" y="3611880"/>
              <a:ext cx="3332378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올해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429658" y="3886200"/>
              <a:ext cx="3332378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8219236" y="1554480"/>
              <a:ext cx="3515258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8219236" y="1554480"/>
              <a:ext cx="3515258" cy="502920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219236" y="1554480"/>
              <a:ext cx="3515258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310676" y="2240280"/>
              <a:ext cx="3332378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310676" y="2514600"/>
              <a:ext cx="3332378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4.2</a:t>
              </a:r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219236" y="3337560"/>
              <a:ext cx="351525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▼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310676" y="3611880"/>
              <a:ext cx="3332378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올해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310676" y="3886200"/>
              <a:ext cx="3332378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5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