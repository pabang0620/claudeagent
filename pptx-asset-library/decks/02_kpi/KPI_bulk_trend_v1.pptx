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트렌드 카드 · 2카드 · blue_500</a:t>
            </a:r>
          </a:p>
        </p:txBody>
      </p:sp>
      <p:grpSp>
        <p:nvGrpSpPr>
          <p:cNvPr id="22" name="asset:KPI-149"/>
          <p:cNvGrpSpPr/>
          <p:nvPr/>
        </p:nvGrpSpPr>
        <p:grpSpPr>
          <a:xfrm>
            <a:off x="838047" y="1645920"/>
            <a:ext cx="10515600" cy="3017520"/>
            <a:chOff x="838047" y="1645920"/>
            <a:chExt cx="10515600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645920"/>
              <a:ext cx="507492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20927" y="1874519"/>
              <a:ext cx="470915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0927" y="2240280"/>
              <a:ext cx="4709159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0927" y="3017520"/>
              <a:ext cx="47091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+22% 전년比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6647" y="3886200"/>
              <a:ext cx="65967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056159" y="3685032"/>
              <a:ext cx="65967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45670" y="3776472"/>
              <a:ext cx="65967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035181" y="3474720"/>
              <a:ext cx="65967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024693" y="3200400"/>
              <a:ext cx="659674" cy="11430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78727" y="1645920"/>
              <a:ext cx="507492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61607" y="1874519"/>
              <a:ext cx="470915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61607" y="2240280"/>
              <a:ext cx="4709159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61607" y="3017520"/>
              <a:ext cx="47091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+43% 전년比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507327" y="3886200"/>
              <a:ext cx="65967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496839" y="3685032"/>
              <a:ext cx="65967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486350" y="3776472"/>
              <a:ext cx="65967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475861" y="3474720"/>
              <a:ext cx="65967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465373" y="3200400"/>
              <a:ext cx="659674" cy="11430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트렌드 카드 · 3카드 · teal_500</a:t>
            </a:r>
          </a:p>
        </p:txBody>
      </p:sp>
      <p:grpSp>
        <p:nvGrpSpPr>
          <p:cNvPr id="31" name="asset:KPI-150"/>
          <p:cNvGrpSpPr/>
          <p:nvPr/>
        </p:nvGrpSpPr>
        <p:grpSpPr>
          <a:xfrm>
            <a:off x="838047" y="1645920"/>
            <a:ext cx="10515600" cy="3017520"/>
            <a:chOff x="838047" y="1645920"/>
            <a:chExt cx="10515600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645920"/>
              <a:ext cx="326136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20927" y="1874519"/>
              <a:ext cx="28956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0927" y="2240280"/>
              <a:ext cx="2895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0927" y="3017520"/>
              <a:ext cx="2895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+22% 전년比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6647" y="3886200"/>
              <a:ext cx="40059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67539" y="3685032"/>
              <a:ext cx="40059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268430" y="3776472"/>
              <a:ext cx="40059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69321" y="3474720"/>
              <a:ext cx="40059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470213" y="3200400"/>
              <a:ext cx="400594" cy="11430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465167" y="1645920"/>
              <a:ext cx="326136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48047" y="1874519"/>
              <a:ext cx="28956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648047" y="2240280"/>
              <a:ext cx="2895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648047" y="3017520"/>
              <a:ext cx="2895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+43% 전년比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693767" y="3886200"/>
              <a:ext cx="40059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294659" y="3685032"/>
              <a:ext cx="40059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895550" y="3776472"/>
              <a:ext cx="40059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496441" y="3474720"/>
              <a:ext cx="40059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097333" y="3200400"/>
              <a:ext cx="400594" cy="11430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8092287" y="1645920"/>
              <a:ext cx="326136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275167" y="1874519"/>
              <a:ext cx="28956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275167" y="2240280"/>
              <a:ext cx="2895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275167" y="3017520"/>
              <a:ext cx="2895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+27% 전년比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320887" y="3886200"/>
              <a:ext cx="40059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921779" y="3685032"/>
              <a:ext cx="40059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522670" y="3776472"/>
              <a:ext cx="40059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123561" y="3474720"/>
              <a:ext cx="40059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724453" y="3200400"/>
              <a:ext cx="400594" cy="11430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트렌드 카드 · 4카드 · cyan_500</a:t>
            </a:r>
          </a:p>
        </p:txBody>
      </p:sp>
      <p:grpSp>
        <p:nvGrpSpPr>
          <p:cNvPr id="40" name="asset:KPI-151"/>
          <p:cNvGrpSpPr/>
          <p:nvPr/>
        </p:nvGrpSpPr>
        <p:grpSpPr>
          <a:xfrm>
            <a:off x="838047" y="1645920"/>
            <a:ext cx="10515600" cy="3017520"/>
            <a:chOff x="838047" y="1645920"/>
            <a:chExt cx="10515600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645920"/>
              <a:ext cx="235458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20927" y="1874519"/>
              <a:ext cx="19888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0927" y="2240280"/>
              <a:ext cx="19888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0927" y="3017520"/>
              <a:ext cx="198882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+22% 전년比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6647" y="3886200"/>
              <a:ext cx="27105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473229" y="3685032"/>
              <a:ext cx="27105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79810" y="3776472"/>
              <a:ext cx="27105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286391" y="3474720"/>
              <a:ext cx="27105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692973" y="3200400"/>
              <a:ext cx="271054" cy="11430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558387" y="1645920"/>
              <a:ext cx="235458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741267" y="1874519"/>
              <a:ext cx="19888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41267" y="2240280"/>
              <a:ext cx="19888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41267" y="3017520"/>
              <a:ext cx="198882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+43% 전년比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786987" y="3886200"/>
              <a:ext cx="27105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193569" y="3685032"/>
              <a:ext cx="27105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600150" y="3776472"/>
              <a:ext cx="27105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006731" y="3474720"/>
              <a:ext cx="27105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413313" y="3200400"/>
              <a:ext cx="271054" cy="11430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278727" y="1645920"/>
              <a:ext cx="235458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61607" y="1874519"/>
              <a:ext cx="19888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461607" y="2240280"/>
              <a:ext cx="19888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61607" y="3017520"/>
              <a:ext cx="198882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+27% 전년比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507327" y="3886200"/>
              <a:ext cx="27105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913909" y="3685032"/>
              <a:ext cx="27105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320490" y="3776472"/>
              <a:ext cx="27105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727071" y="3474720"/>
              <a:ext cx="27105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133653" y="3200400"/>
              <a:ext cx="271054" cy="11430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8999067" y="1645920"/>
              <a:ext cx="235458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181947" y="1874519"/>
              <a:ext cx="19888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181947" y="2240280"/>
              <a:ext cx="19888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181947" y="3017520"/>
              <a:ext cx="198882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+10% 전년比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227667" y="3886200"/>
              <a:ext cx="27105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9634249" y="3685032"/>
              <a:ext cx="27105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040830" y="3776472"/>
              <a:ext cx="27105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447411" y="3474720"/>
              <a:ext cx="27105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853993" y="3200400"/>
              <a:ext cx="271054" cy="11430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트렌드 카드 · 5카드 · purple_600</a:t>
            </a:r>
          </a:p>
        </p:txBody>
      </p:sp>
      <p:grpSp>
        <p:nvGrpSpPr>
          <p:cNvPr id="49" name="asset:KPI-152"/>
          <p:cNvGrpSpPr/>
          <p:nvPr/>
        </p:nvGrpSpPr>
        <p:grpSpPr>
          <a:xfrm>
            <a:off x="838047" y="1645920"/>
            <a:ext cx="10515600" cy="3017520"/>
            <a:chOff x="838047" y="1645920"/>
            <a:chExt cx="10515600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645920"/>
              <a:ext cx="1810512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20927" y="1874519"/>
              <a:ext cx="144475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0927" y="2240280"/>
              <a:ext cx="144475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0927" y="3017520"/>
              <a:ext cx="144475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+22% 전년比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6647" y="3886200"/>
              <a:ext cx="193330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356643" y="3685032"/>
              <a:ext cx="193330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646638" y="3776472"/>
              <a:ext cx="193330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36633" y="3474720"/>
              <a:ext cx="193330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226629" y="3200400"/>
              <a:ext cx="193330" cy="11430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014319" y="1645920"/>
              <a:ext cx="1810512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97199" y="1874519"/>
              <a:ext cx="144475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197199" y="2240280"/>
              <a:ext cx="144475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197199" y="3017520"/>
              <a:ext cx="144475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+43% 전년比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42919" y="3886200"/>
              <a:ext cx="193330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532915" y="3685032"/>
              <a:ext cx="193330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822910" y="3776472"/>
              <a:ext cx="193330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112905" y="3474720"/>
              <a:ext cx="193330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402901" y="3200400"/>
              <a:ext cx="193330" cy="11430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190591" y="1645920"/>
              <a:ext cx="1810512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73471" y="1874519"/>
              <a:ext cx="144475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373471" y="2240280"/>
              <a:ext cx="144475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373471" y="3017520"/>
              <a:ext cx="144475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+27% 전년比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19191" y="3886200"/>
              <a:ext cx="193330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709187" y="3685032"/>
              <a:ext cx="193330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999182" y="3776472"/>
              <a:ext cx="193330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289177" y="3474720"/>
              <a:ext cx="193330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579173" y="3200400"/>
              <a:ext cx="193330" cy="11430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7366863" y="1645920"/>
              <a:ext cx="1810512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549743" y="1874519"/>
              <a:ext cx="144475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549743" y="2240280"/>
              <a:ext cx="144475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549743" y="3017520"/>
              <a:ext cx="144475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+10% 전년比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595463" y="3886200"/>
              <a:ext cx="193330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885459" y="3685032"/>
              <a:ext cx="193330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175454" y="3776472"/>
              <a:ext cx="193330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465449" y="3474720"/>
              <a:ext cx="193330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755445" y="3200400"/>
              <a:ext cx="193330" cy="11430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9543135" y="1645920"/>
              <a:ext cx="1810512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726015" y="1874519"/>
              <a:ext cx="144475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726015" y="2240280"/>
              <a:ext cx="144475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726015" y="3017520"/>
              <a:ext cx="144475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+13% 전년比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771735" y="3886200"/>
              <a:ext cx="193330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0061731" y="3685032"/>
              <a:ext cx="193330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0351726" y="3776472"/>
              <a:ext cx="193330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641721" y="3474720"/>
              <a:ext cx="193330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0931717" y="3200400"/>
              <a:ext cx="193330" cy="11430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트렌드 카드 · 2카드 · navy_600</a:t>
            </a:r>
          </a:p>
        </p:txBody>
      </p:sp>
      <p:grpSp>
        <p:nvGrpSpPr>
          <p:cNvPr id="22" name="asset:KPI-153"/>
          <p:cNvGrpSpPr/>
          <p:nvPr/>
        </p:nvGrpSpPr>
        <p:grpSpPr>
          <a:xfrm>
            <a:off x="838047" y="1645920"/>
            <a:ext cx="10515600" cy="3017520"/>
            <a:chOff x="838047" y="1645920"/>
            <a:chExt cx="10515600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645920"/>
              <a:ext cx="507492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20927" y="1874519"/>
              <a:ext cx="470915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0927" y="2240280"/>
              <a:ext cx="4709159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0927" y="3017520"/>
              <a:ext cx="47091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+22% 전년比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6647" y="3886200"/>
              <a:ext cx="65967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056159" y="3685032"/>
              <a:ext cx="65967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45670" y="3776472"/>
              <a:ext cx="65967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035181" y="3474720"/>
              <a:ext cx="65967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024693" y="3200400"/>
              <a:ext cx="659674" cy="11430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78727" y="1645920"/>
              <a:ext cx="507492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61607" y="1874519"/>
              <a:ext cx="470915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61607" y="2240280"/>
              <a:ext cx="4709159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61607" y="3017520"/>
              <a:ext cx="47091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+43% 전년比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507327" y="3886200"/>
              <a:ext cx="65967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496839" y="3685032"/>
              <a:ext cx="65967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486350" y="3776472"/>
              <a:ext cx="65967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475861" y="3474720"/>
              <a:ext cx="65967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465373" y="3200400"/>
              <a:ext cx="659674" cy="11430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트렌드 카드 · 3카드 · navy_800</a:t>
            </a:r>
          </a:p>
        </p:txBody>
      </p:sp>
      <p:grpSp>
        <p:nvGrpSpPr>
          <p:cNvPr id="31" name="asset:KPI-154"/>
          <p:cNvGrpSpPr/>
          <p:nvPr/>
        </p:nvGrpSpPr>
        <p:grpSpPr>
          <a:xfrm>
            <a:off x="838047" y="1645920"/>
            <a:ext cx="10515600" cy="3017520"/>
            <a:chOff x="838047" y="1645920"/>
            <a:chExt cx="10515600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645920"/>
              <a:ext cx="326136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20927" y="1874519"/>
              <a:ext cx="28956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0927" y="2240280"/>
              <a:ext cx="2895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0927" y="3017520"/>
              <a:ext cx="2895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+22% 전년比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6647" y="3886200"/>
              <a:ext cx="40059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67539" y="3685032"/>
              <a:ext cx="40059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268430" y="3776472"/>
              <a:ext cx="40059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69321" y="3474720"/>
              <a:ext cx="40059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470213" y="3200400"/>
              <a:ext cx="400594" cy="11430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465167" y="1645920"/>
              <a:ext cx="326136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48047" y="1874519"/>
              <a:ext cx="28956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648047" y="2240280"/>
              <a:ext cx="2895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648047" y="3017520"/>
              <a:ext cx="2895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+43% 전년比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693767" y="3886200"/>
              <a:ext cx="40059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294659" y="3685032"/>
              <a:ext cx="40059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895550" y="3776472"/>
              <a:ext cx="40059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496441" y="3474720"/>
              <a:ext cx="40059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097333" y="3200400"/>
              <a:ext cx="400594" cy="11430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8092287" y="1645920"/>
              <a:ext cx="326136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275167" y="1874519"/>
              <a:ext cx="28956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275167" y="2240280"/>
              <a:ext cx="2895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275167" y="3017520"/>
              <a:ext cx="2895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+27% 전년比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320887" y="3886200"/>
              <a:ext cx="40059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921779" y="3685032"/>
              <a:ext cx="40059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522670" y="3776472"/>
              <a:ext cx="40059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123561" y="3474720"/>
              <a:ext cx="40059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724453" y="3200400"/>
              <a:ext cx="400594" cy="11430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트렌드 카드 · 4카드 · blue_500</a:t>
            </a:r>
          </a:p>
        </p:txBody>
      </p:sp>
      <p:grpSp>
        <p:nvGrpSpPr>
          <p:cNvPr id="40" name="asset:KPI-155"/>
          <p:cNvGrpSpPr/>
          <p:nvPr/>
        </p:nvGrpSpPr>
        <p:grpSpPr>
          <a:xfrm>
            <a:off x="838047" y="1645920"/>
            <a:ext cx="10515600" cy="3017520"/>
            <a:chOff x="838047" y="1645920"/>
            <a:chExt cx="10515600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645920"/>
              <a:ext cx="235458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20927" y="1874519"/>
              <a:ext cx="19888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0927" y="2240280"/>
              <a:ext cx="19888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0927" y="3017520"/>
              <a:ext cx="198882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+22% 전년比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6647" y="3886200"/>
              <a:ext cx="27105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473229" y="3685032"/>
              <a:ext cx="27105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79810" y="3776472"/>
              <a:ext cx="27105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286391" y="3474720"/>
              <a:ext cx="27105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692973" y="3200400"/>
              <a:ext cx="271054" cy="11430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558387" y="1645920"/>
              <a:ext cx="235458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741267" y="1874519"/>
              <a:ext cx="19888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41267" y="2240280"/>
              <a:ext cx="19888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41267" y="3017520"/>
              <a:ext cx="198882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+43% 전년比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786987" y="3886200"/>
              <a:ext cx="27105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193569" y="3685032"/>
              <a:ext cx="27105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600150" y="3776472"/>
              <a:ext cx="27105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006731" y="3474720"/>
              <a:ext cx="27105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413313" y="3200400"/>
              <a:ext cx="271054" cy="11430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278727" y="1645920"/>
              <a:ext cx="235458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61607" y="1874519"/>
              <a:ext cx="19888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461607" y="2240280"/>
              <a:ext cx="19888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61607" y="3017520"/>
              <a:ext cx="198882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+27% 전년比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507327" y="3886200"/>
              <a:ext cx="27105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913909" y="3685032"/>
              <a:ext cx="27105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320490" y="3776472"/>
              <a:ext cx="27105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727071" y="3474720"/>
              <a:ext cx="27105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133653" y="3200400"/>
              <a:ext cx="271054" cy="11430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8999067" y="1645920"/>
              <a:ext cx="235458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181947" y="1874519"/>
              <a:ext cx="19888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181947" y="2240280"/>
              <a:ext cx="19888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181947" y="3017520"/>
              <a:ext cx="198882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+10% 전년比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227667" y="3886200"/>
              <a:ext cx="27105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9634249" y="3685032"/>
              <a:ext cx="27105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040830" y="3776472"/>
              <a:ext cx="27105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447411" y="3474720"/>
              <a:ext cx="27105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853993" y="3200400"/>
              <a:ext cx="271054" cy="11430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트렌드 카드 · 5카드 · teal_500</a:t>
            </a:r>
          </a:p>
        </p:txBody>
      </p:sp>
      <p:grpSp>
        <p:nvGrpSpPr>
          <p:cNvPr id="49" name="asset:KPI-156"/>
          <p:cNvGrpSpPr/>
          <p:nvPr/>
        </p:nvGrpSpPr>
        <p:grpSpPr>
          <a:xfrm>
            <a:off x="838047" y="1645920"/>
            <a:ext cx="10515600" cy="3017520"/>
            <a:chOff x="838047" y="1645920"/>
            <a:chExt cx="10515600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645920"/>
              <a:ext cx="1810512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20927" y="1874519"/>
              <a:ext cx="144475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0927" y="2240280"/>
              <a:ext cx="144475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0927" y="3017520"/>
              <a:ext cx="144475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+22% 전년比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6647" y="3886200"/>
              <a:ext cx="193330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356643" y="3685032"/>
              <a:ext cx="193330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646638" y="3776472"/>
              <a:ext cx="193330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36633" y="3474720"/>
              <a:ext cx="193330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226629" y="3200400"/>
              <a:ext cx="193330" cy="11430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014319" y="1645920"/>
              <a:ext cx="1810512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97199" y="1874519"/>
              <a:ext cx="144475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197199" y="2240280"/>
              <a:ext cx="144475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197199" y="3017520"/>
              <a:ext cx="144475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+43% 전년比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42919" y="3886200"/>
              <a:ext cx="193330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532915" y="3685032"/>
              <a:ext cx="193330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822910" y="3776472"/>
              <a:ext cx="193330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112905" y="3474720"/>
              <a:ext cx="193330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402901" y="3200400"/>
              <a:ext cx="193330" cy="11430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190591" y="1645920"/>
              <a:ext cx="1810512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73471" y="1874519"/>
              <a:ext cx="144475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373471" y="2240280"/>
              <a:ext cx="144475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373471" y="3017520"/>
              <a:ext cx="144475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+27% 전년比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19191" y="3886200"/>
              <a:ext cx="193330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709187" y="3685032"/>
              <a:ext cx="193330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999182" y="3776472"/>
              <a:ext cx="193330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289177" y="3474720"/>
              <a:ext cx="193330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579173" y="3200400"/>
              <a:ext cx="193330" cy="11430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7366863" y="1645920"/>
              <a:ext cx="1810512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549743" y="1874519"/>
              <a:ext cx="144475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549743" y="2240280"/>
              <a:ext cx="144475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549743" y="3017520"/>
              <a:ext cx="144475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+10% 전년比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595463" y="3886200"/>
              <a:ext cx="193330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885459" y="3685032"/>
              <a:ext cx="193330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175454" y="3776472"/>
              <a:ext cx="193330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465449" y="3474720"/>
              <a:ext cx="193330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755445" y="3200400"/>
              <a:ext cx="193330" cy="11430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9543135" y="1645920"/>
              <a:ext cx="1810512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726015" y="1874519"/>
              <a:ext cx="144475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726015" y="2240280"/>
              <a:ext cx="144475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726015" y="3017520"/>
              <a:ext cx="144475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+13% 전년比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771735" y="3886200"/>
              <a:ext cx="193330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0061731" y="3685032"/>
              <a:ext cx="193330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0351726" y="3776472"/>
              <a:ext cx="193330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641721" y="3474720"/>
              <a:ext cx="193330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0931717" y="3200400"/>
              <a:ext cx="193330" cy="11430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트렌드 카드 · 2카드 · cyan_500</a:t>
            </a:r>
          </a:p>
        </p:txBody>
      </p:sp>
      <p:grpSp>
        <p:nvGrpSpPr>
          <p:cNvPr id="22" name="asset:KPI-157"/>
          <p:cNvGrpSpPr/>
          <p:nvPr/>
        </p:nvGrpSpPr>
        <p:grpSpPr>
          <a:xfrm>
            <a:off x="838047" y="1645920"/>
            <a:ext cx="10515600" cy="3017520"/>
            <a:chOff x="838047" y="1645920"/>
            <a:chExt cx="10515600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645920"/>
              <a:ext cx="507492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20927" y="1874519"/>
              <a:ext cx="470915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0927" y="2240280"/>
              <a:ext cx="4709159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0927" y="3017520"/>
              <a:ext cx="47091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+22% 전년比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6647" y="3886200"/>
              <a:ext cx="65967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056159" y="3685032"/>
              <a:ext cx="65967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45670" y="3776472"/>
              <a:ext cx="65967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035181" y="3474720"/>
              <a:ext cx="65967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024693" y="3200400"/>
              <a:ext cx="659674" cy="11430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78727" y="1645920"/>
              <a:ext cx="507492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61607" y="1874519"/>
              <a:ext cx="470915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61607" y="2240280"/>
              <a:ext cx="4709159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61607" y="3017520"/>
              <a:ext cx="47091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+43% 전년比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507327" y="3886200"/>
              <a:ext cx="65967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496839" y="3685032"/>
              <a:ext cx="65967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486350" y="3776472"/>
              <a:ext cx="65967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475861" y="3474720"/>
              <a:ext cx="65967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465373" y="3200400"/>
              <a:ext cx="659674" cy="11430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트렌드 카드 · 3카드 · purple_600</a:t>
            </a:r>
          </a:p>
        </p:txBody>
      </p:sp>
      <p:grpSp>
        <p:nvGrpSpPr>
          <p:cNvPr id="31" name="asset:KPI-158"/>
          <p:cNvGrpSpPr/>
          <p:nvPr/>
        </p:nvGrpSpPr>
        <p:grpSpPr>
          <a:xfrm>
            <a:off x="838047" y="1645920"/>
            <a:ext cx="10515600" cy="3017520"/>
            <a:chOff x="838047" y="1645920"/>
            <a:chExt cx="10515600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645920"/>
              <a:ext cx="326136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20927" y="1874519"/>
              <a:ext cx="28956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0927" y="2240280"/>
              <a:ext cx="2895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0927" y="3017520"/>
              <a:ext cx="2895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+22% 전년比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6647" y="3886200"/>
              <a:ext cx="40059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67539" y="3685032"/>
              <a:ext cx="40059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268430" y="3776472"/>
              <a:ext cx="40059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69321" y="3474720"/>
              <a:ext cx="40059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470213" y="3200400"/>
              <a:ext cx="400594" cy="11430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465167" y="1645920"/>
              <a:ext cx="326136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48047" y="1874519"/>
              <a:ext cx="28956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648047" y="2240280"/>
              <a:ext cx="2895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648047" y="3017520"/>
              <a:ext cx="2895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+43% 전년比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693767" y="3886200"/>
              <a:ext cx="40059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294659" y="3685032"/>
              <a:ext cx="40059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895550" y="3776472"/>
              <a:ext cx="40059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496441" y="3474720"/>
              <a:ext cx="40059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097333" y="3200400"/>
              <a:ext cx="400594" cy="11430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8092287" y="1645920"/>
              <a:ext cx="326136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275167" y="1874519"/>
              <a:ext cx="28956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275167" y="2240280"/>
              <a:ext cx="2895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275167" y="3017520"/>
              <a:ext cx="28956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+27% 전년比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320887" y="3886200"/>
              <a:ext cx="40059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921779" y="3685032"/>
              <a:ext cx="40059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522670" y="3776472"/>
              <a:ext cx="40059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123561" y="3474720"/>
              <a:ext cx="40059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724453" y="3200400"/>
              <a:ext cx="400594" cy="11430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트렌드 카드 · 4카드 · navy_600</a:t>
            </a:r>
          </a:p>
        </p:txBody>
      </p:sp>
      <p:grpSp>
        <p:nvGrpSpPr>
          <p:cNvPr id="40" name="asset:KPI-159"/>
          <p:cNvGrpSpPr/>
          <p:nvPr/>
        </p:nvGrpSpPr>
        <p:grpSpPr>
          <a:xfrm>
            <a:off x="838047" y="1645920"/>
            <a:ext cx="10515600" cy="3017520"/>
            <a:chOff x="838047" y="1645920"/>
            <a:chExt cx="10515600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645920"/>
              <a:ext cx="235458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20927" y="1874519"/>
              <a:ext cx="19888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0927" y="2240280"/>
              <a:ext cx="19888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0927" y="3017520"/>
              <a:ext cx="198882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+22% 전년比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6647" y="3886200"/>
              <a:ext cx="27105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473229" y="3685032"/>
              <a:ext cx="27105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79810" y="3776472"/>
              <a:ext cx="27105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286391" y="3474720"/>
              <a:ext cx="27105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692973" y="3200400"/>
              <a:ext cx="271054" cy="11430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558387" y="1645920"/>
              <a:ext cx="235458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741267" y="1874519"/>
              <a:ext cx="19888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41267" y="2240280"/>
              <a:ext cx="19888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41267" y="3017520"/>
              <a:ext cx="198882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+43% 전년比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786987" y="3886200"/>
              <a:ext cx="27105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193569" y="3685032"/>
              <a:ext cx="27105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600150" y="3776472"/>
              <a:ext cx="27105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006731" y="3474720"/>
              <a:ext cx="27105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413313" y="3200400"/>
              <a:ext cx="271054" cy="11430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278727" y="1645920"/>
              <a:ext cx="235458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61607" y="1874519"/>
              <a:ext cx="19888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461607" y="2240280"/>
              <a:ext cx="19888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61607" y="3017520"/>
              <a:ext cx="198882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+27% 전년比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507327" y="3886200"/>
              <a:ext cx="27105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913909" y="3685032"/>
              <a:ext cx="27105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320490" y="3776472"/>
              <a:ext cx="27105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727071" y="3474720"/>
              <a:ext cx="27105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133653" y="3200400"/>
              <a:ext cx="271054" cy="11430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8999067" y="1645920"/>
              <a:ext cx="235458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181947" y="1874519"/>
              <a:ext cx="19888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181947" y="2240280"/>
              <a:ext cx="19888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181947" y="3017520"/>
              <a:ext cx="198882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+10% 전년比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227667" y="3886200"/>
              <a:ext cx="27105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9634249" y="3685032"/>
              <a:ext cx="27105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040830" y="3776472"/>
              <a:ext cx="27105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447411" y="3474720"/>
              <a:ext cx="27105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853993" y="3200400"/>
              <a:ext cx="271054" cy="11430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트렌드 카드 · 5카드 · navy_800</a:t>
            </a:r>
          </a:p>
        </p:txBody>
      </p:sp>
      <p:grpSp>
        <p:nvGrpSpPr>
          <p:cNvPr id="49" name="asset:KPI-160"/>
          <p:cNvGrpSpPr/>
          <p:nvPr/>
        </p:nvGrpSpPr>
        <p:grpSpPr>
          <a:xfrm>
            <a:off x="838047" y="1645920"/>
            <a:ext cx="10515600" cy="3017520"/>
            <a:chOff x="838047" y="1645920"/>
            <a:chExt cx="10515600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645920"/>
              <a:ext cx="1810512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20927" y="1874519"/>
              <a:ext cx="144475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0927" y="2240280"/>
              <a:ext cx="144475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0927" y="3017520"/>
              <a:ext cx="144475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+22% 전년比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6647" y="3886200"/>
              <a:ext cx="193330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356643" y="3685032"/>
              <a:ext cx="193330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646638" y="3776472"/>
              <a:ext cx="193330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36633" y="3474720"/>
              <a:ext cx="193330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226629" y="3200400"/>
              <a:ext cx="193330" cy="11430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014319" y="1645920"/>
              <a:ext cx="1810512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97199" y="1874519"/>
              <a:ext cx="144475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197199" y="2240280"/>
              <a:ext cx="144475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197199" y="3017520"/>
              <a:ext cx="144475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+43% 전년比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42919" y="3886200"/>
              <a:ext cx="193330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532915" y="3685032"/>
              <a:ext cx="193330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822910" y="3776472"/>
              <a:ext cx="193330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112905" y="3474720"/>
              <a:ext cx="193330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402901" y="3200400"/>
              <a:ext cx="193330" cy="11430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190591" y="1645920"/>
              <a:ext cx="1810512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73471" y="1874519"/>
              <a:ext cx="144475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373471" y="2240280"/>
              <a:ext cx="144475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373471" y="3017520"/>
              <a:ext cx="144475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+27% 전년比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19191" y="3886200"/>
              <a:ext cx="193330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709187" y="3685032"/>
              <a:ext cx="193330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999182" y="3776472"/>
              <a:ext cx="193330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289177" y="3474720"/>
              <a:ext cx="193330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579173" y="3200400"/>
              <a:ext cx="193330" cy="11430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7366863" y="1645920"/>
              <a:ext cx="1810512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549743" y="1874519"/>
              <a:ext cx="144475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549743" y="2240280"/>
              <a:ext cx="144475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549743" y="3017520"/>
              <a:ext cx="144475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+10% 전년比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595463" y="3886200"/>
              <a:ext cx="193330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885459" y="3685032"/>
              <a:ext cx="193330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175454" y="3776472"/>
              <a:ext cx="193330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465449" y="3474720"/>
              <a:ext cx="193330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755445" y="3200400"/>
              <a:ext cx="193330" cy="11430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9543135" y="1645920"/>
              <a:ext cx="1810512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726015" y="1874519"/>
              <a:ext cx="144475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726015" y="2240280"/>
              <a:ext cx="144475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726015" y="3017520"/>
              <a:ext cx="144475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+13% 전년比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771735" y="3886200"/>
              <a:ext cx="193330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0061731" y="3685032"/>
              <a:ext cx="193330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0351726" y="3776472"/>
              <a:ext cx="193330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641721" y="3474720"/>
              <a:ext cx="193330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0931717" y="3200400"/>
              <a:ext cx="193330" cy="11430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트렌드 카드 · 2카드 · blue_500</a:t>
            </a:r>
          </a:p>
        </p:txBody>
      </p:sp>
      <p:grpSp>
        <p:nvGrpSpPr>
          <p:cNvPr id="22" name="asset:KPI-161"/>
          <p:cNvGrpSpPr/>
          <p:nvPr/>
        </p:nvGrpSpPr>
        <p:grpSpPr>
          <a:xfrm>
            <a:off x="838047" y="1645920"/>
            <a:ext cx="10515600" cy="3017520"/>
            <a:chOff x="838047" y="1645920"/>
            <a:chExt cx="10515600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645920"/>
              <a:ext cx="507492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20927" y="1874519"/>
              <a:ext cx="470915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0927" y="2240280"/>
              <a:ext cx="4709159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0927" y="3017520"/>
              <a:ext cx="47091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+22% 전년比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6647" y="3886200"/>
              <a:ext cx="65967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056159" y="3685032"/>
              <a:ext cx="65967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45670" y="3776472"/>
              <a:ext cx="65967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035181" y="3474720"/>
              <a:ext cx="65967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024693" y="3200400"/>
              <a:ext cx="659674" cy="11430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78727" y="1645920"/>
              <a:ext cx="5074920" cy="30175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61607" y="1874519"/>
              <a:ext cx="470915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61607" y="2240280"/>
              <a:ext cx="4709159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61607" y="3017520"/>
              <a:ext cx="47091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 +43% 전년比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507327" y="3886200"/>
              <a:ext cx="659674" cy="4572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496839" y="3685032"/>
              <a:ext cx="659674" cy="65836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486350" y="3776472"/>
              <a:ext cx="659674" cy="56692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475861" y="3474720"/>
              <a:ext cx="659674" cy="8686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465373" y="3200400"/>
              <a:ext cx="659674" cy="11430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