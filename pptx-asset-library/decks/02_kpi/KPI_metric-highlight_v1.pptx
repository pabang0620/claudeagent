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KPI-005</a:t>
            </a:r>
          </a:p>
        </p:txBody>
      </p:sp>
      <p:grpSp>
        <p:nvGrpSpPr>
          <p:cNvPr id="16" name="asset:KPI-005"/>
          <p:cNvGrpSpPr/>
          <p:nvPr/>
        </p:nvGrpSpPr>
        <p:grpSpPr>
          <a:xfrm>
            <a:off x="137160" y="457200"/>
            <a:ext cx="11597334" cy="3474720"/>
            <a:chOff x="137160" y="457200"/>
            <a:chExt cx="11597334" cy="3474720"/>
          </a:xfrm>
        </p:grpSpPr>
        <p:sp>
          <p:nvSpPr>
            <p:cNvPr id="3" name="TextBox 2"/>
            <p:cNvSpPr txBox="1"/>
            <p:nvPr/>
          </p:nvSpPr>
          <p:spPr>
            <a:xfrm>
              <a:off x="137160" y="457200"/>
              <a:ext cx="731520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성과지표 (전년대비 증감)</a:t>
              </a:r>
            </a:p>
          </p:txBody>
        </p:sp>
        <p:sp>
          <p:nvSpPr>
            <p:cNvPr id="4" name="KPI-005_bg"/>
            <p:cNvSpPr/>
            <p:nvPr/>
          </p:nvSpPr>
          <p:spPr>
            <a:xfrm>
              <a:off x="457200" y="1371600"/>
              <a:ext cx="3515258" cy="25603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457200" y="1645920"/>
              <a:ext cx="3515258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457200" y="2103120"/>
              <a:ext cx="3515258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40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6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1300429" y="3154680"/>
              <a:ext cx="1828800" cy="457200"/>
            </a:xfrm>
            <a:prstGeom prst="roundRect">
              <a:avLst>
                <a:gd name="adj" fmla="val 50000"/>
              </a:avLst>
            </a:prstGeom>
            <a:noFill/>
            <a:ln w="1524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▲ +18.5%  전년比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4338218" y="1371600"/>
              <a:ext cx="3515258" cy="25603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338218" y="1645920"/>
              <a:ext cx="3515258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338218" y="2103120"/>
              <a:ext cx="3515258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40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42</a:t>
              </a:r>
              <a:r>
                <a:rPr sz="16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만$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5181447" y="3154680"/>
              <a:ext cx="1828800" cy="457200"/>
            </a:xfrm>
            <a:prstGeom prst="roundRect">
              <a:avLst>
                <a:gd name="adj" fmla="val 50000"/>
              </a:avLst>
            </a:prstGeom>
            <a:noFill/>
            <a:ln w="1524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▲ +27.0%  전년比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8219236" y="1371600"/>
              <a:ext cx="3515258" cy="25603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8219236" y="1645920"/>
              <a:ext cx="3515258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처리 지연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8219236" y="2103120"/>
              <a:ext cx="3515258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40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3</a:t>
              </a:r>
              <a:r>
                <a:rPr sz="16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9062466" y="3154680"/>
              <a:ext cx="1828800" cy="457200"/>
            </a:xfrm>
            <a:prstGeom prst="roundRect">
              <a:avLst>
                <a:gd name="adj" fmla="val 50000"/>
              </a:avLst>
            </a:prstGeom>
            <a:noFill/>
            <a:ln w="1524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C0392B"/>
                  </a:solidFill>
                  <a:latin typeface="Pretendard"/>
                  <a:ea typeface="Pretendard"/>
                  <a:cs typeface="Pretendard"/>
                </a:rPr>
                <a:t>▼ -12.4%  전년比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KPI-007</a:t>
            </a:r>
          </a:p>
        </p:txBody>
      </p:sp>
      <p:grpSp>
        <p:nvGrpSpPr>
          <p:cNvPr id="15" name="asset:KPI-007"/>
          <p:cNvGrpSpPr/>
          <p:nvPr/>
        </p:nvGrpSpPr>
        <p:grpSpPr>
          <a:xfrm>
            <a:off x="137160" y="457200"/>
            <a:ext cx="11445087" cy="3931920"/>
            <a:chOff x="137160" y="457200"/>
            <a:chExt cx="11445087" cy="3931920"/>
          </a:xfrm>
        </p:grpSpPr>
        <p:sp>
          <p:nvSpPr>
            <p:cNvPr id="3" name="TextBox 2"/>
            <p:cNvSpPr txBox="1"/>
            <p:nvPr/>
          </p:nvSpPr>
          <p:spPr>
            <a:xfrm>
              <a:off x="137160" y="457200"/>
              <a:ext cx="914400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핵심 가치 지표 (라벨 + 숫자 묶음)</a:t>
              </a:r>
            </a:p>
          </p:txBody>
        </p:sp>
        <p:sp>
          <p:nvSpPr>
            <p:cNvPr id="4" name="KPI-007_bg"/>
            <p:cNvSpPr/>
            <p:nvPr/>
          </p:nvSpPr>
          <p:spPr>
            <a:xfrm>
              <a:off x="609447" y="2194560"/>
              <a:ext cx="3108960" cy="2194560"/>
            </a:xfrm>
            <a:prstGeom prst="roundRect">
              <a:avLst>
                <a:gd name="adj" fmla="val 10000"/>
              </a:avLst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1340967" y="2468879"/>
              <a:ext cx="1645920" cy="457200"/>
            </a:xfrm>
            <a:prstGeom prst="roundRect">
              <a:avLst>
                <a:gd name="adj" fmla="val 50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신뢰성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09447" y="3154680"/>
              <a:ext cx="310896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42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6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809847" y="2743200"/>
              <a:ext cx="640080" cy="12801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40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+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4541367" y="2194560"/>
              <a:ext cx="3108960" cy="2194560"/>
            </a:xfrm>
            <a:prstGeom prst="roundRect">
              <a:avLst>
                <a:gd name="adj" fmla="val 10000"/>
              </a:avLst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272887" y="2468879"/>
              <a:ext cx="1645920" cy="457200"/>
            </a:xfrm>
            <a:prstGeom prst="roundRect">
              <a:avLst>
                <a:gd name="adj" fmla="val 50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확장성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541367" y="3154680"/>
              <a:ext cx="310896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42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10</a:t>
              </a:r>
              <a:r>
                <a:rPr sz="16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종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741767" y="2743200"/>
              <a:ext cx="640080" cy="12801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40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+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8473287" y="2194560"/>
              <a:ext cx="3108960" cy="2194560"/>
            </a:xfrm>
            <a:prstGeom prst="roundRect">
              <a:avLst>
                <a:gd name="adj" fmla="val 10000"/>
              </a:avLst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9204807" y="2468879"/>
              <a:ext cx="1645920" cy="457200"/>
            </a:xfrm>
            <a:prstGeom prst="roundRect">
              <a:avLst>
                <a:gd name="adj" fmla="val 50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활용성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8473287" y="3154680"/>
              <a:ext cx="310896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42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20</a:t>
              </a:r>
              <a:r>
                <a:rPr sz="16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개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KPI-008</a:t>
            </a:r>
          </a:p>
        </p:txBody>
      </p:sp>
      <p:grpSp>
        <p:nvGrpSpPr>
          <p:cNvPr id="19" name="asset:KPI-008"/>
          <p:cNvGrpSpPr/>
          <p:nvPr/>
        </p:nvGrpSpPr>
        <p:grpSpPr>
          <a:xfrm>
            <a:off x="137160" y="457200"/>
            <a:ext cx="10256367" cy="4206240"/>
            <a:chOff x="137160" y="457200"/>
            <a:chExt cx="10256367" cy="4206240"/>
          </a:xfrm>
        </p:grpSpPr>
        <p:sp>
          <p:nvSpPr>
            <p:cNvPr id="3" name="TextBox 2"/>
            <p:cNvSpPr txBox="1"/>
            <p:nvPr/>
          </p:nvSpPr>
          <p:spPr>
            <a:xfrm>
              <a:off x="137160" y="457200"/>
              <a:ext cx="914400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달성률 게이지 (도형 기반 비율)</a:t>
              </a:r>
            </a:p>
          </p:txBody>
        </p:sp>
        <p:sp>
          <p:nvSpPr>
            <p:cNvPr id="4" name="KPI-008_bg"/>
            <p:cNvSpPr/>
            <p:nvPr/>
          </p:nvSpPr>
          <p:spPr>
            <a:xfrm>
              <a:off x="1798167" y="1737360"/>
              <a:ext cx="2377440" cy="237744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Pie 4"/>
            <p:cNvSpPr/>
            <p:nvPr/>
          </p:nvSpPr>
          <p:spPr>
            <a:xfrm>
              <a:off x="1798167" y="1737360"/>
              <a:ext cx="2377440" cy="2377440"/>
            </a:xfrm>
            <a:prstGeom prst="pie">
              <a:avLst>
                <a:gd name="adj1" fmla="val -9000000"/>
                <a:gd name="adj2" fmla="val 2520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2297430" y="2236622"/>
              <a:ext cx="1378915" cy="137891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798167" y="2514600"/>
              <a:ext cx="237744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4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95</a:t>
              </a:r>
              <a:r>
                <a:rPr sz="16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798167" y="4206240"/>
              <a:ext cx="237744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4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목표 달성률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4907127" y="1737360"/>
              <a:ext cx="2377440" cy="237744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Pie 9"/>
            <p:cNvSpPr/>
            <p:nvPr/>
          </p:nvSpPr>
          <p:spPr>
            <a:xfrm>
              <a:off x="4907127" y="1737360"/>
              <a:ext cx="2377440" cy="2377440"/>
            </a:xfrm>
            <a:prstGeom prst="pie">
              <a:avLst>
                <a:gd name="adj1" fmla="val -9000000"/>
                <a:gd name="adj2" fmla="val 1908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>
              <a:off x="5406390" y="2236622"/>
              <a:ext cx="1378915" cy="137891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907127" y="2514600"/>
              <a:ext cx="237744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4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78</a:t>
              </a:r>
              <a:r>
                <a:rPr sz="16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907127" y="4206240"/>
              <a:ext cx="237744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4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만족도 지수</a:t>
              </a:r>
            </a:p>
          </p:txBody>
        </p:sp>
        <p:sp>
          <p:nvSpPr>
            <p:cNvPr id="14" name="Oval 13"/>
            <p:cNvSpPr/>
            <p:nvPr/>
          </p:nvSpPr>
          <p:spPr>
            <a:xfrm>
              <a:off x="8016087" y="1737360"/>
              <a:ext cx="2377440" cy="237744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Pie 14"/>
            <p:cNvSpPr/>
            <p:nvPr/>
          </p:nvSpPr>
          <p:spPr>
            <a:xfrm>
              <a:off x="8016087" y="1737360"/>
              <a:ext cx="2377440" cy="2377440"/>
            </a:xfrm>
            <a:prstGeom prst="pie">
              <a:avLst>
                <a:gd name="adj1" fmla="val -9000000"/>
                <a:gd name="adj2" fmla="val 1404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Oval 15"/>
            <p:cNvSpPr/>
            <p:nvPr/>
          </p:nvSpPr>
          <p:spPr>
            <a:xfrm>
              <a:off x="8515350" y="2236622"/>
              <a:ext cx="1378915" cy="137891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8016087" y="2514600"/>
              <a:ext cx="237744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4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64</a:t>
              </a:r>
              <a:r>
                <a:rPr sz="16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8016087" y="4206240"/>
              <a:ext cx="237744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4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수출 전환율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KPI-010</a:t>
            </a:r>
          </a:p>
        </p:txBody>
      </p:sp>
      <p:grpSp>
        <p:nvGrpSpPr>
          <p:cNvPr id="8" name="asset:KPI-010"/>
          <p:cNvGrpSpPr/>
          <p:nvPr/>
        </p:nvGrpSpPr>
        <p:grpSpPr>
          <a:xfrm>
            <a:off x="548640" y="1280160"/>
            <a:ext cx="11091672" cy="4846320"/>
            <a:chOff x="548640" y="1280160"/>
            <a:chExt cx="11091672" cy="4846320"/>
          </a:xfrm>
        </p:grpSpPr>
        <p:sp>
          <p:nvSpPr>
            <p:cNvPr id="3" name="KPI-010_bg"/>
            <p:cNvSpPr/>
            <p:nvPr/>
          </p:nvSpPr>
          <p:spPr>
            <a:xfrm>
              <a:off x="548640" y="1280160"/>
              <a:ext cx="11091672" cy="4846320"/>
            </a:xfrm>
            <a:prstGeom prst="roundRect">
              <a:avLst>
                <a:gd name="adj" fmla="val 4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5486400" y="1828800"/>
              <a:ext cx="1216152" cy="82296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548640" y="2103120"/>
              <a:ext cx="11091672" cy="5486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20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누적 수출상담액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548640" y="2651760"/>
              <a:ext cx="11091672" cy="182880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algn="ctr"/>
              <a:r>
                <a:rPr sz="12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42</a:t>
              </a:r>
              <a:r>
                <a:rPr sz="44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 만$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548640" y="4846320"/>
              <a:ext cx="11091672" cy="5486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500" b="0">
                  <a:solidFill>
                    <a:srgbClr val="D9D9D9"/>
                  </a:solidFill>
                  <a:latin typeface="Pretendard"/>
                  <a:ea typeface="Pretendard"/>
                  <a:cs typeface="Pretendard"/>
                </a:rPr>
                <a:t>2026년 사업 목표 대비 108% 조기 달성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