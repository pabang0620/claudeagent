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2카드 · blue_500</a:t>
            </a:r>
          </a:p>
        </p:txBody>
      </p:sp>
      <p:grpSp>
        <p:nvGrpSpPr>
          <p:cNvPr id="12" name="asset:KPI-045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7872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3카드 · teal_500</a:t>
            </a:r>
          </a:p>
        </p:txBody>
      </p:sp>
      <p:grpSp>
        <p:nvGrpSpPr>
          <p:cNvPr id="16" name="asset:KPI-046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6516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6516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6516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09228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9228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9228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4카드 · cyan_500</a:t>
            </a:r>
          </a:p>
        </p:txBody>
      </p:sp>
      <p:grpSp>
        <p:nvGrpSpPr>
          <p:cNvPr id="20" name="asset:KPI-047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5838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5838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5838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7872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7872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872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99906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9906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9906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5카드 · purple_600</a:t>
            </a:r>
          </a:p>
        </p:txBody>
      </p:sp>
      <p:grpSp>
        <p:nvGrpSpPr>
          <p:cNvPr id="24" name="asset:KPI-048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4319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14319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4319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190591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90591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90591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366863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66863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66863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43135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43135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543135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2카드 · navy_600</a:t>
            </a:r>
          </a:p>
        </p:txBody>
      </p:sp>
      <p:grpSp>
        <p:nvGrpSpPr>
          <p:cNvPr id="12" name="asset:KPI-049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7872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3카드 · navy_800</a:t>
            </a:r>
          </a:p>
        </p:txBody>
      </p:sp>
      <p:grpSp>
        <p:nvGrpSpPr>
          <p:cNvPr id="16" name="asset:KPI-050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6516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6516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6516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09228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9228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9228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4카드 · blue_500</a:t>
            </a:r>
          </a:p>
        </p:txBody>
      </p:sp>
      <p:grpSp>
        <p:nvGrpSpPr>
          <p:cNvPr id="20" name="asset:KPI-051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5838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5838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5838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7872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7872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872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99906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9906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9906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5카드 · teal_500</a:t>
            </a:r>
          </a:p>
        </p:txBody>
      </p:sp>
      <p:grpSp>
        <p:nvGrpSpPr>
          <p:cNvPr id="24" name="asset:KPI-052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4319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14319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4319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190591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90591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90591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366863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66863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66863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43135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43135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543135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2카드 · cyan_500</a:t>
            </a:r>
          </a:p>
        </p:txBody>
      </p:sp>
      <p:grpSp>
        <p:nvGrpSpPr>
          <p:cNvPr id="12" name="asset:KPI-053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7872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3카드 · purple_600</a:t>
            </a:r>
          </a:p>
        </p:txBody>
      </p:sp>
      <p:grpSp>
        <p:nvGrpSpPr>
          <p:cNvPr id="16" name="asset:KPI-054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446516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6516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6516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6516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092287" y="1920240"/>
              <a:ext cx="326136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092287" y="1920240"/>
              <a:ext cx="3261360" cy="566928"/>
            </a:xfrm>
            <a:prstGeom prst="roundRect">
              <a:avLst>
                <a:gd name="adj" fmla="val 8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092287" y="1920240"/>
              <a:ext cx="326136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92287" y="2880360"/>
              <a:ext cx="326136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0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4카드 · navy_600</a:t>
            </a:r>
          </a:p>
        </p:txBody>
      </p:sp>
      <p:grpSp>
        <p:nvGrpSpPr>
          <p:cNvPr id="20" name="asset:KPI-055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55838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55838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5838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5838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7872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27872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7872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7872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8999067" y="1920240"/>
              <a:ext cx="235458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8999067" y="1920240"/>
              <a:ext cx="2354580" cy="566928"/>
            </a:xfrm>
            <a:prstGeom prst="roundRect">
              <a:avLst>
                <a:gd name="adj" fmla="val 8000"/>
              </a:avLst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999067" y="1920240"/>
              <a:ext cx="235458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999067" y="2880360"/>
              <a:ext cx="235458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3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5카드 · navy_800</a:t>
            </a:r>
          </a:p>
        </p:txBody>
      </p:sp>
      <p:grpSp>
        <p:nvGrpSpPr>
          <p:cNvPr id="24" name="asset:KPI-056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014319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014319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014319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014319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190591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190591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90591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수출상담액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90591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42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만$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7366863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366863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366863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이용자 만족도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366863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4.6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점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9543135" y="1920240"/>
              <a:ext cx="1810512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543135" y="1920240"/>
              <a:ext cx="1810512" cy="566928"/>
            </a:xfrm>
            <a:prstGeom prst="roundRect">
              <a:avLst>
                <a:gd name="adj" fmla="val 8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543135" y="1920240"/>
              <a:ext cx="1810512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목표 달성률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543135" y="2880360"/>
              <a:ext cx="1810512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2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95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%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KPI-057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" y="457200"/>
            <a:ext cx="114300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200" b="1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상단 컬러바 카드 · 2카드 · blue_500</a:t>
            </a:r>
          </a:p>
        </p:txBody>
      </p:sp>
      <p:grpSp>
        <p:nvGrpSpPr>
          <p:cNvPr id="12" name="asset:KPI-057"/>
          <p:cNvGrpSpPr/>
          <p:nvPr/>
        </p:nvGrpSpPr>
        <p:grpSpPr>
          <a:xfrm>
            <a:off x="838047" y="1920240"/>
            <a:ext cx="10515600" cy="2560320"/>
            <a:chOff x="838047" y="1920240"/>
            <a:chExt cx="10515600" cy="2560320"/>
          </a:xfrm>
        </p:grpSpPr>
        <p:sp>
          <p:nvSpPr>
            <p:cNvPr id="4" name="Rounded Rectangle 3"/>
            <p:cNvSpPr/>
            <p:nvPr/>
          </p:nvSpPr>
          <p:spPr>
            <a:xfrm>
              <a:off x="83804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3804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3804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검증완료 기업정보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3804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1,000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건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278727" y="1920240"/>
              <a:ext cx="5074920" cy="256032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278727" y="1920240"/>
              <a:ext cx="5074920" cy="566928"/>
            </a:xfrm>
            <a:prstGeom prst="roundRect">
              <a:avLst>
                <a:gd name="adj" fmla="val 8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78727" y="1920240"/>
              <a:ext cx="5074920" cy="56692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6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참여기업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78727" y="2880360"/>
              <a:ext cx="5074920" cy="1097280"/>
            </a:xfrm>
            <a:prstGeom prst="rect">
              <a:avLst/>
            </a:prstGeom>
            <a:noFill/>
          </p:spPr>
          <p:txBody>
            <a:bodyPr wrap="none" anchor="ctr" lIns="25400" rIns="25400" tIns="12700" bIns="12700">
              <a:spAutoFit/>
            </a:bodyPr>
            <a:lstStyle/>
            <a:p>
              <a:pPr algn="ctr"/>
              <a:r>
                <a:rPr sz="46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40</a:t>
              </a:r>
              <a:r>
                <a:rPr sz="1500" b="1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 개사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