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KPI-175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" y="457200"/>
            <a:ext cx="1143000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200" b="1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그룹라벨+숫자묶음 · 2카드 · blue_500</a:t>
            </a:r>
          </a:p>
        </p:txBody>
      </p:sp>
      <p:grpSp>
        <p:nvGrpSpPr>
          <p:cNvPr id="12" name="asset:KPI-175"/>
          <p:cNvGrpSpPr/>
          <p:nvPr/>
        </p:nvGrpSpPr>
        <p:grpSpPr>
          <a:xfrm>
            <a:off x="1066647" y="1828800"/>
            <a:ext cx="10058400" cy="3154680"/>
            <a:chOff x="1066647" y="1828800"/>
            <a:chExt cx="10058400" cy="3154680"/>
          </a:xfrm>
        </p:grpSpPr>
        <p:sp>
          <p:nvSpPr>
            <p:cNvPr id="4" name="Rounded Rectangle 3"/>
            <p:cNvSpPr/>
            <p:nvPr/>
          </p:nvSpPr>
          <p:spPr>
            <a:xfrm>
              <a:off x="1066647" y="1828800"/>
              <a:ext cx="10058400" cy="640080"/>
            </a:xfrm>
            <a:prstGeom prst="roundRect">
              <a:avLst>
                <a:gd name="adj" fmla="val 12000"/>
              </a:avLst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TextBox 4"/>
            <p:cNvSpPr txBox="1"/>
            <p:nvPr/>
          </p:nvSpPr>
          <p:spPr>
            <a:xfrm>
              <a:off x="1340967" y="1828800"/>
              <a:ext cx="9509760" cy="64008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6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핵심 성과 요약</a:t>
              </a:r>
            </a:p>
          </p:txBody>
        </p:sp>
        <p:sp>
          <p:nvSpPr>
            <p:cNvPr id="6" name="Rounded Rectangle 5"/>
            <p:cNvSpPr/>
            <p:nvPr/>
          </p:nvSpPr>
          <p:spPr>
            <a:xfrm>
              <a:off x="1066647" y="2606040"/>
              <a:ext cx="10058400" cy="2377440"/>
            </a:xfrm>
            <a:prstGeom prst="roundRect">
              <a:avLst>
                <a:gd name="adj" fmla="val 6000"/>
              </a:avLst>
            </a:prstGeom>
            <a:solidFill>
              <a:srgbClr val="FFFFFF"/>
            </a:solidFill>
            <a:ln w="1524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1066647" y="3108960"/>
              <a:ext cx="5029200" cy="822960"/>
            </a:xfrm>
            <a:prstGeom prst="rect">
              <a:avLst/>
            </a:prstGeom>
            <a:noFill/>
          </p:spPr>
          <p:txBody>
            <a:bodyPr wrap="none" anchor="ctr" lIns="25400" rIns="25400" tIns="12700" bIns="12700">
              <a:spAutoFit/>
            </a:bodyPr>
            <a:lstStyle/>
            <a:p>
              <a:pPr algn="ctr"/>
              <a:r>
                <a:rPr sz="4000" b="1">
                  <a:solidFill>
                    <a:srgbClr val="2E75D6"/>
                  </a:solidFill>
                  <a:latin typeface="Pretendard"/>
                  <a:ea typeface="Pretendard"/>
                  <a:cs typeface="Pretendard"/>
                </a:rPr>
                <a:t>1,000</a:t>
              </a:r>
              <a:r>
                <a:rPr sz="1400" b="1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 건</a:t>
              </a: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1066647" y="4251960"/>
              <a:ext cx="502920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3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검증완료 기업정보</a:t>
              </a:r>
            </a:p>
          </p:txBody>
        </p:sp>
        <p:sp>
          <p:nvSpPr>
            <p:cNvPr id="9" name="Rectangle 8"/>
            <p:cNvSpPr/>
            <p:nvPr/>
          </p:nvSpPr>
          <p:spPr>
            <a:xfrm>
              <a:off x="6095847" y="2971800"/>
              <a:ext cx="18288" cy="1645920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6095847" y="3108960"/>
              <a:ext cx="5029200" cy="822960"/>
            </a:xfrm>
            <a:prstGeom prst="rect">
              <a:avLst/>
            </a:prstGeom>
            <a:noFill/>
          </p:spPr>
          <p:txBody>
            <a:bodyPr wrap="none" anchor="ctr" lIns="25400" rIns="25400" tIns="12700" bIns="12700">
              <a:spAutoFit/>
            </a:bodyPr>
            <a:lstStyle/>
            <a:p>
              <a:pPr algn="ctr"/>
              <a:r>
                <a:rPr sz="4000" b="1">
                  <a:solidFill>
                    <a:srgbClr val="2E75D6"/>
                  </a:solidFill>
                  <a:latin typeface="Pretendard"/>
                  <a:ea typeface="Pretendard"/>
                  <a:cs typeface="Pretendard"/>
                </a:rPr>
                <a:t>40</a:t>
              </a:r>
              <a:r>
                <a:rPr sz="1400" b="1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 개사</a:t>
              </a: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6095847" y="4251960"/>
              <a:ext cx="502920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3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참여기업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KPI-176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" y="457200"/>
            <a:ext cx="1143000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200" b="1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그룹라벨+숫자묶음 · 3카드 · teal_500</a:t>
            </a:r>
          </a:p>
        </p:txBody>
      </p:sp>
      <p:grpSp>
        <p:nvGrpSpPr>
          <p:cNvPr id="15" name="asset:KPI-176"/>
          <p:cNvGrpSpPr/>
          <p:nvPr/>
        </p:nvGrpSpPr>
        <p:grpSpPr>
          <a:xfrm>
            <a:off x="1066647" y="1828800"/>
            <a:ext cx="10058400" cy="3154680"/>
            <a:chOff x="1066647" y="1828800"/>
            <a:chExt cx="10058400" cy="3154680"/>
          </a:xfrm>
        </p:grpSpPr>
        <p:sp>
          <p:nvSpPr>
            <p:cNvPr id="4" name="Rounded Rectangle 3"/>
            <p:cNvSpPr/>
            <p:nvPr/>
          </p:nvSpPr>
          <p:spPr>
            <a:xfrm>
              <a:off x="1066647" y="1828800"/>
              <a:ext cx="10058400" cy="640080"/>
            </a:xfrm>
            <a:prstGeom prst="roundRect">
              <a:avLst>
                <a:gd name="adj" fmla="val 12000"/>
              </a:avLst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TextBox 4"/>
            <p:cNvSpPr txBox="1"/>
            <p:nvPr/>
          </p:nvSpPr>
          <p:spPr>
            <a:xfrm>
              <a:off x="1340967" y="1828800"/>
              <a:ext cx="9509760" cy="64008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6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핵심 성과 요약</a:t>
              </a:r>
            </a:p>
          </p:txBody>
        </p:sp>
        <p:sp>
          <p:nvSpPr>
            <p:cNvPr id="6" name="Rounded Rectangle 5"/>
            <p:cNvSpPr/>
            <p:nvPr/>
          </p:nvSpPr>
          <p:spPr>
            <a:xfrm>
              <a:off x="1066647" y="2606040"/>
              <a:ext cx="10058400" cy="2377440"/>
            </a:xfrm>
            <a:prstGeom prst="roundRect">
              <a:avLst>
                <a:gd name="adj" fmla="val 6000"/>
              </a:avLst>
            </a:prstGeom>
            <a:solidFill>
              <a:srgbClr val="FFFFFF"/>
            </a:solidFill>
            <a:ln w="1524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1066647" y="3108960"/>
              <a:ext cx="3352800" cy="822960"/>
            </a:xfrm>
            <a:prstGeom prst="rect">
              <a:avLst/>
            </a:prstGeom>
            <a:noFill/>
          </p:spPr>
          <p:txBody>
            <a:bodyPr wrap="none" anchor="ctr" lIns="25400" rIns="25400" tIns="12700" bIns="12700">
              <a:spAutoFit/>
            </a:bodyPr>
            <a:lstStyle/>
            <a:p>
              <a:pPr algn="ctr"/>
              <a:r>
                <a:rPr sz="3400" b="1">
                  <a:solidFill>
                    <a:srgbClr val="1F9E8F"/>
                  </a:solidFill>
                  <a:latin typeface="Pretendard"/>
                  <a:ea typeface="Pretendard"/>
                  <a:cs typeface="Pretendard"/>
                </a:rPr>
                <a:t>1,000</a:t>
              </a:r>
              <a:r>
                <a:rPr sz="1400" b="1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 건</a:t>
              </a: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1066647" y="4251960"/>
              <a:ext cx="335280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3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검증완료 기업정보</a:t>
              </a:r>
            </a:p>
          </p:txBody>
        </p:sp>
        <p:sp>
          <p:nvSpPr>
            <p:cNvPr id="9" name="Rectangle 8"/>
            <p:cNvSpPr/>
            <p:nvPr/>
          </p:nvSpPr>
          <p:spPr>
            <a:xfrm>
              <a:off x="4419447" y="2971800"/>
              <a:ext cx="18288" cy="1645920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4419447" y="3108960"/>
              <a:ext cx="3352800" cy="822960"/>
            </a:xfrm>
            <a:prstGeom prst="rect">
              <a:avLst/>
            </a:prstGeom>
            <a:noFill/>
          </p:spPr>
          <p:txBody>
            <a:bodyPr wrap="none" anchor="ctr" lIns="25400" rIns="25400" tIns="12700" bIns="12700">
              <a:spAutoFit/>
            </a:bodyPr>
            <a:lstStyle/>
            <a:p>
              <a:pPr algn="ctr"/>
              <a:r>
                <a:rPr sz="3400" b="1">
                  <a:solidFill>
                    <a:srgbClr val="1F9E8F"/>
                  </a:solidFill>
                  <a:latin typeface="Pretendard"/>
                  <a:ea typeface="Pretendard"/>
                  <a:cs typeface="Pretendard"/>
                </a:rPr>
                <a:t>40</a:t>
              </a:r>
              <a:r>
                <a:rPr sz="1400" b="1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 개사</a:t>
              </a: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4419447" y="4251960"/>
              <a:ext cx="335280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3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참여기업</a:t>
              </a: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7772247" y="2971800"/>
              <a:ext cx="18288" cy="1645920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7772247" y="3108960"/>
              <a:ext cx="3352800" cy="822960"/>
            </a:xfrm>
            <a:prstGeom prst="rect">
              <a:avLst/>
            </a:prstGeom>
            <a:noFill/>
          </p:spPr>
          <p:txBody>
            <a:bodyPr wrap="none" anchor="ctr" lIns="25400" rIns="25400" tIns="12700" bIns="12700">
              <a:spAutoFit/>
            </a:bodyPr>
            <a:lstStyle/>
            <a:p>
              <a:pPr algn="ctr"/>
              <a:r>
                <a:rPr sz="3400" b="1">
                  <a:solidFill>
                    <a:srgbClr val="1F9E8F"/>
                  </a:solidFill>
                  <a:latin typeface="Pretendard"/>
                  <a:ea typeface="Pretendard"/>
                  <a:cs typeface="Pretendard"/>
                </a:rPr>
                <a:t>42</a:t>
              </a:r>
              <a:r>
                <a:rPr sz="1400" b="1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 만$</a:t>
              </a: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7772247" y="4251960"/>
              <a:ext cx="335280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3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수출상담액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KPI-177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" y="457200"/>
            <a:ext cx="1143000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200" b="1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그룹라벨+숫자묶음 · 4카드 · cyan_500</a:t>
            </a:r>
          </a:p>
        </p:txBody>
      </p:sp>
      <p:grpSp>
        <p:nvGrpSpPr>
          <p:cNvPr id="18" name="asset:KPI-177"/>
          <p:cNvGrpSpPr/>
          <p:nvPr/>
        </p:nvGrpSpPr>
        <p:grpSpPr>
          <a:xfrm>
            <a:off x="1066647" y="1828800"/>
            <a:ext cx="10058400" cy="3154680"/>
            <a:chOff x="1066647" y="1828800"/>
            <a:chExt cx="10058400" cy="3154680"/>
          </a:xfrm>
        </p:grpSpPr>
        <p:sp>
          <p:nvSpPr>
            <p:cNvPr id="4" name="Rounded Rectangle 3"/>
            <p:cNvSpPr/>
            <p:nvPr/>
          </p:nvSpPr>
          <p:spPr>
            <a:xfrm>
              <a:off x="1066647" y="1828800"/>
              <a:ext cx="10058400" cy="640080"/>
            </a:xfrm>
            <a:prstGeom prst="roundRect">
              <a:avLst>
                <a:gd name="adj" fmla="val 12000"/>
              </a:avLst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TextBox 4"/>
            <p:cNvSpPr txBox="1"/>
            <p:nvPr/>
          </p:nvSpPr>
          <p:spPr>
            <a:xfrm>
              <a:off x="1340967" y="1828800"/>
              <a:ext cx="9509760" cy="64008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6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핵심 성과 요약</a:t>
              </a:r>
            </a:p>
          </p:txBody>
        </p:sp>
        <p:sp>
          <p:nvSpPr>
            <p:cNvPr id="6" name="Rounded Rectangle 5"/>
            <p:cNvSpPr/>
            <p:nvPr/>
          </p:nvSpPr>
          <p:spPr>
            <a:xfrm>
              <a:off x="1066647" y="2606040"/>
              <a:ext cx="10058400" cy="2377440"/>
            </a:xfrm>
            <a:prstGeom prst="roundRect">
              <a:avLst>
                <a:gd name="adj" fmla="val 6000"/>
              </a:avLst>
            </a:prstGeom>
            <a:solidFill>
              <a:srgbClr val="FFFFFF"/>
            </a:solidFill>
            <a:ln w="1524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1066647" y="3108960"/>
              <a:ext cx="2514600" cy="822960"/>
            </a:xfrm>
            <a:prstGeom prst="rect">
              <a:avLst/>
            </a:prstGeom>
            <a:noFill/>
          </p:spPr>
          <p:txBody>
            <a:bodyPr wrap="none" anchor="ctr" lIns="25400" rIns="25400" tIns="12700" bIns="12700">
              <a:spAutoFit/>
            </a:bodyPr>
            <a:lstStyle/>
            <a:p>
              <a:pPr algn="ctr"/>
              <a:r>
                <a:rPr sz="3000" b="1">
                  <a:solidFill>
                    <a:srgbClr val="29ABE2"/>
                  </a:solidFill>
                  <a:latin typeface="Pretendard"/>
                  <a:ea typeface="Pretendard"/>
                  <a:cs typeface="Pretendard"/>
                </a:rPr>
                <a:t>1,000</a:t>
              </a:r>
              <a:r>
                <a:rPr sz="1400" b="1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 건</a:t>
              </a: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1066647" y="4251960"/>
              <a:ext cx="251460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3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검증완료 기업정보</a:t>
              </a:r>
            </a:p>
          </p:txBody>
        </p:sp>
        <p:sp>
          <p:nvSpPr>
            <p:cNvPr id="9" name="Rectangle 8"/>
            <p:cNvSpPr/>
            <p:nvPr/>
          </p:nvSpPr>
          <p:spPr>
            <a:xfrm>
              <a:off x="3581247" y="2971800"/>
              <a:ext cx="18288" cy="1645920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3581247" y="3108960"/>
              <a:ext cx="2514600" cy="822960"/>
            </a:xfrm>
            <a:prstGeom prst="rect">
              <a:avLst/>
            </a:prstGeom>
            <a:noFill/>
          </p:spPr>
          <p:txBody>
            <a:bodyPr wrap="none" anchor="ctr" lIns="25400" rIns="25400" tIns="12700" bIns="12700">
              <a:spAutoFit/>
            </a:bodyPr>
            <a:lstStyle/>
            <a:p>
              <a:pPr algn="ctr"/>
              <a:r>
                <a:rPr sz="3000" b="1">
                  <a:solidFill>
                    <a:srgbClr val="29ABE2"/>
                  </a:solidFill>
                  <a:latin typeface="Pretendard"/>
                  <a:ea typeface="Pretendard"/>
                  <a:cs typeface="Pretendard"/>
                </a:rPr>
                <a:t>40</a:t>
              </a:r>
              <a:r>
                <a:rPr sz="1400" b="1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 개사</a:t>
              </a: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3581247" y="4251960"/>
              <a:ext cx="251460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3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참여기업</a:t>
              </a: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6095847" y="2971800"/>
              <a:ext cx="18288" cy="1645920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6095847" y="3108960"/>
              <a:ext cx="2514600" cy="822960"/>
            </a:xfrm>
            <a:prstGeom prst="rect">
              <a:avLst/>
            </a:prstGeom>
            <a:noFill/>
          </p:spPr>
          <p:txBody>
            <a:bodyPr wrap="none" anchor="ctr" lIns="25400" rIns="25400" tIns="12700" bIns="12700">
              <a:spAutoFit/>
            </a:bodyPr>
            <a:lstStyle/>
            <a:p>
              <a:pPr algn="ctr"/>
              <a:r>
                <a:rPr sz="3000" b="1">
                  <a:solidFill>
                    <a:srgbClr val="29ABE2"/>
                  </a:solidFill>
                  <a:latin typeface="Pretendard"/>
                  <a:ea typeface="Pretendard"/>
                  <a:cs typeface="Pretendard"/>
                </a:rPr>
                <a:t>42</a:t>
              </a:r>
              <a:r>
                <a:rPr sz="1400" b="1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 만$</a:t>
              </a: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6095847" y="4251960"/>
              <a:ext cx="251460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3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수출상담액</a:t>
              </a:r>
            </a:p>
          </p:txBody>
        </p:sp>
        <p:sp>
          <p:nvSpPr>
            <p:cNvPr id="15" name="Rectangle 14"/>
            <p:cNvSpPr/>
            <p:nvPr/>
          </p:nvSpPr>
          <p:spPr>
            <a:xfrm>
              <a:off x="8610447" y="2971800"/>
              <a:ext cx="18288" cy="1645920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8610447" y="3108960"/>
              <a:ext cx="2514600" cy="822960"/>
            </a:xfrm>
            <a:prstGeom prst="rect">
              <a:avLst/>
            </a:prstGeom>
            <a:noFill/>
          </p:spPr>
          <p:txBody>
            <a:bodyPr wrap="none" anchor="ctr" lIns="25400" rIns="25400" tIns="12700" bIns="12700">
              <a:spAutoFit/>
            </a:bodyPr>
            <a:lstStyle/>
            <a:p>
              <a:pPr algn="ctr"/>
              <a:r>
                <a:rPr sz="3000" b="1">
                  <a:solidFill>
                    <a:srgbClr val="29ABE2"/>
                  </a:solidFill>
                  <a:latin typeface="Pretendard"/>
                  <a:ea typeface="Pretendard"/>
                  <a:cs typeface="Pretendard"/>
                </a:rPr>
                <a:t>4.6</a:t>
              </a:r>
              <a:r>
                <a:rPr sz="1400" b="1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 점</a:t>
              </a: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8610447" y="4251960"/>
              <a:ext cx="251460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3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이용자 만족도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KPI-178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" y="457200"/>
            <a:ext cx="1143000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200" b="1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그룹라벨+숫자묶음 · 5카드 · purple_600</a:t>
            </a:r>
          </a:p>
        </p:txBody>
      </p:sp>
      <p:grpSp>
        <p:nvGrpSpPr>
          <p:cNvPr id="21" name="asset:KPI-178"/>
          <p:cNvGrpSpPr/>
          <p:nvPr/>
        </p:nvGrpSpPr>
        <p:grpSpPr>
          <a:xfrm>
            <a:off x="1066647" y="1828800"/>
            <a:ext cx="10058400" cy="3154680"/>
            <a:chOff x="1066647" y="1828800"/>
            <a:chExt cx="10058400" cy="3154680"/>
          </a:xfrm>
        </p:grpSpPr>
        <p:sp>
          <p:nvSpPr>
            <p:cNvPr id="4" name="Rounded Rectangle 3"/>
            <p:cNvSpPr/>
            <p:nvPr/>
          </p:nvSpPr>
          <p:spPr>
            <a:xfrm>
              <a:off x="1066647" y="1828800"/>
              <a:ext cx="10058400" cy="640080"/>
            </a:xfrm>
            <a:prstGeom prst="roundRect">
              <a:avLst>
                <a:gd name="adj" fmla="val 12000"/>
              </a:avLst>
            </a:prstGeom>
            <a:solidFill>
              <a:srgbClr val="7B2D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TextBox 4"/>
            <p:cNvSpPr txBox="1"/>
            <p:nvPr/>
          </p:nvSpPr>
          <p:spPr>
            <a:xfrm>
              <a:off x="1340967" y="1828800"/>
              <a:ext cx="9509760" cy="64008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6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핵심 성과 요약</a:t>
              </a:r>
            </a:p>
          </p:txBody>
        </p:sp>
        <p:sp>
          <p:nvSpPr>
            <p:cNvPr id="6" name="Rounded Rectangle 5"/>
            <p:cNvSpPr/>
            <p:nvPr/>
          </p:nvSpPr>
          <p:spPr>
            <a:xfrm>
              <a:off x="1066647" y="2606040"/>
              <a:ext cx="10058400" cy="2377440"/>
            </a:xfrm>
            <a:prstGeom prst="roundRect">
              <a:avLst>
                <a:gd name="adj" fmla="val 6000"/>
              </a:avLst>
            </a:prstGeom>
            <a:solidFill>
              <a:srgbClr val="FFFFFF"/>
            </a:solidFill>
            <a:ln w="1524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1066647" y="3108960"/>
              <a:ext cx="2011680" cy="822960"/>
            </a:xfrm>
            <a:prstGeom prst="rect">
              <a:avLst/>
            </a:prstGeom>
            <a:noFill/>
          </p:spPr>
          <p:txBody>
            <a:bodyPr wrap="none" anchor="ctr" lIns="25400" rIns="25400" tIns="12700" bIns="12700">
              <a:spAutoFit/>
            </a:bodyPr>
            <a:lstStyle/>
            <a:p>
              <a:pPr algn="ctr"/>
              <a:r>
                <a:rPr sz="2600" b="1">
                  <a:solidFill>
                    <a:srgbClr val="7B2D8E"/>
                  </a:solidFill>
                  <a:latin typeface="Pretendard"/>
                  <a:ea typeface="Pretendard"/>
                  <a:cs typeface="Pretendard"/>
                </a:rPr>
                <a:t>1,000</a:t>
              </a:r>
              <a:r>
                <a:rPr sz="1400" b="1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 건</a:t>
              </a: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1066647" y="4251960"/>
              <a:ext cx="201168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3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검증완료 기업정보</a:t>
              </a:r>
            </a:p>
          </p:txBody>
        </p:sp>
        <p:sp>
          <p:nvSpPr>
            <p:cNvPr id="9" name="Rectangle 8"/>
            <p:cNvSpPr/>
            <p:nvPr/>
          </p:nvSpPr>
          <p:spPr>
            <a:xfrm>
              <a:off x="3078327" y="2971800"/>
              <a:ext cx="18288" cy="1645920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3078327" y="3108960"/>
              <a:ext cx="2011680" cy="822960"/>
            </a:xfrm>
            <a:prstGeom prst="rect">
              <a:avLst/>
            </a:prstGeom>
            <a:noFill/>
          </p:spPr>
          <p:txBody>
            <a:bodyPr wrap="none" anchor="ctr" lIns="25400" rIns="25400" tIns="12700" bIns="12700">
              <a:spAutoFit/>
            </a:bodyPr>
            <a:lstStyle/>
            <a:p>
              <a:pPr algn="ctr"/>
              <a:r>
                <a:rPr sz="2600" b="1">
                  <a:solidFill>
                    <a:srgbClr val="7B2D8E"/>
                  </a:solidFill>
                  <a:latin typeface="Pretendard"/>
                  <a:ea typeface="Pretendard"/>
                  <a:cs typeface="Pretendard"/>
                </a:rPr>
                <a:t>40</a:t>
              </a:r>
              <a:r>
                <a:rPr sz="1400" b="1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 개사</a:t>
              </a: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3078327" y="4251960"/>
              <a:ext cx="201168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3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참여기업</a:t>
              </a: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5090007" y="2971800"/>
              <a:ext cx="18288" cy="1645920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5090007" y="3108960"/>
              <a:ext cx="2011680" cy="822960"/>
            </a:xfrm>
            <a:prstGeom prst="rect">
              <a:avLst/>
            </a:prstGeom>
            <a:noFill/>
          </p:spPr>
          <p:txBody>
            <a:bodyPr wrap="none" anchor="ctr" lIns="25400" rIns="25400" tIns="12700" bIns="12700">
              <a:spAutoFit/>
            </a:bodyPr>
            <a:lstStyle/>
            <a:p>
              <a:pPr algn="ctr"/>
              <a:r>
                <a:rPr sz="2600" b="1">
                  <a:solidFill>
                    <a:srgbClr val="7B2D8E"/>
                  </a:solidFill>
                  <a:latin typeface="Pretendard"/>
                  <a:ea typeface="Pretendard"/>
                  <a:cs typeface="Pretendard"/>
                </a:rPr>
                <a:t>42</a:t>
              </a:r>
              <a:r>
                <a:rPr sz="1400" b="1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 만$</a:t>
              </a: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5090007" y="4251960"/>
              <a:ext cx="201168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3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수출상담액</a:t>
              </a:r>
            </a:p>
          </p:txBody>
        </p:sp>
        <p:sp>
          <p:nvSpPr>
            <p:cNvPr id="15" name="Rectangle 14"/>
            <p:cNvSpPr/>
            <p:nvPr/>
          </p:nvSpPr>
          <p:spPr>
            <a:xfrm>
              <a:off x="7101687" y="2971800"/>
              <a:ext cx="18288" cy="1645920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7101687" y="3108960"/>
              <a:ext cx="2011680" cy="822960"/>
            </a:xfrm>
            <a:prstGeom prst="rect">
              <a:avLst/>
            </a:prstGeom>
            <a:noFill/>
          </p:spPr>
          <p:txBody>
            <a:bodyPr wrap="none" anchor="ctr" lIns="25400" rIns="25400" tIns="12700" bIns="12700">
              <a:spAutoFit/>
            </a:bodyPr>
            <a:lstStyle/>
            <a:p>
              <a:pPr algn="ctr"/>
              <a:r>
                <a:rPr sz="2600" b="1">
                  <a:solidFill>
                    <a:srgbClr val="7B2D8E"/>
                  </a:solidFill>
                  <a:latin typeface="Pretendard"/>
                  <a:ea typeface="Pretendard"/>
                  <a:cs typeface="Pretendard"/>
                </a:rPr>
                <a:t>4.6</a:t>
              </a:r>
              <a:r>
                <a:rPr sz="1400" b="1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 점</a:t>
              </a: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7101687" y="4251960"/>
              <a:ext cx="201168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3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이용자 만족도</a:t>
              </a:r>
            </a:p>
          </p:txBody>
        </p:sp>
        <p:sp>
          <p:nvSpPr>
            <p:cNvPr id="18" name="Rectangle 17"/>
            <p:cNvSpPr/>
            <p:nvPr/>
          </p:nvSpPr>
          <p:spPr>
            <a:xfrm>
              <a:off x="9113367" y="2971800"/>
              <a:ext cx="18288" cy="1645920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9113367" y="3108960"/>
              <a:ext cx="2011680" cy="822960"/>
            </a:xfrm>
            <a:prstGeom prst="rect">
              <a:avLst/>
            </a:prstGeom>
            <a:noFill/>
          </p:spPr>
          <p:txBody>
            <a:bodyPr wrap="none" anchor="ctr" lIns="25400" rIns="25400" tIns="12700" bIns="12700">
              <a:spAutoFit/>
            </a:bodyPr>
            <a:lstStyle/>
            <a:p>
              <a:pPr algn="ctr"/>
              <a:r>
                <a:rPr sz="2600" b="1">
                  <a:solidFill>
                    <a:srgbClr val="7B2D8E"/>
                  </a:solidFill>
                  <a:latin typeface="Pretendard"/>
                  <a:ea typeface="Pretendard"/>
                  <a:cs typeface="Pretendard"/>
                </a:rPr>
                <a:t>95</a:t>
              </a:r>
              <a:r>
                <a:rPr sz="1400" b="1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 %</a:t>
              </a: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9113367" y="4251960"/>
              <a:ext cx="201168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3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목표 달성률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KPI-179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" y="457200"/>
            <a:ext cx="1143000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200" b="1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그룹라벨+숫자묶음 · 2카드 · navy_600</a:t>
            </a:r>
          </a:p>
        </p:txBody>
      </p:sp>
      <p:grpSp>
        <p:nvGrpSpPr>
          <p:cNvPr id="12" name="asset:KPI-179"/>
          <p:cNvGrpSpPr/>
          <p:nvPr/>
        </p:nvGrpSpPr>
        <p:grpSpPr>
          <a:xfrm>
            <a:off x="1066647" y="1828800"/>
            <a:ext cx="10058400" cy="3154680"/>
            <a:chOff x="1066647" y="1828800"/>
            <a:chExt cx="10058400" cy="3154680"/>
          </a:xfrm>
        </p:grpSpPr>
        <p:sp>
          <p:nvSpPr>
            <p:cNvPr id="4" name="Rounded Rectangle 3"/>
            <p:cNvSpPr/>
            <p:nvPr/>
          </p:nvSpPr>
          <p:spPr>
            <a:xfrm>
              <a:off x="1066647" y="1828800"/>
              <a:ext cx="10058400" cy="640080"/>
            </a:xfrm>
            <a:prstGeom prst="roundRect">
              <a:avLst>
                <a:gd name="adj" fmla="val 12000"/>
              </a:avLst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TextBox 4"/>
            <p:cNvSpPr txBox="1"/>
            <p:nvPr/>
          </p:nvSpPr>
          <p:spPr>
            <a:xfrm>
              <a:off x="1340967" y="1828800"/>
              <a:ext cx="9509760" cy="64008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6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핵심 성과 요약</a:t>
              </a:r>
            </a:p>
          </p:txBody>
        </p:sp>
        <p:sp>
          <p:nvSpPr>
            <p:cNvPr id="6" name="Rounded Rectangle 5"/>
            <p:cNvSpPr/>
            <p:nvPr/>
          </p:nvSpPr>
          <p:spPr>
            <a:xfrm>
              <a:off x="1066647" y="2606040"/>
              <a:ext cx="10058400" cy="2377440"/>
            </a:xfrm>
            <a:prstGeom prst="roundRect">
              <a:avLst>
                <a:gd name="adj" fmla="val 6000"/>
              </a:avLst>
            </a:prstGeom>
            <a:solidFill>
              <a:srgbClr val="FFFFFF"/>
            </a:solidFill>
            <a:ln w="1524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1066647" y="3108960"/>
              <a:ext cx="5029200" cy="822960"/>
            </a:xfrm>
            <a:prstGeom prst="rect">
              <a:avLst/>
            </a:prstGeom>
            <a:noFill/>
          </p:spPr>
          <p:txBody>
            <a:bodyPr wrap="none" anchor="ctr" lIns="25400" rIns="25400" tIns="12700" bIns="12700">
              <a:spAutoFit/>
            </a:bodyPr>
            <a:lstStyle/>
            <a:p>
              <a:pPr algn="ctr"/>
              <a:r>
                <a:rPr sz="4000" b="1">
                  <a:solidFill>
                    <a:srgbClr val="2A4A7F"/>
                  </a:solidFill>
                  <a:latin typeface="Pretendard"/>
                  <a:ea typeface="Pretendard"/>
                  <a:cs typeface="Pretendard"/>
                </a:rPr>
                <a:t>1,000</a:t>
              </a:r>
              <a:r>
                <a:rPr sz="1400" b="1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 건</a:t>
              </a: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1066647" y="4251960"/>
              <a:ext cx="502920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3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검증완료 기업정보</a:t>
              </a:r>
            </a:p>
          </p:txBody>
        </p:sp>
        <p:sp>
          <p:nvSpPr>
            <p:cNvPr id="9" name="Rectangle 8"/>
            <p:cNvSpPr/>
            <p:nvPr/>
          </p:nvSpPr>
          <p:spPr>
            <a:xfrm>
              <a:off x="6095847" y="2971800"/>
              <a:ext cx="18288" cy="1645920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6095847" y="3108960"/>
              <a:ext cx="5029200" cy="822960"/>
            </a:xfrm>
            <a:prstGeom prst="rect">
              <a:avLst/>
            </a:prstGeom>
            <a:noFill/>
          </p:spPr>
          <p:txBody>
            <a:bodyPr wrap="none" anchor="ctr" lIns="25400" rIns="25400" tIns="12700" bIns="12700">
              <a:spAutoFit/>
            </a:bodyPr>
            <a:lstStyle/>
            <a:p>
              <a:pPr algn="ctr"/>
              <a:r>
                <a:rPr sz="4000" b="1">
                  <a:solidFill>
                    <a:srgbClr val="2A4A7F"/>
                  </a:solidFill>
                  <a:latin typeface="Pretendard"/>
                  <a:ea typeface="Pretendard"/>
                  <a:cs typeface="Pretendard"/>
                </a:rPr>
                <a:t>40</a:t>
              </a:r>
              <a:r>
                <a:rPr sz="1400" b="1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 개사</a:t>
              </a: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6095847" y="4251960"/>
              <a:ext cx="502920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3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참여기업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KPI-180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" y="457200"/>
            <a:ext cx="1143000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200" b="1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그룹라벨+숫자묶음 · 3카드 · navy_800</a:t>
            </a:r>
          </a:p>
        </p:txBody>
      </p:sp>
      <p:grpSp>
        <p:nvGrpSpPr>
          <p:cNvPr id="15" name="asset:KPI-180"/>
          <p:cNvGrpSpPr/>
          <p:nvPr/>
        </p:nvGrpSpPr>
        <p:grpSpPr>
          <a:xfrm>
            <a:off x="1066647" y="1828800"/>
            <a:ext cx="10058400" cy="3154680"/>
            <a:chOff x="1066647" y="1828800"/>
            <a:chExt cx="10058400" cy="3154680"/>
          </a:xfrm>
        </p:grpSpPr>
        <p:sp>
          <p:nvSpPr>
            <p:cNvPr id="4" name="Rounded Rectangle 3"/>
            <p:cNvSpPr/>
            <p:nvPr/>
          </p:nvSpPr>
          <p:spPr>
            <a:xfrm>
              <a:off x="1066647" y="1828800"/>
              <a:ext cx="10058400" cy="640080"/>
            </a:xfrm>
            <a:prstGeom prst="roundRect">
              <a:avLst>
                <a:gd name="adj" fmla="val 12000"/>
              </a:avLst>
            </a:prstGeom>
            <a:solidFill>
              <a:srgbClr val="1F386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TextBox 4"/>
            <p:cNvSpPr txBox="1"/>
            <p:nvPr/>
          </p:nvSpPr>
          <p:spPr>
            <a:xfrm>
              <a:off x="1340967" y="1828800"/>
              <a:ext cx="9509760" cy="64008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6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핵심 성과 요약</a:t>
              </a:r>
            </a:p>
          </p:txBody>
        </p:sp>
        <p:sp>
          <p:nvSpPr>
            <p:cNvPr id="6" name="Rounded Rectangle 5"/>
            <p:cNvSpPr/>
            <p:nvPr/>
          </p:nvSpPr>
          <p:spPr>
            <a:xfrm>
              <a:off x="1066647" y="2606040"/>
              <a:ext cx="10058400" cy="2377440"/>
            </a:xfrm>
            <a:prstGeom prst="roundRect">
              <a:avLst>
                <a:gd name="adj" fmla="val 6000"/>
              </a:avLst>
            </a:prstGeom>
            <a:solidFill>
              <a:srgbClr val="FFFFFF"/>
            </a:solidFill>
            <a:ln w="1524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1066647" y="3108960"/>
              <a:ext cx="3352800" cy="822960"/>
            </a:xfrm>
            <a:prstGeom prst="rect">
              <a:avLst/>
            </a:prstGeom>
            <a:noFill/>
          </p:spPr>
          <p:txBody>
            <a:bodyPr wrap="none" anchor="ctr" lIns="25400" rIns="25400" tIns="12700" bIns="12700">
              <a:spAutoFit/>
            </a:bodyPr>
            <a:lstStyle/>
            <a:p>
              <a:pPr algn="ctr"/>
              <a:r>
                <a:rPr sz="34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1,000</a:t>
              </a:r>
              <a:r>
                <a:rPr sz="1400" b="1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 건</a:t>
              </a: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1066647" y="4251960"/>
              <a:ext cx="335280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3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검증완료 기업정보</a:t>
              </a:r>
            </a:p>
          </p:txBody>
        </p:sp>
        <p:sp>
          <p:nvSpPr>
            <p:cNvPr id="9" name="Rectangle 8"/>
            <p:cNvSpPr/>
            <p:nvPr/>
          </p:nvSpPr>
          <p:spPr>
            <a:xfrm>
              <a:off x="4419447" y="2971800"/>
              <a:ext cx="18288" cy="1645920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4419447" y="3108960"/>
              <a:ext cx="3352800" cy="822960"/>
            </a:xfrm>
            <a:prstGeom prst="rect">
              <a:avLst/>
            </a:prstGeom>
            <a:noFill/>
          </p:spPr>
          <p:txBody>
            <a:bodyPr wrap="none" anchor="ctr" lIns="25400" rIns="25400" tIns="12700" bIns="12700">
              <a:spAutoFit/>
            </a:bodyPr>
            <a:lstStyle/>
            <a:p>
              <a:pPr algn="ctr"/>
              <a:r>
                <a:rPr sz="34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40</a:t>
              </a:r>
              <a:r>
                <a:rPr sz="1400" b="1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 개사</a:t>
              </a: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4419447" y="4251960"/>
              <a:ext cx="335280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3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참여기업</a:t>
              </a: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7772247" y="2971800"/>
              <a:ext cx="18288" cy="1645920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7772247" y="3108960"/>
              <a:ext cx="3352800" cy="822960"/>
            </a:xfrm>
            <a:prstGeom prst="rect">
              <a:avLst/>
            </a:prstGeom>
            <a:noFill/>
          </p:spPr>
          <p:txBody>
            <a:bodyPr wrap="none" anchor="ctr" lIns="25400" rIns="25400" tIns="12700" bIns="12700">
              <a:spAutoFit/>
            </a:bodyPr>
            <a:lstStyle/>
            <a:p>
              <a:pPr algn="ctr"/>
              <a:r>
                <a:rPr sz="34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42</a:t>
              </a:r>
              <a:r>
                <a:rPr sz="1400" b="1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 만$</a:t>
              </a: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7772247" y="4251960"/>
              <a:ext cx="335280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3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수출상담액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KPI-181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" y="457200"/>
            <a:ext cx="1143000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200" b="1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그룹라벨+숫자묶음 · 4카드 · blue_500</a:t>
            </a:r>
          </a:p>
        </p:txBody>
      </p:sp>
      <p:grpSp>
        <p:nvGrpSpPr>
          <p:cNvPr id="18" name="asset:KPI-181"/>
          <p:cNvGrpSpPr/>
          <p:nvPr/>
        </p:nvGrpSpPr>
        <p:grpSpPr>
          <a:xfrm>
            <a:off x="1066647" y="1828800"/>
            <a:ext cx="10058400" cy="3154680"/>
            <a:chOff x="1066647" y="1828800"/>
            <a:chExt cx="10058400" cy="3154680"/>
          </a:xfrm>
        </p:grpSpPr>
        <p:sp>
          <p:nvSpPr>
            <p:cNvPr id="4" name="Rounded Rectangle 3"/>
            <p:cNvSpPr/>
            <p:nvPr/>
          </p:nvSpPr>
          <p:spPr>
            <a:xfrm>
              <a:off x="1066647" y="1828800"/>
              <a:ext cx="10058400" cy="640080"/>
            </a:xfrm>
            <a:prstGeom prst="roundRect">
              <a:avLst>
                <a:gd name="adj" fmla="val 12000"/>
              </a:avLst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TextBox 4"/>
            <p:cNvSpPr txBox="1"/>
            <p:nvPr/>
          </p:nvSpPr>
          <p:spPr>
            <a:xfrm>
              <a:off x="1340967" y="1828800"/>
              <a:ext cx="9509760" cy="64008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6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핵심 성과 요약</a:t>
              </a:r>
            </a:p>
          </p:txBody>
        </p:sp>
        <p:sp>
          <p:nvSpPr>
            <p:cNvPr id="6" name="Rounded Rectangle 5"/>
            <p:cNvSpPr/>
            <p:nvPr/>
          </p:nvSpPr>
          <p:spPr>
            <a:xfrm>
              <a:off x="1066647" y="2606040"/>
              <a:ext cx="10058400" cy="2377440"/>
            </a:xfrm>
            <a:prstGeom prst="roundRect">
              <a:avLst>
                <a:gd name="adj" fmla="val 6000"/>
              </a:avLst>
            </a:prstGeom>
            <a:solidFill>
              <a:srgbClr val="FFFFFF"/>
            </a:solidFill>
            <a:ln w="1524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1066647" y="3108960"/>
              <a:ext cx="2514600" cy="822960"/>
            </a:xfrm>
            <a:prstGeom prst="rect">
              <a:avLst/>
            </a:prstGeom>
            <a:noFill/>
          </p:spPr>
          <p:txBody>
            <a:bodyPr wrap="none" anchor="ctr" lIns="25400" rIns="25400" tIns="12700" bIns="12700">
              <a:spAutoFit/>
            </a:bodyPr>
            <a:lstStyle/>
            <a:p>
              <a:pPr algn="ctr"/>
              <a:r>
                <a:rPr sz="3000" b="1">
                  <a:solidFill>
                    <a:srgbClr val="2E75D6"/>
                  </a:solidFill>
                  <a:latin typeface="Pretendard"/>
                  <a:ea typeface="Pretendard"/>
                  <a:cs typeface="Pretendard"/>
                </a:rPr>
                <a:t>1,000</a:t>
              </a:r>
              <a:r>
                <a:rPr sz="1400" b="1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 건</a:t>
              </a: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1066647" y="4251960"/>
              <a:ext cx="251460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3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검증완료 기업정보</a:t>
              </a:r>
            </a:p>
          </p:txBody>
        </p:sp>
        <p:sp>
          <p:nvSpPr>
            <p:cNvPr id="9" name="Rectangle 8"/>
            <p:cNvSpPr/>
            <p:nvPr/>
          </p:nvSpPr>
          <p:spPr>
            <a:xfrm>
              <a:off x="3581247" y="2971800"/>
              <a:ext cx="18288" cy="1645920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3581247" y="3108960"/>
              <a:ext cx="2514600" cy="822960"/>
            </a:xfrm>
            <a:prstGeom prst="rect">
              <a:avLst/>
            </a:prstGeom>
            <a:noFill/>
          </p:spPr>
          <p:txBody>
            <a:bodyPr wrap="none" anchor="ctr" lIns="25400" rIns="25400" tIns="12700" bIns="12700">
              <a:spAutoFit/>
            </a:bodyPr>
            <a:lstStyle/>
            <a:p>
              <a:pPr algn="ctr"/>
              <a:r>
                <a:rPr sz="3000" b="1">
                  <a:solidFill>
                    <a:srgbClr val="2E75D6"/>
                  </a:solidFill>
                  <a:latin typeface="Pretendard"/>
                  <a:ea typeface="Pretendard"/>
                  <a:cs typeface="Pretendard"/>
                </a:rPr>
                <a:t>40</a:t>
              </a:r>
              <a:r>
                <a:rPr sz="1400" b="1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 개사</a:t>
              </a: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3581247" y="4251960"/>
              <a:ext cx="251460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3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참여기업</a:t>
              </a: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6095847" y="2971800"/>
              <a:ext cx="18288" cy="1645920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6095847" y="3108960"/>
              <a:ext cx="2514600" cy="822960"/>
            </a:xfrm>
            <a:prstGeom prst="rect">
              <a:avLst/>
            </a:prstGeom>
            <a:noFill/>
          </p:spPr>
          <p:txBody>
            <a:bodyPr wrap="none" anchor="ctr" lIns="25400" rIns="25400" tIns="12700" bIns="12700">
              <a:spAutoFit/>
            </a:bodyPr>
            <a:lstStyle/>
            <a:p>
              <a:pPr algn="ctr"/>
              <a:r>
                <a:rPr sz="3000" b="1">
                  <a:solidFill>
                    <a:srgbClr val="2E75D6"/>
                  </a:solidFill>
                  <a:latin typeface="Pretendard"/>
                  <a:ea typeface="Pretendard"/>
                  <a:cs typeface="Pretendard"/>
                </a:rPr>
                <a:t>42</a:t>
              </a:r>
              <a:r>
                <a:rPr sz="1400" b="1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 만$</a:t>
              </a: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6095847" y="4251960"/>
              <a:ext cx="251460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3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수출상담액</a:t>
              </a:r>
            </a:p>
          </p:txBody>
        </p:sp>
        <p:sp>
          <p:nvSpPr>
            <p:cNvPr id="15" name="Rectangle 14"/>
            <p:cNvSpPr/>
            <p:nvPr/>
          </p:nvSpPr>
          <p:spPr>
            <a:xfrm>
              <a:off x="8610447" y="2971800"/>
              <a:ext cx="18288" cy="1645920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8610447" y="3108960"/>
              <a:ext cx="2514600" cy="822960"/>
            </a:xfrm>
            <a:prstGeom prst="rect">
              <a:avLst/>
            </a:prstGeom>
            <a:noFill/>
          </p:spPr>
          <p:txBody>
            <a:bodyPr wrap="none" anchor="ctr" lIns="25400" rIns="25400" tIns="12700" bIns="12700">
              <a:spAutoFit/>
            </a:bodyPr>
            <a:lstStyle/>
            <a:p>
              <a:pPr algn="ctr"/>
              <a:r>
                <a:rPr sz="3000" b="1">
                  <a:solidFill>
                    <a:srgbClr val="2E75D6"/>
                  </a:solidFill>
                  <a:latin typeface="Pretendard"/>
                  <a:ea typeface="Pretendard"/>
                  <a:cs typeface="Pretendard"/>
                </a:rPr>
                <a:t>4.6</a:t>
              </a:r>
              <a:r>
                <a:rPr sz="1400" b="1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 점</a:t>
              </a: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8610447" y="4251960"/>
              <a:ext cx="251460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3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이용자 만족도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KPI-182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" y="457200"/>
            <a:ext cx="1143000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200" b="1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그룹라벨+숫자묶음 · 5카드 · teal_500</a:t>
            </a:r>
          </a:p>
        </p:txBody>
      </p:sp>
      <p:grpSp>
        <p:nvGrpSpPr>
          <p:cNvPr id="21" name="asset:KPI-182"/>
          <p:cNvGrpSpPr/>
          <p:nvPr/>
        </p:nvGrpSpPr>
        <p:grpSpPr>
          <a:xfrm>
            <a:off x="1066647" y="1828800"/>
            <a:ext cx="10058400" cy="3154680"/>
            <a:chOff x="1066647" y="1828800"/>
            <a:chExt cx="10058400" cy="3154680"/>
          </a:xfrm>
        </p:grpSpPr>
        <p:sp>
          <p:nvSpPr>
            <p:cNvPr id="4" name="Rounded Rectangle 3"/>
            <p:cNvSpPr/>
            <p:nvPr/>
          </p:nvSpPr>
          <p:spPr>
            <a:xfrm>
              <a:off x="1066647" y="1828800"/>
              <a:ext cx="10058400" cy="640080"/>
            </a:xfrm>
            <a:prstGeom prst="roundRect">
              <a:avLst>
                <a:gd name="adj" fmla="val 12000"/>
              </a:avLst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TextBox 4"/>
            <p:cNvSpPr txBox="1"/>
            <p:nvPr/>
          </p:nvSpPr>
          <p:spPr>
            <a:xfrm>
              <a:off x="1340967" y="1828800"/>
              <a:ext cx="9509760" cy="64008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6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핵심 성과 요약</a:t>
              </a:r>
            </a:p>
          </p:txBody>
        </p:sp>
        <p:sp>
          <p:nvSpPr>
            <p:cNvPr id="6" name="Rounded Rectangle 5"/>
            <p:cNvSpPr/>
            <p:nvPr/>
          </p:nvSpPr>
          <p:spPr>
            <a:xfrm>
              <a:off x="1066647" y="2606040"/>
              <a:ext cx="10058400" cy="2377440"/>
            </a:xfrm>
            <a:prstGeom prst="roundRect">
              <a:avLst>
                <a:gd name="adj" fmla="val 6000"/>
              </a:avLst>
            </a:prstGeom>
            <a:solidFill>
              <a:srgbClr val="FFFFFF"/>
            </a:solidFill>
            <a:ln w="1524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1066647" y="3108960"/>
              <a:ext cx="2011680" cy="822960"/>
            </a:xfrm>
            <a:prstGeom prst="rect">
              <a:avLst/>
            </a:prstGeom>
            <a:noFill/>
          </p:spPr>
          <p:txBody>
            <a:bodyPr wrap="none" anchor="ctr" lIns="25400" rIns="25400" tIns="12700" bIns="12700">
              <a:spAutoFit/>
            </a:bodyPr>
            <a:lstStyle/>
            <a:p>
              <a:pPr algn="ctr"/>
              <a:r>
                <a:rPr sz="2600" b="1">
                  <a:solidFill>
                    <a:srgbClr val="1F9E8F"/>
                  </a:solidFill>
                  <a:latin typeface="Pretendard"/>
                  <a:ea typeface="Pretendard"/>
                  <a:cs typeface="Pretendard"/>
                </a:rPr>
                <a:t>1,000</a:t>
              </a:r>
              <a:r>
                <a:rPr sz="1400" b="1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 건</a:t>
              </a: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1066647" y="4251960"/>
              <a:ext cx="201168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3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검증완료 기업정보</a:t>
              </a:r>
            </a:p>
          </p:txBody>
        </p:sp>
        <p:sp>
          <p:nvSpPr>
            <p:cNvPr id="9" name="Rectangle 8"/>
            <p:cNvSpPr/>
            <p:nvPr/>
          </p:nvSpPr>
          <p:spPr>
            <a:xfrm>
              <a:off x="3078327" y="2971800"/>
              <a:ext cx="18288" cy="1645920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3078327" y="3108960"/>
              <a:ext cx="2011680" cy="822960"/>
            </a:xfrm>
            <a:prstGeom prst="rect">
              <a:avLst/>
            </a:prstGeom>
            <a:noFill/>
          </p:spPr>
          <p:txBody>
            <a:bodyPr wrap="none" anchor="ctr" lIns="25400" rIns="25400" tIns="12700" bIns="12700">
              <a:spAutoFit/>
            </a:bodyPr>
            <a:lstStyle/>
            <a:p>
              <a:pPr algn="ctr"/>
              <a:r>
                <a:rPr sz="2600" b="1">
                  <a:solidFill>
                    <a:srgbClr val="1F9E8F"/>
                  </a:solidFill>
                  <a:latin typeface="Pretendard"/>
                  <a:ea typeface="Pretendard"/>
                  <a:cs typeface="Pretendard"/>
                </a:rPr>
                <a:t>40</a:t>
              </a:r>
              <a:r>
                <a:rPr sz="1400" b="1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 개사</a:t>
              </a: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3078327" y="4251960"/>
              <a:ext cx="201168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3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참여기업</a:t>
              </a: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5090007" y="2971800"/>
              <a:ext cx="18288" cy="1645920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5090007" y="3108960"/>
              <a:ext cx="2011680" cy="822960"/>
            </a:xfrm>
            <a:prstGeom prst="rect">
              <a:avLst/>
            </a:prstGeom>
            <a:noFill/>
          </p:spPr>
          <p:txBody>
            <a:bodyPr wrap="none" anchor="ctr" lIns="25400" rIns="25400" tIns="12700" bIns="12700">
              <a:spAutoFit/>
            </a:bodyPr>
            <a:lstStyle/>
            <a:p>
              <a:pPr algn="ctr"/>
              <a:r>
                <a:rPr sz="2600" b="1">
                  <a:solidFill>
                    <a:srgbClr val="1F9E8F"/>
                  </a:solidFill>
                  <a:latin typeface="Pretendard"/>
                  <a:ea typeface="Pretendard"/>
                  <a:cs typeface="Pretendard"/>
                </a:rPr>
                <a:t>42</a:t>
              </a:r>
              <a:r>
                <a:rPr sz="1400" b="1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 만$</a:t>
              </a: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5090007" y="4251960"/>
              <a:ext cx="201168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3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수출상담액</a:t>
              </a:r>
            </a:p>
          </p:txBody>
        </p:sp>
        <p:sp>
          <p:nvSpPr>
            <p:cNvPr id="15" name="Rectangle 14"/>
            <p:cNvSpPr/>
            <p:nvPr/>
          </p:nvSpPr>
          <p:spPr>
            <a:xfrm>
              <a:off x="7101687" y="2971800"/>
              <a:ext cx="18288" cy="1645920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7101687" y="3108960"/>
              <a:ext cx="2011680" cy="822960"/>
            </a:xfrm>
            <a:prstGeom prst="rect">
              <a:avLst/>
            </a:prstGeom>
            <a:noFill/>
          </p:spPr>
          <p:txBody>
            <a:bodyPr wrap="none" anchor="ctr" lIns="25400" rIns="25400" tIns="12700" bIns="12700">
              <a:spAutoFit/>
            </a:bodyPr>
            <a:lstStyle/>
            <a:p>
              <a:pPr algn="ctr"/>
              <a:r>
                <a:rPr sz="2600" b="1">
                  <a:solidFill>
                    <a:srgbClr val="1F9E8F"/>
                  </a:solidFill>
                  <a:latin typeface="Pretendard"/>
                  <a:ea typeface="Pretendard"/>
                  <a:cs typeface="Pretendard"/>
                </a:rPr>
                <a:t>4.6</a:t>
              </a:r>
              <a:r>
                <a:rPr sz="1400" b="1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 점</a:t>
              </a: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7101687" y="4251960"/>
              <a:ext cx="201168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3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이용자 만족도</a:t>
              </a:r>
            </a:p>
          </p:txBody>
        </p:sp>
        <p:sp>
          <p:nvSpPr>
            <p:cNvPr id="18" name="Rectangle 17"/>
            <p:cNvSpPr/>
            <p:nvPr/>
          </p:nvSpPr>
          <p:spPr>
            <a:xfrm>
              <a:off x="9113367" y="2971800"/>
              <a:ext cx="18288" cy="1645920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9113367" y="3108960"/>
              <a:ext cx="2011680" cy="822960"/>
            </a:xfrm>
            <a:prstGeom prst="rect">
              <a:avLst/>
            </a:prstGeom>
            <a:noFill/>
          </p:spPr>
          <p:txBody>
            <a:bodyPr wrap="none" anchor="ctr" lIns="25400" rIns="25400" tIns="12700" bIns="12700">
              <a:spAutoFit/>
            </a:bodyPr>
            <a:lstStyle/>
            <a:p>
              <a:pPr algn="ctr"/>
              <a:r>
                <a:rPr sz="2600" b="1">
                  <a:solidFill>
                    <a:srgbClr val="1F9E8F"/>
                  </a:solidFill>
                  <a:latin typeface="Pretendard"/>
                  <a:ea typeface="Pretendard"/>
                  <a:cs typeface="Pretendard"/>
                </a:rPr>
                <a:t>95</a:t>
              </a:r>
              <a:r>
                <a:rPr sz="1400" b="1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 %</a:t>
              </a: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9113367" y="4251960"/>
              <a:ext cx="201168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3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목표 달성률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KPI-183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" y="457200"/>
            <a:ext cx="1143000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200" b="1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그룹라벨+숫자묶음 · 2카드 · cyan_500</a:t>
            </a:r>
          </a:p>
        </p:txBody>
      </p:sp>
      <p:grpSp>
        <p:nvGrpSpPr>
          <p:cNvPr id="12" name="asset:KPI-183"/>
          <p:cNvGrpSpPr/>
          <p:nvPr/>
        </p:nvGrpSpPr>
        <p:grpSpPr>
          <a:xfrm>
            <a:off x="1066647" y="1828800"/>
            <a:ext cx="10058400" cy="3154680"/>
            <a:chOff x="1066647" y="1828800"/>
            <a:chExt cx="10058400" cy="3154680"/>
          </a:xfrm>
        </p:grpSpPr>
        <p:sp>
          <p:nvSpPr>
            <p:cNvPr id="4" name="Rounded Rectangle 3"/>
            <p:cNvSpPr/>
            <p:nvPr/>
          </p:nvSpPr>
          <p:spPr>
            <a:xfrm>
              <a:off x="1066647" y="1828800"/>
              <a:ext cx="10058400" cy="640080"/>
            </a:xfrm>
            <a:prstGeom prst="roundRect">
              <a:avLst>
                <a:gd name="adj" fmla="val 12000"/>
              </a:avLst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TextBox 4"/>
            <p:cNvSpPr txBox="1"/>
            <p:nvPr/>
          </p:nvSpPr>
          <p:spPr>
            <a:xfrm>
              <a:off x="1340967" y="1828800"/>
              <a:ext cx="9509760" cy="64008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6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핵심 성과 요약</a:t>
              </a:r>
            </a:p>
          </p:txBody>
        </p:sp>
        <p:sp>
          <p:nvSpPr>
            <p:cNvPr id="6" name="Rounded Rectangle 5"/>
            <p:cNvSpPr/>
            <p:nvPr/>
          </p:nvSpPr>
          <p:spPr>
            <a:xfrm>
              <a:off x="1066647" y="2606040"/>
              <a:ext cx="10058400" cy="2377440"/>
            </a:xfrm>
            <a:prstGeom prst="roundRect">
              <a:avLst>
                <a:gd name="adj" fmla="val 6000"/>
              </a:avLst>
            </a:prstGeom>
            <a:solidFill>
              <a:srgbClr val="FFFFFF"/>
            </a:solidFill>
            <a:ln w="1524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1066647" y="3108960"/>
              <a:ext cx="5029200" cy="822960"/>
            </a:xfrm>
            <a:prstGeom prst="rect">
              <a:avLst/>
            </a:prstGeom>
            <a:noFill/>
          </p:spPr>
          <p:txBody>
            <a:bodyPr wrap="none" anchor="ctr" lIns="25400" rIns="25400" tIns="12700" bIns="12700">
              <a:spAutoFit/>
            </a:bodyPr>
            <a:lstStyle/>
            <a:p>
              <a:pPr algn="ctr"/>
              <a:r>
                <a:rPr sz="4000" b="1">
                  <a:solidFill>
                    <a:srgbClr val="29ABE2"/>
                  </a:solidFill>
                  <a:latin typeface="Pretendard"/>
                  <a:ea typeface="Pretendard"/>
                  <a:cs typeface="Pretendard"/>
                </a:rPr>
                <a:t>1,000</a:t>
              </a:r>
              <a:r>
                <a:rPr sz="1400" b="1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 건</a:t>
              </a: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1066647" y="4251960"/>
              <a:ext cx="502920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3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검증완료 기업정보</a:t>
              </a:r>
            </a:p>
          </p:txBody>
        </p:sp>
        <p:sp>
          <p:nvSpPr>
            <p:cNvPr id="9" name="Rectangle 8"/>
            <p:cNvSpPr/>
            <p:nvPr/>
          </p:nvSpPr>
          <p:spPr>
            <a:xfrm>
              <a:off x="6095847" y="2971800"/>
              <a:ext cx="18288" cy="1645920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6095847" y="3108960"/>
              <a:ext cx="5029200" cy="822960"/>
            </a:xfrm>
            <a:prstGeom prst="rect">
              <a:avLst/>
            </a:prstGeom>
            <a:noFill/>
          </p:spPr>
          <p:txBody>
            <a:bodyPr wrap="none" anchor="ctr" lIns="25400" rIns="25400" tIns="12700" bIns="12700">
              <a:spAutoFit/>
            </a:bodyPr>
            <a:lstStyle/>
            <a:p>
              <a:pPr algn="ctr"/>
              <a:r>
                <a:rPr sz="4000" b="1">
                  <a:solidFill>
                    <a:srgbClr val="29ABE2"/>
                  </a:solidFill>
                  <a:latin typeface="Pretendard"/>
                  <a:ea typeface="Pretendard"/>
                  <a:cs typeface="Pretendard"/>
                </a:rPr>
                <a:t>40</a:t>
              </a:r>
              <a:r>
                <a:rPr sz="1400" b="1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 개사</a:t>
              </a: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6095847" y="4251960"/>
              <a:ext cx="502920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3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참여기업</a:t>
              </a: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KPI-184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" y="457200"/>
            <a:ext cx="1143000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200" b="1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그룹라벨+숫자묶음 · 3카드 · purple_600</a:t>
            </a:r>
          </a:p>
        </p:txBody>
      </p:sp>
      <p:grpSp>
        <p:nvGrpSpPr>
          <p:cNvPr id="15" name="asset:KPI-184"/>
          <p:cNvGrpSpPr/>
          <p:nvPr/>
        </p:nvGrpSpPr>
        <p:grpSpPr>
          <a:xfrm>
            <a:off x="1066647" y="1828800"/>
            <a:ext cx="10058400" cy="3154680"/>
            <a:chOff x="1066647" y="1828800"/>
            <a:chExt cx="10058400" cy="3154680"/>
          </a:xfrm>
        </p:grpSpPr>
        <p:sp>
          <p:nvSpPr>
            <p:cNvPr id="4" name="Rounded Rectangle 3"/>
            <p:cNvSpPr/>
            <p:nvPr/>
          </p:nvSpPr>
          <p:spPr>
            <a:xfrm>
              <a:off x="1066647" y="1828800"/>
              <a:ext cx="10058400" cy="640080"/>
            </a:xfrm>
            <a:prstGeom prst="roundRect">
              <a:avLst>
                <a:gd name="adj" fmla="val 12000"/>
              </a:avLst>
            </a:prstGeom>
            <a:solidFill>
              <a:srgbClr val="7B2D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TextBox 4"/>
            <p:cNvSpPr txBox="1"/>
            <p:nvPr/>
          </p:nvSpPr>
          <p:spPr>
            <a:xfrm>
              <a:off x="1340967" y="1828800"/>
              <a:ext cx="9509760" cy="64008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6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핵심 성과 요약</a:t>
              </a:r>
            </a:p>
          </p:txBody>
        </p:sp>
        <p:sp>
          <p:nvSpPr>
            <p:cNvPr id="6" name="Rounded Rectangle 5"/>
            <p:cNvSpPr/>
            <p:nvPr/>
          </p:nvSpPr>
          <p:spPr>
            <a:xfrm>
              <a:off x="1066647" y="2606040"/>
              <a:ext cx="10058400" cy="2377440"/>
            </a:xfrm>
            <a:prstGeom prst="roundRect">
              <a:avLst>
                <a:gd name="adj" fmla="val 6000"/>
              </a:avLst>
            </a:prstGeom>
            <a:solidFill>
              <a:srgbClr val="FFFFFF"/>
            </a:solidFill>
            <a:ln w="1524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1066647" y="3108960"/>
              <a:ext cx="3352800" cy="822960"/>
            </a:xfrm>
            <a:prstGeom prst="rect">
              <a:avLst/>
            </a:prstGeom>
            <a:noFill/>
          </p:spPr>
          <p:txBody>
            <a:bodyPr wrap="none" anchor="ctr" lIns="25400" rIns="25400" tIns="12700" bIns="12700">
              <a:spAutoFit/>
            </a:bodyPr>
            <a:lstStyle/>
            <a:p>
              <a:pPr algn="ctr"/>
              <a:r>
                <a:rPr sz="3400" b="1">
                  <a:solidFill>
                    <a:srgbClr val="7B2D8E"/>
                  </a:solidFill>
                  <a:latin typeface="Pretendard"/>
                  <a:ea typeface="Pretendard"/>
                  <a:cs typeface="Pretendard"/>
                </a:rPr>
                <a:t>1,000</a:t>
              </a:r>
              <a:r>
                <a:rPr sz="1400" b="1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 건</a:t>
              </a: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1066647" y="4251960"/>
              <a:ext cx="335280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3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검증완료 기업정보</a:t>
              </a:r>
            </a:p>
          </p:txBody>
        </p:sp>
        <p:sp>
          <p:nvSpPr>
            <p:cNvPr id="9" name="Rectangle 8"/>
            <p:cNvSpPr/>
            <p:nvPr/>
          </p:nvSpPr>
          <p:spPr>
            <a:xfrm>
              <a:off x="4419447" y="2971800"/>
              <a:ext cx="18288" cy="1645920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4419447" y="3108960"/>
              <a:ext cx="3352800" cy="822960"/>
            </a:xfrm>
            <a:prstGeom prst="rect">
              <a:avLst/>
            </a:prstGeom>
            <a:noFill/>
          </p:spPr>
          <p:txBody>
            <a:bodyPr wrap="none" anchor="ctr" lIns="25400" rIns="25400" tIns="12700" bIns="12700">
              <a:spAutoFit/>
            </a:bodyPr>
            <a:lstStyle/>
            <a:p>
              <a:pPr algn="ctr"/>
              <a:r>
                <a:rPr sz="3400" b="1">
                  <a:solidFill>
                    <a:srgbClr val="7B2D8E"/>
                  </a:solidFill>
                  <a:latin typeface="Pretendard"/>
                  <a:ea typeface="Pretendard"/>
                  <a:cs typeface="Pretendard"/>
                </a:rPr>
                <a:t>40</a:t>
              </a:r>
              <a:r>
                <a:rPr sz="1400" b="1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 개사</a:t>
              </a: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4419447" y="4251960"/>
              <a:ext cx="335280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3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참여기업</a:t>
              </a: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7772247" y="2971800"/>
              <a:ext cx="18288" cy="1645920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7772247" y="3108960"/>
              <a:ext cx="3352800" cy="822960"/>
            </a:xfrm>
            <a:prstGeom prst="rect">
              <a:avLst/>
            </a:prstGeom>
            <a:noFill/>
          </p:spPr>
          <p:txBody>
            <a:bodyPr wrap="none" anchor="ctr" lIns="25400" rIns="25400" tIns="12700" bIns="12700">
              <a:spAutoFit/>
            </a:bodyPr>
            <a:lstStyle/>
            <a:p>
              <a:pPr algn="ctr"/>
              <a:r>
                <a:rPr sz="3400" b="1">
                  <a:solidFill>
                    <a:srgbClr val="7B2D8E"/>
                  </a:solidFill>
                  <a:latin typeface="Pretendard"/>
                  <a:ea typeface="Pretendard"/>
                  <a:cs typeface="Pretendard"/>
                </a:rPr>
                <a:t>42</a:t>
              </a:r>
              <a:r>
                <a:rPr sz="1400" b="1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 만$</a:t>
              </a: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7772247" y="4251960"/>
              <a:ext cx="335280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3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수출상담액</a:t>
              </a:r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KPI-185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" y="457200"/>
            <a:ext cx="1143000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200" b="1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그룹라벨+숫자묶음 · 4카드 · navy_600</a:t>
            </a:r>
          </a:p>
        </p:txBody>
      </p:sp>
      <p:grpSp>
        <p:nvGrpSpPr>
          <p:cNvPr id="18" name="asset:KPI-185"/>
          <p:cNvGrpSpPr/>
          <p:nvPr/>
        </p:nvGrpSpPr>
        <p:grpSpPr>
          <a:xfrm>
            <a:off x="1066647" y="1828800"/>
            <a:ext cx="10058400" cy="3154680"/>
            <a:chOff x="1066647" y="1828800"/>
            <a:chExt cx="10058400" cy="3154680"/>
          </a:xfrm>
        </p:grpSpPr>
        <p:sp>
          <p:nvSpPr>
            <p:cNvPr id="4" name="Rounded Rectangle 3"/>
            <p:cNvSpPr/>
            <p:nvPr/>
          </p:nvSpPr>
          <p:spPr>
            <a:xfrm>
              <a:off x="1066647" y="1828800"/>
              <a:ext cx="10058400" cy="640080"/>
            </a:xfrm>
            <a:prstGeom prst="roundRect">
              <a:avLst>
                <a:gd name="adj" fmla="val 12000"/>
              </a:avLst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TextBox 4"/>
            <p:cNvSpPr txBox="1"/>
            <p:nvPr/>
          </p:nvSpPr>
          <p:spPr>
            <a:xfrm>
              <a:off x="1340967" y="1828800"/>
              <a:ext cx="9509760" cy="64008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6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핵심 성과 요약</a:t>
              </a:r>
            </a:p>
          </p:txBody>
        </p:sp>
        <p:sp>
          <p:nvSpPr>
            <p:cNvPr id="6" name="Rounded Rectangle 5"/>
            <p:cNvSpPr/>
            <p:nvPr/>
          </p:nvSpPr>
          <p:spPr>
            <a:xfrm>
              <a:off x="1066647" y="2606040"/>
              <a:ext cx="10058400" cy="2377440"/>
            </a:xfrm>
            <a:prstGeom prst="roundRect">
              <a:avLst>
                <a:gd name="adj" fmla="val 6000"/>
              </a:avLst>
            </a:prstGeom>
            <a:solidFill>
              <a:srgbClr val="FFFFFF"/>
            </a:solidFill>
            <a:ln w="1524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1066647" y="3108960"/>
              <a:ext cx="2514600" cy="822960"/>
            </a:xfrm>
            <a:prstGeom prst="rect">
              <a:avLst/>
            </a:prstGeom>
            <a:noFill/>
          </p:spPr>
          <p:txBody>
            <a:bodyPr wrap="none" anchor="ctr" lIns="25400" rIns="25400" tIns="12700" bIns="12700">
              <a:spAutoFit/>
            </a:bodyPr>
            <a:lstStyle/>
            <a:p>
              <a:pPr algn="ctr"/>
              <a:r>
                <a:rPr sz="3000" b="1">
                  <a:solidFill>
                    <a:srgbClr val="2A4A7F"/>
                  </a:solidFill>
                  <a:latin typeface="Pretendard"/>
                  <a:ea typeface="Pretendard"/>
                  <a:cs typeface="Pretendard"/>
                </a:rPr>
                <a:t>1,000</a:t>
              </a:r>
              <a:r>
                <a:rPr sz="1400" b="1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 건</a:t>
              </a: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1066647" y="4251960"/>
              <a:ext cx="251460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3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검증완료 기업정보</a:t>
              </a:r>
            </a:p>
          </p:txBody>
        </p:sp>
        <p:sp>
          <p:nvSpPr>
            <p:cNvPr id="9" name="Rectangle 8"/>
            <p:cNvSpPr/>
            <p:nvPr/>
          </p:nvSpPr>
          <p:spPr>
            <a:xfrm>
              <a:off x="3581247" y="2971800"/>
              <a:ext cx="18288" cy="1645920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3581247" y="3108960"/>
              <a:ext cx="2514600" cy="822960"/>
            </a:xfrm>
            <a:prstGeom prst="rect">
              <a:avLst/>
            </a:prstGeom>
            <a:noFill/>
          </p:spPr>
          <p:txBody>
            <a:bodyPr wrap="none" anchor="ctr" lIns="25400" rIns="25400" tIns="12700" bIns="12700">
              <a:spAutoFit/>
            </a:bodyPr>
            <a:lstStyle/>
            <a:p>
              <a:pPr algn="ctr"/>
              <a:r>
                <a:rPr sz="3000" b="1">
                  <a:solidFill>
                    <a:srgbClr val="2A4A7F"/>
                  </a:solidFill>
                  <a:latin typeface="Pretendard"/>
                  <a:ea typeface="Pretendard"/>
                  <a:cs typeface="Pretendard"/>
                </a:rPr>
                <a:t>40</a:t>
              </a:r>
              <a:r>
                <a:rPr sz="1400" b="1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 개사</a:t>
              </a: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3581247" y="4251960"/>
              <a:ext cx="251460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3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참여기업</a:t>
              </a: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6095847" y="2971800"/>
              <a:ext cx="18288" cy="1645920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6095847" y="3108960"/>
              <a:ext cx="2514600" cy="822960"/>
            </a:xfrm>
            <a:prstGeom prst="rect">
              <a:avLst/>
            </a:prstGeom>
            <a:noFill/>
          </p:spPr>
          <p:txBody>
            <a:bodyPr wrap="none" anchor="ctr" lIns="25400" rIns="25400" tIns="12700" bIns="12700">
              <a:spAutoFit/>
            </a:bodyPr>
            <a:lstStyle/>
            <a:p>
              <a:pPr algn="ctr"/>
              <a:r>
                <a:rPr sz="3000" b="1">
                  <a:solidFill>
                    <a:srgbClr val="2A4A7F"/>
                  </a:solidFill>
                  <a:latin typeface="Pretendard"/>
                  <a:ea typeface="Pretendard"/>
                  <a:cs typeface="Pretendard"/>
                </a:rPr>
                <a:t>42</a:t>
              </a:r>
              <a:r>
                <a:rPr sz="1400" b="1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 만$</a:t>
              </a: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6095847" y="4251960"/>
              <a:ext cx="251460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3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수출상담액</a:t>
              </a:r>
            </a:p>
          </p:txBody>
        </p:sp>
        <p:sp>
          <p:nvSpPr>
            <p:cNvPr id="15" name="Rectangle 14"/>
            <p:cNvSpPr/>
            <p:nvPr/>
          </p:nvSpPr>
          <p:spPr>
            <a:xfrm>
              <a:off x="8610447" y="2971800"/>
              <a:ext cx="18288" cy="1645920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8610447" y="3108960"/>
              <a:ext cx="2514600" cy="822960"/>
            </a:xfrm>
            <a:prstGeom prst="rect">
              <a:avLst/>
            </a:prstGeom>
            <a:noFill/>
          </p:spPr>
          <p:txBody>
            <a:bodyPr wrap="none" anchor="ctr" lIns="25400" rIns="25400" tIns="12700" bIns="12700">
              <a:spAutoFit/>
            </a:bodyPr>
            <a:lstStyle/>
            <a:p>
              <a:pPr algn="ctr"/>
              <a:r>
                <a:rPr sz="3000" b="1">
                  <a:solidFill>
                    <a:srgbClr val="2A4A7F"/>
                  </a:solidFill>
                  <a:latin typeface="Pretendard"/>
                  <a:ea typeface="Pretendard"/>
                  <a:cs typeface="Pretendard"/>
                </a:rPr>
                <a:t>4.6</a:t>
              </a:r>
              <a:r>
                <a:rPr sz="1400" b="1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 점</a:t>
              </a: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8610447" y="4251960"/>
              <a:ext cx="251460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3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이용자 만족도</a:t>
              </a:r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KPI-186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" y="457200"/>
            <a:ext cx="1143000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200" b="1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그룹라벨+숫자묶음 · 5카드 · navy_800</a:t>
            </a:r>
          </a:p>
        </p:txBody>
      </p:sp>
      <p:grpSp>
        <p:nvGrpSpPr>
          <p:cNvPr id="21" name="asset:KPI-186"/>
          <p:cNvGrpSpPr/>
          <p:nvPr/>
        </p:nvGrpSpPr>
        <p:grpSpPr>
          <a:xfrm>
            <a:off x="1066647" y="1828800"/>
            <a:ext cx="10058400" cy="3154680"/>
            <a:chOff x="1066647" y="1828800"/>
            <a:chExt cx="10058400" cy="3154680"/>
          </a:xfrm>
        </p:grpSpPr>
        <p:sp>
          <p:nvSpPr>
            <p:cNvPr id="4" name="Rounded Rectangle 3"/>
            <p:cNvSpPr/>
            <p:nvPr/>
          </p:nvSpPr>
          <p:spPr>
            <a:xfrm>
              <a:off x="1066647" y="1828800"/>
              <a:ext cx="10058400" cy="640080"/>
            </a:xfrm>
            <a:prstGeom prst="roundRect">
              <a:avLst>
                <a:gd name="adj" fmla="val 12000"/>
              </a:avLst>
            </a:prstGeom>
            <a:solidFill>
              <a:srgbClr val="1F386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TextBox 4"/>
            <p:cNvSpPr txBox="1"/>
            <p:nvPr/>
          </p:nvSpPr>
          <p:spPr>
            <a:xfrm>
              <a:off x="1340967" y="1828800"/>
              <a:ext cx="9509760" cy="64008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6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핵심 성과 요약</a:t>
              </a:r>
            </a:p>
          </p:txBody>
        </p:sp>
        <p:sp>
          <p:nvSpPr>
            <p:cNvPr id="6" name="Rounded Rectangle 5"/>
            <p:cNvSpPr/>
            <p:nvPr/>
          </p:nvSpPr>
          <p:spPr>
            <a:xfrm>
              <a:off x="1066647" y="2606040"/>
              <a:ext cx="10058400" cy="2377440"/>
            </a:xfrm>
            <a:prstGeom prst="roundRect">
              <a:avLst>
                <a:gd name="adj" fmla="val 6000"/>
              </a:avLst>
            </a:prstGeom>
            <a:solidFill>
              <a:srgbClr val="FFFFFF"/>
            </a:solidFill>
            <a:ln w="1524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1066647" y="3108960"/>
              <a:ext cx="2011680" cy="822960"/>
            </a:xfrm>
            <a:prstGeom prst="rect">
              <a:avLst/>
            </a:prstGeom>
            <a:noFill/>
          </p:spPr>
          <p:txBody>
            <a:bodyPr wrap="none" anchor="ctr" lIns="25400" rIns="25400" tIns="12700" bIns="12700">
              <a:spAutoFit/>
            </a:bodyPr>
            <a:lstStyle/>
            <a:p>
              <a:pPr algn="ctr"/>
              <a:r>
                <a:rPr sz="26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1,000</a:t>
              </a:r>
              <a:r>
                <a:rPr sz="1400" b="1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 건</a:t>
              </a: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1066647" y="4251960"/>
              <a:ext cx="201168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3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검증완료 기업정보</a:t>
              </a:r>
            </a:p>
          </p:txBody>
        </p:sp>
        <p:sp>
          <p:nvSpPr>
            <p:cNvPr id="9" name="Rectangle 8"/>
            <p:cNvSpPr/>
            <p:nvPr/>
          </p:nvSpPr>
          <p:spPr>
            <a:xfrm>
              <a:off x="3078327" y="2971800"/>
              <a:ext cx="18288" cy="1645920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3078327" y="3108960"/>
              <a:ext cx="2011680" cy="822960"/>
            </a:xfrm>
            <a:prstGeom prst="rect">
              <a:avLst/>
            </a:prstGeom>
            <a:noFill/>
          </p:spPr>
          <p:txBody>
            <a:bodyPr wrap="none" anchor="ctr" lIns="25400" rIns="25400" tIns="12700" bIns="12700">
              <a:spAutoFit/>
            </a:bodyPr>
            <a:lstStyle/>
            <a:p>
              <a:pPr algn="ctr"/>
              <a:r>
                <a:rPr sz="26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40</a:t>
              </a:r>
              <a:r>
                <a:rPr sz="1400" b="1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 개사</a:t>
              </a: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3078327" y="4251960"/>
              <a:ext cx="201168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3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참여기업</a:t>
              </a: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5090007" y="2971800"/>
              <a:ext cx="18288" cy="1645920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5090007" y="3108960"/>
              <a:ext cx="2011680" cy="822960"/>
            </a:xfrm>
            <a:prstGeom prst="rect">
              <a:avLst/>
            </a:prstGeom>
            <a:noFill/>
          </p:spPr>
          <p:txBody>
            <a:bodyPr wrap="none" anchor="ctr" lIns="25400" rIns="25400" tIns="12700" bIns="12700">
              <a:spAutoFit/>
            </a:bodyPr>
            <a:lstStyle/>
            <a:p>
              <a:pPr algn="ctr"/>
              <a:r>
                <a:rPr sz="26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42</a:t>
              </a:r>
              <a:r>
                <a:rPr sz="1400" b="1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 만$</a:t>
              </a: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5090007" y="4251960"/>
              <a:ext cx="201168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3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수출상담액</a:t>
              </a:r>
            </a:p>
          </p:txBody>
        </p:sp>
        <p:sp>
          <p:nvSpPr>
            <p:cNvPr id="15" name="Rectangle 14"/>
            <p:cNvSpPr/>
            <p:nvPr/>
          </p:nvSpPr>
          <p:spPr>
            <a:xfrm>
              <a:off x="7101687" y="2971800"/>
              <a:ext cx="18288" cy="1645920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7101687" y="3108960"/>
              <a:ext cx="2011680" cy="822960"/>
            </a:xfrm>
            <a:prstGeom prst="rect">
              <a:avLst/>
            </a:prstGeom>
            <a:noFill/>
          </p:spPr>
          <p:txBody>
            <a:bodyPr wrap="none" anchor="ctr" lIns="25400" rIns="25400" tIns="12700" bIns="12700">
              <a:spAutoFit/>
            </a:bodyPr>
            <a:lstStyle/>
            <a:p>
              <a:pPr algn="ctr"/>
              <a:r>
                <a:rPr sz="26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4.6</a:t>
              </a:r>
              <a:r>
                <a:rPr sz="1400" b="1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 점</a:t>
              </a: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7101687" y="4251960"/>
              <a:ext cx="201168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3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이용자 만족도</a:t>
              </a:r>
            </a:p>
          </p:txBody>
        </p:sp>
        <p:sp>
          <p:nvSpPr>
            <p:cNvPr id="18" name="Rectangle 17"/>
            <p:cNvSpPr/>
            <p:nvPr/>
          </p:nvSpPr>
          <p:spPr>
            <a:xfrm>
              <a:off x="9113367" y="2971800"/>
              <a:ext cx="18288" cy="1645920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9113367" y="3108960"/>
              <a:ext cx="2011680" cy="822960"/>
            </a:xfrm>
            <a:prstGeom prst="rect">
              <a:avLst/>
            </a:prstGeom>
            <a:noFill/>
          </p:spPr>
          <p:txBody>
            <a:bodyPr wrap="none" anchor="ctr" lIns="25400" rIns="25400" tIns="12700" bIns="12700">
              <a:spAutoFit/>
            </a:bodyPr>
            <a:lstStyle/>
            <a:p>
              <a:pPr algn="ctr"/>
              <a:r>
                <a:rPr sz="26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95</a:t>
              </a:r>
              <a:r>
                <a:rPr sz="1400" b="1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 %</a:t>
              </a: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9113367" y="4251960"/>
              <a:ext cx="201168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3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목표 달성률</a:t>
              </a:r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KPI-187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" y="457200"/>
            <a:ext cx="1143000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200" b="1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그룹라벨+숫자묶음 · 2카드 · blue_500</a:t>
            </a:r>
          </a:p>
        </p:txBody>
      </p:sp>
      <p:grpSp>
        <p:nvGrpSpPr>
          <p:cNvPr id="12" name="asset:KPI-187"/>
          <p:cNvGrpSpPr/>
          <p:nvPr/>
        </p:nvGrpSpPr>
        <p:grpSpPr>
          <a:xfrm>
            <a:off x="1066647" y="1828800"/>
            <a:ext cx="10058400" cy="3154680"/>
            <a:chOff x="1066647" y="1828800"/>
            <a:chExt cx="10058400" cy="3154680"/>
          </a:xfrm>
        </p:grpSpPr>
        <p:sp>
          <p:nvSpPr>
            <p:cNvPr id="4" name="Rounded Rectangle 3"/>
            <p:cNvSpPr/>
            <p:nvPr/>
          </p:nvSpPr>
          <p:spPr>
            <a:xfrm>
              <a:off x="1066647" y="1828800"/>
              <a:ext cx="10058400" cy="640080"/>
            </a:xfrm>
            <a:prstGeom prst="roundRect">
              <a:avLst>
                <a:gd name="adj" fmla="val 12000"/>
              </a:avLst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TextBox 4"/>
            <p:cNvSpPr txBox="1"/>
            <p:nvPr/>
          </p:nvSpPr>
          <p:spPr>
            <a:xfrm>
              <a:off x="1340967" y="1828800"/>
              <a:ext cx="9509760" cy="64008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6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핵심 성과 요약</a:t>
              </a:r>
            </a:p>
          </p:txBody>
        </p:sp>
        <p:sp>
          <p:nvSpPr>
            <p:cNvPr id="6" name="Rounded Rectangle 5"/>
            <p:cNvSpPr/>
            <p:nvPr/>
          </p:nvSpPr>
          <p:spPr>
            <a:xfrm>
              <a:off x="1066647" y="2606040"/>
              <a:ext cx="10058400" cy="2377440"/>
            </a:xfrm>
            <a:prstGeom prst="roundRect">
              <a:avLst>
                <a:gd name="adj" fmla="val 6000"/>
              </a:avLst>
            </a:prstGeom>
            <a:solidFill>
              <a:srgbClr val="FFFFFF"/>
            </a:solidFill>
            <a:ln w="1524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1066647" y="3108960"/>
              <a:ext cx="5029200" cy="822960"/>
            </a:xfrm>
            <a:prstGeom prst="rect">
              <a:avLst/>
            </a:prstGeom>
            <a:noFill/>
          </p:spPr>
          <p:txBody>
            <a:bodyPr wrap="none" anchor="ctr" lIns="25400" rIns="25400" tIns="12700" bIns="12700">
              <a:spAutoFit/>
            </a:bodyPr>
            <a:lstStyle/>
            <a:p>
              <a:pPr algn="ctr"/>
              <a:r>
                <a:rPr sz="4000" b="1">
                  <a:solidFill>
                    <a:srgbClr val="2E75D6"/>
                  </a:solidFill>
                  <a:latin typeface="Pretendard"/>
                  <a:ea typeface="Pretendard"/>
                  <a:cs typeface="Pretendard"/>
                </a:rPr>
                <a:t>1,000</a:t>
              </a:r>
              <a:r>
                <a:rPr sz="1400" b="1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 건</a:t>
              </a: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1066647" y="4251960"/>
              <a:ext cx="502920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3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검증완료 기업정보</a:t>
              </a:r>
            </a:p>
          </p:txBody>
        </p:sp>
        <p:sp>
          <p:nvSpPr>
            <p:cNvPr id="9" name="Rectangle 8"/>
            <p:cNvSpPr/>
            <p:nvPr/>
          </p:nvSpPr>
          <p:spPr>
            <a:xfrm>
              <a:off x="6095847" y="2971800"/>
              <a:ext cx="18288" cy="1645920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6095847" y="3108960"/>
              <a:ext cx="5029200" cy="822960"/>
            </a:xfrm>
            <a:prstGeom prst="rect">
              <a:avLst/>
            </a:prstGeom>
            <a:noFill/>
          </p:spPr>
          <p:txBody>
            <a:bodyPr wrap="none" anchor="ctr" lIns="25400" rIns="25400" tIns="12700" bIns="12700">
              <a:spAutoFit/>
            </a:bodyPr>
            <a:lstStyle/>
            <a:p>
              <a:pPr algn="ctr"/>
              <a:r>
                <a:rPr sz="4000" b="1">
                  <a:solidFill>
                    <a:srgbClr val="2E75D6"/>
                  </a:solidFill>
                  <a:latin typeface="Pretendard"/>
                  <a:ea typeface="Pretendard"/>
                  <a:cs typeface="Pretendard"/>
                </a:rPr>
                <a:t>40</a:t>
              </a:r>
              <a:r>
                <a:rPr sz="1400" b="1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 개사</a:t>
              </a: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6095847" y="4251960"/>
              <a:ext cx="502920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3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참여기업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