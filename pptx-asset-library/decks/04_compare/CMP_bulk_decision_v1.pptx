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(blue)</a:t>
            </a:r>
          </a:p>
        </p:txBody>
      </p:sp>
      <p:graphicFrame>
        <p:nvGraphicFramePr>
          <p:cNvPr id="5" name="asset:CMP-161"/>
          <p:cNvGraphicFramePr>
            <a:graphicFrameLocks noGrp="1"/>
          </p:cNvGraphicFramePr>
          <p:nvPr/>
        </p:nvGraphicFramePr>
        <p:xfrm>
          <a:off x="1005840" y="1554480"/>
          <a:ext cx="1014984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851660"/>
                <a:gridCol w="1851660"/>
                <a:gridCol w="1851660"/>
                <a:gridCol w="18516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(teal)</a:t>
            </a:r>
          </a:p>
        </p:txBody>
      </p:sp>
      <p:graphicFrame>
        <p:nvGraphicFramePr>
          <p:cNvPr id="5" name="asset:CMP-162"/>
          <p:cNvGraphicFramePr>
            <a:graphicFrameLocks noGrp="1"/>
          </p:cNvGraphicFramePr>
          <p:nvPr/>
        </p:nvGraphicFramePr>
        <p:xfrm>
          <a:off x="1005840" y="1554480"/>
          <a:ext cx="101498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81328"/>
                <a:gridCol w="1481328"/>
                <a:gridCol w="1481328"/>
                <a:gridCol w="1481328"/>
                <a:gridCol w="1481328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(cyan)</a:t>
            </a:r>
          </a:p>
        </p:txBody>
      </p:sp>
      <p:graphicFrame>
        <p:nvGraphicFramePr>
          <p:cNvPr id="5" name="asset:CMP-163"/>
          <p:cNvGraphicFramePr>
            <a:graphicFrameLocks noGrp="1"/>
          </p:cNvGraphicFramePr>
          <p:nvPr/>
        </p:nvGraphicFramePr>
        <p:xfrm>
          <a:off x="1005840" y="1554480"/>
          <a:ext cx="10149834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34439"/>
                <a:gridCol w="1234439"/>
                <a:gridCol w="1234439"/>
                <a:gridCol w="1234439"/>
                <a:gridCol w="1234439"/>
                <a:gridCol w="1234439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(purple)</a:t>
            </a:r>
          </a:p>
        </p:txBody>
      </p:sp>
      <p:graphicFrame>
        <p:nvGraphicFramePr>
          <p:cNvPr id="5" name="asset:CMP-164"/>
          <p:cNvGraphicFramePr>
            <a:graphicFrameLocks noGrp="1"/>
          </p:cNvGraphicFramePr>
          <p:nvPr/>
        </p:nvGraphicFramePr>
        <p:xfrm>
          <a:off x="1005840" y="1554480"/>
          <a:ext cx="101498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851660"/>
                <a:gridCol w="1851660"/>
                <a:gridCol w="1851660"/>
                <a:gridCol w="18516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(navy)</a:t>
            </a:r>
          </a:p>
        </p:txBody>
      </p:sp>
      <p:graphicFrame>
        <p:nvGraphicFramePr>
          <p:cNvPr id="5" name="asset:CMP-165"/>
          <p:cNvGraphicFramePr>
            <a:graphicFrameLocks noGrp="1"/>
          </p:cNvGraphicFramePr>
          <p:nvPr/>
        </p:nvGraphicFramePr>
        <p:xfrm>
          <a:off x="1005840" y="1554480"/>
          <a:ext cx="1014984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81328"/>
                <a:gridCol w="1481328"/>
                <a:gridCol w="1481328"/>
                <a:gridCol w="1481328"/>
                <a:gridCol w="1481328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(blue)</a:t>
            </a:r>
          </a:p>
        </p:txBody>
      </p:sp>
      <p:graphicFrame>
        <p:nvGraphicFramePr>
          <p:cNvPr id="5" name="asset:CMP-166"/>
          <p:cNvGraphicFramePr>
            <a:graphicFrameLocks noGrp="1"/>
          </p:cNvGraphicFramePr>
          <p:nvPr/>
        </p:nvGraphicFramePr>
        <p:xfrm>
          <a:off x="1005840" y="1554480"/>
          <a:ext cx="10149834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34439"/>
                <a:gridCol w="1234439"/>
                <a:gridCol w="1234439"/>
                <a:gridCol w="1234439"/>
                <a:gridCol w="1234439"/>
                <a:gridCol w="1234439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(teal)</a:t>
            </a:r>
          </a:p>
        </p:txBody>
      </p:sp>
      <p:graphicFrame>
        <p:nvGraphicFramePr>
          <p:cNvPr id="5" name="asset:CMP-167"/>
          <p:cNvGraphicFramePr>
            <a:graphicFrameLocks noGrp="1"/>
          </p:cNvGraphicFramePr>
          <p:nvPr/>
        </p:nvGraphicFramePr>
        <p:xfrm>
          <a:off x="1005840" y="1554480"/>
          <a:ext cx="1014984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851660"/>
                <a:gridCol w="1851660"/>
                <a:gridCol w="1851660"/>
                <a:gridCol w="18516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(cyan)</a:t>
            </a:r>
          </a:p>
        </p:txBody>
      </p:sp>
      <p:graphicFrame>
        <p:nvGraphicFramePr>
          <p:cNvPr id="5" name="asset:CMP-168"/>
          <p:cNvGraphicFramePr>
            <a:graphicFrameLocks noGrp="1"/>
          </p:cNvGraphicFramePr>
          <p:nvPr/>
        </p:nvGraphicFramePr>
        <p:xfrm>
          <a:off x="1005840" y="1554480"/>
          <a:ext cx="101498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81328"/>
                <a:gridCol w="1481328"/>
                <a:gridCol w="1481328"/>
                <a:gridCol w="1481328"/>
                <a:gridCol w="1481328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(purple)</a:t>
            </a:r>
          </a:p>
        </p:txBody>
      </p:sp>
      <p:graphicFrame>
        <p:nvGraphicFramePr>
          <p:cNvPr id="5" name="asset:CMP-169"/>
          <p:cNvGraphicFramePr>
            <a:graphicFrameLocks noGrp="1"/>
          </p:cNvGraphicFramePr>
          <p:nvPr/>
        </p:nvGraphicFramePr>
        <p:xfrm>
          <a:off x="1005840" y="1554480"/>
          <a:ext cx="10149834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34439"/>
                <a:gridCol w="1234439"/>
                <a:gridCol w="1234439"/>
                <a:gridCol w="1234439"/>
                <a:gridCol w="1234439"/>
                <a:gridCol w="1234439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(navy)</a:t>
            </a:r>
          </a:p>
        </p:txBody>
      </p:sp>
      <p:graphicFrame>
        <p:nvGraphicFramePr>
          <p:cNvPr id="5" name="asset:CMP-170"/>
          <p:cNvGraphicFramePr>
            <a:graphicFrameLocks noGrp="1"/>
          </p:cNvGraphicFramePr>
          <p:nvPr/>
        </p:nvGraphicFramePr>
        <p:xfrm>
          <a:off x="1005840" y="1554480"/>
          <a:ext cx="101498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851660"/>
                <a:gridCol w="1851660"/>
                <a:gridCol w="1851660"/>
                <a:gridCol w="18516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경제성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(blue)</a:t>
            </a:r>
          </a:p>
        </p:txBody>
      </p:sp>
      <p:graphicFrame>
        <p:nvGraphicFramePr>
          <p:cNvPr id="5" name="asset:CMP-171"/>
          <p:cNvGraphicFramePr>
            <a:graphicFrameLocks noGrp="1"/>
          </p:cNvGraphicFramePr>
          <p:nvPr/>
        </p:nvGraphicFramePr>
        <p:xfrm>
          <a:off x="1005840" y="1554480"/>
          <a:ext cx="1014984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81328"/>
                <a:gridCol w="1481328"/>
                <a:gridCol w="1481328"/>
                <a:gridCol w="1481328"/>
                <a:gridCol w="1481328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실현성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(teal)</a:t>
            </a:r>
          </a:p>
        </p:txBody>
      </p:sp>
      <p:graphicFrame>
        <p:nvGraphicFramePr>
          <p:cNvPr id="5" name="asset:CMP-172"/>
          <p:cNvGraphicFramePr>
            <a:graphicFrameLocks noGrp="1"/>
          </p:cNvGraphicFramePr>
          <p:nvPr/>
        </p:nvGraphicFramePr>
        <p:xfrm>
          <a:off x="1005840" y="1554480"/>
          <a:ext cx="10149834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34439"/>
                <a:gridCol w="1234439"/>
                <a:gridCol w="1234439"/>
                <a:gridCol w="1234439"/>
                <a:gridCol w="1234439"/>
                <a:gridCol w="1234439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확장성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지속성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(cyan)</a:t>
            </a:r>
          </a:p>
        </p:txBody>
      </p:sp>
      <p:graphicFrame>
        <p:nvGraphicFramePr>
          <p:cNvPr id="5" name="asset:CMP-173"/>
          <p:cNvGraphicFramePr>
            <a:graphicFrameLocks noGrp="1"/>
          </p:cNvGraphicFramePr>
          <p:nvPr/>
        </p:nvGraphicFramePr>
        <p:xfrm>
          <a:off x="1005840" y="1554480"/>
          <a:ext cx="1014984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851660"/>
                <a:gridCol w="1851660"/>
                <a:gridCol w="1851660"/>
                <a:gridCol w="18516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의사결정 매트릭스 (대안 평가)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기준별 점수·종합점수로 최적 대안 선정 (purple)</a:t>
            </a:r>
          </a:p>
        </p:txBody>
      </p:sp>
      <p:graphicFrame>
        <p:nvGraphicFramePr>
          <p:cNvPr id="5" name="asset:CMP-174"/>
          <p:cNvGraphicFramePr>
            <a:graphicFrameLocks noGrp="1"/>
          </p:cNvGraphicFramePr>
          <p:nvPr/>
        </p:nvGraphicFramePr>
        <p:xfrm>
          <a:off x="1005840" y="1554480"/>
          <a:ext cx="101498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481328"/>
                <a:gridCol w="1481328"/>
                <a:gridCol w="1481328"/>
                <a:gridCol w="1481328"/>
                <a:gridCol w="1481328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효율성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기술성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종합점수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A (자체구축)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B (협업제휴)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C (외주위탁)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대안 D (혼합형)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