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CMP-161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의사결정 매트릭스 (대안 평가)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기준별 점수·종합점수로 최적 대안 선정 (blue)</a:t>
            </a:r>
          </a:p>
        </p:txBody>
      </p:sp>
      <p:graphicFrame>
        <p:nvGraphicFramePr>
          <p:cNvPr id="5" name="asset:CMP-161"/>
          <p:cNvGraphicFramePr>
            <a:graphicFrameLocks noGrp="1"/>
          </p:cNvGraphicFramePr>
          <p:nvPr/>
        </p:nvGraphicFramePr>
        <p:xfrm>
          <a:off x="1005840" y="1554480"/>
          <a:ext cx="10149840" cy="24140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1851660"/>
                <a:gridCol w="1851660"/>
                <a:gridCol w="1851660"/>
                <a:gridCol w="1851660"/>
              </a:tblGrid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대안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기술성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경제성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실현성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종합점수</a:t>
                      </a:r>
                    </a:p>
                  </a:txBody>
                  <a:tcPr anchor="ctr" marL="63500" marR="63500" marT="38100" marB="38100">
                    <a:solidFill>
                      <a:srgbClr val="2E75D6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대안 A (자체구축)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24</a:t>
                      </a:r>
                    </a:p>
                  </a:txBody>
                  <a:tcPr anchor="ctr" marL="63500" marR="63500" marT="38100" marB="38100">
                    <a:solidFill>
                      <a:srgbClr val="2E75D6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대안 B (협업제휴)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24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대안 C (외주위탁)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24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CMP-162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의사결정 매트릭스 (대안 평가)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기준별 점수·종합점수로 최적 대안 선정 (teal)</a:t>
            </a:r>
          </a:p>
        </p:txBody>
      </p:sp>
      <p:graphicFrame>
        <p:nvGraphicFramePr>
          <p:cNvPr id="5" name="asset:CMP-162"/>
          <p:cNvGraphicFramePr>
            <a:graphicFrameLocks noGrp="1"/>
          </p:cNvGraphicFramePr>
          <p:nvPr/>
        </p:nvGraphicFramePr>
        <p:xfrm>
          <a:off x="1005840" y="1554480"/>
          <a:ext cx="10149840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1481328"/>
                <a:gridCol w="1481328"/>
                <a:gridCol w="1481328"/>
                <a:gridCol w="1481328"/>
                <a:gridCol w="1481328"/>
              </a:tblGrid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대안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경제성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실현성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확장성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안정성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종합점수</a:t>
                      </a:r>
                    </a:p>
                  </a:txBody>
                  <a:tcPr anchor="ctr" marL="63500" marR="63500" marT="38100" marB="38100">
                    <a:solidFill>
                      <a:srgbClr val="1F9E8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대안 A (자체구축)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32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대안 B (협업제휴)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33</a:t>
                      </a:r>
                    </a:p>
                  </a:txBody>
                  <a:tcPr anchor="ctr" marL="63500" marR="63500" marT="38100" marB="38100">
                    <a:solidFill>
                      <a:srgbClr val="1F9E8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대안 C (외주위탁)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31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대안 D (혼합형)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32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CMP-163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의사결정 매트릭스 (대안 평가)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기준별 점수·종합점수로 최적 대안 선정 (cyan)</a:t>
            </a:r>
          </a:p>
        </p:txBody>
      </p:sp>
      <p:graphicFrame>
        <p:nvGraphicFramePr>
          <p:cNvPr id="5" name="asset:CMP-163"/>
          <p:cNvGraphicFramePr>
            <a:graphicFrameLocks noGrp="1"/>
          </p:cNvGraphicFramePr>
          <p:nvPr/>
        </p:nvGraphicFramePr>
        <p:xfrm>
          <a:off x="1005840" y="1554480"/>
          <a:ext cx="10149834" cy="24140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1234439"/>
                <a:gridCol w="1234439"/>
                <a:gridCol w="1234439"/>
                <a:gridCol w="1234439"/>
                <a:gridCol w="1234439"/>
                <a:gridCol w="1234439"/>
              </a:tblGrid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대안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실현성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확장성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안정성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효율성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혁신성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종합점수</a:t>
                      </a:r>
                    </a:p>
                  </a:txBody>
                  <a:tcPr anchor="ctr" marL="63500" marR="63500" marT="38100" marB="38100">
                    <a:solidFill>
                      <a:srgbClr val="29ABE2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대안 A (자체구축)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40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대안 B (협업제휴)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39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대안 C (외주위탁)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41</a:t>
                      </a:r>
                    </a:p>
                  </a:txBody>
                  <a:tcPr anchor="ctr" marL="63500" marR="63500" marT="38100" marB="38100">
                    <a:solidFill>
                      <a:srgbClr val="29ABE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CMP-164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의사결정 매트릭스 (대안 평가)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기준별 점수·종합점수로 최적 대안 선정 (purple)</a:t>
            </a:r>
          </a:p>
        </p:txBody>
      </p:sp>
      <p:graphicFrame>
        <p:nvGraphicFramePr>
          <p:cNvPr id="5" name="asset:CMP-164"/>
          <p:cNvGraphicFramePr>
            <a:graphicFrameLocks noGrp="1"/>
          </p:cNvGraphicFramePr>
          <p:nvPr/>
        </p:nvGraphicFramePr>
        <p:xfrm>
          <a:off x="1005840" y="1554480"/>
          <a:ext cx="10149840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1851660"/>
                <a:gridCol w="1851660"/>
                <a:gridCol w="1851660"/>
                <a:gridCol w="1851660"/>
              </a:tblGrid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대안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확장성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안정성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효율성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종합점수</a:t>
                      </a:r>
                    </a:p>
                  </a:txBody>
                  <a:tcPr anchor="ctr" marL="63500" marR="63500" marT="38100" marB="38100">
                    <a:solidFill>
                      <a:srgbClr val="7B2D8E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대안 A (자체구축)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24</a:t>
                      </a:r>
                    </a:p>
                  </a:txBody>
                  <a:tcPr anchor="ctr" marL="63500" marR="63500" marT="38100" marB="38100">
                    <a:solidFill>
                      <a:srgbClr val="7B2D8E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대안 B (협업제휴)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24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대안 C (외주위탁)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24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대안 D (혼합형)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24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CMP-165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의사결정 매트릭스 (대안 평가)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기준별 점수·종합점수로 최적 대안 선정 (navy)</a:t>
            </a:r>
          </a:p>
        </p:txBody>
      </p:sp>
      <p:graphicFrame>
        <p:nvGraphicFramePr>
          <p:cNvPr id="5" name="asset:CMP-165"/>
          <p:cNvGraphicFramePr>
            <a:graphicFrameLocks noGrp="1"/>
          </p:cNvGraphicFramePr>
          <p:nvPr/>
        </p:nvGraphicFramePr>
        <p:xfrm>
          <a:off x="1005840" y="1554480"/>
          <a:ext cx="10149840" cy="24140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1481328"/>
                <a:gridCol w="1481328"/>
                <a:gridCol w="1481328"/>
                <a:gridCol w="1481328"/>
                <a:gridCol w="1481328"/>
              </a:tblGrid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대안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안정성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효율성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혁신성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지속성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종합점수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대안 A (자체구축)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32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대안 B (협업제휴)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33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대안 C (외주위탁)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31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CMP-166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의사결정 매트릭스 (대안 평가)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기준별 점수·종합점수로 최적 대안 선정 (blue)</a:t>
            </a:r>
          </a:p>
        </p:txBody>
      </p:sp>
      <p:graphicFrame>
        <p:nvGraphicFramePr>
          <p:cNvPr id="5" name="asset:CMP-166"/>
          <p:cNvGraphicFramePr>
            <a:graphicFrameLocks noGrp="1"/>
          </p:cNvGraphicFramePr>
          <p:nvPr/>
        </p:nvGraphicFramePr>
        <p:xfrm>
          <a:off x="1005840" y="1554480"/>
          <a:ext cx="10149834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1234439"/>
                <a:gridCol w="1234439"/>
                <a:gridCol w="1234439"/>
                <a:gridCol w="1234439"/>
                <a:gridCol w="1234439"/>
                <a:gridCol w="1234439"/>
              </a:tblGrid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대안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효율성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혁신성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지속성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기술성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경제성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종합점수</a:t>
                      </a:r>
                    </a:p>
                  </a:txBody>
                  <a:tcPr anchor="ctr" marL="63500" marR="63500" marT="38100" marB="38100">
                    <a:solidFill>
                      <a:srgbClr val="2E75D6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대안 A (자체구축)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40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대안 B (협업제휴)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39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대안 C (외주위탁)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41</a:t>
                      </a:r>
                    </a:p>
                  </a:txBody>
                  <a:tcPr anchor="ctr" marL="63500" marR="63500" marT="38100" marB="38100">
                    <a:solidFill>
                      <a:srgbClr val="2E75D6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대안 D (혼합형)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40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CMP-167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의사결정 매트릭스 (대안 평가)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기준별 점수·종합점수로 최적 대안 선정 (teal)</a:t>
            </a:r>
          </a:p>
        </p:txBody>
      </p:sp>
      <p:graphicFrame>
        <p:nvGraphicFramePr>
          <p:cNvPr id="5" name="asset:CMP-167"/>
          <p:cNvGraphicFramePr>
            <a:graphicFrameLocks noGrp="1"/>
          </p:cNvGraphicFramePr>
          <p:nvPr/>
        </p:nvGraphicFramePr>
        <p:xfrm>
          <a:off x="1005840" y="1554480"/>
          <a:ext cx="10149840" cy="24140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1851660"/>
                <a:gridCol w="1851660"/>
                <a:gridCol w="1851660"/>
                <a:gridCol w="1851660"/>
              </a:tblGrid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대안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혁신성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지속성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기술성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종합점수</a:t>
                      </a:r>
                    </a:p>
                  </a:txBody>
                  <a:tcPr anchor="ctr" marL="63500" marR="63500" marT="38100" marB="38100">
                    <a:solidFill>
                      <a:srgbClr val="1F9E8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대안 A (자체구축)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24</a:t>
                      </a:r>
                    </a:p>
                  </a:txBody>
                  <a:tcPr anchor="ctr" marL="63500" marR="63500" marT="38100" marB="38100">
                    <a:solidFill>
                      <a:srgbClr val="1F9E8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대안 B (협업제휴)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24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대안 C (외주위탁)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24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CMP-168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의사결정 매트릭스 (대안 평가)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기준별 점수·종합점수로 최적 대안 선정 (cyan)</a:t>
            </a:r>
          </a:p>
        </p:txBody>
      </p:sp>
      <p:graphicFrame>
        <p:nvGraphicFramePr>
          <p:cNvPr id="5" name="asset:CMP-168"/>
          <p:cNvGraphicFramePr>
            <a:graphicFrameLocks noGrp="1"/>
          </p:cNvGraphicFramePr>
          <p:nvPr/>
        </p:nvGraphicFramePr>
        <p:xfrm>
          <a:off x="1005840" y="1554480"/>
          <a:ext cx="10149840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1481328"/>
                <a:gridCol w="1481328"/>
                <a:gridCol w="1481328"/>
                <a:gridCol w="1481328"/>
                <a:gridCol w="1481328"/>
              </a:tblGrid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대안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지속성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기술성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경제성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실현성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종합점수</a:t>
                      </a:r>
                    </a:p>
                  </a:txBody>
                  <a:tcPr anchor="ctr" marL="63500" marR="63500" marT="38100" marB="38100">
                    <a:solidFill>
                      <a:srgbClr val="29ABE2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대안 A (자체구축)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32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대안 B (협업제휴)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33</a:t>
                      </a:r>
                    </a:p>
                  </a:txBody>
                  <a:tcPr anchor="ctr" marL="63500" marR="63500" marT="38100" marB="38100">
                    <a:solidFill>
                      <a:srgbClr val="29ABE2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대안 C (외주위탁)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31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대안 D (혼합형)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32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CMP-169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의사결정 매트릭스 (대안 평가)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기준별 점수·종합점수로 최적 대안 선정 (purple)</a:t>
            </a:r>
          </a:p>
        </p:txBody>
      </p:sp>
      <p:graphicFrame>
        <p:nvGraphicFramePr>
          <p:cNvPr id="5" name="asset:CMP-169"/>
          <p:cNvGraphicFramePr>
            <a:graphicFrameLocks noGrp="1"/>
          </p:cNvGraphicFramePr>
          <p:nvPr/>
        </p:nvGraphicFramePr>
        <p:xfrm>
          <a:off x="1005840" y="1554480"/>
          <a:ext cx="10149834" cy="24140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1234439"/>
                <a:gridCol w="1234439"/>
                <a:gridCol w="1234439"/>
                <a:gridCol w="1234439"/>
                <a:gridCol w="1234439"/>
                <a:gridCol w="1234439"/>
              </a:tblGrid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대안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기술성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경제성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실현성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확장성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안정성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종합점수</a:t>
                      </a:r>
                    </a:p>
                  </a:txBody>
                  <a:tcPr anchor="ctr" marL="63500" marR="63500" marT="38100" marB="38100">
                    <a:solidFill>
                      <a:srgbClr val="7B2D8E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대안 A (자체구축)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40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대안 B (협업제휴)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39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대안 C (외주위탁)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41</a:t>
                      </a:r>
                    </a:p>
                  </a:txBody>
                  <a:tcPr anchor="ctr" marL="63500" marR="63500" marT="38100" marB="38100">
                    <a:solidFill>
                      <a:srgbClr val="7B2D8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CMP-170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의사결정 매트릭스 (대안 평가)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기준별 점수·종합점수로 최적 대안 선정 (navy)</a:t>
            </a:r>
          </a:p>
        </p:txBody>
      </p:sp>
      <p:graphicFrame>
        <p:nvGraphicFramePr>
          <p:cNvPr id="5" name="asset:CMP-170"/>
          <p:cNvGraphicFramePr>
            <a:graphicFrameLocks noGrp="1"/>
          </p:cNvGraphicFramePr>
          <p:nvPr/>
        </p:nvGraphicFramePr>
        <p:xfrm>
          <a:off x="1005840" y="1554480"/>
          <a:ext cx="10149840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1851660"/>
                <a:gridCol w="1851660"/>
                <a:gridCol w="1851660"/>
                <a:gridCol w="1851660"/>
              </a:tblGrid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대안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경제성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실현성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확장성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종합점수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대안 A (자체구축)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24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대안 B (협업제휴)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24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대안 C (외주위탁)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24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대안 D (혼합형)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24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CMP-171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의사결정 매트릭스 (대안 평가)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기준별 점수·종합점수로 최적 대안 선정 (blue)</a:t>
            </a:r>
          </a:p>
        </p:txBody>
      </p:sp>
      <p:graphicFrame>
        <p:nvGraphicFramePr>
          <p:cNvPr id="5" name="asset:CMP-171"/>
          <p:cNvGraphicFramePr>
            <a:graphicFrameLocks noGrp="1"/>
          </p:cNvGraphicFramePr>
          <p:nvPr/>
        </p:nvGraphicFramePr>
        <p:xfrm>
          <a:off x="1005840" y="1554480"/>
          <a:ext cx="10149840" cy="24140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1481328"/>
                <a:gridCol w="1481328"/>
                <a:gridCol w="1481328"/>
                <a:gridCol w="1481328"/>
                <a:gridCol w="1481328"/>
              </a:tblGrid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대안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실현성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확장성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안정성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효율성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종합점수</a:t>
                      </a:r>
                    </a:p>
                  </a:txBody>
                  <a:tcPr anchor="ctr" marL="63500" marR="63500" marT="38100" marB="38100">
                    <a:solidFill>
                      <a:srgbClr val="2E75D6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대안 A (자체구축)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32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대안 B (협업제휴)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33</a:t>
                      </a:r>
                    </a:p>
                  </a:txBody>
                  <a:tcPr anchor="ctr" marL="63500" marR="63500" marT="38100" marB="38100">
                    <a:solidFill>
                      <a:srgbClr val="2E75D6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대안 C (외주위탁)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31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CMP-172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의사결정 매트릭스 (대안 평가)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기준별 점수·종합점수로 최적 대안 선정 (teal)</a:t>
            </a:r>
          </a:p>
        </p:txBody>
      </p:sp>
      <p:graphicFrame>
        <p:nvGraphicFramePr>
          <p:cNvPr id="5" name="asset:CMP-172"/>
          <p:cNvGraphicFramePr>
            <a:graphicFrameLocks noGrp="1"/>
          </p:cNvGraphicFramePr>
          <p:nvPr/>
        </p:nvGraphicFramePr>
        <p:xfrm>
          <a:off x="1005840" y="1554480"/>
          <a:ext cx="10149834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1234439"/>
                <a:gridCol w="1234439"/>
                <a:gridCol w="1234439"/>
                <a:gridCol w="1234439"/>
                <a:gridCol w="1234439"/>
                <a:gridCol w="1234439"/>
              </a:tblGrid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대안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확장성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안정성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효율성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혁신성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지속성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종합점수</a:t>
                      </a:r>
                    </a:p>
                  </a:txBody>
                  <a:tcPr anchor="ctr" marL="63500" marR="63500" marT="38100" marB="38100">
                    <a:solidFill>
                      <a:srgbClr val="1F9E8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대안 A (자체구축)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40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대안 B (협업제휴)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39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대안 C (외주위탁)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41</a:t>
                      </a:r>
                    </a:p>
                  </a:txBody>
                  <a:tcPr anchor="ctr" marL="63500" marR="63500" marT="38100" marB="38100">
                    <a:solidFill>
                      <a:srgbClr val="1F9E8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대안 D (혼합형)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40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CMP-173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의사결정 매트릭스 (대안 평가)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기준별 점수·종합점수로 최적 대안 선정 (cyan)</a:t>
            </a:r>
          </a:p>
        </p:txBody>
      </p:sp>
      <p:graphicFrame>
        <p:nvGraphicFramePr>
          <p:cNvPr id="5" name="asset:CMP-173"/>
          <p:cNvGraphicFramePr>
            <a:graphicFrameLocks noGrp="1"/>
          </p:cNvGraphicFramePr>
          <p:nvPr/>
        </p:nvGraphicFramePr>
        <p:xfrm>
          <a:off x="1005840" y="1554480"/>
          <a:ext cx="10149840" cy="24140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1851660"/>
                <a:gridCol w="1851660"/>
                <a:gridCol w="1851660"/>
                <a:gridCol w="1851660"/>
              </a:tblGrid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대안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안정성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효율성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혁신성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종합점수</a:t>
                      </a:r>
                    </a:p>
                  </a:txBody>
                  <a:tcPr anchor="ctr" marL="63500" marR="63500" marT="38100" marB="38100">
                    <a:solidFill>
                      <a:srgbClr val="29ABE2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대안 A (자체구축)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24</a:t>
                      </a:r>
                    </a:p>
                  </a:txBody>
                  <a:tcPr anchor="ctr" marL="63500" marR="63500" marT="38100" marB="38100">
                    <a:solidFill>
                      <a:srgbClr val="29ABE2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대안 B (협업제휴)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24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대안 C (외주위탁)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9ABE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24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CMP-174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의사결정 매트릭스 (대안 평가)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기준별 점수·종합점수로 최적 대안 선정 (purple)</a:t>
            </a:r>
          </a:p>
        </p:txBody>
      </p:sp>
      <p:graphicFrame>
        <p:nvGraphicFramePr>
          <p:cNvPr id="5" name="asset:CMP-174"/>
          <p:cNvGraphicFramePr>
            <a:graphicFrameLocks noGrp="1"/>
          </p:cNvGraphicFramePr>
          <p:nvPr/>
        </p:nvGraphicFramePr>
        <p:xfrm>
          <a:off x="1005840" y="1554480"/>
          <a:ext cx="10149840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1481328"/>
                <a:gridCol w="1481328"/>
                <a:gridCol w="1481328"/>
                <a:gridCol w="1481328"/>
                <a:gridCol w="1481328"/>
              </a:tblGrid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대안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효율성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혁신성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지속성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기술성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종합점수</a:t>
                      </a:r>
                    </a:p>
                  </a:txBody>
                  <a:tcPr anchor="ctr" marL="63500" marR="63500" marT="38100" marB="38100">
                    <a:solidFill>
                      <a:srgbClr val="7B2D8E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대안 A (자체구축)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32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대안 B (협업제휴)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33</a:t>
                      </a:r>
                    </a:p>
                  </a:txBody>
                  <a:tcPr anchor="ctr" marL="63500" marR="63500" marT="38100" marB="38100">
                    <a:solidFill>
                      <a:srgbClr val="7B2D8E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대안 C (외주위탁)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31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대안 D (혼합형)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32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