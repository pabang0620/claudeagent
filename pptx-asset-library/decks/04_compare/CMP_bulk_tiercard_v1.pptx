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3단계 요금/등급 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등급 뱃지 · 대형 가격 · ✓ 기능 · 추천 강조 (blue)</a:t>
            </a:r>
          </a:p>
        </p:txBody>
      </p:sp>
      <p:grpSp>
        <p:nvGrpSpPr>
          <p:cNvPr id="44" name="asset:CMP-121"/>
          <p:cNvGrpSpPr/>
          <p:nvPr/>
        </p:nvGrpSpPr>
        <p:grpSpPr>
          <a:xfrm>
            <a:off x="1005840" y="1563624"/>
            <a:ext cx="10149839" cy="4581144"/>
            <a:chOff x="1005840" y="1563624"/>
            <a:chExt cx="10149839" cy="4581144"/>
          </a:xfrm>
        </p:grpSpPr>
        <p:sp>
          <p:nvSpPr>
            <p:cNvPr id="5" name="Rounded Rectangle 4"/>
            <p:cNvSpPr/>
            <p:nvPr/>
          </p:nvSpPr>
          <p:spPr>
            <a:xfrm>
              <a:off x="1005840" y="1783080"/>
              <a:ext cx="3139440" cy="416052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706880" y="1984248"/>
              <a:ext cx="1737360" cy="347472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기본형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115568" y="2441448"/>
              <a:ext cx="2919984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Basic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115568" y="2825496"/>
              <a:ext cx="2919984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50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115568" y="3483864"/>
              <a:ext cx="2919984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1325880" y="3840480"/>
              <a:ext cx="24993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261872" y="399592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517904" y="3995928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핵심 기능 제공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61872" y="436168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17904" y="4361688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 기술 지원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261872" y="472744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517904" y="4727448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 리포트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4511040" y="1581912"/>
              <a:ext cx="3139440" cy="4562856"/>
            </a:xfrm>
            <a:prstGeom prst="roundRect">
              <a:avLst/>
            </a:prstGeom>
            <a:solidFill>
              <a:srgbClr val="FFFFFF"/>
            </a:solidFill>
            <a:ln w="317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5212080" y="1783080"/>
              <a:ext cx="1737360" cy="34747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표준형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620768" y="2240280"/>
              <a:ext cx="2919984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Standard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620768" y="2624328"/>
              <a:ext cx="2919984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100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620768" y="3282696"/>
              <a:ext cx="2919984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4831080" y="3639312"/>
              <a:ext cx="24993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767072" y="379476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023104" y="3794760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 리포트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4767072" y="416052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5023104" y="4160520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활용 지원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4767072" y="452628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023104" y="4526280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다국어 대응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4767072" y="489204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5023104" y="4892040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우선 지원 채널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6187440" y="1563624"/>
              <a:ext cx="1371600" cy="36576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★ 추천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8016239" y="1783080"/>
              <a:ext cx="3139440" cy="416052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8717279" y="1984248"/>
              <a:ext cx="1737360" cy="34747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프리미엄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125967" y="2441448"/>
              <a:ext cx="2919984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Premium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8125967" y="2825496"/>
              <a:ext cx="2919984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180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8125967" y="3483864"/>
              <a:ext cx="2919984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8336279" y="3840480"/>
              <a:ext cx="24993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8272271" y="399592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8528304" y="3995928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다국어 대응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8272271" y="436168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8528304" y="4361688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우선 지원 채널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8272271" y="472744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8528304" y="4727448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맞춤 개발 포함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4단계 요금/등급 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등급 뱃지 · 대형 가격 · ✓ 기능 · 추천 강조 (teal)</a:t>
            </a:r>
          </a:p>
        </p:txBody>
      </p:sp>
      <p:grpSp>
        <p:nvGrpSpPr>
          <p:cNvPr id="58" name="asset:CMP-122"/>
          <p:cNvGrpSpPr/>
          <p:nvPr/>
        </p:nvGrpSpPr>
        <p:grpSpPr>
          <a:xfrm>
            <a:off x="1005840" y="1563624"/>
            <a:ext cx="10149838" cy="4581144"/>
            <a:chOff x="1005840" y="1563624"/>
            <a:chExt cx="10149838" cy="4581144"/>
          </a:xfrm>
        </p:grpSpPr>
        <p:sp>
          <p:nvSpPr>
            <p:cNvPr id="5" name="Rounded Rectangle 4"/>
            <p:cNvSpPr/>
            <p:nvPr/>
          </p:nvSpPr>
          <p:spPr>
            <a:xfrm>
              <a:off x="1005840" y="1783080"/>
              <a:ext cx="2263139" cy="416052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268730" y="1984248"/>
              <a:ext cx="1737360" cy="347472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기본형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115568" y="2441448"/>
              <a:ext cx="2043683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Basic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115568" y="2825496"/>
              <a:ext cx="2043683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50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115568" y="3483864"/>
              <a:ext cx="2043683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1325880" y="3840480"/>
              <a:ext cx="1623059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261872" y="399592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517904" y="399592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 기술 지원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61872" y="436168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17904" y="436168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 리포트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261872" y="472744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517904" y="472744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활용 지원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3634739" y="1581912"/>
              <a:ext cx="2263139" cy="4562856"/>
            </a:xfrm>
            <a:prstGeom prst="roundRect">
              <a:avLst/>
            </a:prstGeom>
            <a:solidFill>
              <a:srgbClr val="FFFFFF"/>
            </a:solidFill>
            <a:ln w="317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3897629" y="1783080"/>
              <a:ext cx="1737360" cy="34747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표준형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3744468" y="2240280"/>
              <a:ext cx="2043683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Standard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744468" y="2624328"/>
              <a:ext cx="2043683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100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3744468" y="3282696"/>
              <a:ext cx="2043683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954779" y="3639312"/>
              <a:ext cx="1623059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890772" y="379476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146804" y="3794760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활용 지원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890772" y="416052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146804" y="4160520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다국어 대응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890772" y="452628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146804" y="4526280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우선 지원 채널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890772" y="489204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4146804" y="4892040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맞춤 개발 포함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4434840" y="1563624"/>
              <a:ext cx="1371600" cy="36576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★ 추천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6263640" y="1783080"/>
              <a:ext cx="2263139" cy="416052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6526529" y="1984248"/>
              <a:ext cx="1737360" cy="34747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프리미엄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373368" y="2441448"/>
              <a:ext cx="2043683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Premium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6373368" y="2825496"/>
              <a:ext cx="2043683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180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6373368" y="3483864"/>
              <a:ext cx="2043683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6583679" y="3840480"/>
              <a:ext cx="1623059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6519672" y="399592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6775704" y="399592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우선 지원 채널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6519672" y="436168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6775704" y="436168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맞춤 개발 포함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6519672" y="472744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6775704" y="472744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전담 협업팀</a:t>
              </a:r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8892539" y="1783080"/>
              <a:ext cx="2263139" cy="416052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9155429" y="1984248"/>
              <a:ext cx="1737360" cy="34747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확장형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9002267" y="2441448"/>
              <a:ext cx="2043683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Enterprise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9002267" y="2825496"/>
              <a:ext cx="2043683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250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9002267" y="3483864"/>
              <a:ext cx="2043683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9212579" y="3840480"/>
              <a:ext cx="1623059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9148571" y="399592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9404603" y="399592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전담 협업팀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9148571" y="436168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9404603" y="436168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무제한 확장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9148571" y="472744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9404603" y="472744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고급 분석 리포트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9148571" y="509320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9404603" y="509320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SLA 보장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3단계 요금/등급 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등급 뱃지 · 대형 가격 · ✓ 기능 · 추천 강조 (cyan)</a:t>
            </a:r>
          </a:p>
        </p:txBody>
      </p:sp>
      <p:grpSp>
        <p:nvGrpSpPr>
          <p:cNvPr id="44" name="asset:CMP-123"/>
          <p:cNvGrpSpPr/>
          <p:nvPr/>
        </p:nvGrpSpPr>
        <p:grpSpPr>
          <a:xfrm>
            <a:off x="1005840" y="1563624"/>
            <a:ext cx="10149839" cy="4581144"/>
            <a:chOff x="1005840" y="1563624"/>
            <a:chExt cx="10149839" cy="4581144"/>
          </a:xfrm>
        </p:grpSpPr>
        <p:sp>
          <p:nvSpPr>
            <p:cNvPr id="5" name="Rounded Rectangle 4"/>
            <p:cNvSpPr/>
            <p:nvPr/>
          </p:nvSpPr>
          <p:spPr>
            <a:xfrm>
              <a:off x="1005840" y="1783080"/>
              <a:ext cx="3139440" cy="416052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706880" y="1984248"/>
              <a:ext cx="1737360" cy="347472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기본형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115568" y="2441448"/>
              <a:ext cx="2919984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Basic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115568" y="2825496"/>
              <a:ext cx="2919984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50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115568" y="3483864"/>
              <a:ext cx="2919984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1325880" y="3840480"/>
              <a:ext cx="24993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261872" y="399592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517904" y="3995928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 리포트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61872" y="436168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17904" y="4361688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활용 지원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261872" y="472744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517904" y="4727448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다국어 대응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4511040" y="1581912"/>
              <a:ext cx="3139440" cy="4562856"/>
            </a:xfrm>
            <a:prstGeom prst="roundRect">
              <a:avLst/>
            </a:prstGeom>
            <a:solidFill>
              <a:srgbClr val="FFFFFF"/>
            </a:solidFill>
            <a:ln w="317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5212080" y="1783080"/>
              <a:ext cx="1737360" cy="34747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표준형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620768" y="2240280"/>
              <a:ext cx="2919984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Standard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620768" y="2624328"/>
              <a:ext cx="2919984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100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620768" y="3282696"/>
              <a:ext cx="2919984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4831080" y="3639312"/>
              <a:ext cx="24993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767072" y="379476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023104" y="3794760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다국어 대응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4767072" y="416052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5023104" y="4160520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우선 지원 채널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4767072" y="452628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023104" y="4526280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맞춤 개발 포함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4767072" y="489204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5023104" y="4892040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전담 협업팀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6187440" y="1563624"/>
              <a:ext cx="1371600" cy="36576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★ 추천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8016239" y="1783080"/>
              <a:ext cx="3139440" cy="416052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8717279" y="1984248"/>
              <a:ext cx="1737360" cy="34747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프리미엄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125967" y="2441448"/>
              <a:ext cx="2919984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Premium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8125967" y="2825496"/>
              <a:ext cx="2919984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180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8125967" y="3483864"/>
              <a:ext cx="2919984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8336279" y="3840480"/>
              <a:ext cx="24993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8272271" y="399592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8528304" y="3995928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맞춤 개발 포함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8272271" y="436168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8528304" y="4361688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전담 협업팀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8272271" y="472744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8528304" y="4727448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무제한 확장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4단계 요금/등급 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등급 뱃지 · 대형 가격 · ✓ 기능 · 추천 강조 (purple)</a:t>
            </a:r>
          </a:p>
        </p:txBody>
      </p:sp>
      <p:grpSp>
        <p:nvGrpSpPr>
          <p:cNvPr id="58" name="asset:CMP-124"/>
          <p:cNvGrpSpPr/>
          <p:nvPr/>
        </p:nvGrpSpPr>
        <p:grpSpPr>
          <a:xfrm>
            <a:off x="1005840" y="1563624"/>
            <a:ext cx="10149838" cy="4581144"/>
            <a:chOff x="1005840" y="1563624"/>
            <a:chExt cx="10149838" cy="4581144"/>
          </a:xfrm>
        </p:grpSpPr>
        <p:sp>
          <p:nvSpPr>
            <p:cNvPr id="5" name="Rounded Rectangle 4"/>
            <p:cNvSpPr/>
            <p:nvPr/>
          </p:nvSpPr>
          <p:spPr>
            <a:xfrm>
              <a:off x="1005840" y="1783080"/>
              <a:ext cx="2263139" cy="416052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268730" y="1984248"/>
              <a:ext cx="1737360" cy="347472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기본형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115568" y="2441448"/>
              <a:ext cx="2043683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Basic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115568" y="2825496"/>
              <a:ext cx="2043683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50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115568" y="3483864"/>
              <a:ext cx="2043683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1325880" y="3840480"/>
              <a:ext cx="1623059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261872" y="399592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517904" y="399592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활용 지원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61872" y="436168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17904" y="436168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다국어 대응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261872" y="472744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517904" y="472744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우선 지원 채널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3634739" y="1581912"/>
              <a:ext cx="2263139" cy="4562856"/>
            </a:xfrm>
            <a:prstGeom prst="roundRect">
              <a:avLst/>
            </a:prstGeom>
            <a:solidFill>
              <a:srgbClr val="FFFFFF"/>
            </a:solidFill>
            <a:ln w="317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3897629" y="1783080"/>
              <a:ext cx="1737360" cy="347472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표준형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3744468" y="2240280"/>
              <a:ext cx="2043683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Standard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744468" y="2624328"/>
              <a:ext cx="2043683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100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3744468" y="3282696"/>
              <a:ext cx="2043683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954779" y="3639312"/>
              <a:ext cx="1623059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890772" y="379476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146804" y="3794760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우선 지원 채널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890772" y="416052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146804" y="4160520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맞춤 개발 포함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890772" y="452628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146804" y="4526280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전담 협업팀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890772" y="489204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4146804" y="4892040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무제한 확장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4434840" y="1563624"/>
              <a:ext cx="1371600" cy="36576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★ 추천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6263640" y="1783080"/>
              <a:ext cx="2263139" cy="416052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6526529" y="1984248"/>
              <a:ext cx="1737360" cy="34747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프리미엄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373368" y="2441448"/>
              <a:ext cx="2043683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Premium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6373368" y="2825496"/>
              <a:ext cx="2043683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180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6373368" y="3483864"/>
              <a:ext cx="2043683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6583679" y="3840480"/>
              <a:ext cx="1623059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6519672" y="399592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6775704" y="399592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전담 협업팀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6519672" y="436168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6775704" y="436168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무제한 확장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6519672" y="472744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6775704" y="472744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고급 분석 리포트</a:t>
              </a:r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8892539" y="1783080"/>
              <a:ext cx="2263139" cy="416052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9155429" y="1984248"/>
              <a:ext cx="1737360" cy="34747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확장형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9002267" y="2441448"/>
              <a:ext cx="2043683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Enterprise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9002267" y="2825496"/>
              <a:ext cx="2043683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250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9002267" y="3483864"/>
              <a:ext cx="2043683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9212579" y="3840480"/>
              <a:ext cx="1623059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9148571" y="399592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9404603" y="399592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고급 분석 리포트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9148571" y="436168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9404603" y="436168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SLA 보장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9148571" y="472744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9404603" y="472744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전용 인프라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9148571" y="509320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9404603" y="509320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핵심 기능 제공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3단계 요금/등급 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등급 뱃지 · 대형 가격 · ✓ 기능 · 추천 강조 (navy)</a:t>
            </a:r>
          </a:p>
        </p:txBody>
      </p:sp>
      <p:grpSp>
        <p:nvGrpSpPr>
          <p:cNvPr id="44" name="asset:CMP-125"/>
          <p:cNvGrpSpPr/>
          <p:nvPr/>
        </p:nvGrpSpPr>
        <p:grpSpPr>
          <a:xfrm>
            <a:off x="1005840" y="1563624"/>
            <a:ext cx="10149839" cy="4581144"/>
            <a:chOff x="1005840" y="1563624"/>
            <a:chExt cx="10149839" cy="4581144"/>
          </a:xfrm>
        </p:grpSpPr>
        <p:sp>
          <p:nvSpPr>
            <p:cNvPr id="5" name="Rounded Rectangle 4"/>
            <p:cNvSpPr/>
            <p:nvPr/>
          </p:nvSpPr>
          <p:spPr>
            <a:xfrm>
              <a:off x="1005840" y="1783080"/>
              <a:ext cx="3139440" cy="416052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706880" y="1984248"/>
              <a:ext cx="1737360" cy="347472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기본형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115568" y="2441448"/>
              <a:ext cx="2919984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Basic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115568" y="2825496"/>
              <a:ext cx="2919984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50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115568" y="3483864"/>
              <a:ext cx="2919984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1325880" y="3840480"/>
              <a:ext cx="24993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261872" y="399592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517904" y="3995928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다국어 대응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61872" y="436168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17904" y="4361688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우선 지원 채널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261872" y="472744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517904" y="4727448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맞춤 개발 포함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4511040" y="1581912"/>
              <a:ext cx="3139440" cy="4562856"/>
            </a:xfrm>
            <a:prstGeom prst="roundRect">
              <a:avLst/>
            </a:prstGeom>
            <a:solidFill>
              <a:srgbClr val="FFFFFF"/>
            </a:solidFill>
            <a:ln w="317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5212080" y="1783080"/>
              <a:ext cx="1737360" cy="347472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표준형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620768" y="2240280"/>
              <a:ext cx="2919984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Standard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620768" y="2624328"/>
              <a:ext cx="2919984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100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620768" y="3282696"/>
              <a:ext cx="2919984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4831080" y="3639312"/>
              <a:ext cx="24993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767072" y="379476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023104" y="3794760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맞춤 개발 포함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4767072" y="416052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5023104" y="4160520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전담 협업팀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4767072" y="452628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023104" y="4526280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무제한 확장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4767072" y="489204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5023104" y="4892040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고급 분석 리포트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6187440" y="1563624"/>
              <a:ext cx="1371600" cy="36576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★ 추천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8016239" y="1783080"/>
              <a:ext cx="3139440" cy="416052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8717279" y="1984248"/>
              <a:ext cx="1737360" cy="34747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프리미엄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125967" y="2441448"/>
              <a:ext cx="2919984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Premium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8125967" y="2825496"/>
              <a:ext cx="2919984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180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8125967" y="3483864"/>
              <a:ext cx="2919984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8336279" y="3840480"/>
              <a:ext cx="24993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8272271" y="399592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8528304" y="3995928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무제한 확장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8272271" y="436168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8528304" y="4361688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고급 분석 리포트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8272271" y="472744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8528304" y="4727448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SLA 보장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4단계 요금/등급 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등급 뱃지 · 대형 가격 · ✓ 기능 · 추천 강조 (blue)</a:t>
            </a:r>
          </a:p>
        </p:txBody>
      </p:sp>
      <p:grpSp>
        <p:nvGrpSpPr>
          <p:cNvPr id="58" name="asset:CMP-126"/>
          <p:cNvGrpSpPr/>
          <p:nvPr/>
        </p:nvGrpSpPr>
        <p:grpSpPr>
          <a:xfrm>
            <a:off x="1005840" y="1563624"/>
            <a:ext cx="10149838" cy="4581144"/>
            <a:chOff x="1005840" y="1563624"/>
            <a:chExt cx="10149838" cy="4581144"/>
          </a:xfrm>
        </p:grpSpPr>
        <p:sp>
          <p:nvSpPr>
            <p:cNvPr id="5" name="Rounded Rectangle 4"/>
            <p:cNvSpPr/>
            <p:nvPr/>
          </p:nvSpPr>
          <p:spPr>
            <a:xfrm>
              <a:off x="1005840" y="1783080"/>
              <a:ext cx="2263139" cy="416052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268730" y="1984248"/>
              <a:ext cx="1737360" cy="347472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기본형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115568" y="2441448"/>
              <a:ext cx="2043683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Basic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115568" y="2825496"/>
              <a:ext cx="2043683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50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115568" y="3483864"/>
              <a:ext cx="2043683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1325880" y="3840480"/>
              <a:ext cx="1623059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261872" y="399592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517904" y="399592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우선 지원 채널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61872" y="436168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17904" y="436168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맞춤 개발 포함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261872" y="472744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517904" y="472744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전담 협업팀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3634739" y="1581912"/>
              <a:ext cx="2263139" cy="4562856"/>
            </a:xfrm>
            <a:prstGeom prst="roundRect">
              <a:avLst/>
            </a:prstGeom>
            <a:solidFill>
              <a:srgbClr val="FFFFFF"/>
            </a:solidFill>
            <a:ln w="317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3897629" y="1783080"/>
              <a:ext cx="1737360" cy="34747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표준형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3744468" y="2240280"/>
              <a:ext cx="2043683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Standard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744468" y="2624328"/>
              <a:ext cx="2043683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100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3744468" y="3282696"/>
              <a:ext cx="2043683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954779" y="3639312"/>
              <a:ext cx="1623059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890772" y="379476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146804" y="3794760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전담 협업팀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890772" y="416052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146804" y="4160520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무제한 확장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890772" y="452628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146804" y="4526280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고급 분석 리포트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890772" y="489204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4146804" y="4892040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SLA 보장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4434840" y="1563624"/>
              <a:ext cx="1371600" cy="36576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★ 추천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6263640" y="1783080"/>
              <a:ext cx="2263139" cy="416052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6526529" y="1984248"/>
              <a:ext cx="1737360" cy="34747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프리미엄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373368" y="2441448"/>
              <a:ext cx="2043683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Premium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6373368" y="2825496"/>
              <a:ext cx="2043683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180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6373368" y="3483864"/>
              <a:ext cx="2043683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6583679" y="3840480"/>
              <a:ext cx="1623059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6519672" y="399592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6775704" y="399592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고급 분석 리포트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6519672" y="436168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6775704" y="436168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SLA 보장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6519672" y="472744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6775704" y="472744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전용 인프라</a:t>
              </a:r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8892539" y="1783080"/>
              <a:ext cx="2263139" cy="416052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9155429" y="1984248"/>
              <a:ext cx="1737360" cy="34747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확장형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9002267" y="2441448"/>
              <a:ext cx="2043683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Enterprise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9002267" y="2825496"/>
              <a:ext cx="2043683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250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9002267" y="3483864"/>
              <a:ext cx="2043683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9212579" y="3840480"/>
              <a:ext cx="1623059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9148571" y="399592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9404603" y="399592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전용 인프라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9148571" y="436168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9404603" y="436168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핵심 기능 제공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9148571" y="472744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9404603" y="472744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 기술 지원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9148571" y="509320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9404603" y="509320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 리포트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3단계 요금/등급 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등급 뱃지 · 대형 가격 · ✓ 기능 · 추천 강조 (teal)</a:t>
            </a:r>
          </a:p>
        </p:txBody>
      </p:sp>
      <p:grpSp>
        <p:nvGrpSpPr>
          <p:cNvPr id="44" name="asset:CMP-127"/>
          <p:cNvGrpSpPr/>
          <p:nvPr/>
        </p:nvGrpSpPr>
        <p:grpSpPr>
          <a:xfrm>
            <a:off x="1005840" y="1563624"/>
            <a:ext cx="10149839" cy="4581144"/>
            <a:chOff x="1005840" y="1563624"/>
            <a:chExt cx="10149839" cy="4581144"/>
          </a:xfrm>
        </p:grpSpPr>
        <p:sp>
          <p:nvSpPr>
            <p:cNvPr id="5" name="Rounded Rectangle 4"/>
            <p:cNvSpPr/>
            <p:nvPr/>
          </p:nvSpPr>
          <p:spPr>
            <a:xfrm>
              <a:off x="1005840" y="1783080"/>
              <a:ext cx="3139440" cy="416052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706880" y="1984248"/>
              <a:ext cx="1737360" cy="347472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기본형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115568" y="2441448"/>
              <a:ext cx="2919984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Basic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115568" y="2825496"/>
              <a:ext cx="2919984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50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115568" y="3483864"/>
              <a:ext cx="2919984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1325880" y="3840480"/>
              <a:ext cx="24993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261872" y="399592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517904" y="3995928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맞춤 개발 포함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61872" y="436168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17904" y="4361688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전담 협업팀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261872" y="472744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517904" y="4727448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무제한 확장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4511040" y="1581912"/>
              <a:ext cx="3139440" cy="4562856"/>
            </a:xfrm>
            <a:prstGeom prst="roundRect">
              <a:avLst/>
            </a:prstGeom>
            <a:solidFill>
              <a:srgbClr val="FFFFFF"/>
            </a:solidFill>
            <a:ln w="317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5212080" y="1783080"/>
              <a:ext cx="1737360" cy="34747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표준형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620768" y="2240280"/>
              <a:ext cx="2919984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Standard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620768" y="2624328"/>
              <a:ext cx="2919984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100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620768" y="3282696"/>
              <a:ext cx="2919984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4831080" y="3639312"/>
              <a:ext cx="24993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767072" y="379476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023104" y="3794760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무제한 확장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4767072" y="416052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5023104" y="4160520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고급 분석 리포트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4767072" y="452628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023104" y="4526280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SLA 보장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4767072" y="489204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5023104" y="4892040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전용 인프라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6187440" y="1563624"/>
              <a:ext cx="1371600" cy="36576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★ 추천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8016239" y="1783080"/>
              <a:ext cx="3139440" cy="416052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8717279" y="1984248"/>
              <a:ext cx="1737360" cy="34747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프리미엄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125967" y="2441448"/>
              <a:ext cx="2919984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Premium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8125967" y="2825496"/>
              <a:ext cx="2919984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180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8125967" y="3483864"/>
              <a:ext cx="2919984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8336279" y="3840480"/>
              <a:ext cx="24993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8272271" y="399592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8528304" y="3995928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SLA 보장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8272271" y="436168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8528304" y="4361688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전용 인프라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8272271" y="472744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8528304" y="4727448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핵심 기능 제공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4단계 요금/등급 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등급 뱃지 · 대형 가격 · ✓ 기능 · 추천 강조 (cyan)</a:t>
            </a:r>
          </a:p>
        </p:txBody>
      </p:sp>
      <p:grpSp>
        <p:nvGrpSpPr>
          <p:cNvPr id="58" name="asset:CMP-128"/>
          <p:cNvGrpSpPr/>
          <p:nvPr/>
        </p:nvGrpSpPr>
        <p:grpSpPr>
          <a:xfrm>
            <a:off x="1005840" y="1563624"/>
            <a:ext cx="10149838" cy="4581144"/>
            <a:chOff x="1005840" y="1563624"/>
            <a:chExt cx="10149838" cy="4581144"/>
          </a:xfrm>
        </p:grpSpPr>
        <p:sp>
          <p:nvSpPr>
            <p:cNvPr id="5" name="Rounded Rectangle 4"/>
            <p:cNvSpPr/>
            <p:nvPr/>
          </p:nvSpPr>
          <p:spPr>
            <a:xfrm>
              <a:off x="1005840" y="1783080"/>
              <a:ext cx="2263139" cy="416052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268730" y="1984248"/>
              <a:ext cx="1737360" cy="347472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기본형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115568" y="2441448"/>
              <a:ext cx="2043683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Basic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115568" y="2825496"/>
              <a:ext cx="2043683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50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115568" y="3483864"/>
              <a:ext cx="2043683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1325880" y="3840480"/>
              <a:ext cx="1623059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261872" y="399592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517904" y="399592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전담 협업팀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61872" y="436168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17904" y="436168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무제한 확장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261872" y="472744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517904" y="472744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고급 분석 리포트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3634739" y="1581912"/>
              <a:ext cx="2263139" cy="4562856"/>
            </a:xfrm>
            <a:prstGeom prst="roundRect">
              <a:avLst/>
            </a:prstGeom>
            <a:solidFill>
              <a:srgbClr val="FFFFFF"/>
            </a:solidFill>
            <a:ln w="317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3897629" y="1783080"/>
              <a:ext cx="1737360" cy="34747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표준형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3744468" y="2240280"/>
              <a:ext cx="2043683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Standard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744468" y="2624328"/>
              <a:ext cx="2043683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100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3744468" y="3282696"/>
              <a:ext cx="2043683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954779" y="3639312"/>
              <a:ext cx="1623059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890772" y="379476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146804" y="3794760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고급 분석 리포트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890772" y="416052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146804" y="4160520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SLA 보장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890772" y="452628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146804" y="4526280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전용 인프라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890772" y="489204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4146804" y="4892040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핵심 기능 제공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4434840" y="1563624"/>
              <a:ext cx="1371600" cy="36576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★ 추천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6263640" y="1783080"/>
              <a:ext cx="2263139" cy="416052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6526529" y="1984248"/>
              <a:ext cx="1737360" cy="34747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프리미엄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373368" y="2441448"/>
              <a:ext cx="2043683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Premium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6373368" y="2825496"/>
              <a:ext cx="2043683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180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6373368" y="3483864"/>
              <a:ext cx="2043683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6583679" y="3840480"/>
              <a:ext cx="1623059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6519672" y="399592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6775704" y="399592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전용 인프라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6519672" y="436168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6775704" y="436168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핵심 기능 제공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6519672" y="472744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6775704" y="472744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 기술 지원</a:t>
              </a:r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8892539" y="1783080"/>
              <a:ext cx="2263139" cy="416052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9155429" y="1984248"/>
              <a:ext cx="1737360" cy="34747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확장형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9002267" y="2441448"/>
              <a:ext cx="2043683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Enterprise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9002267" y="2825496"/>
              <a:ext cx="2043683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250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9002267" y="3483864"/>
              <a:ext cx="2043683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9212579" y="3840480"/>
              <a:ext cx="1623059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9148571" y="399592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9404603" y="399592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 기술 지원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9148571" y="436168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9404603" y="436168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 리포트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9148571" y="472744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9404603" y="472744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활용 지원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9148571" y="509320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9404603" y="509320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다국어 대응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3단계 요금/등급 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등급 뱃지 · 대형 가격 · ✓ 기능 · 추천 강조 (purple)</a:t>
            </a:r>
          </a:p>
        </p:txBody>
      </p:sp>
      <p:grpSp>
        <p:nvGrpSpPr>
          <p:cNvPr id="44" name="asset:CMP-129"/>
          <p:cNvGrpSpPr/>
          <p:nvPr/>
        </p:nvGrpSpPr>
        <p:grpSpPr>
          <a:xfrm>
            <a:off x="1005840" y="1563624"/>
            <a:ext cx="10149839" cy="4581144"/>
            <a:chOff x="1005840" y="1563624"/>
            <a:chExt cx="10149839" cy="4581144"/>
          </a:xfrm>
        </p:grpSpPr>
        <p:sp>
          <p:nvSpPr>
            <p:cNvPr id="5" name="Rounded Rectangle 4"/>
            <p:cNvSpPr/>
            <p:nvPr/>
          </p:nvSpPr>
          <p:spPr>
            <a:xfrm>
              <a:off x="1005840" y="1783080"/>
              <a:ext cx="3139440" cy="416052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706880" y="1984248"/>
              <a:ext cx="1737360" cy="347472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기본형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115568" y="2441448"/>
              <a:ext cx="2919984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Basic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115568" y="2825496"/>
              <a:ext cx="2919984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50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115568" y="3483864"/>
              <a:ext cx="2919984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1325880" y="3840480"/>
              <a:ext cx="24993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261872" y="399592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517904" y="3995928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무제한 확장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61872" y="436168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17904" y="4361688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고급 분석 리포트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261872" y="472744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517904" y="4727448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SLA 보장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4511040" y="1581912"/>
              <a:ext cx="3139440" cy="4562856"/>
            </a:xfrm>
            <a:prstGeom prst="roundRect">
              <a:avLst/>
            </a:prstGeom>
            <a:solidFill>
              <a:srgbClr val="FFFFFF"/>
            </a:solidFill>
            <a:ln w="317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5212080" y="1783080"/>
              <a:ext cx="1737360" cy="347472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표준형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620768" y="2240280"/>
              <a:ext cx="2919984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Standard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620768" y="2624328"/>
              <a:ext cx="2919984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100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620768" y="3282696"/>
              <a:ext cx="2919984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4831080" y="3639312"/>
              <a:ext cx="24993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767072" y="379476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023104" y="3794760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SLA 보장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4767072" y="416052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5023104" y="4160520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전용 인프라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4767072" y="452628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023104" y="4526280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핵심 기능 제공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4767072" y="489204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5023104" y="4892040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 기술 지원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6187440" y="1563624"/>
              <a:ext cx="1371600" cy="36576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★ 추천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8016239" y="1783080"/>
              <a:ext cx="3139440" cy="416052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8717279" y="1984248"/>
              <a:ext cx="1737360" cy="34747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프리미엄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125967" y="2441448"/>
              <a:ext cx="2919984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Premium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8125967" y="2825496"/>
              <a:ext cx="2919984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180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8125967" y="3483864"/>
              <a:ext cx="2919984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8336279" y="3840480"/>
              <a:ext cx="24993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8272271" y="399592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8528304" y="3995928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핵심 기능 제공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8272271" y="436168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8528304" y="4361688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 기술 지원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8272271" y="472744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8528304" y="4727448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 리포트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4단계 요금/등급 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등급 뱃지 · 대형 가격 · ✓ 기능 · 추천 강조 (navy)</a:t>
            </a:r>
          </a:p>
        </p:txBody>
      </p:sp>
      <p:grpSp>
        <p:nvGrpSpPr>
          <p:cNvPr id="58" name="asset:CMP-130"/>
          <p:cNvGrpSpPr/>
          <p:nvPr/>
        </p:nvGrpSpPr>
        <p:grpSpPr>
          <a:xfrm>
            <a:off x="1005840" y="1563624"/>
            <a:ext cx="10149838" cy="4581144"/>
            <a:chOff x="1005840" y="1563624"/>
            <a:chExt cx="10149838" cy="4581144"/>
          </a:xfrm>
        </p:grpSpPr>
        <p:sp>
          <p:nvSpPr>
            <p:cNvPr id="5" name="Rounded Rectangle 4"/>
            <p:cNvSpPr/>
            <p:nvPr/>
          </p:nvSpPr>
          <p:spPr>
            <a:xfrm>
              <a:off x="1005840" y="1783080"/>
              <a:ext cx="2263139" cy="416052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268730" y="1984248"/>
              <a:ext cx="1737360" cy="347472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기본형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115568" y="2441448"/>
              <a:ext cx="2043683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Basic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115568" y="2825496"/>
              <a:ext cx="2043683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50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115568" y="3483864"/>
              <a:ext cx="2043683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1325880" y="3840480"/>
              <a:ext cx="1623059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261872" y="399592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517904" y="399592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고급 분석 리포트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61872" y="436168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17904" y="436168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SLA 보장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261872" y="472744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517904" y="472744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전용 인프라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3634739" y="1581912"/>
              <a:ext cx="2263139" cy="4562856"/>
            </a:xfrm>
            <a:prstGeom prst="roundRect">
              <a:avLst/>
            </a:prstGeom>
            <a:solidFill>
              <a:srgbClr val="FFFFFF"/>
            </a:solidFill>
            <a:ln w="317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3897629" y="1783080"/>
              <a:ext cx="1737360" cy="347472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표준형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3744468" y="2240280"/>
              <a:ext cx="2043683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Standard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744468" y="2624328"/>
              <a:ext cx="2043683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100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3744468" y="3282696"/>
              <a:ext cx="2043683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954779" y="3639312"/>
              <a:ext cx="1623059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890772" y="379476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146804" y="3794760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전용 인프라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890772" y="416052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146804" y="4160520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핵심 기능 제공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890772" y="452628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146804" y="4526280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 기술 지원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890772" y="489204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4146804" y="4892040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 리포트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4434840" y="1563624"/>
              <a:ext cx="1371600" cy="36576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★ 추천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6263640" y="1783080"/>
              <a:ext cx="2263139" cy="416052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6526529" y="1984248"/>
              <a:ext cx="1737360" cy="34747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프리미엄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373368" y="2441448"/>
              <a:ext cx="2043683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Premium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6373368" y="2825496"/>
              <a:ext cx="2043683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180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6373368" y="3483864"/>
              <a:ext cx="2043683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6583679" y="3840480"/>
              <a:ext cx="1623059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6519672" y="399592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6775704" y="399592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 기술 지원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6519672" y="436168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6775704" y="436168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 리포트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6519672" y="472744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6775704" y="472744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활용 지원</a:t>
              </a:r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8892539" y="1783080"/>
              <a:ext cx="2263139" cy="416052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9155429" y="1984248"/>
              <a:ext cx="1737360" cy="34747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확장형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9002267" y="2441448"/>
              <a:ext cx="2043683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Enterprise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9002267" y="2825496"/>
              <a:ext cx="2043683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250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9002267" y="3483864"/>
              <a:ext cx="2043683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9212579" y="3840480"/>
              <a:ext cx="1623059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9148571" y="399592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9404603" y="399592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활용 지원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9148571" y="436168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9404603" y="436168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다국어 대응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9148571" y="472744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9404603" y="472744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우선 지원 채널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9148571" y="509320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9404603" y="509320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맞춤 개발 포함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3단계 요금/등급 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등급 뱃지 · 대형 가격 · ✓ 기능 · 추천 강조 (blue)</a:t>
            </a:r>
          </a:p>
        </p:txBody>
      </p:sp>
      <p:grpSp>
        <p:nvGrpSpPr>
          <p:cNvPr id="44" name="asset:CMP-131"/>
          <p:cNvGrpSpPr/>
          <p:nvPr/>
        </p:nvGrpSpPr>
        <p:grpSpPr>
          <a:xfrm>
            <a:off x="1005840" y="1563624"/>
            <a:ext cx="10149839" cy="4581144"/>
            <a:chOff x="1005840" y="1563624"/>
            <a:chExt cx="10149839" cy="4581144"/>
          </a:xfrm>
        </p:grpSpPr>
        <p:sp>
          <p:nvSpPr>
            <p:cNvPr id="5" name="Rounded Rectangle 4"/>
            <p:cNvSpPr/>
            <p:nvPr/>
          </p:nvSpPr>
          <p:spPr>
            <a:xfrm>
              <a:off x="1005840" y="1783080"/>
              <a:ext cx="3139440" cy="416052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706880" y="1984248"/>
              <a:ext cx="1737360" cy="347472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기본형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115568" y="2441448"/>
              <a:ext cx="2919984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Basic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115568" y="2825496"/>
              <a:ext cx="2919984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50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115568" y="3483864"/>
              <a:ext cx="2919984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1325880" y="3840480"/>
              <a:ext cx="24993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261872" y="399592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517904" y="3995928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SLA 보장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61872" y="436168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17904" y="4361688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전용 인프라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261872" y="472744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517904" y="4727448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핵심 기능 제공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4511040" y="1581912"/>
              <a:ext cx="3139440" cy="4562856"/>
            </a:xfrm>
            <a:prstGeom prst="roundRect">
              <a:avLst/>
            </a:prstGeom>
            <a:solidFill>
              <a:srgbClr val="FFFFFF"/>
            </a:solidFill>
            <a:ln w="317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5212080" y="1783080"/>
              <a:ext cx="1737360" cy="34747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표준형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620768" y="2240280"/>
              <a:ext cx="2919984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Standard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620768" y="2624328"/>
              <a:ext cx="2919984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100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620768" y="3282696"/>
              <a:ext cx="2919984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4831080" y="3639312"/>
              <a:ext cx="24993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767072" y="379476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023104" y="3794760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핵심 기능 제공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4767072" y="416052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5023104" y="4160520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 기술 지원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4767072" y="452628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023104" y="4526280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 리포트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4767072" y="489204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5023104" y="4892040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활용 지원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6187440" y="1563624"/>
              <a:ext cx="1371600" cy="36576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★ 추천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8016239" y="1783080"/>
              <a:ext cx="3139440" cy="416052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8717279" y="1984248"/>
              <a:ext cx="1737360" cy="34747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프리미엄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125967" y="2441448"/>
              <a:ext cx="2919984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Premium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8125967" y="2825496"/>
              <a:ext cx="2919984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180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8125967" y="3483864"/>
              <a:ext cx="2919984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8336279" y="3840480"/>
              <a:ext cx="24993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8272271" y="399592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8528304" y="3995928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 리포트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8272271" y="436168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8528304" y="4361688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활용 지원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8272271" y="472744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8528304" y="4727448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다국어 대응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4단계 요금/등급 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등급 뱃지 · 대형 가격 · ✓ 기능 · 추천 강조 (teal)</a:t>
            </a:r>
          </a:p>
        </p:txBody>
      </p:sp>
      <p:grpSp>
        <p:nvGrpSpPr>
          <p:cNvPr id="58" name="asset:CMP-132"/>
          <p:cNvGrpSpPr/>
          <p:nvPr/>
        </p:nvGrpSpPr>
        <p:grpSpPr>
          <a:xfrm>
            <a:off x="1005840" y="1563624"/>
            <a:ext cx="10149838" cy="4581144"/>
            <a:chOff x="1005840" y="1563624"/>
            <a:chExt cx="10149838" cy="4581144"/>
          </a:xfrm>
        </p:grpSpPr>
        <p:sp>
          <p:nvSpPr>
            <p:cNvPr id="5" name="Rounded Rectangle 4"/>
            <p:cNvSpPr/>
            <p:nvPr/>
          </p:nvSpPr>
          <p:spPr>
            <a:xfrm>
              <a:off x="1005840" y="1783080"/>
              <a:ext cx="2263139" cy="416052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268730" y="1984248"/>
              <a:ext cx="1737360" cy="347472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기본형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115568" y="2441448"/>
              <a:ext cx="2043683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Basic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115568" y="2825496"/>
              <a:ext cx="2043683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50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115568" y="3483864"/>
              <a:ext cx="2043683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1325880" y="3840480"/>
              <a:ext cx="1623059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261872" y="399592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517904" y="399592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전용 인프라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61872" y="436168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17904" y="436168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핵심 기능 제공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261872" y="472744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517904" y="472744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 기술 지원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3634739" y="1581912"/>
              <a:ext cx="2263139" cy="4562856"/>
            </a:xfrm>
            <a:prstGeom prst="roundRect">
              <a:avLst/>
            </a:prstGeom>
            <a:solidFill>
              <a:srgbClr val="FFFFFF"/>
            </a:solidFill>
            <a:ln w="317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3897629" y="1783080"/>
              <a:ext cx="1737360" cy="34747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표준형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3744468" y="2240280"/>
              <a:ext cx="2043683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Standard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744468" y="2624328"/>
              <a:ext cx="2043683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100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3744468" y="3282696"/>
              <a:ext cx="2043683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954779" y="3639312"/>
              <a:ext cx="1623059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890772" y="379476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146804" y="3794760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 기술 지원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890772" y="416052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146804" y="4160520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 리포트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890772" y="452628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146804" y="4526280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활용 지원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890772" y="489204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4146804" y="4892040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다국어 대응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4434840" y="1563624"/>
              <a:ext cx="1371600" cy="36576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★ 추천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6263640" y="1783080"/>
              <a:ext cx="2263139" cy="416052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6526529" y="1984248"/>
              <a:ext cx="1737360" cy="34747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프리미엄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373368" y="2441448"/>
              <a:ext cx="2043683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Premium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6373368" y="2825496"/>
              <a:ext cx="2043683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180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6373368" y="3483864"/>
              <a:ext cx="2043683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6583679" y="3840480"/>
              <a:ext cx="1623059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6519672" y="399592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6775704" y="399592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활용 지원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6519672" y="436168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6775704" y="436168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다국어 대응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6519672" y="472744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6775704" y="472744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우선 지원 채널</a:t>
              </a:r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8892539" y="1783080"/>
              <a:ext cx="2263139" cy="416052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9155429" y="1984248"/>
              <a:ext cx="1737360" cy="34747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확장형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9002267" y="2441448"/>
              <a:ext cx="2043683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Enterprise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9002267" y="2825496"/>
              <a:ext cx="2043683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250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9002267" y="3483864"/>
              <a:ext cx="2043683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9212579" y="3840480"/>
              <a:ext cx="1623059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9148571" y="399592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9404603" y="399592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우선 지원 채널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9148571" y="436168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9404603" y="436168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맞춤 개발 포함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9148571" y="472744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9404603" y="472744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전담 협업팀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9148571" y="509320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9404603" y="509320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무제한 확장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3단계 요금/등급 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등급 뱃지 · 대형 가격 · ✓ 기능 · 추천 강조 (cyan)</a:t>
            </a:r>
          </a:p>
        </p:txBody>
      </p:sp>
      <p:grpSp>
        <p:nvGrpSpPr>
          <p:cNvPr id="44" name="asset:CMP-133"/>
          <p:cNvGrpSpPr/>
          <p:nvPr/>
        </p:nvGrpSpPr>
        <p:grpSpPr>
          <a:xfrm>
            <a:off x="1005840" y="1563624"/>
            <a:ext cx="10149839" cy="4581144"/>
            <a:chOff x="1005840" y="1563624"/>
            <a:chExt cx="10149839" cy="4581144"/>
          </a:xfrm>
        </p:grpSpPr>
        <p:sp>
          <p:nvSpPr>
            <p:cNvPr id="5" name="Rounded Rectangle 4"/>
            <p:cNvSpPr/>
            <p:nvPr/>
          </p:nvSpPr>
          <p:spPr>
            <a:xfrm>
              <a:off x="1005840" y="1783080"/>
              <a:ext cx="3139440" cy="416052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706880" y="1984248"/>
              <a:ext cx="1737360" cy="347472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기본형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115568" y="2441448"/>
              <a:ext cx="2919984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Basic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115568" y="2825496"/>
              <a:ext cx="2919984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50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115568" y="3483864"/>
              <a:ext cx="2919984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1325880" y="3840480"/>
              <a:ext cx="24993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261872" y="399592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517904" y="3995928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핵심 기능 제공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61872" y="436168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17904" y="4361688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 기술 지원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261872" y="472744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517904" y="4727448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 리포트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4511040" y="1581912"/>
              <a:ext cx="3139440" cy="4562856"/>
            </a:xfrm>
            <a:prstGeom prst="roundRect">
              <a:avLst/>
            </a:prstGeom>
            <a:solidFill>
              <a:srgbClr val="FFFFFF"/>
            </a:solidFill>
            <a:ln w="317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5212080" y="1783080"/>
              <a:ext cx="1737360" cy="34747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표준형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620768" y="2240280"/>
              <a:ext cx="2919984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Standard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620768" y="2624328"/>
              <a:ext cx="2919984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100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620768" y="3282696"/>
              <a:ext cx="2919984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4831080" y="3639312"/>
              <a:ext cx="24993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767072" y="379476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023104" y="3794760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 리포트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4767072" y="416052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5023104" y="4160520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활용 지원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4767072" y="452628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023104" y="4526280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다국어 대응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4767072" y="489204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5023104" y="4892040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우선 지원 채널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6187440" y="1563624"/>
              <a:ext cx="1371600" cy="36576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★ 추천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8016239" y="1783080"/>
              <a:ext cx="3139440" cy="416052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8717279" y="1984248"/>
              <a:ext cx="1737360" cy="34747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프리미엄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125967" y="2441448"/>
              <a:ext cx="2919984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Premium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8125967" y="2825496"/>
              <a:ext cx="2919984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180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8125967" y="3483864"/>
              <a:ext cx="2919984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8336279" y="3840480"/>
              <a:ext cx="2499360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8272271" y="399592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8528304" y="3995928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다국어 대응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8272271" y="436168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8528304" y="4361688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우선 지원 채널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8272271" y="472744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8528304" y="4727448"/>
              <a:ext cx="249936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맞춤 개발 포함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4단계 요금/등급 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등급 뱃지 · 대형 가격 · ✓ 기능 · 추천 강조 (purple)</a:t>
            </a:r>
          </a:p>
        </p:txBody>
      </p:sp>
      <p:grpSp>
        <p:nvGrpSpPr>
          <p:cNvPr id="58" name="asset:CMP-134"/>
          <p:cNvGrpSpPr/>
          <p:nvPr/>
        </p:nvGrpSpPr>
        <p:grpSpPr>
          <a:xfrm>
            <a:off x="1005840" y="1563624"/>
            <a:ext cx="10149838" cy="4581144"/>
            <a:chOff x="1005840" y="1563624"/>
            <a:chExt cx="10149838" cy="4581144"/>
          </a:xfrm>
        </p:grpSpPr>
        <p:sp>
          <p:nvSpPr>
            <p:cNvPr id="5" name="Rounded Rectangle 4"/>
            <p:cNvSpPr/>
            <p:nvPr/>
          </p:nvSpPr>
          <p:spPr>
            <a:xfrm>
              <a:off x="1005840" y="1783080"/>
              <a:ext cx="2263139" cy="416052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268730" y="1984248"/>
              <a:ext cx="1737360" cy="347472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기본형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115568" y="2441448"/>
              <a:ext cx="2043683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Basic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115568" y="2825496"/>
              <a:ext cx="2043683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50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115568" y="3483864"/>
              <a:ext cx="2043683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1325880" y="3840480"/>
              <a:ext cx="1623059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261872" y="399592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517904" y="399592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 기술 지원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61872" y="436168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17904" y="436168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 리포트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261872" y="472744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517904" y="472744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활용 지원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3634739" y="1581912"/>
              <a:ext cx="2263139" cy="4562856"/>
            </a:xfrm>
            <a:prstGeom prst="roundRect">
              <a:avLst/>
            </a:prstGeom>
            <a:solidFill>
              <a:srgbClr val="FFFFFF"/>
            </a:solidFill>
            <a:ln w="317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3897629" y="1783080"/>
              <a:ext cx="1737360" cy="347472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표준형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3744468" y="2240280"/>
              <a:ext cx="2043683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Standard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744468" y="2624328"/>
              <a:ext cx="2043683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100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3744468" y="3282696"/>
              <a:ext cx="2043683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954779" y="3639312"/>
              <a:ext cx="1623059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890772" y="379476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146804" y="3794760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활용 지원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890772" y="416052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146804" y="4160520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다국어 대응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890772" y="452628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146804" y="4526280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우선 지원 채널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890772" y="4892040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4146804" y="4892040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맞춤 개발 포함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4434840" y="1563624"/>
              <a:ext cx="1371600" cy="36576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★ 추천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6263640" y="1783080"/>
              <a:ext cx="2263139" cy="416052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6526529" y="1984248"/>
              <a:ext cx="1737360" cy="34747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프리미엄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373368" y="2441448"/>
              <a:ext cx="2043683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Premium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6373368" y="2825496"/>
              <a:ext cx="2043683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180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6373368" y="3483864"/>
              <a:ext cx="2043683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6583679" y="3840480"/>
              <a:ext cx="1623059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6519672" y="399592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6775704" y="399592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우선 지원 채널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6519672" y="436168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6775704" y="436168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맞춤 개발 포함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6519672" y="472744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6775704" y="472744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전담 협업팀</a:t>
              </a:r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8892539" y="1783080"/>
              <a:ext cx="2263139" cy="416052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9155429" y="1984248"/>
              <a:ext cx="1737360" cy="34747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확장형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9002267" y="2441448"/>
              <a:ext cx="2043683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Enterprise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9002267" y="2825496"/>
              <a:ext cx="2043683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250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9002267" y="3483864"/>
              <a:ext cx="2043683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9212579" y="3840480"/>
              <a:ext cx="1623059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9148571" y="399592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9404603" y="399592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전담 협업팀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9148571" y="436168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9404603" y="436168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무제한 확장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9148571" y="472744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9404603" y="472744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고급 분석 리포트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9148571" y="5093208"/>
              <a:ext cx="274320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9404603" y="5093208"/>
              <a:ext cx="162305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SLA 보장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