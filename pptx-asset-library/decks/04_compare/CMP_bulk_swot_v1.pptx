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(blue)</a:t>
            </a:r>
          </a:p>
        </p:txBody>
      </p:sp>
      <p:grpSp>
        <p:nvGrpSpPr>
          <p:cNvPr id="33" name="asset:CMP-093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(teal)</a:t>
            </a:r>
          </a:p>
        </p:txBody>
      </p:sp>
      <p:grpSp>
        <p:nvGrpSpPr>
          <p:cNvPr id="41" name="asset:CMP-094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490472" y="3310127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4650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풍부한 수행 실적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473952" y="3310127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72998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자금 조달 제약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490472" y="5596128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74650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디지털 전환 수요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473952" y="5596128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72998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규제 강화 흐름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(cyan)</a:t>
            </a:r>
          </a:p>
        </p:txBody>
      </p:sp>
      <p:grpSp>
        <p:nvGrpSpPr>
          <p:cNvPr id="33" name="asset:CMP-095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623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(purple)</a:t>
            </a:r>
          </a:p>
        </p:txBody>
      </p:sp>
      <p:grpSp>
        <p:nvGrpSpPr>
          <p:cNvPr id="41" name="asset:CMP-096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490472" y="3310127"/>
              <a:ext cx="109728" cy="1097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4650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풍부한 수행 실적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473952" y="3310127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72998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자금 조달 제약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490472" y="5596128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74650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디지털 전환 수요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473952" y="5596128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72998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규제 강화 흐름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(navy)</a:t>
            </a:r>
          </a:p>
        </p:txBody>
      </p:sp>
      <p:grpSp>
        <p:nvGrpSpPr>
          <p:cNvPr id="33" name="asset:CMP-097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623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(blue)</a:t>
            </a:r>
          </a:p>
        </p:txBody>
      </p:sp>
      <p:grpSp>
        <p:nvGrpSpPr>
          <p:cNvPr id="41" name="asset:CMP-098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490472" y="3310127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4650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풍부한 수행 실적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473952" y="3310127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72998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자금 조달 제약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490472" y="5596128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74650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디지털 전환 수요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473952" y="5596128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72998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규제 강화 흐름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(teal)</a:t>
            </a:r>
          </a:p>
        </p:txBody>
      </p:sp>
      <p:grpSp>
        <p:nvGrpSpPr>
          <p:cNvPr id="33" name="asset:CMP-099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(cyan)</a:t>
            </a:r>
          </a:p>
        </p:txBody>
      </p:sp>
      <p:grpSp>
        <p:nvGrpSpPr>
          <p:cNvPr id="41" name="asset:CMP-100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490472" y="3310127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4650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풍부한 수행 실적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473952" y="3310127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72998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자금 조달 제약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490472" y="5596128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74650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디지털 전환 수요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623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473952" y="5596128"/>
              <a:ext cx="109728" cy="109728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72998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규제 강화 흐름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(purple)</a:t>
            </a:r>
          </a:p>
        </p:txBody>
      </p:sp>
      <p:grpSp>
        <p:nvGrpSpPr>
          <p:cNvPr id="33" name="asset:CMP-101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(navy)</a:t>
            </a:r>
          </a:p>
        </p:txBody>
      </p:sp>
      <p:grpSp>
        <p:nvGrpSpPr>
          <p:cNvPr id="41" name="asset:CMP-102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490472" y="3310127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4650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풍부한 수행 실적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473952" y="3310127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72998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자금 조달 제약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9ABE2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490472" y="5596128"/>
              <a:ext cx="109728" cy="109728"/>
            </a:xfrm>
            <a:prstGeom prst="ellipse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74650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디지털 전환 수요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6233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6233B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473952" y="5596128"/>
              <a:ext cx="109728" cy="109728"/>
            </a:xfrm>
            <a:prstGeom prst="ellipse">
              <a:avLst/>
            </a:prstGeom>
            <a:solidFill>
              <a:srgbClr val="16233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72998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규제 강화 흐름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(blue)</a:t>
            </a:r>
          </a:p>
        </p:txBody>
      </p:sp>
      <p:grpSp>
        <p:nvGrpSpPr>
          <p:cNvPr id="33" name="asset:CMP-103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Oval 19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2" name="Oval 21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4" name="Oval 23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386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1" name="Oval 30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CMP-104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SWOT 2x2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강점·약점·기회·위협 4분면 정리 (teal)</a:t>
            </a:r>
          </a:p>
        </p:txBody>
      </p:sp>
      <p:grpSp>
        <p:nvGrpSpPr>
          <p:cNvPr id="41" name="asset:CMP-104"/>
          <p:cNvGrpSpPr/>
          <p:nvPr/>
        </p:nvGrpSpPr>
        <p:grpSpPr>
          <a:xfrm>
            <a:off x="1234440" y="1600200"/>
            <a:ext cx="9692639" cy="4297680"/>
            <a:chOff x="1234440" y="1600200"/>
            <a:chExt cx="9692639" cy="4297680"/>
          </a:xfrm>
        </p:grpSpPr>
        <p:sp>
          <p:nvSpPr>
            <p:cNvPr id="5" name="Rounded Rectangle 4"/>
            <p:cNvSpPr/>
            <p:nvPr/>
          </p:nvSpPr>
          <p:spPr>
            <a:xfrm>
              <a:off x="123444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Oval 5"/>
            <p:cNvSpPr/>
            <p:nvPr/>
          </p:nvSpPr>
          <p:spPr>
            <a:xfrm>
              <a:off x="1380744" y="1746504"/>
              <a:ext cx="548640" cy="548640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2082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강점 (Strength)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1490472" y="2542032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74650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글로벌 네트워크 보유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490472" y="2926079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74650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검증된 기술 역량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1490472" y="3310127"/>
              <a:ext cx="109728" cy="109728"/>
            </a:xfrm>
            <a:prstGeom prst="ellipse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174650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풍부한 수행 실적</a:t>
              </a: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6217920" y="1600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C0392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Oval 14"/>
            <p:cNvSpPr/>
            <p:nvPr/>
          </p:nvSpPr>
          <p:spPr>
            <a:xfrm>
              <a:off x="6364224" y="1746504"/>
              <a:ext cx="548640" cy="548640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W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004304" y="1801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C0392B"/>
                  </a:solidFill>
                  <a:latin typeface="Pretendard"/>
                  <a:ea typeface="Pretendard"/>
                  <a:cs typeface="Pretendard"/>
                </a:rPr>
                <a:t>약점 (Weakness)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473952" y="2542032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6729984" y="2423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AI 인력 부족</a:t>
              </a:r>
            </a:p>
          </p:txBody>
        </p:sp>
        <p:sp>
          <p:nvSpPr>
            <p:cNvPr id="19" name="Oval 18"/>
            <p:cNvSpPr/>
            <p:nvPr/>
          </p:nvSpPr>
          <p:spPr>
            <a:xfrm>
              <a:off x="6473952" y="2926079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729984" y="2807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브랜드 인지도 열위</a:t>
              </a:r>
            </a:p>
          </p:txBody>
        </p:sp>
        <p:sp>
          <p:nvSpPr>
            <p:cNvPr id="21" name="Oval 20"/>
            <p:cNvSpPr/>
            <p:nvPr/>
          </p:nvSpPr>
          <p:spPr>
            <a:xfrm>
              <a:off x="6473952" y="3310127"/>
              <a:ext cx="109728" cy="109728"/>
            </a:xfrm>
            <a:prstGeom prst="ellipse">
              <a:avLst/>
            </a:prstGeom>
            <a:solidFill>
              <a:srgbClr val="C0392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729984" y="3191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자금 조달 제약</a:t>
              </a:r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123444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380744" y="4032504"/>
              <a:ext cx="548640" cy="548640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O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02082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기회 (Opportunity)</a:t>
              </a:r>
            </a:p>
          </p:txBody>
        </p:sp>
        <p:sp>
          <p:nvSpPr>
            <p:cNvPr id="26" name="Oval 25"/>
            <p:cNvSpPr/>
            <p:nvPr/>
          </p:nvSpPr>
          <p:spPr>
            <a:xfrm>
              <a:off x="1490472" y="4828032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74650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해외 시장 확대</a:t>
              </a:r>
            </a:p>
          </p:txBody>
        </p:sp>
        <p:sp>
          <p:nvSpPr>
            <p:cNvPr id="28" name="Oval 27"/>
            <p:cNvSpPr/>
            <p:nvPr/>
          </p:nvSpPr>
          <p:spPr>
            <a:xfrm>
              <a:off x="1490472" y="5212080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74650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정부 지원 정책</a:t>
              </a:r>
            </a:p>
          </p:txBody>
        </p:sp>
        <p:sp>
          <p:nvSpPr>
            <p:cNvPr id="30" name="Oval 29"/>
            <p:cNvSpPr/>
            <p:nvPr/>
          </p:nvSpPr>
          <p:spPr>
            <a:xfrm>
              <a:off x="1490472" y="5596128"/>
              <a:ext cx="109728" cy="109728"/>
            </a:xfrm>
            <a:prstGeom prst="ellipse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74650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디지털 전환 수요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6217920" y="3886200"/>
              <a:ext cx="4709159" cy="2011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A4A7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6364224" y="4032504"/>
              <a:ext cx="548640" cy="548640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T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4304" y="4087368"/>
              <a:ext cx="3794759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A4A7F"/>
                  </a:solidFill>
                  <a:latin typeface="Pretendard"/>
                  <a:ea typeface="Pretendard"/>
                  <a:cs typeface="Pretendard"/>
                </a:rPr>
                <a:t>위협 (Threat)</a:t>
              </a:r>
            </a:p>
          </p:txBody>
        </p:sp>
        <p:sp>
          <p:nvSpPr>
            <p:cNvPr id="35" name="Oval 34"/>
            <p:cNvSpPr/>
            <p:nvPr/>
          </p:nvSpPr>
          <p:spPr>
            <a:xfrm>
              <a:off x="6473952" y="4828032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729984" y="4709160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경쟁 심화</a:t>
              </a:r>
            </a:p>
          </p:txBody>
        </p:sp>
        <p:sp>
          <p:nvSpPr>
            <p:cNvPr id="37" name="Oval 36"/>
            <p:cNvSpPr/>
            <p:nvPr/>
          </p:nvSpPr>
          <p:spPr>
            <a:xfrm>
              <a:off x="6473952" y="5212080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729984" y="5093208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환율 변동성</a:t>
              </a:r>
            </a:p>
          </p:txBody>
        </p:sp>
        <p:sp>
          <p:nvSpPr>
            <p:cNvPr id="39" name="Oval 38"/>
            <p:cNvSpPr/>
            <p:nvPr/>
          </p:nvSpPr>
          <p:spPr>
            <a:xfrm>
              <a:off x="6473952" y="5596128"/>
              <a:ext cx="109728" cy="109728"/>
            </a:xfrm>
            <a:prstGeom prst="ellipse">
              <a:avLst/>
            </a:prstGeom>
            <a:solidFill>
              <a:srgbClr val="2A4A7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729984" y="5477256"/>
              <a:ext cx="3950207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5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규제 강화 흐름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