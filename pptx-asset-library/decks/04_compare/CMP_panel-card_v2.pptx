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3단계 요금/등급 카드 (플랜 비교)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등급 뱃지 · 대형 가격 · ✓ 기능 목록 · 추천 강조 (v1과 다른 세로 강조형)</a:t>
            </a:r>
          </a:p>
        </p:txBody>
      </p:sp>
      <p:grpSp>
        <p:nvGrpSpPr>
          <p:cNvPr id="44" name="asset:CMP-012"/>
          <p:cNvGrpSpPr/>
          <p:nvPr/>
        </p:nvGrpSpPr>
        <p:grpSpPr>
          <a:xfrm>
            <a:off x="1005840" y="1563624"/>
            <a:ext cx="10149839" cy="4581144"/>
            <a:chOff x="1005840" y="1563624"/>
            <a:chExt cx="10149839" cy="4581144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783080"/>
              <a:ext cx="3139440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706880" y="1984248"/>
              <a:ext cx="1737360" cy="34747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기본형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43000" y="2441448"/>
              <a:ext cx="286512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Basic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43000" y="2825496"/>
              <a:ext cx="2865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100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143000" y="3483864"/>
              <a:ext cx="2865120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71600" y="3840480"/>
              <a:ext cx="240791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98448" y="3995928"/>
              <a:ext cx="292608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72768" y="3995928"/>
              <a:ext cx="240791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기능 제공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98448" y="4379976"/>
              <a:ext cx="292608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72768" y="4379976"/>
              <a:ext cx="240791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기술 지원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98448" y="4764024"/>
              <a:ext cx="292608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72768" y="4764024"/>
              <a:ext cx="240791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 리포트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511040" y="1581912"/>
              <a:ext cx="3139440" cy="4562856"/>
            </a:xfrm>
            <a:prstGeom prst="roundRect">
              <a:avLst/>
            </a:prstGeom>
            <a:solidFill>
              <a:srgbClr val="FFFFFF"/>
            </a:solidFill>
            <a:ln w="317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5212080" y="1783080"/>
              <a:ext cx="1737360" cy="34747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표준형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648200" y="2240280"/>
              <a:ext cx="286512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Standard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648200" y="2624328"/>
              <a:ext cx="2865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250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648200" y="3282696"/>
              <a:ext cx="2865120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만원 / 월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876800" y="3639312"/>
              <a:ext cx="240791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803648" y="3794760"/>
              <a:ext cx="292608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077968" y="3794760"/>
              <a:ext cx="240791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전체 기능 제공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803648" y="4178808"/>
              <a:ext cx="292608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077968" y="4178808"/>
              <a:ext cx="240791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활용 지원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803648" y="4562856"/>
              <a:ext cx="292608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077968" y="4562856"/>
              <a:ext cx="240791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대응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803648" y="4946904"/>
              <a:ext cx="292608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077968" y="4946904"/>
              <a:ext cx="240791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우선 지원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169152" y="1563624"/>
              <a:ext cx="1371600" cy="36576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★ 추천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8016239" y="1783080"/>
              <a:ext cx="3139440" cy="4160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8717279" y="1984248"/>
              <a:ext cx="1737360" cy="347472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확장형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153399" y="2441448"/>
              <a:ext cx="286512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Enterprise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153399" y="2825496"/>
              <a:ext cx="2865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34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맞춤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153399" y="3483864"/>
              <a:ext cx="2865120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별도 견적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381999" y="3840480"/>
              <a:ext cx="2407919" cy="1828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308847" y="3995928"/>
              <a:ext cx="292608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583167" y="3995928"/>
              <a:ext cx="240791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맞춤 개발 포함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308847" y="4379976"/>
              <a:ext cx="292608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583167" y="4379976"/>
              <a:ext cx="240791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전담 협업팀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308847" y="4764024"/>
              <a:ext cx="292608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583167" y="4764024"/>
              <a:ext cx="2407919" cy="31089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무제한 확장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장단점 2열 (Pros / Cons)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장점·단점을 색으로 구분한 2열 대비 패널</a:t>
            </a:r>
          </a:p>
        </p:txBody>
      </p:sp>
      <p:grpSp>
        <p:nvGrpSpPr>
          <p:cNvPr id="25" name="asset:CMP-013"/>
          <p:cNvGrpSpPr/>
          <p:nvPr/>
        </p:nvGrpSpPr>
        <p:grpSpPr>
          <a:xfrm>
            <a:off x="1005840" y="1691640"/>
            <a:ext cx="10149840" cy="4114800"/>
            <a:chOff x="1005840" y="1691640"/>
            <a:chExt cx="10149840" cy="4114800"/>
          </a:xfrm>
        </p:grpSpPr>
        <p:sp>
          <p:nvSpPr>
            <p:cNvPr id="5" name="Rounded Rectangle 4"/>
            <p:cNvSpPr/>
            <p:nvPr/>
          </p:nvSpPr>
          <p:spPr>
            <a:xfrm>
              <a:off x="1005840" y="1691640"/>
              <a:ext cx="4892040" cy="41148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1005840" y="1691640"/>
              <a:ext cx="4892040" cy="731520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장점 (Pros)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280160" y="2688336"/>
              <a:ext cx="310896" cy="310896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19072" y="2633472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표준 대응 체계 확보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280160" y="3346704"/>
              <a:ext cx="310896" cy="310896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719072" y="3291840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기반 품질 자동화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280160" y="4005072"/>
              <a:ext cx="310896" cy="310896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719072" y="3950208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협업 플랫폼 운영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1280160" y="4663440"/>
              <a:ext cx="310896" cy="310896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＋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719072" y="4608576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기반 의사결정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263640" y="1691640"/>
              <a:ext cx="4892040" cy="4114800"/>
            </a:xfrm>
            <a:prstGeom prst="roundRect">
              <a:avLst/>
            </a:prstGeom>
            <a:solidFill>
              <a:srgbClr val="FBF0E1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 Same Side Corner Rectangle 15"/>
            <p:cNvSpPr/>
            <p:nvPr/>
          </p:nvSpPr>
          <p:spPr>
            <a:xfrm>
              <a:off x="6263640" y="1691640"/>
              <a:ext cx="4892040" cy="731520"/>
            </a:xfrm>
            <a:prstGeom prst="round2Same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단점 (Cons)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537959" y="2688336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976872" y="2633472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초기 도입 비용 부담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6537959" y="3346704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976872" y="3291840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내부 역량 확보 기간 필요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6537959" y="4005072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976872" y="3950208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레거시 시스템 연동 복잡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6537959" y="4663440"/>
              <a:ext cx="310896" cy="310896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－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976872" y="4608576"/>
              <a:ext cx="3931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변화 관리 리스크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SWOT 2x2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강점·약점·기회·위협 4분면에 요인을 불릿으로 정리</a:t>
            </a:r>
          </a:p>
        </p:txBody>
      </p:sp>
      <p:grpSp>
        <p:nvGrpSpPr>
          <p:cNvPr id="41" name="asset:CMP-016"/>
          <p:cNvGrpSpPr/>
          <p:nvPr/>
        </p:nvGrpSpPr>
        <p:grpSpPr>
          <a:xfrm>
            <a:off x="1234440" y="1600200"/>
            <a:ext cx="9692639" cy="4297680"/>
            <a:chOff x="1234440" y="1600200"/>
            <a:chExt cx="9692639" cy="4297680"/>
          </a:xfrm>
        </p:grpSpPr>
        <p:sp>
          <p:nvSpPr>
            <p:cNvPr id="5" name="Rounded Rectangle 4"/>
            <p:cNvSpPr/>
            <p:nvPr/>
          </p:nvSpPr>
          <p:spPr>
            <a:xfrm>
              <a:off x="1234440" y="1600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380744" y="1746504"/>
              <a:ext cx="548640" cy="5486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020824" y="1801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강점 (Strength)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1490472" y="2542032"/>
              <a:ext cx="100584" cy="100584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709928" y="2423160"/>
              <a:ext cx="4023359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네트워크 보유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490472" y="2926079"/>
              <a:ext cx="100584" cy="100584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709928" y="2807208"/>
              <a:ext cx="4023359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검증된 기술 역량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1490472" y="3310127"/>
              <a:ext cx="100584" cy="100584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709928" y="3191256"/>
              <a:ext cx="4023359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풍부한 수행 실적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217920" y="1600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6364224" y="1746504"/>
              <a:ext cx="548640" cy="54864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W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004304" y="1801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약점 (Weakness)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473952" y="2542032"/>
              <a:ext cx="100584" cy="100584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693408" y="2423160"/>
              <a:ext cx="4023359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인력 부족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6473952" y="2926079"/>
              <a:ext cx="100584" cy="100584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693408" y="2807208"/>
              <a:ext cx="4023359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브랜드 인지도 열위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6473952" y="3310127"/>
              <a:ext cx="100584" cy="100584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693408" y="3191256"/>
              <a:ext cx="4023359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자금 조달 제약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234440" y="3886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1380744" y="4032504"/>
              <a:ext cx="548640" cy="5486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O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020824" y="4087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기회 (Opportunity)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1490472" y="4828032"/>
              <a:ext cx="100584" cy="100584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709928" y="4709160"/>
              <a:ext cx="4023359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 시장 확대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1490472" y="5212080"/>
              <a:ext cx="100584" cy="100584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709928" y="5093208"/>
              <a:ext cx="4023359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정부 지원 정책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1490472" y="5596128"/>
              <a:ext cx="100584" cy="100584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709928" y="5477256"/>
              <a:ext cx="4023359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디지털 전환 수요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217920" y="3886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6364224" y="4032504"/>
              <a:ext cx="548640" cy="5486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004304" y="4087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위협 (Threat)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6473952" y="4828032"/>
              <a:ext cx="100584" cy="100584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693408" y="4709160"/>
              <a:ext cx="4023359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경쟁 심화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6473952" y="5212080"/>
              <a:ext cx="100584" cy="100584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693408" y="5093208"/>
              <a:ext cx="4023359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환율 변동성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6473952" y="5596128"/>
              <a:ext cx="100584" cy="100584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693408" y="5477256"/>
              <a:ext cx="4023359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규제 강화 흐름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