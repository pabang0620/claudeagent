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3단계 요금/등급 카드 (플랜 비교)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등급 뱃지 · 대형 가격 · ✓ 기능 목록 · 추천 강조 (v1과 다른 세로 강조형)</a:t>
            </a:r>
          </a:p>
        </p:txBody>
      </p:sp>
      <p:grpSp>
        <p:nvGrpSpPr>
          <p:cNvPr id="44" name="asset:CMP-012"/>
          <p:cNvGrpSpPr/>
          <p:nvPr/>
        </p:nvGrpSpPr>
        <p:grpSpPr>
          <a:xfrm>
            <a:off x="1005840" y="1563624"/>
            <a:ext cx="10149839" cy="4581144"/>
            <a:chOff x="1005840" y="1563624"/>
            <a:chExt cx="10149839" cy="4581144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706880" y="1984248"/>
              <a:ext cx="1737360" cy="34747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기본형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43000" y="2441448"/>
              <a:ext cx="28651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Basic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143000" y="2825496"/>
              <a:ext cx="2865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100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143000" y="3483864"/>
              <a:ext cx="2865120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371600" y="3840480"/>
              <a:ext cx="240791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98448" y="3995928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72768" y="3995928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핵심 기능 제공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98448" y="4379976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72768" y="4379976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표준 기술 지원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98448" y="4764024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72768" y="4764024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 리포트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511040" y="1581912"/>
              <a:ext cx="3139440" cy="4562856"/>
            </a:xfrm>
            <a:prstGeom prst="roundRect">
              <a:avLst/>
            </a:prstGeom>
            <a:solidFill>
              <a:srgbClr val="FFFFFF"/>
            </a:solidFill>
            <a:ln w="317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212080" y="1783080"/>
              <a:ext cx="1737360" cy="34747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표준형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48200" y="2240280"/>
              <a:ext cx="28651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Standard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48200" y="2624328"/>
              <a:ext cx="2865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250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48200" y="3282696"/>
              <a:ext cx="2865120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만원 / 월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876800" y="3639312"/>
              <a:ext cx="240791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03648" y="3794760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77968" y="3794760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전체 기능 제공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803648" y="4178808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077968" y="4178808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활용 지원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803648" y="4562856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077968" y="4562856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대응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803648" y="4946904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077968" y="4946904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우선 지원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69152" y="1563624"/>
              <a:ext cx="1371600" cy="36576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★ 추천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8016239" y="1783080"/>
              <a:ext cx="3139440" cy="41605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717279" y="1984248"/>
              <a:ext cx="1737360" cy="34747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확장형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153399" y="2441448"/>
              <a:ext cx="286512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Enterprise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153399" y="2825496"/>
              <a:ext cx="2865120" cy="6400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34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맞춤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153399" y="3483864"/>
              <a:ext cx="2865120" cy="256032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별도 견적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381999" y="3840480"/>
              <a:ext cx="2407919" cy="1828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308847" y="3995928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583167" y="3995928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맞춤 개발 포함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308847" y="4379976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583167" y="4379976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전담 협업팀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308847" y="4764024"/>
              <a:ext cx="292608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2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✓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583167" y="4764024"/>
              <a:ext cx="2407919" cy="310896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무제한 확장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장단점 2열 (Pros / Cons)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장점·단점을 색으로 구분한 2열 대비 패널</a:t>
            </a:r>
          </a:p>
        </p:txBody>
      </p:sp>
      <p:grpSp>
        <p:nvGrpSpPr>
          <p:cNvPr id="25" name="asset:CMP-013"/>
          <p:cNvGrpSpPr/>
          <p:nvPr/>
        </p:nvGrpSpPr>
        <p:grpSpPr>
          <a:xfrm>
            <a:off x="1005840" y="1691640"/>
            <a:ext cx="10149840" cy="4114800"/>
            <a:chOff x="1005840" y="1691640"/>
            <a:chExt cx="10149840" cy="4114800"/>
          </a:xfrm>
        </p:grpSpPr>
        <p:sp>
          <p:nvSpPr>
            <p:cNvPr id="5" name="Rounded Rectangle 4"/>
            <p:cNvSpPr/>
            <p:nvPr/>
          </p:nvSpPr>
          <p:spPr>
            <a:xfrm>
              <a:off x="1005840" y="1691640"/>
              <a:ext cx="4892040" cy="411480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 Same Side Corner Rectangle 5"/>
            <p:cNvSpPr/>
            <p:nvPr/>
          </p:nvSpPr>
          <p:spPr>
            <a:xfrm>
              <a:off x="1005840" y="1691640"/>
              <a:ext cx="4892040" cy="731520"/>
            </a:xfrm>
            <a:prstGeom prst="round2Same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장점 (Pros)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1280160" y="2688336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190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표준 대응 체계 확보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280160" y="3346704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719072" y="3291840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기반 품질 자동화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1280160" y="4005072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719072" y="395020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협업 플랫폼 운영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1280160" y="4663440"/>
              <a:ext cx="310896" cy="310896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＋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19072" y="460857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63640" y="1691640"/>
              <a:ext cx="4892040" cy="4114800"/>
            </a:xfrm>
            <a:prstGeom prst="roundRect">
              <a:avLst/>
            </a:prstGeom>
            <a:solidFill>
              <a:srgbClr val="FBF0E1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 Same Side Corner Rectangle 15"/>
            <p:cNvSpPr/>
            <p:nvPr/>
          </p:nvSpPr>
          <p:spPr>
            <a:xfrm>
              <a:off x="6263640" y="1691640"/>
              <a:ext cx="4892040" cy="731520"/>
            </a:xfrm>
            <a:prstGeom prst="round2Same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단점 (Cons)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537959" y="2688336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976872" y="2633472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초기 도입 비용 부담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537959" y="3346704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976872" y="3291840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역량 확보 기간 필요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537959" y="4005072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76872" y="3950208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레거시 시스템 연동 복잡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6537959" y="4663440"/>
              <a:ext cx="310896" cy="310896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－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976872" y="4608576"/>
              <a:ext cx="39319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변화 관리 리스크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SWOT 2x2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강점·약점·기회·위협 4분면에 요인을 불릿으로 정리</a:t>
            </a:r>
          </a:p>
        </p:txBody>
      </p:sp>
      <p:grpSp>
        <p:nvGrpSpPr>
          <p:cNvPr id="41" name="asset:CMP-016"/>
          <p:cNvGrpSpPr/>
          <p:nvPr/>
        </p:nvGrpSpPr>
        <p:grpSpPr>
          <a:xfrm>
            <a:off x="1234440" y="1600200"/>
            <a:ext cx="9692639" cy="4297680"/>
            <a:chOff x="1234440" y="1600200"/>
            <a:chExt cx="9692639" cy="4297680"/>
          </a:xfrm>
        </p:grpSpPr>
        <p:sp>
          <p:nvSpPr>
            <p:cNvPr id="5" name="Rounded Rectangle 4"/>
            <p:cNvSpPr/>
            <p:nvPr/>
          </p:nvSpPr>
          <p:spPr>
            <a:xfrm>
              <a:off x="123444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80744" y="1746504"/>
              <a:ext cx="548640" cy="548640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S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2082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강점 (Strength)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490472" y="2542032"/>
              <a:ext cx="100584" cy="100584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709928" y="2423160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글로벌 네트워크 보유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490472" y="2926079"/>
              <a:ext cx="100584" cy="100584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09928" y="2807208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검증된 기술 역량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1490472" y="3310127"/>
              <a:ext cx="100584" cy="100584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3191256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풍부한 수행 실적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17920" y="1600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6364224" y="1746504"/>
              <a:ext cx="548640" cy="54864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W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004304" y="1801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약점 (Weakness)</a:t>
              </a:r>
            </a:p>
          </p:txBody>
        </p:sp>
        <p:sp>
          <p:nvSpPr>
            <p:cNvPr id="17" name="Oval 16"/>
            <p:cNvSpPr/>
            <p:nvPr/>
          </p:nvSpPr>
          <p:spPr>
            <a:xfrm>
              <a:off x="6473952" y="2542032"/>
              <a:ext cx="100584" cy="100584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693408" y="2423160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AI 인력 부족</a:t>
              </a:r>
            </a:p>
          </p:txBody>
        </p:sp>
        <p:sp>
          <p:nvSpPr>
            <p:cNvPr id="19" name="Oval 18"/>
            <p:cNvSpPr/>
            <p:nvPr/>
          </p:nvSpPr>
          <p:spPr>
            <a:xfrm>
              <a:off x="6473952" y="2926079"/>
              <a:ext cx="100584" cy="100584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3408" y="2807208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브랜드 인지도 열위</a:t>
              </a:r>
            </a:p>
          </p:txBody>
        </p:sp>
        <p:sp>
          <p:nvSpPr>
            <p:cNvPr id="21" name="Oval 20"/>
            <p:cNvSpPr/>
            <p:nvPr/>
          </p:nvSpPr>
          <p:spPr>
            <a:xfrm>
              <a:off x="6473952" y="3310127"/>
              <a:ext cx="100584" cy="100584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693408" y="3191256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자금 조달 제약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23444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1380744" y="4032504"/>
              <a:ext cx="548640" cy="54864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02082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기회 (Opportunity)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490472" y="4828032"/>
              <a:ext cx="100584" cy="100584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709928" y="4709160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해외 시장 확대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1490472" y="5212080"/>
              <a:ext cx="100584" cy="100584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09928" y="5093208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정부 지원 정책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490472" y="5596128"/>
              <a:ext cx="100584" cy="100584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709928" y="5477256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디지털 전환 수요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6217920" y="3886200"/>
              <a:ext cx="4709159" cy="20116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6364224" y="4032504"/>
              <a:ext cx="548640" cy="548640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04304" y="4087368"/>
              <a:ext cx="379475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A4A7F"/>
                  </a:solidFill>
                  <a:latin typeface="Pretendard"/>
                  <a:ea typeface="Pretendard"/>
                  <a:cs typeface="Pretendard"/>
                </a:rPr>
                <a:t>위협 (Threat)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6473952" y="4828032"/>
              <a:ext cx="100584" cy="100584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693408" y="4709160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경쟁 심화</a:t>
              </a:r>
            </a:p>
          </p:txBody>
        </p:sp>
        <p:sp>
          <p:nvSpPr>
            <p:cNvPr id="37" name="Oval 36"/>
            <p:cNvSpPr/>
            <p:nvPr/>
          </p:nvSpPr>
          <p:spPr>
            <a:xfrm>
              <a:off x="6473952" y="5212080"/>
              <a:ext cx="100584" cy="100584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693408" y="5093208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환율 변동성</a:t>
              </a:r>
            </a:p>
          </p:txBody>
        </p:sp>
        <p:sp>
          <p:nvSpPr>
            <p:cNvPr id="39" name="Oval 38"/>
            <p:cNvSpPr/>
            <p:nvPr/>
          </p:nvSpPr>
          <p:spPr>
            <a:xfrm>
              <a:off x="6473952" y="5596128"/>
              <a:ext cx="100584" cy="100584"/>
            </a:xfrm>
            <a:prstGeom prst="ellipse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693408" y="5477256"/>
              <a:ext cx="4023359" cy="329184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05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규제 강화 흐름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