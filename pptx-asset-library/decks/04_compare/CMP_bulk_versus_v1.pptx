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CMP-047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우열 비교표 (자사 vs 경쟁)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자사 열 강조 · ○△✕ 기호로 우열 표기 (blue)</a:t>
            </a:r>
          </a:p>
        </p:txBody>
      </p:sp>
      <p:graphicFrame>
        <p:nvGraphicFramePr>
          <p:cNvPr id="5" name="asset:CMP-047"/>
          <p:cNvGraphicFramePr>
            <a:graphicFrameLocks noGrp="1"/>
          </p:cNvGraphicFramePr>
          <p:nvPr/>
        </p:nvGraphicFramePr>
        <p:xfrm>
          <a:off x="1005840" y="1417320"/>
          <a:ext cx="10149837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3360"/>
                <a:gridCol w="2042159"/>
                <a:gridCol w="2042159"/>
                <a:gridCol w="2042159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대응 역량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협업 프로세스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활용 성숙도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관리 체계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가격 경쟁력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CMP-048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우열 비교표 (자사 vs 경쟁)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자사 열 강조 · ○△✕ 기호로 우열 표기 (teal)</a:t>
            </a:r>
          </a:p>
        </p:txBody>
      </p:sp>
      <p:graphicFrame>
        <p:nvGraphicFramePr>
          <p:cNvPr id="5" name="asset:CMP-048"/>
          <p:cNvGraphicFramePr>
            <a:graphicFrameLocks noGrp="1"/>
          </p:cNvGraphicFramePr>
          <p:nvPr/>
        </p:nvGraphicFramePr>
        <p:xfrm>
          <a:off x="1005840" y="1417320"/>
          <a:ext cx="10149836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3360"/>
                <a:gridCol w="1531619"/>
                <a:gridCol w="1531619"/>
                <a:gridCol w="1531619"/>
                <a:gridCol w="1531619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</a:t>
                      </a:r>
                    </a:p>
                  </a:txBody>
                  <a:tcPr anchor="ctr" marL="63500" marR="63500" marT="38100" marB="38100"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C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협업 프로세스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활용 성숙도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관리 체계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가격 경쟁력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납기 대응력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기술 전문성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CMP-049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우열 비교표 (자사 vs 경쟁)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자사 열 강조 · ○△✕ 기호로 우열 표기 (cyan)</a:t>
            </a:r>
          </a:p>
        </p:txBody>
      </p:sp>
      <p:graphicFrame>
        <p:nvGraphicFramePr>
          <p:cNvPr id="5" name="asset:CMP-049"/>
          <p:cNvGraphicFramePr>
            <a:graphicFrameLocks noGrp="1"/>
          </p:cNvGraphicFramePr>
          <p:nvPr/>
        </p:nvGraphicFramePr>
        <p:xfrm>
          <a:off x="1005840" y="1417320"/>
          <a:ext cx="10149835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3360"/>
                <a:gridCol w="1225295"/>
                <a:gridCol w="1225295"/>
                <a:gridCol w="1225295"/>
                <a:gridCol w="1225295"/>
                <a:gridCol w="1225295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</a:t>
                      </a:r>
                    </a:p>
                  </a:txBody>
                  <a:tcPr anchor="ctr" marL="63500" marR="63500" marT="38100" marB="38100">
                    <a:solidFill>
                      <a:srgbClr val="29AB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C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D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AI 활용 성숙도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관리 체계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가격 경쟁력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납기 대응력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기술 전문성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보안 수준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사용자 경험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CMP-050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우열 비교표 (자사 vs 경쟁)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자사 열 강조 · ○△✕ 기호로 우열 표기 (purple)</a:t>
            </a:r>
          </a:p>
        </p:txBody>
      </p:sp>
      <p:graphicFrame>
        <p:nvGraphicFramePr>
          <p:cNvPr id="5" name="asset:CMP-050"/>
          <p:cNvGraphicFramePr>
            <a:graphicFrameLocks noGrp="1"/>
          </p:cNvGraphicFramePr>
          <p:nvPr/>
        </p:nvGraphicFramePr>
        <p:xfrm>
          <a:off x="1005840" y="1417320"/>
          <a:ext cx="10149837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3360"/>
                <a:gridCol w="2042159"/>
                <a:gridCol w="2042159"/>
                <a:gridCol w="2042159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</a:t>
                      </a:r>
                    </a:p>
                  </a:txBody>
                  <a:tcPr anchor="ctr" marL="63500" marR="63500" marT="38100" marB="38100"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품질 관리 체계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가격 경쟁력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납기 대응력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기술 전문성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보안 수준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CMP-051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우열 비교표 (자사 vs 경쟁)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자사 열 강조 · ○△✕ 기호로 우열 표기 (navy)</a:t>
            </a:r>
          </a:p>
        </p:txBody>
      </p:sp>
      <p:graphicFrame>
        <p:nvGraphicFramePr>
          <p:cNvPr id="5" name="asset:CMP-051"/>
          <p:cNvGraphicFramePr>
            <a:graphicFrameLocks noGrp="1"/>
          </p:cNvGraphicFramePr>
          <p:nvPr/>
        </p:nvGraphicFramePr>
        <p:xfrm>
          <a:off x="1005840" y="1417320"/>
          <a:ext cx="10149836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3360"/>
                <a:gridCol w="1531619"/>
                <a:gridCol w="1531619"/>
                <a:gridCol w="1531619"/>
                <a:gridCol w="1531619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C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가격 경쟁력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납기 대응력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기술 전문성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보안 수준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사용자 경험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시스템 확장성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CMP-052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우열 비교표 (자사 vs 경쟁)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자사 열 강조 · ○△✕ 기호로 우열 표기 (blue)</a:t>
            </a:r>
          </a:p>
        </p:txBody>
      </p:sp>
      <p:graphicFrame>
        <p:nvGraphicFramePr>
          <p:cNvPr id="5" name="asset:CMP-052"/>
          <p:cNvGraphicFramePr>
            <a:graphicFrameLocks noGrp="1"/>
          </p:cNvGraphicFramePr>
          <p:nvPr/>
        </p:nvGraphicFramePr>
        <p:xfrm>
          <a:off x="1005840" y="1417320"/>
          <a:ext cx="10149835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3360"/>
                <a:gridCol w="1225295"/>
                <a:gridCol w="1225295"/>
                <a:gridCol w="1225295"/>
                <a:gridCol w="1225295"/>
                <a:gridCol w="1225295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C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D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납기 대응력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기술 전문성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보안 수준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사용자 경험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시스템 확장성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 편의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 체계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CMP-053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우열 비교표 (자사 vs 경쟁)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자사 열 강조 · ○△✕ 기호로 우열 표기 (teal)</a:t>
            </a:r>
          </a:p>
        </p:txBody>
      </p:sp>
      <p:graphicFrame>
        <p:nvGraphicFramePr>
          <p:cNvPr id="5" name="asset:CMP-053"/>
          <p:cNvGraphicFramePr>
            <a:graphicFrameLocks noGrp="1"/>
          </p:cNvGraphicFramePr>
          <p:nvPr/>
        </p:nvGraphicFramePr>
        <p:xfrm>
          <a:off x="1005840" y="1417320"/>
          <a:ext cx="10149837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3360"/>
                <a:gridCol w="2042159"/>
                <a:gridCol w="2042159"/>
                <a:gridCol w="2042159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</a:t>
                      </a:r>
                    </a:p>
                  </a:txBody>
                  <a:tcPr anchor="ctr" marL="63500" marR="63500" marT="38100" marB="38100"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기술 전문성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보안 수준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사용자 경험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시스템 확장성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 편의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CMP-054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우열 비교표 (자사 vs 경쟁)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자사 열 강조 · ○△✕ 기호로 우열 표기 (cyan)</a:t>
            </a:r>
          </a:p>
        </p:txBody>
      </p:sp>
      <p:graphicFrame>
        <p:nvGraphicFramePr>
          <p:cNvPr id="5" name="asset:CMP-054"/>
          <p:cNvGraphicFramePr>
            <a:graphicFrameLocks noGrp="1"/>
          </p:cNvGraphicFramePr>
          <p:nvPr/>
        </p:nvGraphicFramePr>
        <p:xfrm>
          <a:off x="1005840" y="1417320"/>
          <a:ext cx="10149836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3360"/>
                <a:gridCol w="1531619"/>
                <a:gridCol w="1531619"/>
                <a:gridCol w="1531619"/>
                <a:gridCol w="1531619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</a:t>
                      </a:r>
                    </a:p>
                  </a:txBody>
                  <a:tcPr anchor="ctr" marL="63500" marR="63500" marT="38100" marB="38100">
                    <a:solidFill>
                      <a:srgbClr val="29AB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C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데이터 보안 수준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사용자 경험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시스템 확장성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 편의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 체계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시장 이해도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CMP-055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우열 비교표 (자사 vs 경쟁)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자사 열 강조 · ○△✕ 기호로 우열 표기 (purple)</a:t>
            </a:r>
          </a:p>
        </p:txBody>
      </p:sp>
      <p:graphicFrame>
        <p:nvGraphicFramePr>
          <p:cNvPr id="5" name="asset:CMP-055"/>
          <p:cNvGraphicFramePr>
            <a:graphicFrameLocks noGrp="1"/>
          </p:cNvGraphicFramePr>
          <p:nvPr/>
        </p:nvGraphicFramePr>
        <p:xfrm>
          <a:off x="1005840" y="1417320"/>
          <a:ext cx="10149835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3360"/>
                <a:gridCol w="1225295"/>
                <a:gridCol w="1225295"/>
                <a:gridCol w="1225295"/>
                <a:gridCol w="1225295"/>
                <a:gridCol w="1225295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</a:t>
                      </a:r>
                    </a:p>
                  </a:txBody>
                  <a:tcPr anchor="ctr" marL="63500" marR="63500" marT="38100" marB="38100"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C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D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사용자 경험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시스템 확장성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 편의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 체계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시장 이해도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효율성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혁신 역량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CMP-056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우열 비교표 (자사 vs 경쟁)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자사 열 강조 · ○△✕ 기호로 우열 표기 (navy)</a:t>
            </a:r>
          </a:p>
        </p:txBody>
      </p:sp>
      <p:graphicFrame>
        <p:nvGraphicFramePr>
          <p:cNvPr id="5" name="asset:CMP-056"/>
          <p:cNvGraphicFramePr>
            <a:graphicFrameLocks noGrp="1"/>
          </p:cNvGraphicFramePr>
          <p:nvPr/>
        </p:nvGraphicFramePr>
        <p:xfrm>
          <a:off x="1005840" y="1417320"/>
          <a:ext cx="10149837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3360"/>
                <a:gridCol w="2042159"/>
                <a:gridCol w="2042159"/>
                <a:gridCol w="2042159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시스템 확장성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 편의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 체계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시장 이해도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효율성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CMP-057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우열 비교표 (자사 vs 경쟁)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자사 열 강조 · ○△✕ 기호로 우열 표기 (blue)</a:t>
            </a:r>
          </a:p>
        </p:txBody>
      </p:sp>
      <p:graphicFrame>
        <p:nvGraphicFramePr>
          <p:cNvPr id="5" name="asset:CMP-057"/>
          <p:cNvGraphicFramePr>
            <a:graphicFrameLocks noGrp="1"/>
          </p:cNvGraphicFramePr>
          <p:nvPr/>
        </p:nvGraphicFramePr>
        <p:xfrm>
          <a:off x="1005840" y="1417320"/>
          <a:ext cx="10149836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3360"/>
                <a:gridCol w="1531619"/>
                <a:gridCol w="1531619"/>
                <a:gridCol w="1531619"/>
                <a:gridCol w="1531619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C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유지보수 편의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 체계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시장 이해도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효율성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혁신 역량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신뢰도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CMP-058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우열 비교표 (자사 vs 경쟁)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자사 열 강조 · ○△✕ 기호로 우열 표기 (teal)</a:t>
            </a:r>
          </a:p>
        </p:txBody>
      </p:sp>
      <p:graphicFrame>
        <p:nvGraphicFramePr>
          <p:cNvPr id="5" name="asset:CMP-058"/>
          <p:cNvGraphicFramePr>
            <a:graphicFrameLocks noGrp="1"/>
          </p:cNvGraphicFramePr>
          <p:nvPr/>
        </p:nvGraphicFramePr>
        <p:xfrm>
          <a:off x="1005840" y="1417320"/>
          <a:ext cx="10149835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3360"/>
                <a:gridCol w="1225295"/>
                <a:gridCol w="1225295"/>
                <a:gridCol w="1225295"/>
                <a:gridCol w="1225295"/>
                <a:gridCol w="1225295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</a:t>
                      </a:r>
                    </a:p>
                  </a:txBody>
                  <a:tcPr anchor="ctr" marL="63500" marR="63500" marT="38100" marB="38100">
                    <a:solidFill>
                      <a:srgbClr val="1F9E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C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D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지원 체계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시장 이해도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효율성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혁신 역량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신뢰도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수준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리스크 관리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CMP-059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우열 비교표 (자사 vs 경쟁)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자사 열 강조 · ○△✕ 기호로 우열 표기 (cyan)</a:t>
            </a:r>
          </a:p>
        </p:txBody>
      </p:sp>
      <p:graphicFrame>
        <p:nvGraphicFramePr>
          <p:cNvPr id="5" name="asset:CMP-059"/>
          <p:cNvGraphicFramePr>
            <a:graphicFrameLocks noGrp="1"/>
          </p:cNvGraphicFramePr>
          <p:nvPr/>
        </p:nvGraphicFramePr>
        <p:xfrm>
          <a:off x="1005840" y="1417320"/>
          <a:ext cx="10149837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3360"/>
                <a:gridCol w="2042159"/>
                <a:gridCol w="2042159"/>
                <a:gridCol w="2042159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</a:t>
                      </a:r>
                    </a:p>
                  </a:txBody>
                  <a:tcPr anchor="ctr" marL="63500" marR="63500" marT="38100" marB="38100">
                    <a:solidFill>
                      <a:srgbClr val="29ABE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시장 이해도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효율성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혁신 역량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신뢰도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수준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CMP-060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우열 비교표 (자사 vs 경쟁)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자사 열 강조 · ○△✕ 기호로 우열 표기 (purple)</a:t>
            </a:r>
          </a:p>
        </p:txBody>
      </p:sp>
      <p:graphicFrame>
        <p:nvGraphicFramePr>
          <p:cNvPr id="5" name="asset:CMP-060"/>
          <p:cNvGraphicFramePr>
            <a:graphicFrameLocks noGrp="1"/>
          </p:cNvGraphicFramePr>
          <p:nvPr/>
        </p:nvGraphicFramePr>
        <p:xfrm>
          <a:off x="1005840" y="1417320"/>
          <a:ext cx="10149836" cy="3840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3360"/>
                <a:gridCol w="1531619"/>
                <a:gridCol w="1531619"/>
                <a:gridCol w="1531619"/>
                <a:gridCol w="1531619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</a:t>
                      </a:r>
                    </a:p>
                  </a:txBody>
                  <a:tcPr anchor="ctr" marL="63500" marR="63500" marT="38100" marB="38100">
                    <a:solidFill>
                      <a:srgbClr val="7B2D8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C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운영 효율성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혁신 역량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신뢰도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수준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리스크 관리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규제 준수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CMP-061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우열 비교표 (자사 vs 경쟁)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자사 열 강조 · ○△✕ 기호로 우열 표기 (navy)</a:t>
            </a:r>
          </a:p>
        </p:txBody>
      </p:sp>
      <p:graphicFrame>
        <p:nvGraphicFramePr>
          <p:cNvPr id="5" name="asset:CMP-061"/>
          <p:cNvGraphicFramePr>
            <a:graphicFrameLocks noGrp="1"/>
          </p:cNvGraphicFramePr>
          <p:nvPr/>
        </p:nvGraphicFramePr>
        <p:xfrm>
          <a:off x="1005840" y="1417320"/>
          <a:ext cx="10149835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3360"/>
                <a:gridCol w="1225295"/>
                <a:gridCol w="1225295"/>
                <a:gridCol w="1225295"/>
                <a:gridCol w="1225295"/>
                <a:gridCol w="1225295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</a:t>
                      </a:r>
                    </a:p>
                  </a:txBody>
                  <a:tcPr anchor="ctr" marL="63500" marR="63500" marT="38100" marB="38100">
                    <a:solidFill>
                      <a:srgbClr val="2A4A7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C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D</a:t>
                      </a:r>
                    </a:p>
                  </a:txBody>
                  <a:tcPr anchor="ctr" marL="63500" marR="63500" marT="38100" marB="38100">
                    <a:solidFill>
                      <a:srgbClr val="16233B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혁신 역량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신뢰도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수준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리스크 관리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규제 준수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연동 용이성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글로벌 대응 역량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CMP-062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475488"/>
            <a:ext cx="11155680" cy="45720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800" b="1">
                <a:solidFill>
                  <a:srgbClr val="1F3864"/>
                </a:solidFill>
                <a:latin typeface="Pretendard"/>
                <a:ea typeface="Pretendard"/>
                <a:cs typeface="Pretendard"/>
              </a:rPr>
              <a:t>우열 비교표 (자사 vs 경쟁)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932688"/>
            <a:ext cx="11155680" cy="292608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1100" b="0">
                <a:solidFill>
                  <a:srgbClr val="595959"/>
                </a:solidFill>
                <a:latin typeface="Pretendard"/>
                <a:ea typeface="Pretendard"/>
                <a:cs typeface="Pretendard"/>
              </a:rPr>
              <a:t>자사 열 강조 · ○△✕ 기호로 우열 표기 (blue)</a:t>
            </a:r>
          </a:p>
        </p:txBody>
      </p:sp>
      <p:graphicFrame>
        <p:nvGraphicFramePr>
          <p:cNvPr id="5" name="asset:CMP-062"/>
          <p:cNvGraphicFramePr>
            <a:graphicFrameLocks noGrp="1"/>
          </p:cNvGraphicFramePr>
          <p:nvPr/>
        </p:nvGraphicFramePr>
        <p:xfrm>
          <a:off x="1005840" y="1417320"/>
          <a:ext cx="10149837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23360"/>
                <a:gridCol w="2042159"/>
                <a:gridCol w="2042159"/>
                <a:gridCol w="2042159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평가 항목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자사</a:t>
                      </a:r>
                    </a:p>
                  </a:txBody>
                  <a:tcPr anchor="ctr" marL="63500" marR="63500" marT="38100" marB="38100">
                    <a:solidFill>
                      <a:srgbClr val="2E75D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A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경쟁사 B</a:t>
                      </a:r>
                    </a:p>
                  </a:txBody>
                  <a:tcPr anchor="ctr" marL="63500" marR="63500" marT="38100" marB="38100">
                    <a:solidFill>
                      <a:srgbClr val="1F386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브랜드 신뢰도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현지화 수준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리스크 관리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규제 준수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9E8F"/>
                          </a:solidFill>
                          <a:latin typeface="Pretendard"/>
                          <a:ea typeface="Pretendard"/>
                          <a:cs typeface="Pretendard"/>
                        </a:rPr>
                        <a:t>○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2F2F2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22222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연동 용이성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595959"/>
                          </a:solidFill>
                          <a:latin typeface="Pretendard"/>
                          <a:ea typeface="Pretendard"/>
                          <a:cs typeface="Pretendard"/>
                        </a:rPr>
                        <a:t>△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C0392B"/>
                          </a:solidFill>
                          <a:latin typeface="Pretendard"/>
                          <a:ea typeface="Pretendard"/>
                          <a:cs typeface="Pretendard"/>
                        </a:rPr>
                        <a:t>✕</a:t>
                      </a:r>
                    </a:p>
                  </a:txBody>
                  <a:tcPr anchor="ctr" marL="63500" marR="63500" marT="38100" marB="381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