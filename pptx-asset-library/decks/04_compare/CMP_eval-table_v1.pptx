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CMP-003</a:t>
            </a:r>
          </a:p>
        </p:txBody>
      </p:sp>
      <p:grpSp>
        <p:nvGrpSpPr>
          <p:cNvPr id="6" name="asset:CMP-003"/>
          <p:cNvGrpSpPr/>
          <p:nvPr/>
        </p:nvGrpSpPr>
        <p:grpSpPr>
          <a:xfrm>
            <a:off x="502920" y="475488"/>
            <a:ext cx="11155680" cy="4343400"/>
            <a:chOff x="502920" y="475488"/>
            <a:chExt cx="11155680" cy="434340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3열 평가표 (현행 vs 개선)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항목별 현행·개선 상태를 기호로 표기</a:t>
              </a:r>
            </a:p>
          </p:txBody>
        </p:sp>
        <p:graphicFrame>
          <p:nvGraphicFramePr>
            <p:cNvPr id="5" name="CMP-003_bg"/>
            <p:cNvGraphicFramePr>
              <a:graphicFrameLocks noGrp="1"/>
            </p:cNvGraphicFramePr>
            <p:nvPr/>
          </p:nvGraphicFramePr>
          <p:xfrm>
            <a:off x="1005840" y="1417320"/>
            <a:ext cx="10149840" cy="3401568"/>
          </p:xfrm>
          <a:graphic>
            <a:graphicData uri="http://schemas.openxmlformats.org/drawingml/2006/table">
              <a:tbl>
                <a:tblPr>
                  <a:tableStyleId>{5C22544A-7EE6-4342-B048-85BDC9FD1C3A}</a:tableStyleId>
                </a:tblPr>
                <a:tblGrid>
                  <a:gridCol w="4297680"/>
                  <a:gridCol w="2926080"/>
                  <a:gridCol w="2926080"/>
                </a:tblGrid>
                <a:tr h="566928"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평가 항목</a:t>
                        </a:r>
                      </a:p>
                    </a:txBody>
                    <a:tcPr anchor="ctr" marL="63500" marR="63500" marT="38100" marB="38100"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현행</a:t>
                        </a:r>
                      </a:p>
                    </a:txBody>
                    <a:tcPr anchor="ctr" marL="63500" marR="63500" marT="38100" marB="38100"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개선</a:t>
                        </a:r>
                      </a:p>
                    </a:txBody>
                    <a:tcPr anchor="ctr" marL="63500" marR="63500" marT="38100" marB="38100">
                      <a:solidFill>
                        <a:srgbClr val="1F3864"/>
                      </a:solidFill>
                    </a:tcPr>
                  </a:tc>
                </a:tr>
                <a:tr h="566928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글로벌 역량</a:t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1">
                            <a:solidFill>
                              <a:srgbClr val="C0392B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✕ 미흡</a:t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1">
                            <a:solidFill>
                              <a:srgbClr val="1F9E8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○ 확보</a:t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</a:tr>
                <a:tr h="566928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협업 역량</a:t>
                        </a:r>
                      </a:p>
                    </a:txBody>
                    <a:tcPr anchor="ctr" marL="63500" marR="63500" marT="38100" marB="38100"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1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△ 보통</a:t>
                        </a:r>
                      </a:p>
                    </a:txBody>
                    <a:tcPr anchor="ctr" marL="63500" marR="63500" marT="38100" marB="38100"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1">
                            <a:solidFill>
                              <a:srgbClr val="1F9E8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○ 우수</a:t>
                        </a:r>
                      </a:p>
                    </a:txBody>
                    <a:tcPr anchor="ctr" marL="63500" marR="63500" marT="38100" marB="38100">
                      <a:solidFill>
                        <a:srgbClr val="F2F2F2"/>
                      </a:solidFill>
                    </a:tcPr>
                  </a:tc>
                </a:tr>
                <a:tr h="566928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AI 활용도</a:t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1">
                            <a:solidFill>
                              <a:srgbClr val="C0392B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✕ 없음</a:t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1">
                            <a:solidFill>
                              <a:srgbClr val="1F9E8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○ 적용</a:t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</a:tr>
                <a:tr h="566928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품질 관리</a:t>
                        </a:r>
                      </a:p>
                    </a:txBody>
                    <a:tcPr anchor="ctr" marL="63500" marR="63500" marT="38100" marB="38100"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1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△ 부분</a:t>
                        </a:r>
                      </a:p>
                    </a:txBody>
                    <a:tcPr anchor="ctr" marL="63500" marR="63500" marT="38100" marB="38100"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1">
                            <a:solidFill>
                              <a:srgbClr val="1F9E8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○ 전면</a:t>
                        </a:r>
                      </a:p>
                    </a:txBody>
                    <a:tcPr anchor="ctr" marL="63500" marR="63500" marT="38100" marB="38100">
                      <a:solidFill>
                        <a:srgbClr val="F2F2F2"/>
                      </a:solidFill>
                    </a:tcPr>
                  </a:tc>
                </a:tr>
                <a:tr h="566928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대응 속도</a:t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1">
                            <a:solidFill>
                              <a:srgbClr val="C0392B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✕ 지연</a:t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1">
                            <a:solidFill>
                              <a:srgbClr val="1F9E8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○ 즉시</a:t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CMP-006</a:t>
            </a:r>
          </a:p>
        </p:txBody>
      </p:sp>
      <p:grpSp>
        <p:nvGrpSpPr>
          <p:cNvPr id="6" name="asset:CMP-006"/>
          <p:cNvGrpSpPr/>
          <p:nvPr/>
        </p:nvGrpSpPr>
        <p:grpSpPr>
          <a:xfrm>
            <a:off x="502920" y="475488"/>
            <a:ext cx="11155680" cy="4782312"/>
            <a:chOff x="502920" y="475488"/>
            <a:chExt cx="11155680" cy="478231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가중치 평가표 (배점 · 평가)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항목별 배점과 획득 점수 합산</a:t>
              </a:r>
            </a:p>
          </p:txBody>
        </p:sp>
        <p:graphicFrame>
          <p:nvGraphicFramePr>
            <p:cNvPr id="5" name="CMP-006_bg"/>
            <p:cNvGraphicFramePr>
              <a:graphicFrameLocks noGrp="1"/>
            </p:cNvGraphicFramePr>
            <p:nvPr/>
          </p:nvGraphicFramePr>
          <p:xfrm>
            <a:off x="1463040" y="1417320"/>
            <a:ext cx="9235440" cy="3840480"/>
          </p:xfrm>
          <a:graphic>
            <a:graphicData uri="http://schemas.openxmlformats.org/drawingml/2006/table">
              <a:tbl>
                <a:tblPr>
                  <a:tableStyleId>{5C22544A-7EE6-4342-B048-85BDC9FD1C3A}</a:tableStyleId>
                </a:tblPr>
                <a:tblGrid>
                  <a:gridCol w="5394960"/>
                  <a:gridCol w="1920240"/>
                  <a:gridCol w="1920240"/>
                </a:tblGrid>
                <a:tr h="548640"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평가 항목</a:t>
                        </a:r>
                      </a:p>
                    </a:txBody>
                    <a:tcPr anchor="ctr" marL="63500" marR="63500" marT="38100" marB="38100"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배점</a:t>
                        </a:r>
                      </a:p>
                    </a:txBody>
                    <a:tcPr anchor="ctr" marL="63500" marR="63500" marT="38100" marB="38100"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평가 점수</a:t>
                        </a:r>
                      </a:p>
                    </a:txBody>
                    <a:tcPr anchor="ctr" marL="63500" marR="63500" marT="38100" marB="38100">
                      <a:solidFill>
                        <a:srgbClr val="1F3864"/>
                      </a:solidFill>
                    </a:tcPr>
                  </a:tc>
                </a:tr>
                <a:tr h="548640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글로벌 역량</a:t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0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30</a:t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1">
                            <a:solidFill>
                              <a:srgbClr val="2E75D6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27</a:t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</a:tr>
                <a:tr h="548640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협업 역량</a:t>
                        </a:r>
                      </a:p>
                    </a:txBody>
                    <a:tcPr anchor="ctr" marL="63500" marR="63500" marT="38100" marB="38100"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0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20</a:t>
                        </a:r>
                      </a:p>
                    </a:txBody>
                    <a:tcPr anchor="ctr" marL="63500" marR="63500" marT="38100" marB="38100"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1">
                            <a:solidFill>
                              <a:srgbClr val="2E75D6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18</a:t>
                        </a:r>
                      </a:p>
                    </a:txBody>
                    <a:tcPr anchor="ctr" marL="63500" marR="63500" marT="38100" marB="38100">
                      <a:solidFill>
                        <a:srgbClr val="F2F2F2"/>
                      </a:solidFill>
                    </a:tcPr>
                  </a:tc>
                </a:tr>
                <a:tr h="548640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AI 활용도</a:t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0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20</a:t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1">
                            <a:solidFill>
                              <a:srgbClr val="2E75D6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16</a:t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</a:tr>
                <a:tr h="548640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사업 이해도</a:t>
                        </a:r>
                      </a:p>
                    </a:txBody>
                    <a:tcPr anchor="ctr" marL="63500" marR="63500" marT="38100" marB="38100"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0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15</a:t>
                        </a:r>
                      </a:p>
                    </a:txBody>
                    <a:tcPr anchor="ctr" marL="63500" marR="63500" marT="38100" marB="38100"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1">
                            <a:solidFill>
                              <a:srgbClr val="2E75D6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14</a:t>
                        </a:r>
                      </a:p>
                    </a:txBody>
                    <a:tcPr anchor="ctr" marL="63500" marR="63500" marT="38100" marB="38100">
                      <a:solidFill>
                        <a:srgbClr val="F2F2F2"/>
                      </a:solidFill>
                    </a:tcPr>
                  </a:tc>
                </a:tr>
                <a:tr h="548640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1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실행 가능성</a:t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0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15</a:t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1">
                            <a:solidFill>
                              <a:srgbClr val="2E75D6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13</a:t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</a:tr>
                <a:tr h="548640"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합계</a:t>
                        </a:r>
                      </a:p>
                    </a:txBody>
                    <a:tcPr anchor="ctr" marL="63500" marR="63500" marT="38100" marB="38100">
                      <a:solidFill>
                        <a:srgbClr val="2A4A7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100</a:t>
                        </a:r>
                      </a:p>
                    </a:txBody>
                    <a:tcPr anchor="ctr" marL="63500" marR="63500" marT="38100" marB="38100">
                      <a:solidFill>
                        <a:srgbClr val="2A4A7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88</a:t>
                        </a:r>
                      </a:p>
                    </a:txBody>
                    <a:tcPr anchor="ctr" marL="63500" marR="63500" marT="38100" marB="38100">
                      <a:solidFill>
                        <a:srgbClr val="2A4A7F"/>
                      </a:solidFill>
                    </a:tcPr>
                  </a:tc>
                </a:tr>
              </a:tbl>
            </a:graphicData>
          </a:graphic>
        </p:graphicFrame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CMP-007</a:t>
            </a:r>
          </a:p>
        </p:txBody>
      </p:sp>
      <p:grpSp>
        <p:nvGrpSpPr>
          <p:cNvPr id="12" name="asset:CMP-007"/>
          <p:cNvGrpSpPr/>
          <p:nvPr/>
        </p:nvGrpSpPr>
        <p:grpSpPr>
          <a:xfrm>
            <a:off x="502920" y="475488"/>
            <a:ext cx="11155680" cy="4910328"/>
            <a:chOff x="502920" y="475488"/>
            <a:chExt cx="11155680" cy="491032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체크리스트 표 (점검 항목)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체크박스 도형으로 완료 여부 표시</a:t>
              </a:r>
            </a:p>
          </p:txBody>
        </p:sp>
        <p:graphicFrame>
          <p:nvGraphicFramePr>
            <p:cNvPr id="5" name="CMP-007_bg"/>
            <p:cNvGraphicFramePr>
              <a:graphicFrameLocks noGrp="1"/>
            </p:cNvGraphicFramePr>
            <p:nvPr/>
          </p:nvGraphicFramePr>
          <p:xfrm>
            <a:off x="1463040" y="1417320"/>
            <a:ext cx="9235440" cy="3968496"/>
          </p:xfrm>
          <a:graphic>
            <a:graphicData uri="http://schemas.openxmlformats.org/drawingml/2006/table">
              <a:tbl>
                <a:tblPr>
                  <a:tableStyleId>{5C22544A-7EE6-4342-B048-85BDC9FD1C3A}</a:tableStyleId>
                </a:tblPr>
                <a:tblGrid>
                  <a:gridCol w="1188720"/>
                  <a:gridCol w="5943600"/>
                  <a:gridCol w="2103120"/>
                </a:tblGrid>
                <a:tr h="566928"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확인</a:t>
                        </a:r>
                      </a:p>
                    </a:txBody>
                    <a:tcPr anchor="ctr" marL="63500" marR="63500" marT="38100" marB="38100"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점검 항목</a:t>
                        </a:r>
                      </a:p>
                    </a:txBody>
                    <a:tcPr anchor="ctr" marL="63500" marR="63500" marT="38100" marB="38100">
                      <a:solidFill>
                        <a:srgbClr val="1F3864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200" b="1">
                            <a:solidFill>
                              <a:srgbClr val="FFFFF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상태</a:t>
                        </a:r>
                      </a:p>
                    </a:txBody>
                    <a:tcPr anchor="ctr" marL="63500" marR="63500" marT="38100" marB="38100">
                      <a:solidFill>
                        <a:srgbClr val="1F3864"/>
                      </a:solidFill>
                    </a:tcPr>
                  </a:tc>
                </a:tr>
                <a:tr h="566928"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/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사업 목표 정합성 검토</a:t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000" b="1">
                            <a:solidFill>
                              <a:srgbClr val="1F9E8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완료</a:t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</a:tr>
                <a:tr h="566928"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/>
                        </a:r>
                      </a:p>
                    </a:txBody>
                    <a:tcPr anchor="ctr" marL="63500" marR="63500" marT="38100" marB="38100"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글로벌 역량 자료 확보</a:t>
                        </a:r>
                      </a:p>
                    </a:txBody>
                    <a:tcPr anchor="ctr" marL="63500" marR="63500" marT="38100" marB="38100"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000" b="1">
                            <a:solidFill>
                              <a:srgbClr val="1F9E8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완료</a:t>
                        </a:r>
                      </a:p>
                    </a:txBody>
                    <a:tcPr anchor="ctr" marL="63500" marR="63500" marT="38100" marB="38100">
                      <a:solidFill>
                        <a:srgbClr val="F2F2F2"/>
                      </a:solidFill>
                    </a:tcPr>
                  </a:tc>
                </a:tr>
                <a:tr h="566928"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/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협업 파트너 확정</a:t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000" b="1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진행중</a:t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</a:tr>
                <a:tr h="566928"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/>
                        </a:r>
                      </a:p>
                    </a:txBody>
                    <a:tcPr anchor="ctr" marL="63500" marR="63500" marT="38100" marB="38100"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AI 활용 방안 수립</a:t>
                        </a:r>
                      </a:p>
                    </a:txBody>
                    <a:tcPr anchor="ctr" marL="63500" marR="63500" marT="38100" marB="38100"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000" b="1">
                            <a:solidFill>
                              <a:srgbClr val="1F9E8F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완료</a:t>
                        </a:r>
                      </a:p>
                    </a:txBody>
                    <a:tcPr anchor="ctr" marL="63500" marR="63500" marT="38100" marB="38100">
                      <a:solidFill>
                        <a:srgbClr val="F2F2F2"/>
                      </a:solidFill>
                    </a:tcPr>
                  </a:tc>
                </a:tr>
                <a:tr h="566928"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/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리스크 대응 계획</a:t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000" b="1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예정</a:t>
                        </a:r>
                      </a:p>
                    </a:txBody>
                    <a:tcPr anchor="ctr" marL="63500" marR="63500" marT="38100" marB="38100">
                      <a:solidFill>
                        <a:srgbClr val="FFFFFF"/>
                      </a:solidFill>
                    </a:tcPr>
                  </a:tc>
                </a:tr>
                <a:tr h="566928"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/>
                        </a:r>
                      </a:p>
                    </a:txBody>
                    <a:tcPr anchor="ctr" marL="63500" marR="63500" marT="38100" marB="38100"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l"/>
                        <a:r>
                          <a:rPr sz="1100" b="0">
                            <a:solidFill>
                              <a:srgbClr val="222222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최종 산출물 검수</a:t>
                        </a:r>
                      </a:p>
                    </a:txBody>
                    <a:tcPr anchor="ctr" marL="63500" marR="63500" marT="38100" marB="38100">
                      <a:solidFill>
                        <a:srgbClr val="F2F2F2"/>
                      </a:solidFill>
                    </a:tcPr>
                  </a:tc>
                  <a:tc>
                    <a:txBody>
                      <a:bodyPr wrap="square"/>
                      <a:lstStyle/>
                      <a:p>
                        <a:pPr algn="ctr"/>
                        <a:r>
                          <a:rPr sz="1000" b="1">
                            <a:solidFill>
                              <a:srgbClr val="595959"/>
                            </a:solidFill>
                            <a:latin typeface="Pretendard"/>
                            <a:ea typeface="Pretendard"/>
                            <a:cs typeface="Pretendard"/>
                          </a:rPr>
                          <a:t>예정</a:t>
                        </a:r>
                      </a:p>
                    </a:txBody>
                    <a:tcPr anchor="ctr" marL="63500" marR="63500" marT="38100" marB="38100">
                      <a:solidFill>
                        <a:srgbClr val="F2F2F2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6" name="Rounded Rectangle 5"/>
            <p:cNvSpPr/>
            <p:nvPr/>
          </p:nvSpPr>
          <p:spPr>
            <a:xfrm>
              <a:off x="1911095" y="2121408"/>
              <a:ext cx="292608" cy="292608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911095" y="2688336"/>
              <a:ext cx="292608" cy="292608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911095" y="3255264"/>
              <a:ext cx="292608" cy="29260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911095" y="3822192"/>
              <a:ext cx="292608" cy="292608"/>
            </a:xfrm>
            <a:prstGeom prst="roundRect">
              <a:avLst/>
            </a:prstGeom>
            <a:solidFill>
              <a:srgbClr val="1F9E8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911095" y="4389120"/>
              <a:ext cx="292608" cy="29260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911095" y="4956048"/>
              <a:ext cx="292608" cy="29260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