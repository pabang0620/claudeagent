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열을 강조, ○△✕ 기호로 우열 표기</a:t>
            </a:r>
          </a:p>
        </p:txBody>
      </p:sp>
      <p:graphicFrame>
        <p:nvGraphicFramePr>
          <p:cNvPr id="5" name="asset:CMP-004"/>
          <p:cNvGraphicFramePr>
            <a:graphicFrameLocks noGrp="1"/>
          </p:cNvGraphicFramePr>
          <p:nvPr/>
        </p:nvGraphicFramePr>
        <p:xfrm>
          <a:off x="1005840" y="1417320"/>
          <a:ext cx="10149838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3063239"/>
                <a:gridCol w="306323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0" y="1417320"/>
            <a:ext cx="3063239" cy="3840480"/>
          </a:xfrm>
          <a:prstGeom prst="rect">
            <a:avLst/>
          </a:prstGeom>
          <a:noFill/>
          <a:ln w="28575">
            <a:solidFill>
              <a:srgbClr val="2E7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(3사 비교 변형)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자사·경쟁사 A·B 3열 비교, 자사 강조</a:t>
            </a:r>
          </a:p>
        </p:txBody>
      </p:sp>
      <p:graphicFrame>
        <p:nvGraphicFramePr>
          <p:cNvPr id="5" name="asset:CMP-005"/>
          <p:cNvGraphicFramePr>
            <a:graphicFrameLocks noGrp="1"/>
          </p:cNvGraphicFramePr>
          <p:nvPr/>
        </p:nvGraphicFramePr>
        <p:xfrm>
          <a:off x="1005840" y="1417320"/>
          <a:ext cx="10149837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2042159"/>
                <a:gridCol w="2042159"/>
                <a:gridCol w="204215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0" y="1417320"/>
            <a:ext cx="2042159" cy="3840480"/>
          </a:xfrm>
          <a:prstGeom prst="rect">
            <a:avLst/>
          </a:prstGeom>
          <a:noFill/>
          <a:ln w="28575">
            <a:solidFill>
              <a:srgbClr val="2E7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CMP-008</a:t>
            </a:r>
          </a:p>
        </p:txBody>
      </p:sp>
      <p:grpSp>
        <p:nvGrpSpPr>
          <p:cNvPr id="27" name="asset:CMP-008"/>
          <p:cNvGrpSpPr/>
          <p:nvPr/>
        </p:nvGrpSpPr>
        <p:grpSpPr>
          <a:xfrm>
            <a:off x="502920" y="475488"/>
            <a:ext cx="11292839" cy="5239512"/>
            <a:chOff x="502920" y="475488"/>
            <a:chExt cx="11292839" cy="52395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Before / After 대비 카드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개선 전·후를 2열 카드로 대비</a:t>
              </a:r>
            </a:p>
          </p:txBody>
        </p:sp>
        <p:sp>
          <p:nvSpPr>
            <p:cNvPr id="5" name="CMP-008_bg"/>
            <p:cNvSpPr/>
            <p:nvPr/>
          </p:nvSpPr>
          <p:spPr>
            <a:xfrm>
              <a:off x="1005840" y="1508760"/>
              <a:ext cx="10789919" cy="42062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325880" y="2532888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81912" y="2404872"/>
              <a:ext cx="399592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대응 체계 부재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325880" y="3099816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81912" y="2971800"/>
              <a:ext cx="399592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중심 품질 관리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325880" y="3666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81912" y="3538727"/>
              <a:ext cx="399592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협업 프로세스 분산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325880" y="4233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81912" y="4105656"/>
              <a:ext cx="399592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미적용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 Same Side Corner Rectangle 16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223759" y="2532888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79791" y="2404872"/>
              <a:ext cx="399592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7223759" y="3099816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479791" y="2971800"/>
              <a:ext cx="399592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7223759" y="366674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479791" y="3538727"/>
              <a:ext cx="399592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7223759" y="423367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479791" y="4105656"/>
              <a:ext cx="399592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26" name="Right Arrow 25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CMP-010</a:t>
            </a:r>
          </a:p>
        </p:txBody>
      </p:sp>
      <p:grpSp>
        <p:nvGrpSpPr>
          <p:cNvPr id="33" name="asset:CMP-010"/>
          <p:cNvGrpSpPr/>
          <p:nvPr/>
        </p:nvGrpSpPr>
        <p:grpSpPr>
          <a:xfrm>
            <a:off x="502920" y="475488"/>
            <a:ext cx="11155680" cy="5513831"/>
            <a:chOff x="502920" y="475488"/>
            <a:chExt cx="11155680" cy="551383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선택지 비교 카드 (플랜 A/B/C)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헤더 색 구분 · 추천 뱃지 강조</a:t>
              </a:r>
            </a:p>
          </p:txBody>
        </p:sp>
        <p:sp>
          <p:nvSpPr>
            <p:cNvPr id="5" name="CMP-010_bg"/>
            <p:cNvSpPr/>
            <p:nvPr/>
          </p:nvSpPr>
          <p:spPr>
            <a:xfrm>
              <a:off x="1005840" y="1463039"/>
              <a:ext cx="10149840" cy="4526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05840" y="1554480"/>
              <a:ext cx="3169920" cy="43434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1005840" y="1554480"/>
              <a:ext cx="3169920" cy="96012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플랜 A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280160" y="2898648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36192" y="2770632"/>
              <a:ext cx="236524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280160" y="3465576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36192" y="3337560"/>
              <a:ext cx="236524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지원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280160" y="403250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36192" y="3904488"/>
              <a:ext cx="236524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495800" y="1554480"/>
              <a:ext cx="3169920" cy="4343400"/>
            </a:xfrm>
            <a:prstGeom prst="roundRect">
              <a:avLst/>
            </a:prstGeom>
            <a:solidFill>
              <a:srgbClr val="F7F9FC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 Same Side Corner Rectangle 14"/>
            <p:cNvSpPr/>
            <p:nvPr/>
          </p:nvSpPr>
          <p:spPr>
            <a:xfrm>
              <a:off x="4495800" y="1554480"/>
              <a:ext cx="3169920" cy="96012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플랜 B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4770120" y="2898648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26152" y="2770632"/>
              <a:ext cx="236524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전체 기능 제공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4770120" y="3465576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26152" y="3337560"/>
              <a:ext cx="236524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4770120" y="403250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026152" y="3904488"/>
              <a:ext cx="236524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대응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4770120" y="459943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26152" y="4471416"/>
              <a:ext cx="236524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156959" y="1664207"/>
              <a:ext cx="1371600" cy="38404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985760" y="1554480"/>
              <a:ext cx="3169920" cy="43434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 Same Side Corner Rectangle 25"/>
            <p:cNvSpPr/>
            <p:nvPr/>
          </p:nvSpPr>
          <p:spPr>
            <a:xfrm>
              <a:off x="7985760" y="1554480"/>
              <a:ext cx="3169920" cy="96012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플랜 C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확장형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8260080" y="2898648"/>
              <a:ext cx="109728" cy="109728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516112" y="2770632"/>
              <a:ext cx="236524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8260080" y="3465576"/>
              <a:ext cx="109728" cy="109728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16112" y="3337560"/>
              <a:ext cx="236524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8260080" y="4032504"/>
              <a:ext cx="109728" cy="109728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516112" y="3904488"/>
              <a:ext cx="236524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