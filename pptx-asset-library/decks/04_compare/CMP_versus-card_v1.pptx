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CMP-004</a:t>
            </a:r>
          </a:p>
        </p:txBody>
      </p:sp>
      <p:grpSp>
        <p:nvGrpSpPr>
          <p:cNvPr id="7" name="asset:CMP-004"/>
          <p:cNvGrpSpPr/>
          <p:nvPr/>
        </p:nvGrpSpPr>
        <p:grpSpPr>
          <a:xfrm>
            <a:off x="502920" y="475488"/>
            <a:ext cx="11155680" cy="4782312"/>
            <a:chOff x="502920" y="475488"/>
            <a:chExt cx="11155680" cy="478231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우열 비교표 (자사 vs 경쟁사)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자사 열을 강조, ○△✕ 기호로 우열 표기</a:t>
              </a:r>
            </a:p>
          </p:txBody>
        </p:sp>
        <p:graphicFrame>
          <p:nvGraphicFramePr>
            <p:cNvPr id="5" name="CMP-004_bg"/>
            <p:cNvGraphicFramePr>
              <a:graphicFrameLocks noGrp="1"/>
            </p:cNvGraphicFramePr>
            <p:nvPr/>
          </p:nvGraphicFramePr>
          <p:xfrm>
            <a:off x="1005840" y="1417320"/>
            <a:ext cx="10149838" cy="3840480"/>
          </p:xfrm>
          <a:graphic>
            <a:graphicData uri="http://schemas.openxmlformats.org/drawingml/2006/table">
              <a:tbl>
                <a:tblPr>
                  <a:tableStyleId>{5C22544A-7EE6-4342-B048-85BDC9FD1C3A}</a:tableStyleId>
                </a:tblPr>
                <a:tblGrid>
                  <a:gridCol w="4023360"/>
                  <a:gridCol w="3063239"/>
                  <a:gridCol w="3063239"/>
                </a:tblGrid>
                <a:tr h="548640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평가 항목</a:t>
                        </a:r>
                      </a:p>
                    </a:txBody>
                    <a:tcPr anchor="ctr" marL="63500" marR="63500" marT="38100" marB="38100"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자사</a:t>
                        </a:r>
                      </a:p>
                    </a:txBody>
                    <a:tcPr anchor="ctr" marL="63500" marR="63500" marT="38100" marB="38100">
                      <a:solidFill>
                        <a:srgbClr val="2E75D6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경쟁사</a:t>
                        </a:r>
                      </a:p>
                    </a:txBody>
                    <a:tcPr anchor="ctr" marL="63500" marR="63500" marT="38100" marB="38100">
                      <a:solidFill>
                        <a:srgbClr val="1F3864"/>
                      </a:solidFill>
                    </a:tcPr>
                  </a:tc>
                </a:tr>
                <a:tr h="548640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글로벌 역량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400" b="1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○</a:t>
                        </a:r>
                      </a:p>
                    </a:txBody>
                    <a:tcPr anchor="ctr" marL="63500" marR="63500" marT="38100" marB="38100">
                      <a:solidFill>
                        <a:srgbClr val="F7F9FC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400" b="1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△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</a:tr>
                <a:tr h="548640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협업 역량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400" b="1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○</a:t>
                        </a:r>
                      </a:p>
                    </a:txBody>
                    <a:tcPr anchor="ctr" marL="63500" marR="63500" marT="38100" marB="38100">
                      <a:solidFill>
                        <a:srgbClr val="F7F9FC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400" b="1">
                            <a:solidFill>
                              <a:srgbClr val="C0392B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✕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</a:tr>
                <a:tr h="548640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AI 활용도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400" b="1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○</a:t>
                        </a:r>
                      </a:p>
                    </a:txBody>
                    <a:tcPr anchor="ctr" marL="63500" marR="63500" marT="38100" marB="38100">
                      <a:solidFill>
                        <a:srgbClr val="F7F9FC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400" b="1">
                            <a:solidFill>
                              <a:srgbClr val="C0392B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✕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</a:tr>
                <a:tr h="548640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품질 관리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400" b="1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○</a:t>
                        </a:r>
                      </a:p>
                    </a:txBody>
                    <a:tcPr anchor="ctr" marL="63500" marR="63500" marT="38100" marB="38100">
                      <a:solidFill>
                        <a:srgbClr val="F7F9FC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400" b="1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△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</a:tr>
                <a:tr h="548640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가격 경쟁력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400" b="1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△</a:t>
                        </a:r>
                      </a:p>
                    </a:txBody>
                    <a:tcPr anchor="ctr" marL="63500" marR="63500" marT="38100" marB="38100">
                      <a:solidFill>
                        <a:srgbClr val="F7F9FC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400" b="1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○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</a:tr>
                <a:tr h="548640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납기 대응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400" b="1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○</a:t>
                        </a:r>
                      </a:p>
                    </a:txBody>
                    <a:tcPr anchor="ctr" marL="63500" marR="63500" marT="38100" marB="38100">
                      <a:solidFill>
                        <a:srgbClr val="F7F9FC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400" b="1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△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</a:tr>
              </a:tbl>
            </a:graphicData>
          </a:graphic>
        </p:graphicFrame>
        <p:sp>
          <p:nvSpPr>
            <p:cNvPr id="6" name="Rectangle 5"/>
            <p:cNvSpPr/>
            <p:nvPr/>
          </p:nvSpPr>
          <p:spPr>
            <a:xfrm>
              <a:off x="5029200" y="1417320"/>
              <a:ext cx="3063239" cy="3840480"/>
            </a:xfrm>
            <a:prstGeom prst="rect">
              <a:avLst/>
            </a:prstGeom>
            <a:noFill/>
            <a:ln w="285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CMP-005</a:t>
            </a:r>
          </a:p>
        </p:txBody>
      </p:sp>
      <p:grpSp>
        <p:nvGrpSpPr>
          <p:cNvPr id="7" name="asset:CMP-005"/>
          <p:cNvGrpSpPr/>
          <p:nvPr/>
        </p:nvGrpSpPr>
        <p:grpSpPr>
          <a:xfrm>
            <a:off x="502920" y="475488"/>
            <a:ext cx="11155680" cy="4782312"/>
            <a:chOff x="502920" y="475488"/>
            <a:chExt cx="11155680" cy="478231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우열 비교표 (3사 비교 변형)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자사·경쟁사 A·B 3열 비교, 자사 강조</a:t>
              </a:r>
            </a:p>
          </p:txBody>
        </p:sp>
        <p:graphicFrame>
          <p:nvGraphicFramePr>
            <p:cNvPr id="5" name="CMP-005_bg"/>
            <p:cNvGraphicFramePr>
              <a:graphicFrameLocks noGrp="1"/>
            </p:cNvGraphicFramePr>
            <p:nvPr/>
          </p:nvGraphicFramePr>
          <p:xfrm>
            <a:off x="1005840" y="1417320"/>
            <a:ext cx="10149837" cy="3840480"/>
          </p:xfrm>
          <a:graphic>
            <a:graphicData uri="http://schemas.openxmlformats.org/drawingml/2006/table">
              <a:tbl>
                <a:tblPr>
                  <a:tableStyleId>{5C22544A-7EE6-4342-B048-85BDC9FD1C3A}</a:tableStyleId>
                </a:tblPr>
                <a:tblGrid>
                  <a:gridCol w="4023360"/>
                  <a:gridCol w="2042159"/>
                  <a:gridCol w="2042159"/>
                  <a:gridCol w="2042159"/>
                </a:tblGrid>
                <a:tr h="548640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평가 항목</a:t>
                        </a:r>
                      </a:p>
                    </a:txBody>
                    <a:tcPr anchor="ctr" marL="63500" marR="63500" marT="38100" marB="38100"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자사</a:t>
                        </a:r>
                      </a:p>
                    </a:txBody>
                    <a:tcPr anchor="ctr" marL="63500" marR="63500" marT="38100" marB="38100">
                      <a:solidFill>
                        <a:srgbClr val="2E75D6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경쟁사 A</a:t>
                        </a:r>
                      </a:p>
                    </a:txBody>
                    <a:tcPr anchor="ctr" marL="63500" marR="63500" marT="38100" marB="38100"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경쟁사 B</a:t>
                        </a:r>
                      </a:p>
                    </a:txBody>
                    <a:tcPr anchor="ctr" marL="63500" marR="63500" marT="38100" marB="38100">
                      <a:solidFill>
                        <a:srgbClr val="1F3864"/>
                      </a:solidFill>
                    </a:tcPr>
                  </a:tc>
                </a:tr>
                <a:tr h="548640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글로벌 역량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400" b="1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○</a:t>
                        </a:r>
                      </a:p>
                    </a:txBody>
                    <a:tcPr anchor="ctr" marL="63500" marR="63500" marT="38100" marB="38100">
                      <a:solidFill>
                        <a:srgbClr val="F7F9FC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400" b="1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△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400" b="1">
                            <a:solidFill>
                              <a:srgbClr val="C0392B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✕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</a:tr>
                <a:tr h="548640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협업 역량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400" b="1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○</a:t>
                        </a:r>
                      </a:p>
                    </a:txBody>
                    <a:tcPr anchor="ctr" marL="63500" marR="63500" marT="38100" marB="38100">
                      <a:solidFill>
                        <a:srgbClr val="F7F9FC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400" b="1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△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400" b="1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△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</a:tr>
                <a:tr h="548640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AI 활용도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400" b="1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○</a:t>
                        </a:r>
                      </a:p>
                    </a:txBody>
                    <a:tcPr anchor="ctr" marL="63500" marR="63500" marT="38100" marB="38100">
                      <a:solidFill>
                        <a:srgbClr val="F7F9FC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400" b="1">
                            <a:solidFill>
                              <a:srgbClr val="C0392B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✕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400" b="1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△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</a:tr>
                <a:tr h="548640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품질 관리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400" b="1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○</a:t>
                        </a:r>
                      </a:p>
                    </a:txBody>
                    <a:tcPr anchor="ctr" marL="63500" marR="63500" marT="38100" marB="38100">
                      <a:solidFill>
                        <a:srgbClr val="F7F9FC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400" b="1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○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400" b="1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△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</a:tr>
                <a:tr h="548640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가격 경쟁력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400" b="1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△</a:t>
                        </a:r>
                      </a:p>
                    </a:txBody>
                    <a:tcPr anchor="ctr" marL="63500" marR="63500" marT="38100" marB="38100">
                      <a:solidFill>
                        <a:srgbClr val="F7F9FC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400" b="1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○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400" b="1">
                            <a:solidFill>
                              <a:srgbClr val="C0392B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✕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</a:tr>
                <a:tr h="548640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납기 대응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400" b="1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○</a:t>
                        </a:r>
                      </a:p>
                    </a:txBody>
                    <a:tcPr anchor="ctr" marL="63500" marR="63500" marT="38100" marB="38100">
                      <a:solidFill>
                        <a:srgbClr val="F7F9FC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400" b="1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△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400" b="1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△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</a:tr>
              </a:tbl>
            </a:graphicData>
          </a:graphic>
        </p:graphicFrame>
        <p:sp>
          <p:nvSpPr>
            <p:cNvPr id="6" name="Rectangle 5"/>
            <p:cNvSpPr/>
            <p:nvPr/>
          </p:nvSpPr>
          <p:spPr>
            <a:xfrm>
              <a:off x="5029200" y="1417320"/>
              <a:ext cx="2042159" cy="3840480"/>
            </a:xfrm>
            <a:prstGeom prst="rect">
              <a:avLst/>
            </a:prstGeom>
            <a:noFill/>
            <a:ln w="285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CMP-008</a:t>
            </a:r>
          </a:p>
        </p:txBody>
      </p:sp>
      <p:grpSp>
        <p:nvGrpSpPr>
          <p:cNvPr id="27" name="asset:CMP-008"/>
          <p:cNvGrpSpPr/>
          <p:nvPr/>
        </p:nvGrpSpPr>
        <p:grpSpPr>
          <a:xfrm>
            <a:off x="502920" y="475488"/>
            <a:ext cx="11292839" cy="5239512"/>
            <a:chOff x="502920" y="475488"/>
            <a:chExt cx="11292839" cy="523951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Before / After 대비 카드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개선 전·후를 2열 카드로 대비</a:t>
              </a:r>
            </a:p>
          </p:txBody>
        </p:sp>
        <p:sp>
          <p:nvSpPr>
            <p:cNvPr id="5" name="CMP-008_bg"/>
            <p:cNvSpPr/>
            <p:nvPr/>
          </p:nvSpPr>
          <p:spPr>
            <a:xfrm>
              <a:off x="1005840" y="1508760"/>
              <a:ext cx="10789919" cy="42062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05840" y="1508760"/>
              <a:ext cx="4892040" cy="4206240"/>
            </a:xfrm>
            <a:prstGeom prst="roundRect">
              <a:avLst/>
            </a:prstGeom>
            <a:solidFill>
              <a:srgbClr val="F2F2F2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 Same Side Corner Rectangle 6"/>
            <p:cNvSpPr/>
            <p:nvPr/>
          </p:nvSpPr>
          <p:spPr>
            <a:xfrm>
              <a:off x="1005840" y="1508760"/>
              <a:ext cx="4892040" cy="685800"/>
            </a:xfrm>
            <a:prstGeom prst="round2Same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Before (현행)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1325880" y="2532888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581912" y="2404872"/>
              <a:ext cx="3995927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대응 체계 부재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1325880" y="3099816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581912" y="2971800"/>
              <a:ext cx="3995927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수작업 중심 품질 관리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1325880" y="3666744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581912" y="3538727"/>
              <a:ext cx="3995927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협업 프로세스 분산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1325880" y="4233672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1581912" y="4105656"/>
              <a:ext cx="3995927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미적용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6903719" y="1508760"/>
              <a:ext cx="4892040" cy="42062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 Same Side Corner Rectangle 16"/>
            <p:cNvSpPr/>
            <p:nvPr/>
          </p:nvSpPr>
          <p:spPr>
            <a:xfrm>
              <a:off x="6903719" y="1508760"/>
              <a:ext cx="4892040" cy="685800"/>
            </a:xfrm>
            <a:prstGeom prst="round2Same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After (개선)</a:t>
              </a:r>
            </a:p>
          </p:txBody>
        </p:sp>
        <p:sp>
          <p:nvSpPr>
            <p:cNvPr id="18" name="Oval 17"/>
            <p:cNvSpPr/>
            <p:nvPr/>
          </p:nvSpPr>
          <p:spPr>
            <a:xfrm>
              <a:off x="7223759" y="2532888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7479791" y="2404872"/>
              <a:ext cx="3995927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표준 대응 체계</a:t>
              </a:r>
            </a:p>
          </p:txBody>
        </p:sp>
        <p:sp>
          <p:nvSpPr>
            <p:cNvPr id="20" name="Oval 19"/>
            <p:cNvSpPr/>
            <p:nvPr/>
          </p:nvSpPr>
          <p:spPr>
            <a:xfrm>
              <a:off x="7223759" y="3099816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7479791" y="2971800"/>
              <a:ext cx="3995927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기반 품질 자동화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7223759" y="3666744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7479791" y="3538727"/>
              <a:ext cx="3995927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 협업 플랫폼</a:t>
              </a:r>
            </a:p>
          </p:txBody>
        </p:sp>
        <p:sp>
          <p:nvSpPr>
            <p:cNvPr id="24" name="Oval 23"/>
            <p:cNvSpPr/>
            <p:nvPr/>
          </p:nvSpPr>
          <p:spPr>
            <a:xfrm>
              <a:off x="7223759" y="4233672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7479791" y="4105656"/>
              <a:ext cx="3995927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기반 의사결정</a:t>
              </a:r>
            </a:p>
          </p:txBody>
        </p:sp>
        <p:sp>
          <p:nvSpPr>
            <p:cNvPr id="26" name="Right Arrow 25"/>
            <p:cNvSpPr/>
            <p:nvPr/>
          </p:nvSpPr>
          <p:spPr>
            <a:xfrm>
              <a:off x="6035040" y="3246120"/>
              <a:ext cx="731520" cy="73152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개선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CMP-010</a:t>
            </a:r>
          </a:p>
        </p:txBody>
      </p:sp>
      <p:grpSp>
        <p:nvGrpSpPr>
          <p:cNvPr id="33" name="asset:CMP-010"/>
          <p:cNvGrpSpPr/>
          <p:nvPr/>
        </p:nvGrpSpPr>
        <p:grpSpPr>
          <a:xfrm>
            <a:off x="502920" y="475488"/>
            <a:ext cx="11155680" cy="5513831"/>
            <a:chOff x="502920" y="475488"/>
            <a:chExt cx="11155680" cy="5513831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선택지 비교 카드 (플랜 A/B/C)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헤더 색 구분 · 추천 뱃지 강조</a:t>
              </a:r>
            </a:p>
          </p:txBody>
        </p:sp>
        <p:sp>
          <p:nvSpPr>
            <p:cNvPr id="5" name="CMP-010_bg"/>
            <p:cNvSpPr/>
            <p:nvPr/>
          </p:nvSpPr>
          <p:spPr>
            <a:xfrm>
              <a:off x="1005840" y="1463039"/>
              <a:ext cx="10149840" cy="452628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05840" y="1554480"/>
              <a:ext cx="3169920" cy="4343400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 Same Side Corner Rectangle 6"/>
            <p:cNvSpPr/>
            <p:nvPr/>
          </p:nvSpPr>
          <p:spPr>
            <a:xfrm>
              <a:off x="1005840" y="1554480"/>
              <a:ext cx="3169920" cy="960120"/>
            </a:xfrm>
            <a:prstGeom prst="round2Same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플랜 A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기본형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1280160" y="2898648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536192" y="2770632"/>
              <a:ext cx="236524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핵심 기능 제공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1280160" y="3465576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536192" y="3337560"/>
              <a:ext cx="236524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표준 지원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1280160" y="4032504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536192" y="3904488"/>
              <a:ext cx="236524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 리포트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4495800" y="1554480"/>
              <a:ext cx="3169920" cy="4343400"/>
            </a:xfrm>
            <a:prstGeom prst="roundRect">
              <a:avLst/>
            </a:prstGeom>
            <a:solidFill>
              <a:srgbClr val="F7F9FC"/>
            </a:solidFill>
            <a:ln w="317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 Same Side Corner Rectangle 14"/>
            <p:cNvSpPr/>
            <p:nvPr/>
          </p:nvSpPr>
          <p:spPr>
            <a:xfrm>
              <a:off x="4495800" y="1554480"/>
              <a:ext cx="3169920" cy="960120"/>
            </a:xfrm>
            <a:prstGeom prst="round2Same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플랜 B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표준형</a:t>
              </a:r>
            </a:p>
          </p:txBody>
        </p:sp>
        <p:sp>
          <p:nvSpPr>
            <p:cNvPr id="16" name="Oval 15"/>
            <p:cNvSpPr/>
            <p:nvPr/>
          </p:nvSpPr>
          <p:spPr>
            <a:xfrm>
              <a:off x="4770120" y="2898648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026152" y="2770632"/>
              <a:ext cx="236524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전체 기능 제공</a:t>
              </a:r>
            </a:p>
          </p:txBody>
        </p:sp>
        <p:sp>
          <p:nvSpPr>
            <p:cNvPr id="18" name="Oval 17"/>
            <p:cNvSpPr/>
            <p:nvPr/>
          </p:nvSpPr>
          <p:spPr>
            <a:xfrm>
              <a:off x="4770120" y="3465576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026152" y="3337560"/>
              <a:ext cx="236524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활용 지원</a:t>
              </a:r>
            </a:p>
          </p:txBody>
        </p:sp>
        <p:sp>
          <p:nvSpPr>
            <p:cNvPr id="20" name="Oval 19"/>
            <p:cNvSpPr/>
            <p:nvPr/>
          </p:nvSpPr>
          <p:spPr>
            <a:xfrm>
              <a:off x="4770120" y="4032504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5026152" y="3904488"/>
              <a:ext cx="236524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대응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4770120" y="4599432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026152" y="4471416"/>
              <a:ext cx="236524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우선 지원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6156959" y="1664207"/>
              <a:ext cx="1371600" cy="384048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★ 추천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7985760" y="1554480"/>
              <a:ext cx="3169920" cy="4343400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Round Same Side Corner Rectangle 25"/>
            <p:cNvSpPr/>
            <p:nvPr/>
          </p:nvSpPr>
          <p:spPr>
            <a:xfrm>
              <a:off x="7985760" y="1554480"/>
              <a:ext cx="3169920" cy="960120"/>
            </a:xfrm>
            <a:prstGeom prst="round2Same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플랜 C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확장형</a:t>
              </a:r>
            </a:p>
          </p:txBody>
        </p:sp>
        <p:sp>
          <p:nvSpPr>
            <p:cNvPr id="27" name="Oval 26"/>
            <p:cNvSpPr/>
            <p:nvPr/>
          </p:nvSpPr>
          <p:spPr>
            <a:xfrm>
              <a:off x="8260080" y="2898648"/>
              <a:ext cx="109728" cy="109728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8516112" y="2770632"/>
              <a:ext cx="236524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맞춤 개발 포함</a:t>
              </a:r>
            </a:p>
          </p:txBody>
        </p:sp>
        <p:sp>
          <p:nvSpPr>
            <p:cNvPr id="29" name="Oval 28"/>
            <p:cNvSpPr/>
            <p:nvPr/>
          </p:nvSpPr>
          <p:spPr>
            <a:xfrm>
              <a:off x="8260080" y="3465576"/>
              <a:ext cx="109728" cy="109728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8516112" y="3337560"/>
              <a:ext cx="236524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전담 협업팀</a:t>
              </a:r>
            </a:p>
          </p:txBody>
        </p:sp>
        <p:sp>
          <p:nvSpPr>
            <p:cNvPr id="31" name="Oval 30"/>
            <p:cNvSpPr/>
            <p:nvPr/>
          </p:nvSpPr>
          <p:spPr>
            <a:xfrm>
              <a:off x="8260080" y="4032504"/>
              <a:ext cx="109728" cy="109728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8516112" y="3904488"/>
              <a:ext cx="236524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무제한 확장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