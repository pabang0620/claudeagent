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가중치 스코어카드 (환산점수)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항목별 가중치 × 점수 = 환산점수, 종합 환산점수 합산</a:t>
            </a:r>
          </a:p>
        </p:txBody>
      </p:sp>
      <p:graphicFrame>
        <p:nvGraphicFramePr>
          <p:cNvPr id="5" name="asset:CMP-014"/>
          <p:cNvGraphicFramePr>
            <a:graphicFrameLocks noGrp="1"/>
          </p:cNvGraphicFramePr>
          <p:nvPr/>
        </p:nvGraphicFramePr>
        <p:xfrm>
          <a:off x="1463040" y="1554480"/>
          <a:ext cx="9235440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1737360"/>
                <a:gridCol w="1737360"/>
                <a:gridCol w="182880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항목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가중치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점수(/100)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환산점수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역량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30%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90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27.0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협업 역량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20%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17.6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활용도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20%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85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17.0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이해도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15%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92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13.8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실행 가능성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15%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86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12.9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종합 환산점수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100%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88.3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순위 비교표 (종합 순위)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종합 점수 기준 순위 뱃지 — 상위 3위 색상 강조</a:t>
            </a:r>
          </a:p>
        </p:txBody>
      </p:sp>
      <p:graphicFrame>
        <p:nvGraphicFramePr>
          <p:cNvPr id="5" name="asset:CMP-018"/>
          <p:cNvGraphicFramePr>
            <a:graphicFrameLocks noGrp="1"/>
          </p:cNvGraphicFramePr>
          <p:nvPr/>
        </p:nvGraphicFramePr>
        <p:xfrm>
          <a:off x="1463040" y="1554480"/>
          <a:ext cx="9235440" cy="34015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4114800"/>
                <a:gridCol w="1920240"/>
                <a:gridCol w="1920240"/>
              </a:tblGrid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순위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대상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종합 점수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비고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1위</a:t>
                      </a:r>
                    </a:p>
                  </a:txBody>
                  <a:tcPr anchor="ctr" marL="63500" marR="63500" marT="38100" marB="38100"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자사 컨소시엄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88.3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선정 우선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2위</a:t>
                      </a:r>
                    </a:p>
                  </a:txBody>
                  <a:tcPr anchor="ctr" marL="63500" marR="63500" marT="38100" marB="38100">
                    <a:solidFill>
                      <a:srgbClr val="29AB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82.1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차순위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3위</a:t>
                      </a:r>
                    </a:p>
                  </a:txBody>
                  <a:tcPr anchor="ctr" marL="63500" marR="63500" marT="38100" marB="38100"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B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78.5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C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71.2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탈락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D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65.9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탈락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