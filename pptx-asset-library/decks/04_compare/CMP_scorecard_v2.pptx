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CMP-014</a:t>
            </a:r>
          </a:p>
        </p:txBody>
      </p:sp>
      <p:grpSp>
        <p:nvGrpSpPr>
          <p:cNvPr id="6" name="asset:CMP-014"/>
          <p:cNvGrpSpPr/>
          <p:nvPr/>
        </p:nvGrpSpPr>
        <p:grpSpPr>
          <a:xfrm>
            <a:off x="502920" y="475488"/>
            <a:ext cx="11155680" cy="4919472"/>
            <a:chOff x="502920" y="475488"/>
            <a:chExt cx="11155680" cy="491947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가중치 스코어카드 (환산점수)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항목별 가중치 × 점수 = 환산점수, 종합 환산점수 합산</a:t>
              </a:r>
            </a:p>
          </p:txBody>
        </p:sp>
        <p:graphicFrame>
          <p:nvGraphicFramePr>
            <p:cNvPr id="5" name="CMP-014_bg"/>
            <p:cNvGraphicFramePr>
              <a:graphicFrameLocks noGrp="1"/>
            </p:cNvGraphicFramePr>
            <p:nvPr/>
          </p:nvGraphicFramePr>
          <p:xfrm>
            <a:off x="1463040" y="1554480"/>
            <a:ext cx="9235440" cy="3840480"/>
          </p:xfrm>
          <a:graphic>
            <a:graphicData uri="http://schemas.openxmlformats.org/drawingml/2006/table">
              <a:tbl>
                <a:tblPr>
                  <a:tableStyleId>{5C22544A-7EE6-4342-B048-85BDC9FD1C3A}</a:tableStyleId>
                </a:tblPr>
                <a:tblGrid>
                  <a:gridCol w="3931920"/>
                  <a:gridCol w="1737360"/>
                  <a:gridCol w="1737360"/>
                  <a:gridCol w="1828800"/>
                </a:tblGrid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평가 항목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가중치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점수(/100)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환산점수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글로벌 역량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30%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90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27.0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협업 역량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20%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88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17.6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AI 활용도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20%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85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17.0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사업 이해도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15%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92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13.8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실행 가능성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15%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86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12.9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</a:tr>
                <a:tr h="54864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종합 환산점수</a:t>
                        </a:r>
                      </a:p>
                    </a:txBody>
                    <a:tcPr anchor="ctr" marL="63500" marR="63500" marT="38100" marB="38100">
                      <a:solidFill>
                        <a:srgbClr val="2A4A7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100%</a:t>
                        </a:r>
                      </a:p>
                    </a:txBody>
                    <a:tcPr anchor="ctr" marL="63500" marR="63500" marT="38100" marB="38100">
                      <a:solidFill>
                        <a:srgbClr val="2A4A7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—</a:t>
                        </a:r>
                      </a:p>
                    </a:txBody>
                    <a:tcPr anchor="ctr" marL="63500" marR="63500" marT="38100" marB="38100">
                      <a:solidFill>
                        <a:srgbClr val="2A4A7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29ABE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88.3</a:t>
                        </a:r>
                      </a:p>
                    </a:txBody>
                    <a:tcPr anchor="ctr" marL="63500" marR="63500" marT="38100" marB="38100">
                      <a:solidFill>
                        <a:srgbClr val="2A4A7F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CMP-018</a:t>
            </a:r>
          </a:p>
        </p:txBody>
      </p:sp>
      <p:grpSp>
        <p:nvGrpSpPr>
          <p:cNvPr id="6" name="asset:CMP-018"/>
          <p:cNvGrpSpPr/>
          <p:nvPr/>
        </p:nvGrpSpPr>
        <p:grpSpPr>
          <a:xfrm>
            <a:off x="502920" y="475488"/>
            <a:ext cx="11155680" cy="4480560"/>
            <a:chOff x="502920" y="475488"/>
            <a:chExt cx="11155680" cy="44805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순위 비교표 (종합 순위)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종합 점수 기준 순위 뱃지 — 상위 3위 색상 강조</a:t>
              </a:r>
            </a:p>
          </p:txBody>
        </p:sp>
        <p:graphicFrame>
          <p:nvGraphicFramePr>
            <p:cNvPr id="5" name="CMP-018_bg"/>
            <p:cNvGraphicFramePr>
              <a:graphicFrameLocks noGrp="1"/>
            </p:cNvGraphicFramePr>
            <p:nvPr/>
          </p:nvGraphicFramePr>
          <p:xfrm>
            <a:off x="1463040" y="1554480"/>
            <a:ext cx="9235440" cy="3401568"/>
          </p:xfrm>
          <a:graphic>
            <a:graphicData uri="http://schemas.openxmlformats.org/drawingml/2006/table">
              <a:tbl>
                <a:tblPr>
                  <a:tableStyleId>{5C22544A-7EE6-4342-B048-85BDC9FD1C3A}</a:tableStyleId>
                </a:tblPr>
                <a:tblGrid>
                  <a:gridCol w="1280160"/>
                  <a:gridCol w="4114800"/>
                  <a:gridCol w="1920240"/>
                  <a:gridCol w="1920240"/>
                </a:tblGrid>
                <a:tr h="56692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순위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평가 대상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종합 점수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비고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</a:tr>
                <a:tr h="56692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1위</a:t>
                        </a:r>
                      </a:p>
                    </a:txBody>
                    <a:tcPr anchor="ctr" marL="63500" marR="63500" marT="38100" marB="38100">
                      <a:solidFill>
                        <a:srgbClr val="2E75D6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자사 컨소시엄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88.3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0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선정 우선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56692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2위</a:t>
                        </a:r>
                      </a:p>
                    </a:txBody>
                    <a:tcPr anchor="ctr" marL="63500" marR="63500" marT="38100" marB="38100">
                      <a:solidFill>
                        <a:srgbClr val="29ABE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경쟁사 A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82.1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0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차순위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  <a:tr h="56692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3위</a:t>
                        </a:r>
                      </a:p>
                    </a:txBody>
                    <a:tcPr anchor="ctr" marL="63500" marR="63500" marT="38100" marB="38100">
                      <a:solidFill>
                        <a:srgbClr val="1F9E8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경쟁사 B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78.5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0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예비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56692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4위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경쟁사 C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71.2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0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탈락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  <a:tr h="566928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5위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경쟁사 D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65.9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0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탈락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