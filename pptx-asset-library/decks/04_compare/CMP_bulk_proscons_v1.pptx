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장단점 2열 (Pros / Cons)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장점·단점을 색으로 구분한 2열 대비 (blue)</a:t>
            </a:r>
          </a:p>
        </p:txBody>
      </p:sp>
      <p:grpSp>
        <p:nvGrpSpPr>
          <p:cNvPr id="21" name="asset:CMP-135"/>
          <p:cNvGrpSpPr/>
          <p:nvPr/>
        </p:nvGrpSpPr>
        <p:grpSpPr>
          <a:xfrm>
            <a:off x="1005840" y="1691640"/>
            <a:ext cx="10149840" cy="4114800"/>
            <a:chOff x="1005840" y="1691640"/>
            <a:chExt cx="10149840" cy="4114800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691640"/>
              <a:ext cx="4892040" cy="41148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1005840" y="1691640"/>
              <a:ext cx="4892040" cy="731520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장점 (Pros)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280160" y="2688336"/>
              <a:ext cx="310896" cy="310896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19072" y="2633472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표준 대응 체계 확보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280160" y="3401568"/>
              <a:ext cx="310896" cy="310896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719072" y="3346704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기반 품질 자동화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280160" y="4114800"/>
              <a:ext cx="310896" cy="310896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719072" y="4059936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협업 플랫폼 운영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263640" y="1691640"/>
              <a:ext cx="4892040" cy="4114800"/>
            </a:xfrm>
            <a:prstGeom prst="roundRect">
              <a:avLst/>
            </a:prstGeom>
            <a:solidFill>
              <a:srgbClr val="FBF0E1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 Same Side Corner Rectangle 13"/>
            <p:cNvSpPr/>
            <p:nvPr/>
          </p:nvSpPr>
          <p:spPr>
            <a:xfrm>
              <a:off x="6263640" y="1691640"/>
              <a:ext cx="4892040" cy="731520"/>
            </a:xfrm>
            <a:prstGeom prst="round2Same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단점 (Cons)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6537959" y="2688336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976872" y="2633472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초기 도입 비용 부담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6537959" y="3401568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976872" y="3346704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내부 역량 확보 기간 필요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6537959" y="4114800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976872" y="4059936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레거시 시스템 연동 복잡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장단점 2열 (Pros / Cons)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장점·단점을 색으로 구분한 2열 대비 (teal)</a:t>
            </a:r>
          </a:p>
        </p:txBody>
      </p:sp>
      <p:grpSp>
        <p:nvGrpSpPr>
          <p:cNvPr id="25" name="asset:CMP-136"/>
          <p:cNvGrpSpPr/>
          <p:nvPr/>
        </p:nvGrpSpPr>
        <p:grpSpPr>
          <a:xfrm>
            <a:off x="1005840" y="1691640"/>
            <a:ext cx="10149840" cy="4114800"/>
            <a:chOff x="1005840" y="1691640"/>
            <a:chExt cx="10149840" cy="4114800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691640"/>
              <a:ext cx="4892040" cy="41148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1005840" y="1691640"/>
              <a:ext cx="4892040" cy="731520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장점 (Pros)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280160" y="2688336"/>
              <a:ext cx="310896" cy="310896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19072" y="2633472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기반 품질 자동화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280160" y="3401568"/>
              <a:ext cx="310896" cy="310896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719072" y="3346704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협업 플랫폼 운영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280160" y="4114800"/>
              <a:ext cx="310896" cy="310896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719072" y="4059936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기반 의사결정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1280160" y="4828032"/>
              <a:ext cx="310896" cy="310896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719072" y="4773168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확장 가능한 아키텍처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263640" y="1691640"/>
              <a:ext cx="4892040" cy="4114800"/>
            </a:xfrm>
            <a:prstGeom prst="roundRect">
              <a:avLst/>
            </a:prstGeom>
            <a:solidFill>
              <a:srgbClr val="FBF0E1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 Same Side Corner Rectangle 15"/>
            <p:cNvSpPr/>
            <p:nvPr/>
          </p:nvSpPr>
          <p:spPr>
            <a:xfrm>
              <a:off x="6263640" y="1691640"/>
              <a:ext cx="4892040" cy="731520"/>
            </a:xfrm>
            <a:prstGeom prst="round2Same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단점 (Cons)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6537959" y="2688336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976872" y="2633472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내부 역량 확보 기간 필요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6537959" y="3401568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976872" y="3346704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레거시 시스템 연동 복잡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6537959" y="4114800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976872" y="4059936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변화 관리 리스크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6537959" y="4828032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976872" y="4773168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인력 추가 필요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장단점 2열 (Pros / Cons)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장점·단점을 색으로 구분한 2열 대비 (cyan)</a:t>
            </a:r>
          </a:p>
        </p:txBody>
      </p:sp>
      <p:grpSp>
        <p:nvGrpSpPr>
          <p:cNvPr id="21" name="asset:CMP-137"/>
          <p:cNvGrpSpPr/>
          <p:nvPr/>
        </p:nvGrpSpPr>
        <p:grpSpPr>
          <a:xfrm>
            <a:off x="1005840" y="1691640"/>
            <a:ext cx="10149840" cy="4114800"/>
            <a:chOff x="1005840" y="1691640"/>
            <a:chExt cx="10149840" cy="4114800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691640"/>
              <a:ext cx="4892040" cy="41148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1005840" y="1691640"/>
              <a:ext cx="4892040" cy="731520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장점 (Pros)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280160" y="2688336"/>
              <a:ext cx="310896" cy="310896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19072" y="2633472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협업 플랫폼 운영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280160" y="3401568"/>
              <a:ext cx="310896" cy="310896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719072" y="3346704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기반 의사결정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280160" y="4114800"/>
              <a:ext cx="310896" cy="310896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719072" y="4059936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확장 가능한 아키텍처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263640" y="1691640"/>
              <a:ext cx="4892040" cy="4114800"/>
            </a:xfrm>
            <a:prstGeom prst="roundRect">
              <a:avLst/>
            </a:prstGeom>
            <a:solidFill>
              <a:srgbClr val="FBF0E1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 Same Side Corner Rectangle 13"/>
            <p:cNvSpPr/>
            <p:nvPr/>
          </p:nvSpPr>
          <p:spPr>
            <a:xfrm>
              <a:off x="6263640" y="1691640"/>
              <a:ext cx="4892040" cy="731520"/>
            </a:xfrm>
            <a:prstGeom prst="round2Same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단점 (Cons)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6537959" y="2688336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976872" y="2633472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레거시 시스템 연동 복잡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6537959" y="3401568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976872" y="3346704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변화 관리 리스크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6537959" y="4114800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976872" y="4059936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인력 추가 필요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장단점 2열 (Pros / Cons)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장점·단점을 색으로 구분한 2열 대비 (purple)</a:t>
            </a:r>
          </a:p>
        </p:txBody>
      </p:sp>
      <p:grpSp>
        <p:nvGrpSpPr>
          <p:cNvPr id="25" name="asset:CMP-138"/>
          <p:cNvGrpSpPr/>
          <p:nvPr/>
        </p:nvGrpSpPr>
        <p:grpSpPr>
          <a:xfrm>
            <a:off x="1005840" y="1691640"/>
            <a:ext cx="10149840" cy="4114800"/>
            <a:chOff x="1005840" y="1691640"/>
            <a:chExt cx="10149840" cy="4114800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691640"/>
              <a:ext cx="4892040" cy="41148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1005840" y="1691640"/>
              <a:ext cx="4892040" cy="731520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장점 (Pros)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280160" y="2688336"/>
              <a:ext cx="310896" cy="310896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19072" y="2633472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기반 의사결정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280160" y="3401568"/>
              <a:ext cx="310896" cy="310896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719072" y="3346704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확장 가능한 아키텍처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280160" y="4114800"/>
              <a:ext cx="310896" cy="310896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719072" y="4059936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검증된 보안 체계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1280160" y="4828032"/>
              <a:ext cx="310896" cy="310896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719072" y="4773168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표준 대응 체계 확보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263640" y="1691640"/>
              <a:ext cx="4892040" cy="4114800"/>
            </a:xfrm>
            <a:prstGeom prst="roundRect">
              <a:avLst/>
            </a:prstGeom>
            <a:solidFill>
              <a:srgbClr val="FBF0E1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 Same Side Corner Rectangle 15"/>
            <p:cNvSpPr/>
            <p:nvPr/>
          </p:nvSpPr>
          <p:spPr>
            <a:xfrm>
              <a:off x="6263640" y="1691640"/>
              <a:ext cx="4892040" cy="731520"/>
            </a:xfrm>
            <a:prstGeom prst="round2Same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단점 (Cons)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6537959" y="2688336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976872" y="2633472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변화 관리 리스크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6537959" y="3401568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976872" y="3346704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인력 추가 필요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6537959" y="4114800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976872" y="4059936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학습 곡선 존재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6537959" y="4828032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976872" y="4773168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초기 도입 비용 부담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장단점 2열 (Pros / Cons)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장점·단점을 색으로 구분한 2열 대비 (navy)</a:t>
            </a:r>
          </a:p>
        </p:txBody>
      </p:sp>
      <p:grpSp>
        <p:nvGrpSpPr>
          <p:cNvPr id="21" name="asset:CMP-139"/>
          <p:cNvGrpSpPr/>
          <p:nvPr/>
        </p:nvGrpSpPr>
        <p:grpSpPr>
          <a:xfrm>
            <a:off x="1005840" y="1691640"/>
            <a:ext cx="10149840" cy="4114800"/>
            <a:chOff x="1005840" y="1691640"/>
            <a:chExt cx="10149840" cy="4114800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691640"/>
              <a:ext cx="4892040" cy="41148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1005840" y="1691640"/>
              <a:ext cx="4892040" cy="731520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장점 (Pros)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280160" y="2688336"/>
              <a:ext cx="310896" cy="310896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19072" y="2633472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확장 가능한 아키텍처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280160" y="3401568"/>
              <a:ext cx="310896" cy="310896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719072" y="3346704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검증된 보안 체계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280160" y="4114800"/>
              <a:ext cx="310896" cy="310896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719072" y="4059936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표준 대응 체계 확보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263640" y="1691640"/>
              <a:ext cx="4892040" cy="4114800"/>
            </a:xfrm>
            <a:prstGeom prst="roundRect">
              <a:avLst/>
            </a:prstGeom>
            <a:solidFill>
              <a:srgbClr val="FBF0E1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 Same Side Corner Rectangle 13"/>
            <p:cNvSpPr/>
            <p:nvPr/>
          </p:nvSpPr>
          <p:spPr>
            <a:xfrm>
              <a:off x="6263640" y="1691640"/>
              <a:ext cx="4892040" cy="731520"/>
            </a:xfrm>
            <a:prstGeom prst="round2Same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단점 (Cons)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6537959" y="2688336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976872" y="2633472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인력 추가 필요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6537959" y="3401568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976872" y="3346704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학습 곡선 존재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6537959" y="4114800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976872" y="4059936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초기 도입 비용 부담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장단점 2열 (Pros / Cons)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장점·단점을 색으로 구분한 2열 대비 (blue)</a:t>
            </a:r>
          </a:p>
        </p:txBody>
      </p:sp>
      <p:grpSp>
        <p:nvGrpSpPr>
          <p:cNvPr id="25" name="asset:CMP-140"/>
          <p:cNvGrpSpPr/>
          <p:nvPr/>
        </p:nvGrpSpPr>
        <p:grpSpPr>
          <a:xfrm>
            <a:off x="1005840" y="1691640"/>
            <a:ext cx="10149840" cy="4114800"/>
            <a:chOff x="1005840" y="1691640"/>
            <a:chExt cx="10149840" cy="4114800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691640"/>
              <a:ext cx="4892040" cy="41148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1005840" y="1691640"/>
              <a:ext cx="4892040" cy="731520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장점 (Pros)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280160" y="2688336"/>
              <a:ext cx="310896" cy="310896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19072" y="2633472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검증된 보안 체계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280160" y="3401568"/>
              <a:ext cx="310896" cy="310896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719072" y="3346704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표준 대응 체계 확보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280160" y="4114800"/>
              <a:ext cx="310896" cy="310896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719072" y="4059936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기반 품질 자동화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1280160" y="4828032"/>
              <a:ext cx="310896" cy="310896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719072" y="4773168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협업 플랫폼 운영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263640" y="1691640"/>
              <a:ext cx="4892040" cy="4114800"/>
            </a:xfrm>
            <a:prstGeom prst="roundRect">
              <a:avLst/>
            </a:prstGeom>
            <a:solidFill>
              <a:srgbClr val="FBF0E1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 Same Side Corner Rectangle 15"/>
            <p:cNvSpPr/>
            <p:nvPr/>
          </p:nvSpPr>
          <p:spPr>
            <a:xfrm>
              <a:off x="6263640" y="1691640"/>
              <a:ext cx="4892040" cy="731520"/>
            </a:xfrm>
            <a:prstGeom prst="round2Same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단점 (Cons)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6537959" y="2688336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976872" y="2633472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학습 곡선 존재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6537959" y="3401568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976872" y="3346704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초기 도입 비용 부담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6537959" y="4114800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976872" y="4059936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내부 역량 확보 기간 필요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6537959" y="4828032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976872" y="4773168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레거시 시스템 연동 복잡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장단점 2열 (Pros / Cons)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장점·단점을 색으로 구분한 2열 대비 (teal)</a:t>
            </a:r>
          </a:p>
        </p:txBody>
      </p:sp>
      <p:grpSp>
        <p:nvGrpSpPr>
          <p:cNvPr id="21" name="asset:CMP-141"/>
          <p:cNvGrpSpPr/>
          <p:nvPr/>
        </p:nvGrpSpPr>
        <p:grpSpPr>
          <a:xfrm>
            <a:off x="1005840" y="1691640"/>
            <a:ext cx="10149840" cy="4114800"/>
            <a:chOff x="1005840" y="1691640"/>
            <a:chExt cx="10149840" cy="4114800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691640"/>
              <a:ext cx="4892040" cy="41148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1005840" y="1691640"/>
              <a:ext cx="4892040" cy="731520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장점 (Pros)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280160" y="2688336"/>
              <a:ext cx="310896" cy="310896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19072" y="2633472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표준 대응 체계 확보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280160" y="3401568"/>
              <a:ext cx="310896" cy="310896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719072" y="3346704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기반 품질 자동화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280160" y="4114800"/>
              <a:ext cx="310896" cy="310896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719072" y="4059936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협업 플랫폼 운영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263640" y="1691640"/>
              <a:ext cx="4892040" cy="4114800"/>
            </a:xfrm>
            <a:prstGeom prst="roundRect">
              <a:avLst/>
            </a:prstGeom>
            <a:solidFill>
              <a:srgbClr val="FBF0E1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 Same Side Corner Rectangle 13"/>
            <p:cNvSpPr/>
            <p:nvPr/>
          </p:nvSpPr>
          <p:spPr>
            <a:xfrm>
              <a:off x="6263640" y="1691640"/>
              <a:ext cx="4892040" cy="731520"/>
            </a:xfrm>
            <a:prstGeom prst="round2Same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단점 (Cons)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6537959" y="2688336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976872" y="2633472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초기 도입 비용 부담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6537959" y="3401568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976872" y="3346704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내부 역량 확보 기간 필요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6537959" y="4114800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976872" y="4059936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레거시 시스템 연동 복잡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장단점 2열 (Pros / Cons)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장점·단점을 색으로 구분한 2열 대비 (cyan)</a:t>
            </a:r>
          </a:p>
        </p:txBody>
      </p:sp>
      <p:grpSp>
        <p:nvGrpSpPr>
          <p:cNvPr id="25" name="asset:CMP-142"/>
          <p:cNvGrpSpPr/>
          <p:nvPr/>
        </p:nvGrpSpPr>
        <p:grpSpPr>
          <a:xfrm>
            <a:off x="1005840" y="1691640"/>
            <a:ext cx="10149840" cy="4114800"/>
            <a:chOff x="1005840" y="1691640"/>
            <a:chExt cx="10149840" cy="4114800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691640"/>
              <a:ext cx="4892040" cy="41148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1005840" y="1691640"/>
              <a:ext cx="4892040" cy="731520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장점 (Pros)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280160" y="2688336"/>
              <a:ext cx="310896" cy="310896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19072" y="2633472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기반 품질 자동화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280160" y="3401568"/>
              <a:ext cx="310896" cy="310896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719072" y="3346704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협업 플랫폼 운영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280160" y="4114800"/>
              <a:ext cx="310896" cy="310896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719072" y="4059936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기반 의사결정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1280160" y="4828032"/>
              <a:ext cx="310896" cy="310896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719072" y="4773168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확장 가능한 아키텍처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263640" y="1691640"/>
              <a:ext cx="4892040" cy="4114800"/>
            </a:xfrm>
            <a:prstGeom prst="roundRect">
              <a:avLst/>
            </a:prstGeom>
            <a:solidFill>
              <a:srgbClr val="FBF0E1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 Same Side Corner Rectangle 15"/>
            <p:cNvSpPr/>
            <p:nvPr/>
          </p:nvSpPr>
          <p:spPr>
            <a:xfrm>
              <a:off x="6263640" y="1691640"/>
              <a:ext cx="4892040" cy="731520"/>
            </a:xfrm>
            <a:prstGeom prst="round2Same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단점 (Cons)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6537959" y="2688336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976872" y="2633472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내부 역량 확보 기간 필요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6537959" y="3401568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976872" y="3346704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레거시 시스템 연동 복잡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6537959" y="4114800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976872" y="4059936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변화 관리 리스크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6537959" y="4828032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976872" y="4773168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인력 추가 필요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장단점 2열 (Pros / Cons)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장점·단점을 색으로 구분한 2열 대비 (purple)</a:t>
            </a:r>
          </a:p>
        </p:txBody>
      </p:sp>
      <p:grpSp>
        <p:nvGrpSpPr>
          <p:cNvPr id="21" name="asset:CMP-143"/>
          <p:cNvGrpSpPr/>
          <p:nvPr/>
        </p:nvGrpSpPr>
        <p:grpSpPr>
          <a:xfrm>
            <a:off x="1005840" y="1691640"/>
            <a:ext cx="10149840" cy="4114800"/>
            <a:chOff x="1005840" y="1691640"/>
            <a:chExt cx="10149840" cy="4114800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691640"/>
              <a:ext cx="4892040" cy="41148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1005840" y="1691640"/>
              <a:ext cx="4892040" cy="731520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장점 (Pros)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280160" y="2688336"/>
              <a:ext cx="310896" cy="310896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19072" y="2633472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협업 플랫폼 운영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280160" y="3401568"/>
              <a:ext cx="310896" cy="310896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719072" y="3346704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기반 의사결정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280160" y="4114800"/>
              <a:ext cx="310896" cy="310896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719072" y="4059936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확장 가능한 아키텍처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263640" y="1691640"/>
              <a:ext cx="4892040" cy="4114800"/>
            </a:xfrm>
            <a:prstGeom prst="roundRect">
              <a:avLst/>
            </a:prstGeom>
            <a:solidFill>
              <a:srgbClr val="FBF0E1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 Same Side Corner Rectangle 13"/>
            <p:cNvSpPr/>
            <p:nvPr/>
          </p:nvSpPr>
          <p:spPr>
            <a:xfrm>
              <a:off x="6263640" y="1691640"/>
              <a:ext cx="4892040" cy="731520"/>
            </a:xfrm>
            <a:prstGeom prst="round2Same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단점 (Cons)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6537959" y="2688336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976872" y="2633472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레거시 시스템 연동 복잡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6537959" y="3401568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976872" y="3346704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변화 관리 리스크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6537959" y="4114800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976872" y="4059936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인력 추가 필요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장단점 2열 (Pros / Cons)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장점·단점을 색으로 구분한 2열 대비 (navy)</a:t>
            </a:r>
          </a:p>
        </p:txBody>
      </p:sp>
      <p:grpSp>
        <p:nvGrpSpPr>
          <p:cNvPr id="25" name="asset:CMP-144"/>
          <p:cNvGrpSpPr/>
          <p:nvPr/>
        </p:nvGrpSpPr>
        <p:grpSpPr>
          <a:xfrm>
            <a:off x="1005840" y="1691640"/>
            <a:ext cx="10149840" cy="4114800"/>
            <a:chOff x="1005840" y="1691640"/>
            <a:chExt cx="10149840" cy="4114800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691640"/>
              <a:ext cx="4892040" cy="41148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1005840" y="1691640"/>
              <a:ext cx="4892040" cy="731520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장점 (Pros)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280160" y="2688336"/>
              <a:ext cx="310896" cy="310896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19072" y="2633472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기반 의사결정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280160" y="3401568"/>
              <a:ext cx="310896" cy="310896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719072" y="3346704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확장 가능한 아키텍처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280160" y="4114800"/>
              <a:ext cx="310896" cy="310896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719072" y="4059936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검증된 보안 체계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1280160" y="4828032"/>
              <a:ext cx="310896" cy="310896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719072" y="4773168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표준 대응 체계 확보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263640" y="1691640"/>
              <a:ext cx="4892040" cy="4114800"/>
            </a:xfrm>
            <a:prstGeom prst="roundRect">
              <a:avLst/>
            </a:prstGeom>
            <a:solidFill>
              <a:srgbClr val="FBF0E1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 Same Side Corner Rectangle 15"/>
            <p:cNvSpPr/>
            <p:nvPr/>
          </p:nvSpPr>
          <p:spPr>
            <a:xfrm>
              <a:off x="6263640" y="1691640"/>
              <a:ext cx="4892040" cy="731520"/>
            </a:xfrm>
            <a:prstGeom prst="round2Same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단점 (Cons)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6537959" y="2688336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976872" y="2633472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변화 관리 리스크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6537959" y="3401568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976872" y="3346704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인력 추가 필요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6537959" y="4114800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976872" y="4059936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학습 곡선 존재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6537959" y="4828032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976872" y="4773168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초기 도입 비용 부담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장단점 2열 (Pros / Cons)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장점·단점을 색으로 구분한 2열 대비 (blue)</a:t>
            </a:r>
          </a:p>
        </p:txBody>
      </p:sp>
      <p:grpSp>
        <p:nvGrpSpPr>
          <p:cNvPr id="21" name="asset:CMP-145"/>
          <p:cNvGrpSpPr/>
          <p:nvPr/>
        </p:nvGrpSpPr>
        <p:grpSpPr>
          <a:xfrm>
            <a:off x="1005840" y="1691640"/>
            <a:ext cx="10149840" cy="4114800"/>
            <a:chOff x="1005840" y="1691640"/>
            <a:chExt cx="10149840" cy="4114800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691640"/>
              <a:ext cx="4892040" cy="41148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1005840" y="1691640"/>
              <a:ext cx="4892040" cy="731520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장점 (Pros)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280160" y="2688336"/>
              <a:ext cx="310896" cy="310896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19072" y="2633472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확장 가능한 아키텍처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280160" y="3401568"/>
              <a:ext cx="310896" cy="310896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719072" y="3346704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검증된 보안 체계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280160" y="4114800"/>
              <a:ext cx="310896" cy="310896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719072" y="4059936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표준 대응 체계 확보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263640" y="1691640"/>
              <a:ext cx="4892040" cy="4114800"/>
            </a:xfrm>
            <a:prstGeom prst="roundRect">
              <a:avLst/>
            </a:prstGeom>
            <a:solidFill>
              <a:srgbClr val="FBF0E1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 Same Side Corner Rectangle 13"/>
            <p:cNvSpPr/>
            <p:nvPr/>
          </p:nvSpPr>
          <p:spPr>
            <a:xfrm>
              <a:off x="6263640" y="1691640"/>
              <a:ext cx="4892040" cy="731520"/>
            </a:xfrm>
            <a:prstGeom prst="round2Same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단점 (Cons)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6537959" y="2688336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976872" y="2633472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인력 추가 필요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6537959" y="3401568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976872" y="3346704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학습 곡선 존재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6537959" y="4114800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976872" y="4059936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초기 도입 비용 부담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장단점 2열 (Pros / Cons)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장점·단점을 색으로 구분한 2열 대비 (teal)</a:t>
            </a:r>
          </a:p>
        </p:txBody>
      </p:sp>
      <p:grpSp>
        <p:nvGrpSpPr>
          <p:cNvPr id="25" name="asset:CMP-146"/>
          <p:cNvGrpSpPr/>
          <p:nvPr/>
        </p:nvGrpSpPr>
        <p:grpSpPr>
          <a:xfrm>
            <a:off x="1005840" y="1691640"/>
            <a:ext cx="10149840" cy="4114800"/>
            <a:chOff x="1005840" y="1691640"/>
            <a:chExt cx="10149840" cy="4114800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691640"/>
              <a:ext cx="4892040" cy="41148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1005840" y="1691640"/>
              <a:ext cx="4892040" cy="731520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장점 (Pros)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280160" y="2688336"/>
              <a:ext cx="310896" cy="310896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19072" y="2633472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검증된 보안 체계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280160" y="3401568"/>
              <a:ext cx="310896" cy="310896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719072" y="3346704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표준 대응 체계 확보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280160" y="4114800"/>
              <a:ext cx="310896" cy="310896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719072" y="4059936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기반 품질 자동화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1280160" y="4828032"/>
              <a:ext cx="310896" cy="310896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719072" y="4773168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협업 플랫폼 운영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263640" y="1691640"/>
              <a:ext cx="4892040" cy="4114800"/>
            </a:xfrm>
            <a:prstGeom prst="roundRect">
              <a:avLst/>
            </a:prstGeom>
            <a:solidFill>
              <a:srgbClr val="FBF0E1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 Same Side Corner Rectangle 15"/>
            <p:cNvSpPr/>
            <p:nvPr/>
          </p:nvSpPr>
          <p:spPr>
            <a:xfrm>
              <a:off x="6263640" y="1691640"/>
              <a:ext cx="4892040" cy="731520"/>
            </a:xfrm>
            <a:prstGeom prst="round2Same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단점 (Cons)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6537959" y="2688336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976872" y="2633472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학습 곡선 존재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6537959" y="3401568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976872" y="3346704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초기 도입 비용 부담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6537959" y="4114800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976872" y="4059936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내부 역량 확보 기간 필요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6537959" y="4828032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976872" y="4773168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레거시 시스템 연동 복잡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