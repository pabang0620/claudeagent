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CMP-063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가중치 스코어카드 (환산점수)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항목별 가중치 × 점수 = 환산점수, 종합 합산 (blue)</a:t>
            </a:r>
          </a:p>
        </p:txBody>
      </p:sp>
      <p:graphicFrame>
        <p:nvGraphicFramePr>
          <p:cNvPr id="5" name="asset:CMP-063"/>
          <p:cNvGraphicFramePr>
            <a:graphicFrameLocks noGrp="1"/>
          </p:cNvGraphicFramePr>
          <p:nvPr/>
        </p:nvGraphicFramePr>
        <p:xfrm>
          <a:off x="1463040" y="1463040"/>
          <a:ext cx="923544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1737360"/>
                <a:gridCol w="1737360"/>
                <a:gridCol w="182880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가중치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점수(/100)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환산점수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대응 역량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30%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85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25.5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협업 프로세스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30%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86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25.8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 활용 성숙도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20%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87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17.4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관리 체계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20%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88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17.6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종합 환산점수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100%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—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86.3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CMP-064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가중치 스코어카드 (환산점수)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항목별 가중치 × 점수 = 환산점수, 종합 합산 (teal)</a:t>
            </a:r>
          </a:p>
        </p:txBody>
      </p:sp>
      <p:graphicFrame>
        <p:nvGraphicFramePr>
          <p:cNvPr id="5" name="asset:CMP-064"/>
          <p:cNvGraphicFramePr>
            <a:graphicFrameLocks noGrp="1"/>
          </p:cNvGraphicFramePr>
          <p:nvPr/>
        </p:nvGraphicFramePr>
        <p:xfrm>
          <a:off x="1463040" y="1463040"/>
          <a:ext cx="9235440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1737360"/>
                <a:gridCol w="1737360"/>
                <a:gridCol w="182880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가중치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점수(/100)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환산점수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협업 프로세스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30%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86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25.8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 활용 성숙도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20%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87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17.4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관리 체계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20%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88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17.6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가격 경쟁력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15%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89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13.3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납기 대응력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15%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90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13.5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종합 환산점수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100%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—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87.6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CMP-065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가중치 스코어카드 (환산점수)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항목별 가중치 × 점수 = 환산점수, 종합 합산 (cyan)</a:t>
            </a:r>
          </a:p>
        </p:txBody>
      </p:sp>
      <p:graphicFrame>
        <p:nvGraphicFramePr>
          <p:cNvPr id="5" name="asset:CMP-065"/>
          <p:cNvGraphicFramePr>
            <a:graphicFrameLocks noGrp="1"/>
          </p:cNvGraphicFramePr>
          <p:nvPr/>
        </p:nvGraphicFramePr>
        <p:xfrm>
          <a:off x="1463040" y="1463040"/>
          <a:ext cx="9235440" cy="4389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1737360"/>
                <a:gridCol w="1737360"/>
                <a:gridCol w="182880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가중치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점수(/100)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환산점수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 활용 성숙도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25%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87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21.8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관리 체계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20%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88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17.6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가격 경쟁력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20%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89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17.8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납기 대응력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15%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90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13.5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기술 전문성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10%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91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9.1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보안 수준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10%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92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9.2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종합 환산점수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100%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—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89.0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CMP-066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가중치 스코어카드 (환산점수)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항목별 가중치 × 점수 = 환산점수, 종합 합산 (purple)</a:t>
            </a:r>
          </a:p>
        </p:txBody>
      </p:sp>
      <p:graphicFrame>
        <p:nvGraphicFramePr>
          <p:cNvPr id="5" name="asset:CMP-066"/>
          <p:cNvGraphicFramePr>
            <a:graphicFrameLocks noGrp="1"/>
          </p:cNvGraphicFramePr>
          <p:nvPr/>
        </p:nvGraphicFramePr>
        <p:xfrm>
          <a:off x="1463040" y="1463040"/>
          <a:ext cx="923544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1737360"/>
                <a:gridCol w="1737360"/>
                <a:gridCol w="182880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가중치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점수(/100)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환산점수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관리 체계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30%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88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26.4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가격 경쟁력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30%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89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26.7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납기 대응력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20%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90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18.0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기술 전문성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20%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91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18.2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종합 환산점수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100%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—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89.3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CMP-067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가중치 스코어카드 (환산점수)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항목별 가중치 × 점수 = 환산점수, 종합 합산 (navy)</a:t>
            </a:r>
          </a:p>
        </p:txBody>
      </p:sp>
      <p:graphicFrame>
        <p:nvGraphicFramePr>
          <p:cNvPr id="5" name="asset:CMP-067"/>
          <p:cNvGraphicFramePr>
            <a:graphicFrameLocks noGrp="1"/>
          </p:cNvGraphicFramePr>
          <p:nvPr/>
        </p:nvGraphicFramePr>
        <p:xfrm>
          <a:off x="1463040" y="1463040"/>
          <a:ext cx="9235440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1737360"/>
                <a:gridCol w="1737360"/>
                <a:gridCol w="182880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가중치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점수(/100)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환산점수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가격 경쟁력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30%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89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26.7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납기 대응력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20%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90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18.0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기술 전문성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20%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91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18.2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보안 수준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15%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92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13.8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사용자 경험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15%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93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13.9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종합 환산점수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100%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—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90.6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CMP-068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가중치 스코어카드 (환산점수)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항목별 가중치 × 점수 = 환산점수, 종합 합산 (blue)</a:t>
            </a:r>
          </a:p>
        </p:txBody>
      </p:sp>
      <p:graphicFrame>
        <p:nvGraphicFramePr>
          <p:cNvPr id="5" name="asset:CMP-068"/>
          <p:cNvGraphicFramePr>
            <a:graphicFrameLocks noGrp="1"/>
          </p:cNvGraphicFramePr>
          <p:nvPr/>
        </p:nvGraphicFramePr>
        <p:xfrm>
          <a:off x="1463040" y="1463040"/>
          <a:ext cx="9235440" cy="4389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1737360"/>
                <a:gridCol w="1737360"/>
                <a:gridCol w="182880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가중치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점수(/100)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환산점수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납기 대응력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25%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90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22.5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기술 전문성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20%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91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18.2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보안 수준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20%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92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18.4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사용자 경험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15%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93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13.9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시스템 확장성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10%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94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9.4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 편의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10%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95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9.5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종합 환산점수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100%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—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91.9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CMP-069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가중치 스코어카드 (환산점수)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항목별 가중치 × 점수 = 환산점수, 종합 합산 (teal)</a:t>
            </a:r>
          </a:p>
        </p:txBody>
      </p:sp>
      <p:graphicFrame>
        <p:nvGraphicFramePr>
          <p:cNvPr id="5" name="asset:CMP-069"/>
          <p:cNvGraphicFramePr>
            <a:graphicFrameLocks noGrp="1"/>
          </p:cNvGraphicFramePr>
          <p:nvPr/>
        </p:nvGraphicFramePr>
        <p:xfrm>
          <a:off x="1463040" y="1463040"/>
          <a:ext cx="923544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1737360"/>
                <a:gridCol w="1737360"/>
                <a:gridCol w="182880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가중치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점수(/100)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환산점수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기술 전문성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30%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91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27.3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보안 수준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30%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92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27.6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사용자 경험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20%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93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18.6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시스템 확장성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20%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94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18.8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종합 환산점수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100%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—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92.3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CMP-070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가중치 스코어카드 (환산점수)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항목별 가중치 × 점수 = 환산점수, 종합 합산 (cyan)</a:t>
            </a:r>
          </a:p>
        </p:txBody>
      </p:sp>
      <p:graphicFrame>
        <p:nvGraphicFramePr>
          <p:cNvPr id="5" name="asset:CMP-070"/>
          <p:cNvGraphicFramePr>
            <a:graphicFrameLocks noGrp="1"/>
          </p:cNvGraphicFramePr>
          <p:nvPr/>
        </p:nvGraphicFramePr>
        <p:xfrm>
          <a:off x="1463040" y="1463040"/>
          <a:ext cx="9235440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1737360"/>
                <a:gridCol w="1737360"/>
                <a:gridCol w="182880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가중치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점수(/100)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환산점수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보안 수준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30%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92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27.6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사용자 경험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20%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93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18.6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시스템 확장성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20%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94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18.8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 편의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15%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95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14.2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 체계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15%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85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12.8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종합 환산점수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100%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—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92.0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CMP-071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가중치 스코어카드 (환산점수)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항목별 가중치 × 점수 = 환산점수, 종합 합산 (purple)</a:t>
            </a:r>
          </a:p>
        </p:txBody>
      </p:sp>
      <p:graphicFrame>
        <p:nvGraphicFramePr>
          <p:cNvPr id="5" name="asset:CMP-071"/>
          <p:cNvGraphicFramePr>
            <a:graphicFrameLocks noGrp="1"/>
          </p:cNvGraphicFramePr>
          <p:nvPr/>
        </p:nvGraphicFramePr>
        <p:xfrm>
          <a:off x="1463040" y="1463040"/>
          <a:ext cx="9235440" cy="4389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1737360"/>
                <a:gridCol w="1737360"/>
                <a:gridCol w="182880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가중치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점수(/100)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환산점수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사용자 경험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25%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93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23.2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시스템 확장성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20%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94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18.8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 편의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20%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95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19.0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 체계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15%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85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12.8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시장 이해도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10%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86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8.6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효율성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10%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87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8.7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종합 환산점수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100%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—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91.1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CMP-072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가중치 스코어카드 (환산점수)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항목별 가중치 × 점수 = 환산점수, 종합 합산 (navy)</a:t>
            </a:r>
          </a:p>
        </p:txBody>
      </p:sp>
      <p:graphicFrame>
        <p:nvGraphicFramePr>
          <p:cNvPr id="5" name="asset:CMP-072"/>
          <p:cNvGraphicFramePr>
            <a:graphicFrameLocks noGrp="1"/>
          </p:cNvGraphicFramePr>
          <p:nvPr/>
        </p:nvGraphicFramePr>
        <p:xfrm>
          <a:off x="1463040" y="1463040"/>
          <a:ext cx="923544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1737360"/>
                <a:gridCol w="1737360"/>
                <a:gridCol w="182880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가중치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점수(/100)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환산점수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시스템 확장성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30%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94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28.2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 편의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30%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95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28.5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 체계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20%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85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17.0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시장 이해도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20%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86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17.2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종합 환산점수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100%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—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90.9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CMP-073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가중치 스코어카드 (환산점수)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항목별 가중치 × 점수 = 환산점수, 종합 합산 (blue)</a:t>
            </a:r>
          </a:p>
        </p:txBody>
      </p:sp>
      <p:graphicFrame>
        <p:nvGraphicFramePr>
          <p:cNvPr id="5" name="asset:CMP-073"/>
          <p:cNvGraphicFramePr>
            <a:graphicFrameLocks noGrp="1"/>
          </p:cNvGraphicFramePr>
          <p:nvPr/>
        </p:nvGraphicFramePr>
        <p:xfrm>
          <a:off x="1463040" y="1463040"/>
          <a:ext cx="9235440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1737360"/>
                <a:gridCol w="1737360"/>
                <a:gridCol w="182880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가중치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점수(/100)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환산점수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 편의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30%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95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28.5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 체계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20%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85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17.0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시장 이해도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20%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86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17.2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효율성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15%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87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13.1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혁신 역량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15%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88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13.2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종합 환산점수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100%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—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89.0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CMP-074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가중치 스코어카드 (환산점수)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항목별 가중치 × 점수 = 환산점수, 종합 합산 (teal)</a:t>
            </a:r>
          </a:p>
        </p:txBody>
      </p:sp>
      <p:graphicFrame>
        <p:nvGraphicFramePr>
          <p:cNvPr id="5" name="asset:CMP-074"/>
          <p:cNvGraphicFramePr>
            <a:graphicFrameLocks noGrp="1"/>
          </p:cNvGraphicFramePr>
          <p:nvPr/>
        </p:nvGraphicFramePr>
        <p:xfrm>
          <a:off x="1463040" y="1463040"/>
          <a:ext cx="9235440" cy="4389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1737360"/>
                <a:gridCol w="1737360"/>
                <a:gridCol w="182880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가중치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점수(/100)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환산점수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 체계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25%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85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21.2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시장 이해도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20%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86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17.2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효율성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20%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87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17.4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혁신 역량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15%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88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13.2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신뢰도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10%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89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8.9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수준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10%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90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9.0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종합 환산점수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100%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—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86.9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CMP-075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가중치 스코어카드 (환산점수)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항목별 가중치 × 점수 = 환산점수, 종합 합산 (cyan)</a:t>
            </a:r>
          </a:p>
        </p:txBody>
      </p:sp>
      <p:graphicFrame>
        <p:nvGraphicFramePr>
          <p:cNvPr id="5" name="asset:CMP-075"/>
          <p:cNvGraphicFramePr>
            <a:graphicFrameLocks noGrp="1"/>
          </p:cNvGraphicFramePr>
          <p:nvPr/>
        </p:nvGraphicFramePr>
        <p:xfrm>
          <a:off x="1463040" y="1463040"/>
          <a:ext cx="923544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1737360"/>
                <a:gridCol w="1737360"/>
                <a:gridCol w="182880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가중치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점수(/100)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환산점수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시장 이해도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30%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86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25.8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효율성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30%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87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26.1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혁신 역량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20%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88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17.6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신뢰도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20%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89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17.8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종합 환산점수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100%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—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87.3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CMP-076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가중치 스코어카드 (환산점수)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항목별 가중치 × 점수 = 환산점수, 종합 합산 (purple)</a:t>
            </a:r>
          </a:p>
        </p:txBody>
      </p:sp>
      <p:graphicFrame>
        <p:nvGraphicFramePr>
          <p:cNvPr id="5" name="asset:CMP-076"/>
          <p:cNvGraphicFramePr>
            <a:graphicFrameLocks noGrp="1"/>
          </p:cNvGraphicFramePr>
          <p:nvPr/>
        </p:nvGraphicFramePr>
        <p:xfrm>
          <a:off x="1463040" y="1463040"/>
          <a:ext cx="9235440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1737360"/>
                <a:gridCol w="1737360"/>
                <a:gridCol w="182880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가중치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점수(/100)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환산점수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효율성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30%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87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26.1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혁신 역량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20%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88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17.6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신뢰도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20%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89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17.8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수준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15%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90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13.5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리스크 관리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15%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91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13.7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종합 환산점수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100%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—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88.7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