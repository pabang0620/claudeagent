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(blue)</a:t>
            </a:r>
          </a:p>
        </p:txBody>
      </p:sp>
      <p:graphicFrame>
        <p:nvGraphicFramePr>
          <p:cNvPr id="5" name="asset:CMP-063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대응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25.5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86.3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(teal)</a:t>
            </a:r>
          </a:p>
        </p:txBody>
      </p:sp>
      <p:graphicFrame>
        <p:nvGraphicFramePr>
          <p:cNvPr id="5" name="asset:CMP-064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협업 프로세스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13.3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13.5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87.6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(cyan)</a:t>
            </a:r>
          </a:p>
        </p:txBody>
      </p:sp>
      <p:graphicFrame>
        <p:nvGraphicFramePr>
          <p:cNvPr id="5" name="asset:CMP-065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활용 성숙도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13.5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(purple)</a:t>
            </a:r>
          </a:p>
        </p:txBody>
      </p:sp>
      <p:graphicFrame>
        <p:nvGraphicFramePr>
          <p:cNvPr id="5" name="asset:CMP-066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관리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26.4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26.7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89.3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(navy)</a:t>
            </a:r>
          </a:p>
        </p:txBody>
      </p:sp>
      <p:graphicFrame>
        <p:nvGraphicFramePr>
          <p:cNvPr id="5" name="asset:CMP-067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가격 경쟁력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26.7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13.9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90.6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(blue)</a:t>
            </a:r>
          </a:p>
        </p:txBody>
      </p:sp>
      <p:graphicFrame>
        <p:nvGraphicFramePr>
          <p:cNvPr id="5" name="asset:CMP-068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납기 대응력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22.5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13.9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9.5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91.9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(teal)</a:t>
            </a:r>
          </a:p>
        </p:txBody>
      </p:sp>
      <p:graphicFrame>
        <p:nvGraphicFramePr>
          <p:cNvPr id="5" name="asset:CMP-069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기술 전문성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27.3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92.3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(cyan)</a:t>
            </a:r>
          </a:p>
        </p:txBody>
      </p:sp>
      <p:graphicFrame>
        <p:nvGraphicFramePr>
          <p:cNvPr id="5" name="asset:CMP-070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보안 수준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27.6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92.0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(purple)</a:t>
            </a:r>
          </a:p>
        </p:txBody>
      </p:sp>
      <p:graphicFrame>
        <p:nvGraphicFramePr>
          <p:cNvPr id="5" name="asset:CMP-071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경험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23.2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19.0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8.7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91.1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(navy)</a:t>
            </a:r>
          </a:p>
        </p:txBody>
      </p:sp>
      <p:graphicFrame>
        <p:nvGraphicFramePr>
          <p:cNvPr id="5" name="asset:CMP-072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시스템 확장성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28.5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A4A7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90.9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(blue)</a:t>
            </a:r>
          </a:p>
        </p:txBody>
      </p:sp>
      <p:graphicFrame>
        <p:nvGraphicFramePr>
          <p:cNvPr id="5" name="asset:CMP-073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 편의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28.5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89.0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(teal)</a:t>
            </a:r>
          </a:p>
        </p:txBody>
      </p:sp>
      <p:graphicFrame>
        <p:nvGraphicFramePr>
          <p:cNvPr id="5" name="asset:CMP-074"/>
          <p:cNvGraphicFramePr>
            <a:graphicFrameLocks noGrp="1"/>
          </p:cNvGraphicFramePr>
          <p:nvPr/>
        </p:nvGraphicFramePr>
        <p:xfrm>
          <a:off x="1463040" y="1463040"/>
          <a:ext cx="9235440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 체계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17.4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13.2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8.9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9E8F"/>
                          </a:solidFill>
                          <a:latin typeface="Pretendard"/>
                          <a:ea typeface="Pretendard"/>
                          <a:cs typeface="Pretendard"/>
                        </a:rPr>
                        <a:t>9.0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86.9</a:t>
                      </a:r>
                    </a:p>
                  </a:txBody>
                  <a:tcPr anchor="ctr" marL="63500" marR="63500" marT="38100" marB="38100">
                    <a:solidFill>
                      <a:srgbClr val="2A4A7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(cyan)</a:t>
            </a:r>
          </a:p>
        </p:txBody>
      </p:sp>
      <p:graphicFrame>
        <p:nvGraphicFramePr>
          <p:cNvPr id="5" name="asset:CMP-075"/>
          <p:cNvGraphicFramePr>
            <a:graphicFrameLocks noGrp="1"/>
          </p:cNvGraphicFramePr>
          <p:nvPr/>
        </p:nvGraphicFramePr>
        <p:xfrm>
          <a:off x="1463040" y="1463040"/>
          <a:ext cx="923544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시장 이해도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25.8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26.1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87.3</a:t>
                      </a:r>
                    </a:p>
                  </a:txBody>
                  <a:tcPr anchor="ctr" marL="63500" marR="63500" marT="38100" marB="38100">
                    <a:solidFill>
                      <a:srgbClr val="1623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CMP-076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가중치 스코어카드 (환산점수)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항목별 가중치 × 점수 = 환산점수, 종합 합산 (purple)</a:t>
            </a:r>
          </a:p>
        </p:txBody>
      </p:sp>
      <p:graphicFrame>
        <p:nvGraphicFramePr>
          <p:cNvPr id="5" name="asset:CMP-076"/>
          <p:cNvGraphicFramePr>
            <a:graphicFrameLocks noGrp="1"/>
          </p:cNvGraphicFramePr>
          <p:nvPr/>
        </p:nvGraphicFramePr>
        <p:xfrm>
          <a:off x="1463040" y="1463040"/>
          <a:ext cx="923544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737360"/>
                <a:gridCol w="1737360"/>
                <a:gridCol w="18288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평가 항목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점수(/100)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효율성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26.1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혁신 역량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17.6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신뢰도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17.8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수준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38100" marB="381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13.5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 관리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59595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15%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63500" marR="635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7B2D8E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13.7</a:t>
                      </a:r>
                    </a:p>
                  </a:txBody>
                  <a:tcPr anchor="ctr" marL="63500" marR="63500" marT="38100" marB="38100">
                    <a:solidFill>
                      <a:srgbClr val="F7F9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종합 환산점수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100%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9ABE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88.7</a:t>
                      </a:r>
                    </a:p>
                  </a:txBody>
                  <a:tcPr anchor="ctr" marL="63500" marR="63500" marT="38100" marB="38100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