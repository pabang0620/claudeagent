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2x2 전략 포지셔닝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축 라벨과 4개 사분면을 자유 편집 (blue)</a:t>
            </a:r>
          </a:p>
        </p:txBody>
      </p:sp>
      <p:grpSp>
        <p:nvGrpSpPr>
          <p:cNvPr id="13" name="asset:CMP-019"/>
          <p:cNvGrpSpPr/>
          <p:nvPr/>
        </p:nvGrpSpPr>
        <p:grpSpPr>
          <a:xfrm>
            <a:off x="182879" y="1417320"/>
            <a:ext cx="10195561" cy="4636008"/>
            <a:chOff x="182879" y="1417320"/>
            <a:chExt cx="10195561" cy="4636008"/>
          </a:xfrm>
        </p:grpSpPr>
        <p:sp>
          <p:nvSpPr>
            <p:cNvPr id="5" name="Rounded Rectangle 4"/>
            <p:cNvSpPr/>
            <p:nvPr/>
          </p:nvSpPr>
          <p:spPr>
            <a:xfrm>
              <a:off x="2697480" y="1417320"/>
              <a:ext cx="3703319" cy="1965960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집중 육성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역량 우위 영역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675120" y="1417320"/>
              <a:ext cx="3703319" cy="1965960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선택 확대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강화 필요 영역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97480" y="3657600"/>
              <a:ext cx="3703319" cy="196596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현상 유지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안정화 영역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3657600"/>
              <a:ext cx="3703319" cy="1965960"/>
            </a:xfrm>
            <a:prstGeom prst="roundRect">
              <a:avLst/>
            </a:prstGeom>
            <a:solidFill>
              <a:srgbClr val="1F3864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재검토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우선순위 후순위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697480" y="3520440"/>
              <a:ext cx="768096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537959" y="1417320"/>
              <a:ext cx="0" cy="42062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697480" y="5733288"/>
              <a:ext cx="76809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시장 매력도  →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182879" y="3355848"/>
              <a:ext cx="4206240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실행 역량  →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2x2 전략 포지셔닝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축 라벨과 4개 사분면을 자유 편집 (teal)</a:t>
            </a:r>
          </a:p>
        </p:txBody>
      </p:sp>
      <p:grpSp>
        <p:nvGrpSpPr>
          <p:cNvPr id="13" name="asset:CMP-020"/>
          <p:cNvGrpSpPr/>
          <p:nvPr/>
        </p:nvGrpSpPr>
        <p:grpSpPr>
          <a:xfrm>
            <a:off x="182879" y="1417320"/>
            <a:ext cx="10195561" cy="4636008"/>
            <a:chOff x="182879" y="1417320"/>
            <a:chExt cx="10195561" cy="4636008"/>
          </a:xfrm>
        </p:grpSpPr>
        <p:sp>
          <p:nvSpPr>
            <p:cNvPr id="5" name="Rounded Rectangle 4"/>
            <p:cNvSpPr/>
            <p:nvPr/>
          </p:nvSpPr>
          <p:spPr>
            <a:xfrm>
              <a:off x="2697480" y="1417320"/>
              <a:ext cx="3703319" cy="1965960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선택 확대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강화 필요 영역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675120" y="1417320"/>
              <a:ext cx="3703319" cy="1965960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현상 유지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안정화 영역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97480" y="3657600"/>
              <a:ext cx="3703319" cy="196596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재검토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우선순위 후순위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3657600"/>
              <a:ext cx="3703319" cy="1965960"/>
            </a:xfrm>
            <a:prstGeom prst="roundRect">
              <a:avLst/>
            </a:prstGeom>
            <a:solidFill>
              <a:srgbClr val="2A4A7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즉시 착수 대상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697480" y="3520440"/>
              <a:ext cx="768096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537959" y="1417320"/>
              <a:ext cx="0" cy="42062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697480" y="5733288"/>
              <a:ext cx="76809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기대 효과  →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182879" y="3355848"/>
              <a:ext cx="4206240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투자 규모  →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2x2 전략 포지셔닝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축 라벨과 4개 사분면을 자유 편집 (cyan)</a:t>
            </a:r>
          </a:p>
        </p:txBody>
      </p:sp>
      <p:grpSp>
        <p:nvGrpSpPr>
          <p:cNvPr id="13" name="asset:CMP-021"/>
          <p:cNvGrpSpPr/>
          <p:nvPr/>
        </p:nvGrpSpPr>
        <p:grpSpPr>
          <a:xfrm>
            <a:off x="182879" y="1417320"/>
            <a:ext cx="10195561" cy="4636008"/>
            <a:chOff x="182879" y="1417320"/>
            <a:chExt cx="10195561" cy="4636008"/>
          </a:xfrm>
        </p:grpSpPr>
        <p:sp>
          <p:nvSpPr>
            <p:cNvPr id="5" name="Rounded Rectangle 4"/>
            <p:cNvSpPr/>
            <p:nvPr/>
          </p:nvSpPr>
          <p:spPr>
            <a:xfrm>
              <a:off x="2697480" y="1417320"/>
              <a:ext cx="3703319" cy="1965960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현상 유지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안정화 영역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675120" y="1417320"/>
              <a:ext cx="3703319" cy="1965960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재검토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우선순위 후순위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97480" y="3657600"/>
              <a:ext cx="3703319" cy="196596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즉시 착수 대상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3657600"/>
              <a:ext cx="3703319" cy="1965960"/>
            </a:xfrm>
            <a:prstGeom prst="roundRect">
              <a:avLst/>
            </a:prstGeom>
            <a:solidFill>
              <a:srgbClr val="16233B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단계적 확대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697480" y="3520440"/>
              <a:ext cx="768096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537959" y="1417320"/>
              <a:ext cx="0" cy="42062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697480" y="5733288"/>
              <a:ext cx="76809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성장성  →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182879" y="3355848"/>
              <a:ext cx="4206240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수익성  →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2x2 전략 포지셔닝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축 라벨과 4개 사분면을 자유 편집 (purple)</a:t>
            </a:r>
          </a:p>
        </p:txBody>
      </p:sp>
      <p:grpSp>
        <p:nvGrpSpPr>
          <p:cNvPr id="13" name="asset:CMP-022"/>
          <p:cNvGrpSpPr/>
          <p:nvPr/>
        </p:nvGrpSpPr>
        <p:grpSpPr>
          <a:xfrm>
            <a:off x="182879" y="1417320"/>
            <a:ext cx="10195561" cy="4636008"/>
            <a:chOff x="182879" y="1417320"/>
            <a:chExt cx="10195561" cy="4636008"/>
          </a:xfrm>
        </p:grpSpPr>
        <p:sp>
          <p:nvSpPr>
            <p:cNvPr id="5" name="Rounded Rectangle 4"/>
            <p:cNvSpPr/>
            <p:nvPr/>
          </p:nvSpPr>
          <p:spPr>
            <a:xfrm>
              <a:off x="2697480" y="1417320"/>
              <a:ext cx="3703319" cy="1965960"/>
            </a:xfrm>
            <a:prstGeom prst="roundRect">
              <a:avLst/>
            </a:prstGeom>
            <a:solidFill>
              <a:srgbClr val="7B2D8E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재검토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우선순위 후순위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675120" y="1417320"/>
              <a:ext cx="3703319" cy="1965960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즉시 착수 대상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97480" y="3657600"/>
              <a:ext cx="3703319" cy="196596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단계적 확대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3657600"/>
              <a:ext cx="3703319" cy="1965960"/>
            </a:xfrm>
            <a:prstGeom prst="roundRect">
              <a:avLst/>
            </a:prstGeom>
            <a:solidFill>
              <a:srgbClr val="1F3864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보완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리스크 관리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697480" y="3520440"/>
              <a:ext cx="768096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537959" y="1417320"/>
              <a:ext cx="0" cy="42062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697480" y="5733288"/>
              <a:ext cx="76809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중요도  →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182879" y="3355848"/>
              <a:ext cx="4206240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긴급도  →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2x2 전략 포지셔닝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축 라벨과 4개 사분면을 자유 편집 (navy)</a:t>
            </a:r>
          </a:p>
        </p:txBody>
      </p:sp>
      <p:grpSp>
        <p:nvGrpSpPr>
          <p:cNvPr id="13" name="asset:CMP-023"/>
          <p:cNvGrpSpPr/>
          <p:nvPr/>
        </p:nvGrpSpPr>
        <p:grpSpPr>
          <a:xfrm>
            <a:off x="182879" y="1417320"/>
            <a:ext cx="10195561" cy="4636008"/>
            <a:chOff x="182879" y="1417320"/>
            <a:chExt cx="10195561" cy="4636008"/>
          </a:xfrm>
        </p:grpSpPr>
        <p:sp>
          <p:nvSpPr>
            <p:cNvPr id="5" name="Rounded Rectangle 4"/>
            <p:cNvSpPr/>
            <p:nvPr/>
          </p:nvSpPr>
          <p:spPr>
            <a:xfrm>
              <a:off x="2697480" y="1417320"/>
              <a:ext cx="3703319" cy="1965960"/>
            </a:xfrm>
            <a:prstGeom prst="roundRect">
              <a:avLst/>
            </a:prstGeom>
            <a:solidFill>
              <a:srgbClr val="2A4A7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즉시 착수 대상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675120" y="1417320"/>
              <a:ext cx="3703319" cy="1965960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단계적 확대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97480" y="3657600"/>
              <a:ext cx="3703319" cy="196596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보완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리스크 관리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3657600"/>
              <a:ext cx="3703319" cy="1965960"/>
            </a:xfrm>
            <a:prstGeom prst="roundRect">
              <a:avLst/>
            </a:prstGeom>
            <a:solidFill>
              <a:srgbClr val="16233B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관망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관망 대상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697480" y="3520440"/>
              <a:ext cx="768096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537959" y="1417320"/>
              <a:ext cx="0" cy="42062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697480" y="5733288"/>
              <a:ext cx="76809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전략 적합성  →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182879" y="3355848"/>
              <a:ext cx="4206240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실현 가능성  →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2x2 전략 포지셔닝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축 라벨과 4개 사분면을 자유 편집 (blue)</a:t>
            </a:r>
          </a:p>
        </p:txBody>
      </p:sp>
      <p:grpSp>
        <p:nvGrpSpPr>
          <p:cNvPr id="13" name="asset:CMP-024"/>
          <p:cNvGrpSpPr/>
          <p:nvPr/>
        </p:nvGrpSpPr>
        <p:grpSpPr>
          <a:xfrm>
            <a:off x="182879" y="1417320"/>
            <a:ext cx="10195561" cy="4636008"/>
            <a:chOff x="182879" y="1417320"/>
            <a:chExt cx="10195561" cy="4636008"/>
          </a:xfrm>
        </p:grpSpPr>
        <p:sp>
          <p:nvSpPr>
            <p:cNvPr id="5" name="Rounded Rectangle 4"/>
            <p:cNvSpPr/>
            <p:nvPr/>
          </p:nvSpPr>
          <p:spPr>
            <a:xfrm>
              <a:off x="2697480" y="1417320"/>
              <a:ext cx="3703319" cy="1965960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단계적 확대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675120" y="1417320"/>
              <a:ext cx="3703319" cy="1965960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보완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리스크 관리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97480" y="3657600"/>
              <a:ext cx="3703319" cy="196596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관망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관망 대상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3657600"/>
              <a:ext cx="3703319" cy="1965960"/>
            </a:xfrm>
            <a:prstGeom prst="roundRect">
              <a:avLst/>
            </a:prstGeom>
            <a:solidFill>
              <a:srgbClr val="1F3864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즉시 실행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최우선 투자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697480" y="3520440"/>
              <a:ext cx="768096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537959" y="1417320"/>
              <a:ext cx="0" cy="42062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697480" y="5733288"/>
              <a:ext cx="76809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시장 매력도  →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182879" y="3355848"/>
              <a:ext cx="4206240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실행 역량  →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2x2 전략 포지셔닝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축 라벨과 4개 사분면을 자유 편집 (teal)</a:t>
            </a:r>
          </a:p>
        </p:txBody>
      </p:sp>
      <p:grpSp>
        <p:nvGrpSpPr>
          <p:cNvPr id="13" name="asset:CMP-025"/>
          <p:cNvGrpSpPr/>
          <p:nvPr/>
        </p:nvGrpSpPr>
        <p:grpSpPr>
          <a:xfrm>
            <a:off x="182879" y="1417320"/>
            <a:ext cx="10195561" cy="4636008"/>
            <a:chOff x="182879" y="1417320"/>
            <a:chExt cx="10195561" cy="4636008"/>
          </a:xfrm>
        </p:grpSpPr>
        <p:sp>
          <p:nvSpPr>
            <p:cNvPr id="5" name="Rounded Rectangle 4"/>
            <p:cNvSpPr/>
            <p:nvPr/>
          </p:nvSpPr>
          <p:spPr>
            <a:xfrm>
              <a:off x="2697480" y="1417320"/>
              <a:ext cx="3703319" cy="1965960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보완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리스크 관리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675120" y="1417320"/>
              <a:ext cx="3703319" cy="1965960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관망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관망 대상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97480" y="3657600"/>
              <a:ext cx="3703319" cy="196596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즉시 실행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최우선 투자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3657600"/>
              <a:ext cx="3703319" cy="1965960"/>
            </a:xfrm>
            <a:prstGeom prst="roundRect">
              <a:avLst/>
            </a:prstGeom>
            <a:solidFill>
              <a:srgbClr val="2A4A7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단계 확대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점진 투자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697480" y="3520440"/>
              <a:ext cx="768096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537959" y="1417320"/>
              <a:ext cx="0" cy="42062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697480" y="5733288"/>
              <a:ext cx="76809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기대 효과  →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182879" y="3355848"/>
              <a:ext cx="4206240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투자 규모  →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2x2 전략 포지셔닝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축 라벨과 4개 사분면을 자유 편집 (cyan)</a:t>
            </a:r>
          </a:p>
        </p:txBody>
      </p:sp>
      <p:grpSp>
        <p:nvGrpSpPr>
          <p:cNvPr id="13" name="asset:CMP-026"/>
          <p:cNvGrpSpPr/>
          <p:nvPr/>
        </p:nvGrpSpPr>
        <p:grpSpPr>
          <a:xfrm>
            <a:off x="182879" y="1417320"/>
            <a:ext cx="10195561" cy="4636008"/>
            <a:chOff x="182879" y="1417320"/>
            <a:chExt cx="10195561" cy="4636008"/>
          </a:xfrm>
        </p:grpSpPr>
        <p:sp>
          <p:nvSpPr>
            <p:cNvPr id="5" name="Rounded Rectangle 4"/>
            <p:cNvSpPr/>
            <p:nvPr/>
          </p:nvSpPr>
          <p:spPr>
            <a:xfrm>
              <a:off x="2697480" y="1417320"/>
              <a:ext cx="3703319" cy="1965960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관망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관망 대상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675120" y="1417320"/>
              <a:ext cx="3703319" cy="1965960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즉시 실행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최우선 투자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97480" y="3657600"/>
              <a:ext cx="3703319" cy="196596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단계 확대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점진 투자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3657600"/>
              <a:ext cx="3703319" cy="1965960"/>
            </a:xfrm>
            <a:prstGeom prst="roundRect">
              <a:avLst/>
            </a:prstGeom>
            <a:solidFill>
              <a:srgbClr val="16233B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방어 영역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현상 유지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697480" y="3520440"/>
              <a:ext cx="768096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537959" y="1417320"/>
              <a:ext cx="0" cy="42062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697480" y="5733288"/>
              <a:ext cx="76809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성장성  →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182879" y="3355848"/>
              <a:ext cx="4206240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수익성  →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2x2 전략 포지셔닝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축 라벨과 4개 사분면을 자유 편집 (purple)</a:t>
            </a:r>
          </a:p>
        </p:txBody>
      </p:sp>
      <p:grpSp>
        <p:nvGrpSpPr>
          <p:cNvPr id="13" name="asset:CMP-027"/>
          <p:cNvGrpSpPr/>
          <p:nvPr/>
        </p:nvGrpSpPr>
        <p:grpSpPr>
          <a:xfrm>
            <a:off x="182879" y="1417320"/>
            <a:ext cx="10195561" cy="4636008"/>
            <a:chOff x="182879" y="1417320"/>
            <a:chExt cx="10195561" cy="4636008"/>
          </a:xfrm>
        </p:grpSpPr>
        <p:sp>
          <p:nvSpPr>
            <p:cNvPr id="5" name="Rounded Rectangle 4"/>
            <p:cNvSpPr/>
            <p:nvPr/>
          </p:nvSpPr>
          <p:spPr>
            <a:xfrm>
              <a:off x="2697480" y="1417320"/>
              <a:ext cx="3703319" cy="1965960"/>
            </a:xfrm>
            <a:prstGeom prst="roundRect">
              <a:avLst/>
            </a:prstGeom>
            <a:solidFill>
              <a:srgbClr val="7B2D8E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즉시 실행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최우선 투자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675120" y="1417320"/>
              <a:ext cx="3703319" cy="1965960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단계 확대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점진 투자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97480" y="3657600"/>
              <a:ext cx="3703319" cy="196596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방어 영역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현상 유지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3657600"/>
              <a:ext cx="3703319" cy="1965960"/>
            </a:xfrm>
            <a:prstGeom prst="roundRect">
              <a:avLst/>
            </a:prstGeom>
            <a:solidFill>
              <a:srgbClr val="1F3864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축소 검토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축소 대상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697480" y="3520440"/>
              <a:ext cx="768096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537959" y="1417320"/>
              <a:ext cx="0" cy="42062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697480" y="5733288"/>
              <a:ext cx="76809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중요도  →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182879" y="3355848"/>
              <a:ext cx="4206240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긴급도  →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2x2 전략 포지셔닝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축 라벨과 4개 사분면을 자유 편집 (navy)</a:t>
            </a:r>
          </a:p>
        </p:txBody>
      </p:sp>
      <p:grpSp>
        <p:nvGrpSpPr>
          <p:cNvPr id="13" name="asset:CMP-028"/>
          <p:cNvGrpSpPr/>
          <p:nvPr/>
        </p:nvGrpSpPr>
        <p:grpSpPr>
          <a:xfrm>
            <a:off x="182879" y="1417320"/>
            <a:ext cx="10195561" cy="4636008"/>
            <a:chOff x="182879" y="1417320"/>
            <a:chExt cx="10195561" cy="4636008"/>
          </a:xfrm>
        </p:grpSpPr>
        <p:sp>
          <p:nvSpPr>
            <p:cNvPr id="5" name="Rounded Rectangle 4"/>
            <p:cNvSpPr/>
            <p:nvPr/>
          </p:nvSpPr>
          <p:spPr>
            <a:xfrm>
              <a:off x="2697480" y="1417320"/>
              <a:ext cx="3703319" cy="1965960"/>
            </a:xfrm>
            <a:prstGeom prst="roundRect">
              <a:avLst/>
            </a:prstGeom>
            <a:solidFill>
              <a:srgbClr val="2A4A7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단계 확대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점진 투자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675120" y="1417320"/>
              <a:ext cx="3703319" cy="1965960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방어 영역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현상 유지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97480" y="3657600"/>
              <a:ext cx="3703319" cy="196596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축소 검토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축소 대상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3657600"/>
              <a:ext cx="3703319" cy="1965960"/>
            </a:xfrm>
            <a:prstGeom prst="roundRect">
              <a:avLst/>
            </a:prstGeom>
            <a:solidFill>
              <a:srgbClr val="16233B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집중 육성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역량 우위 영역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697480" y="3520440"/>
              <a:ext cx="768096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537959" y="1417320"/>
              <a:ext cx="0" cy="42062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697480" y="5733288"/>
              <a:ext cx="76809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전략 적합성  →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182879" y="3355848"/>
              <a:ext cx="4206240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실현 가능성  →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2x2 전략 포지셔닝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축 라벨과 4개 사분면을 자유 편집 (blue)</a:t>
            </a:r>
          </a:p>
        </p:txBody>
      </p:sp>
      <p:grpSp>
        <p:nvGrpSpPr>
          <p:cNvPr id="13" name="asset:CMP-029"/>
          <p:cNvGrpSpPr/>
          <p:nvPr/>
        </p:nvGrpSpPr>
        <p:grpSpPr>
          <a:xfrm>
            <a:off x="182879" y="1417320"/>
            <a:ext cx="10195561" cy="4636008"/>
            <a:chOff x="182879" y="1417320"/>
            <a:chExt cx="10195561" cy="4636008"/>
          </a:xfrm>
        </p:grpSpPr>
        <p:sp>
          <p:nvSpPr>
            <p:cNvPr id="5" name="Rounded Rectangle 4"/>
            <p:cNvSpPr/>
            <p:nvPr/>
          </p:nvSpPr>
          <p:spPr>
            <a:xfrm>
              <a:off x="2697480" y="1417320"/>
              <a:ext cx="3703319" cy="1965960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방어 영역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현상 유지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675120" y="1417320"/>
              <a:ext cx="3703319" cy="1965960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축소 검토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축소 대상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97480" y="3657600"/>
              <a:ext cx="3703319" cy="196596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집중 육성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역량 우위 영역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3657600"/>
              <a:ext cx="3703319" cy="1965960"/>
            </a:xfrm>
            <a:prstGeom prst="roundRect">
              <a:avLst/>
            </a:prstGeom>
            <a:solidFill>
              <a:srgbClr val="1F3864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선택 확대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강화 필요 영역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697480" y="3520440"/>
              <a:ext cx="768096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537959" y="1417320"/>
              <a:ext cx="0" cy="42062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697480" y="5733288"/>
              <a:ext cx="76809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시장 매력도  →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182879" y="3355848"/>
              <a:ext cx="4206240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실행 역량  →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2x2 전략 포지셔닝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축 라벨과 4개 사분면을 자유 편집 (teal)</a:t>
            </a:r>
          </a:p>
        </p:txBody>
      </p:sp>
      <p:grpSp>
        <p:nvGrpSpPr>
          <p:cNvPr id="13" name="asset:CMP-030"/>
          <p:cNvGrpSpPr/>
          <p:nvPr/>
        </p:nvGrpSpPr>
        <p:grpSpPr>
          <a:xfrm>
            <a:off x="182879" y="1417320"/>
            <a:ext cx="10195561" cy="4636008"/>
            <a:chOff x="182879" y="1417320"/>
            <a:chExt cx="10195561" cy="4636008"/>
          </a:xfrm>
        </p:grpSpPr>
        <p:sp>
          <p:nvSpPr>
            <p:cNvPr id="5" name="Rounded Rectangle 4"/>
            <p:cNvSpPr/>
            <p:nvPr/>
          </p:nvSpPr>
          <p:spPr>
            <a:xfrm>
              <a:off x="2697480" y="1417320"/>
              <a:ext cx="3703319" cy="1965960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축소 검토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축소 대상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675120" y="1417320"/>
              <a:ext cx="3703319" cy="1965960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집중 육성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역량 우위 영역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97480" y="3657600"/>
              <a:ext cx="3703319" cy="196596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선택 확대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강화 필요 영역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3657600"/>
              <a:ext cx="3703319" cy="1965960"/>
            </a:xfrm>
            <a:prstGeom prst="roundRect">
              <a:avLst/>
            </a:prstGeom>
            <a:solidFill>
              <a:srgbClr val="2A4A7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현상 유지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안정화 영역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697480" y="3520440"/>
              <a:ext cx="768096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537959" y="1417320"/>
              <a:ext cx="0" cy="42062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697480" y="5733288"/>
              <a:ext cx="76809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기대 효과  →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182879" y="3355848"/>
              <a:ext cx="4206240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투자 규모  →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2x2 전략 포지셔닝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축 라벨과 4개 사분면을 자유 편집 (cyan)</a:t>
            </a:r>
          </a:p>
        </p:txBody>
      </p:sp>
      <p:grpSp>
        <p:nvGrpSpPr>
          <p:cNvPr id="13" name="asset:CMP-031"/>
          <p:cNvGrpSpPr/>
          <p:nvPr/>
        </p:nvGrpSpPr>
        <p:grpSpPr>
          <a:xfrm>
            <a:off x="182879" y="1417320"/>
            <a:ext cx="10195561" cy="4636008"/>
            <a:chOff x="182879" y="1417320"/>
            <a:chExt cx="10195561" cy="4636008"/>
          </a:xfrm>
        </p:grpSpPr>
        <p:sp>
          <p:nvSpPr>
            <p:cNvPr id="5" name="Rounded Rectangle 4"/>
            <p:cNvSpPr/>
            <p:nvPr/>
          </p:nvSpPr>
          <p:spPr>
            <a:xfrm>
              <a:off x="2697480" y="1417320"/>
              <a:ext cx="3703319" cy="1965960"/>
            </a:xfrm>
            <a:prstGeom prst="roundRect">
              <a:avLst/>
            </a:prstGeom>
            <a:solidFill>
              <a:srgbClr val="29ABE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집중 육성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역량 우위 영역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675120" y="1417320"/>
              <a:ext cx="3703319" cy="1965960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선택 확대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강화 필요 영역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97480" y="3657600"/>
              <a:ext cx="3703319" cy="196596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현상 유지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안정화 영역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3657600"/>
              <a:ext cx="3703319" cy="1965960"/>
            </a:xfrm>
            <a:prstGeom prst="roundRect">
              <a:avLst/>
            </a:prstGeom>
            <a:solidFill>
              <a:srgbClr val="16233B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재검토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우선순위 후순위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697480" y="3520440"/>
              <a:ext cx="768096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537959" y="1417320"/>
              <a:ext cx="0" cy="42062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697480" y="5733288"/>
              <a:ext cx="76809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성장성  →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182879" y="3355848"/>
              <a:ext cx="4206240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수익성  →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2x2 전략 포지셔닝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축 라벨과 4개 사분면을 자유 편집 (purple)</a:t>
            </a:r>
          </a:p>
        </p:txBody>
      </p:sp>
      <p:grpSp>
        <p:nvGrpSpPr>
          <p:cNvPr id="13" name="asset:CMP-032"/>
          <p:cNvGrpSpPr/>
          <p:nvPr/>
        </p:nvGrpSpPr>
        <p:grpSpPr>
          <a:xfrm>
            <a:off x="182879" y="1417320"/>
            <a:ext cx="10195561" cy="4636008"/>
            <a:chOff x="182879" y="1417320"/>
            <a:chExt cx="10195561" cy="4636008"/>
          </a:xfrm>
        </p:grpSpPr>
        <p:sp>
          <p:nvSpPr>
            <p:cNvPr id="5" name="Rounded Rectangle 4"/>
            <p:cNvSpPr/>
            <p:nvPr/>
          </p:nvSpPr>
          <p:spPr>
            <a:xfrm>
              <a:off x="2697480" y="1417320"/>
              <a:ext cx="3703319" cy="1965960"/>
            </a:xfrm>
            <a:prstGeom prst="roundRect">
              <a:avLst/>
            </a:prstGeom>
            <a:solidFill>
              <a:srgbClr val="7B2D8E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선택 확대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강화 필요 영역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675120" y="1417320"/>
              <a:ext cx="3703319" cy="1965960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현상 유지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안정화 영역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97480" y="3657600"/>
              <a:ext cx="3703319" cy="196596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재검토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우선순위 후순위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5120" y="3657600"/>
              <a:ext cx="3703319" cy="1965960"/>
            </a:xfrm>
            <a:prstGeom prst="roundRect">
              <a:avLst/>
            </a:prstGeom>
            <a:solidFill>
              <a:srgbClr val="1F3864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즉시 착수 대상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697480" y="3520440"/>
              <a:ext cx="768096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537959" y="1417320"/>
              <a:ext cx="0" cy="42062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697480" y="5733288"/>
              <a:ext cx="76809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중요도  →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182879" y="3355848"/>
              <a:ext cx="4206240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긴급도  →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