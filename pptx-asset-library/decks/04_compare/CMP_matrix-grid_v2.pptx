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하비볼 비교표 (충족도 우열)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●(우수) ◕ ◐ ◔ ○(미흡) 채움 정도로 항목별 우열 표기</a:t>
            </a:r>
          </a:p>
        </p:txBody>
      </p:sp>
      <p:graphicFrame>
        <p:nvGraphicFramePr>
          <p:cNvPr id="5" name="asset:CMP-011"/>
          <p:cNvGraphicFramePr>
            <a:graphicFrameLocks noGrp="1"/>
          </p:cNvGraphicFramePr>
          <p:nvPr/>
        </p:nvGraphicFramePr>
        <p:xfrm>
          <a:off x="1005840" y="1554480"/>
          <a:ext cx="10149839" cy="42245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49039"/>
                <a:gridCol w="2133600"/>
                <a:gridCol w="2133600"/>
                <a:gridCol w="2133600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자사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A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B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대응 역량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◔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협업 프로세스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 활용 성숙도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◔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관리 체계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가격 경쟁력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◔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납기 대응력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기능 매트릭스 그리드 (제공 여부)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기능 항목별 옵션 제공 여부를 ✓ / △ / ✗ 로 표기</a:t>
            </a:r>
          </a:p>
        </p:txBody>
      </p:sp>
      <p:graphicFrame>
        <p:nvGraphicFramePr>
          <p:cNvPr id="5" name="asset:CMP-015"/>
          <p:cNvGraphicFramePr>
            <a:graphicFrameLocks noGrp="1"/>
          </p:cNvGraphicFramePr>
          <p:nvPr/>
        </p:nvGraphicFramePr>
        <p:xfrm>
          <a:off x="1463040" y="1554480"/>
          <a:ext cx="9235440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1767840"/>
                <a:gridCol w="1767840"/>
                <a:gridCol w="176784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기능 항목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기본</a:t>
                      </a:r>
                    </a:p>
                  </a:txBody>
                  <a:tcPr anchor="ctr" marL="63500" marR="63500" marT="38100" marB="38100"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프리미엄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실시간 대시보드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 자동화 엔진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다국어 지원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전담 지원 매니저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맞춤 개발/연동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고급 리포트/분석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의사결정 매트릭스 (대안 평가)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기준별 점수와 종합점수로 최적 대안 선정 (최고안 강조)</a:t>
            </a:r>
          </a:p>
        </p:txBody>
      </p:sp>
      <p:graphicFrame>
        <p:nvGraphicFramePr>
          <p:cNvPr id="5" name="asset:CMP-017"/>
          <p:cNvGraphicFramePr>
            <a:graphicFrameLocks noGrp="1"/>
          </p:cNvGraphicFramePr>
          <p:nvPr/>
        </p:nvGraphicFramePr>
        <p:xfrm>
          <a:off x="1005840" y="1554480"/>
          <a:ext cx="10149840" cy="24140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1481328"/>
                <a:gridCol w="1481328"/>
                <a:gridCol w="1481328"/>
                <a:gridCol w="1481328"/>
                <a:gridCol w="1481328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기술성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경제성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실현성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확장성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종합점수</a:t>
                      </a:r>
                    </a:p>
                  </a:txBody>
                  <a:tcPr anchor="ctr" marL="63500" marR="63500" marT="38100" marB="38100">
                    <a:solidFill>
                      <a:srgbClr val="2E75D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 A (자체구축)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33</a:t>
                      </a:r>
                    </a:p>
                  </a:txBody>
                  <a:tcPr anchor="ctr" marL="63500" marR="63500" marT="38100" marB="38100">
                    <a:solidFill>
                      <a:srgbClr val="2E75D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 B (협업제휴)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32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 C (외주위탁)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31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