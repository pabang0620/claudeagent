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순위 비교표 (종합 순위)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종합 점수 기준 순위 뱃지 · 상위 3위 강조 (blue)</a:t>
            </a:r>
          </a:p>
        </p:txBody>
      </p:sp>
      <p:graphicFrame>
        <p:nvGraphicFramePr>
          <p:cNvPr id="5" name="asset:CMP-147"/>
          <p:cNvGraphicFramePr>
            <a:graphicFrameLocks noGrp="1"/>
          </p:cNvGraphicFramePr>
          <p:nvPr/>
        </p:nvGraphicFramePr>
        <p:xfrm>
          <a:off x="1463040" y="1554480"/>
          <a:ext cx="9235440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160"/>
                <a:gridCol w="4114800"/>
                <a:gridCol w="1920240"/>
                <a:gridCol w="192024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순위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대상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종합 점수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비고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1위</a:t>
                      </a:r>
                    </a:p>
                  </a:txBody>
                  <a:tcPr anchor="ctr" marL="63500" marR="63500" marT="38100" marB="38100"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 컨소시엄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90.0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선정 우선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2위</a:t>
                      </a:r>
                    </a:p>
                  </a:txBody>
                  <a:tcPr anchor="ctr" marL="63500" marR="63500" marT="38100" marB="38100">
                    <a:solidFill>
                      <a:srgbClr val="29AB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86.0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차순위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3위</a:t>
                      </a:r>
                    </a:p>
                  </a:txBody>
                  <a:tcPr anchor="ctr" marL="63500" marR="63500" marT="38100" marB="38100"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B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82.0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4위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C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78.0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탈락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순위 비교표 (종합 순위)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종합 점수 기준 순위 뱃지 · 상위 3위 강조 (teal)</a:t>
            </a:r>
          </a:p>
        </p:txBody>
      </p:sp>
      <p:graphicFrame>
        <p:nvGraphicFramePr>
          <p:cNvPr id="5" name="asset:CMP-148"/>
          <p:cNvGraphicFramePr>
            <a:graphicFrameLocks noGrp="1"/>
          </p:cNvGraphicFramePr>
          <p:nvPr/>
        </p:nvGraphicFramePr>
        <p:xfrm>
          <a:off x="1463040" y="1554480"/>
          <a:ext cx="9235440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160"/>
                <a:gridCol w="4114800"/>
                <a:gridCol w="1920240"/>
                <a:gridCol w="192024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순위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대상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종합 점수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비고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1위</a:t>
                      </a:r>
                    </a:p>
                  </a:txBody>
                  <a:tcPr anchor="ctr" marL="63500" marR="63500" marT="38100" marB="38100"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89.0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선정 우선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2위</a:t>
                      </a:r>
                    </a:p>
                  </a:txBody>
                  <a:tcPr anchor="ctr" marL="63500" marR="63500" marT="38100" marB="38100">
                    <a:solidFill>
                      <a:srgbClr val="29AB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B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85.0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차순위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3위</a:t>
                      </a:r>
                    </a:p>
                  </a:txBody>
                  <a:tcPr anchor="ctr" marL="63500" marR="63500" marT="38100" marB="38100"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81.0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4위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D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77.0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탈락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5위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E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73.0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탈락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순위 비교표 (종합 순위)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종합 점수 기준 순위 뱃지 · 상위 3위 강조 (cyan)</a:t>
            </a:r>
          </a:p>
        </p:txBody>
      </p:sp>
      <p:graphicFrame>
        <p:nvGraphicFramePr>
          <p:cNvPr id="5" name="asset:CMP-149"/>
          <p:cNvGraphicFramePr>
            <a:graphicFrameLocks noGrp="1"/>
          </p:cNvGraphicFramePr>
          <p:nvPr/>
        </p:nvGraphicFramePr>
        <p:xfrm>
          <a:off x="1463040" y="1554480"/>
          <a:ext cx="9235440" cy="3968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160"/>
                <a:gridCol w="4114800"/>
                <a:gridCol w="1920240"/>
                <a:gridCol w="192024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순위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대상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종합 점수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비고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1위</a:t>
                      </a:r>
                    </a:p>
                  </a:txBody>
                  <a:tcPr anchor="ctr" marL="63500" marR="63500" marT="38100" marB="38100">
                    <a:solidFill>
                      <a:srgbClr val="29AB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B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88.0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선정 우선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2위</a:t>
                      </a:r>
                    </a:p>
                  </a:txBody>
                  <a:tcPr anchor="ctr" marL="63500" marR="63500" marT="38100" marB="38100">
                    <a:solidFill>
                      <a:srgbClr val="29AB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C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84.0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차순위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3위</a:t>
                      </a:r>
                    </a:p>
                  </a:txBody>
                  <a:tcPr anchor="ctr" marL="63500" marR="63500" marT="38100" marB="38100"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D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80.0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4위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E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76.0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탈락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5위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F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72.0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탈락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6위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 컨소시엄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68.0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탈락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순위 비교표 (종합 순위)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종합 점수 기준 순위 뱃지 · 상위 3위 강조 (purple)</a:t>
            </a:r>
          </a:p>
        </p:txBody>
      </p:sp>
      <p:graphicFrame>
        <p:nvGraphicFramePr>
          <p:cNvPr id="5" name="asset:CMP-150"/>
          <p:cNvGraphicFramePr>
            <a:graphicFrameLocks noGrp="1"/>
          </p:cNvGraphicFramePr>
          <p:nvPr/>
        </p:nvGraphicFramePr>
        <p:xfrm>
          <a:off x="1463040" y="1554480"/>
          <a:ext cx="9235440" cy="4535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160"/>
                <a:gridCol w="4114800"/>
                <a:gridCol w="1920240"/>
                <a:gridCol w="192024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순위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대상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종합 점수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비고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1위</a:t>
                      </a:r>
                    </a:p>
                  </a:txBody>
                  <a:tcPr anchor="ctr" marL="63500" marR="63500" marT="38100" marB="38100"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90.0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선정 우선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2위</a:t>
                      </a:r>
                    </a:p>
                  </a:txBody>
                  <a:tcPr anchor="ctr" marL="63500" marR="63500" marT="38100" marB="38100">
                    <a:solidFill>
                      <a:srgbClr val="29AB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D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86.0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차순위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3위</a:t>
                      </a:r>
                    </a:p>
                  </a:txBody>
                  <a:tcPr anchor="ctr" marL="63500" marR="63500" marT="38100" marB="38100"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E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82.0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4위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F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78.0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탈락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5위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 컨소시엄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74.0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탈락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6위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70.0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탈락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7위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B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66.0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탈락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CMP-151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순위 비교표 (종합 순위)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종합 점수 기준 순위 뱃지 · 상위 3위 강조 (navy)</a:t>
            </a:r>
          </a:p>
        </p:txBody>
      </p:sp>
      <p:graphicFrame>
        <p:nvGraphicFramePr>
          <p:cNvPr id="5" name="asset:CMP-151"/>
          <p:cNvGraphicFramePr>
            <a:graphicFrameLocks noGrp="1"/>
          </p:cNvGraphicFramePr>
          <p:nvPr/>
        </p:nvGraphicFramePr>
        <p:xfrm>
          <a:off x="1463040" y="1554480"/>
          <a:ext cx="9235440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160"/>
                <a:gridCol w="4114800"/>
                <a:gridCol w="1920240"/>
                <a:gridCol w="192024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순위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대상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종합 점수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비고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1위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D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89.0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선정 우선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2위</a:t>
                      </a:r>
                    </a:p>
                  </a:txBody>
                  <a:tcPr anchor="ctr" marL="63500" marR="63500" marT="38100" marB="38100">
                    <a:solidFill>
                      <a:srgbClr val="29AB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E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85.0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차순위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3위</a:t>
                      </a:r>
                    </a:p>
                  </a:txBody>
                  <a:tcPr anchor="ctr" marL="63500" marR="63500" marT="38100" marB="38100">
                    <a:solidFill>
                      <a:srgbClr val="29AB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F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81.0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4위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 컨소시엄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77.0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탈락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CMP-152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순위 비교표 (종합 순위)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종합 점수 기준 순위 뱃지 · 상위 3위 강조 (blue)</a:t>
            </a:r>
          </a:p>
        </p:txBody>
      </p:sp>
      <p:graphicFrame>
        <p:nvGraphicFramePr>
          <p:cNvPr id="5" name="asset:CMP-152"/>
          <p:cNvGraphicFramePr>
            <a:graphicFrameLocks noGrp="1"/>
          </p:cNvGraphicFramePr>
          <p:nvPr/>
        </p:nvGraphicFramePr>
        <p:xfrm>
          <a:off x="1463040" y="1554480"/>
          <a:ext cx="9235440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160"/>
                <a:gridCol w="4114800"/>
                <a:gridCol w="1920240"/>
                <a:gridCol w="192024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순위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대상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종합 점수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비고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1위</a:t>
                      </a:r>
                    </a:p>
                  </a:txBody>
                  <a:tcPr anchor="ctr" marL="63500" marR="63500" marT="38100" marB="38100"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E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88.0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선정 우선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2위</a:t>
                      </a:r>
                    </a:p>
                  </a:txBody>
                  <a:tcPr anchor="ctr" marL="63500" marR="63500" marT="38100" marB="38100">
                    <a:solidFill>
                      <a:srgbClr val="29AB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F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84.0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차순위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3위</a:t>
                      </a:r>
                    </a:p>
                  </a:txBody>
                  <a:tcPr anchor="ctr" marL="63500" marR="63500" marT="38100" marB="38100"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 컨소시엄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80.0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4위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76.0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탈락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5위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B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72.0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탈락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순위 비교표 (종합 순위)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종합 점수 기준 순위 뱃지 · 상위 3위 강조 (teal)</a:t>
            </a:r>
          </a:p>
        </p:txBody>
      </p:sp>
      <p:graphicFrame>
        <p:nvGraphicFramePr>
          <p:cNvPr id="5" name="asset:CMP-153"/>
          <p:cNvGraphicFramePr>
            <a:graphicFrameLocks noGrp="1"/>
          </p:cNvGraphicFramePr>
          <p:nvPr/>
        </p:nvGraphicFramePr>
        <p:xfrm>
          <a:off x="1463040" y="1554480"/>
          <a:ext cx="9235440" cy="3968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160"/>
                <a:gridCol w="4114800"/>
                <a:gridCol w="1920240"/>
                <a:gridCol w="192024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순위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대상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종합 점수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비고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1위</a:t>
                      </a:r>
                    </a:p>
                  </a:txBody>
                  <a:tcPr anchor="ctr" marL="63500" marR="63500" marT="38100" marB="38100"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F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90.0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선정 우선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2위</a:t>
                      </a:r>
                    </a:p>
                  </a:txBody>
                  <a:tcPr anchor="ctr" marL="63500" marR="63500" marT="38100" marB="38100">
                    <a:solidFill>
                      <a:srgbClr val="29AB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 컨소시엄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86.0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차순위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3위</a:t>
                      </a:r>
                    </a:p>
                  </a:txBody>
                  <a:tcPr anchor="ctr" marL="63500" marR="63500" marT="38100" marB="38100"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82.0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4위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B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78.0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탈락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5위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74.0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탈락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6위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D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70.0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탈락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CMP-154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순위 비교표 (종합 순위)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종합 점수 기준 순위 뱃지 · 상위 3위 강조 (cyan)</a:t>
            </a:r>
          </a:p>
        </p:txBody>
      </p:sp>
      <p:graphicFrame>
        <p:nvGraphicFramePr>
          <p:cNvPr id="5" name="asset:CMP-154"/>
          <p:cNvGraphicFramePr>
            <a:graphicFrameLocks noGrp="1"/>
          </p:cNvGraphicFramePr>
          <p:nvPr/>
        </p:nvGraphicFramePr>
        <p:xfrm>
          <a:off x="1463040" y="1554480"/>
          <a:ext cx="9235440" cy="4535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160"/>
                <a:gridCol w="4114800"/>
                <a:gridCol w="1920240"/>
                <a:gridCol w="192024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순위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대상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종합 점수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비고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1위</a:t>
                      </a:r>
                    </a:p>
                  </a:txBody>
                  <a:tcPr anchor="ctr" marL="63500" marR="63500" marT="38100" marB="38100">
                    <a:solidFill>
                      <a:srgbClr val="29AB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 컨소시엄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89.0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선정 우선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2위</a:t>
                      </a:r>
                    </a:p>
                  </a:txBody>
                  <a:tcPr anchor="ctr" marL="63500" marR="63500" marT="38100" marB="38100">
                    <a:solidFill>
                      <a:srgbClr val="29AB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85.0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차순위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3위</a:t>
                      </a:r>
                    </a:p>
                  </a:txBody>
                  <a:tcPr anchor="ctr" marL="63500" marR="63500" marT="38100" marB="38100"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B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81.0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4위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C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77.0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탈락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5위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D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73.0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탈락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6위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E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69.0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탈락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7위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F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65.0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탈락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순위 비교표 (종합 순위)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종합 점수 기준 순위 뱃지 · 상위 3위 강조 (purple)</a:t>
            </a:r>
          </a:p>
        </p:txBody>
      </p:sp>
      <p:graphicFrame>
        <p:nvGraphicFramePr>
          <p:cNvPr id="5" name="asset:CMP-155"/>
          <p:cNvGraphicFramePr>
            <a:graphicFrameLocks noGrp="1"/>
          </p:cNvGraphicFramePr>
          <p:nvPr/>
        </p:nvGraphicFramePr>
        <p:xfrm>
          <a:off x="1463040" y="1554480"/>
          <a:ext cx="9235440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160"/>
                <a:gridCol w="4114800"/>
                <a:gridCol w="1920240"/>
                <a:gridCol w="192024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순위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대상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종합 점수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비고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1위</a:t>
                      </a:r>
                    </a:p>
                  </a:txBody>
                  <a:tcPr anchor="ctr" marL="63500" marR="63500" marT="38100" marB="38100"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88.0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선정 우선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2위</a:t>
                      </a:r>
                    </a:p>
                  </a:txBody>
                  <a:tcPr anchor="ctr" marL="63500" marR="63500" marT="38100" marB="38100">
                    <a:solidFill>
                      <a:srgbClr val="29AB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B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84.0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차순위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3위</a:t>
                      </a:r>
                    </a:p>
                  </a:txBody>
                  <a:tcPr anchor="ctr" marL="63500" marR="63500" marT="38100" marB="38100"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80.0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4위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D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76.0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탈락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CMP-156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순위 비교표 (종합 순위)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종합 점수 기준 순위 뱃지 · 상위 3위 강조 (navy)</a:t>
            </a:r>
          </a:p>
        </p:txBody>
      </p:sp>
      <p:graphicFrame>
        <p:nvGraphicFramePr>
          <p:cNvPr id="5" name="asset:CMP-156"/>
          <p:cNvGraphicFramePr>
            <a:graphicFrameLocks noGrp="1"/>
          </p:cNvGraphicFramePr>
          <p:nvPr/>
        </p:nvGraphicFramePr>
        <p:xfrm>
          <a:off x="1463040" y="1554480"/>
          <a:ext cx="9235440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160"/>
                <a:gridCol w="4114800"/>
                <a:gridCol w="1920240"/>
                <a:gridCol w="192024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순위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대상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종합 점수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비고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1위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B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90.0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선정 우선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2위</a:t>
                      </a:r>
                    </a:p>
                  </a:txBody>
                  <a:tcPr anchor="ctr" marL="63500" marR="63500" marT="38100" marB="38100">
                    <a:solidFill>
                      <a:srgbClr val="29AB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C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86.0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차순위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3위</a:t>
                      </a:r>
                    </a:p>
                  </a:txBody>
                  <a:tcPr anchor="ctr" marL="63500" marR="63500" marT="38100" marB="38100">
                    <a:solidFill>
                      <a:srgbClr val="29AB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D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82.0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4위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E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78.0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탈락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5위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F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74.0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탈락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CMP-157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순위 비교표 (종합 순위)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종합 점수 기준 순위 뱃지 · 상위 3위 강조 (blue)</a:t>
            </a:r>
          </a:p>
        </p:txBody>
      </p:sp>
      <p:graphicFrame>
        <p:nvGraphicFramePr>
          <p:cNvPr id="5" name="asset:CMP-157"/>
          <p:cNvGraphicFramePr>
            <a:graphicFrameLocks noGrp="1"/>
          </p:cNvGraphicFramePr>
          <p:nvPr/>
        </p:nvGraphicFramePr>
        <p:xfrm>
          <a:off x="1463040" y="1554480"/>
          <a:ext cx="9235440" cy="3968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160"/>
                <a:gridCol w="4114800"/>
                <a:gridCol w="1920240"/>
                <a:gridCol w="192024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순위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대상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종합 점수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비고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1위</a:t>
                      </a:r>
                    </a:p>
                  </a:txBody>
                  <a:tcPr anchor="ctr" marL="63500" marR="63500" marT="38100" marB="38100"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89.0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선정 우선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2위</a:t>
                      </a:r>
                    </a:p>
                  </a:txBody>
                  <a:tcPr anchor="ctr" marL="63500" marR="63500" marT="38100" marB="38100">
                    <a:solidFill>
                      <a:srgbClr val="29AB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D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85.0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차순위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3위</a:t>
                      </a:r>
                    </a:p>
                  </a:txBody>
                  <a:tcPr anchor="ctr" marL="63500" marR="63500" marT="38100" marB="38100"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E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81.0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4위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F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77.0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탈락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5위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 컨소시엄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73.0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탈락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6위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69.0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탈락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CMP-158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순위 비교표 (종합 순위)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종합 점수 기준 순위 뱃지 · 상위 3위 강조 (teal)</a:t>
            </a:r>
          </a:p>
        </p:txBody>
      </p:sp>
      <p:graphicFrame>
        <p:nvGraphicFramePr>
          <p:cNvPr id="5" name="asset:CMP-158"/>
          <p:cNvGraphicFramePr>
            <a:graphicFrameLocks noGrp="1"/>
          </p:cNvGraphicFramePr>
          <p:nvPr/>
        </p:nvGraphicFramePr>
        <p:xfrm>
          <a:off x="1463040" y="1554480"/>
          <a:ext cx="9235440" cy="4535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160"/>
                <a:gridCol w="4114800"/>
                <a:gridCol w="1920240"/>
                <a:gridCol w="192024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순위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대상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종합 점수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비고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1위</a:t>
                      </a:r>
                    </a:p>
                  </a:txBody>
                  <a:tcPr anchor="ctr" marL="63500" marR="63500" marT="38100" marB="38100"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D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88.0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선정 우선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2위</a:t>
                      </a:r>
                    </a:p>
                  </a:txBody>
                  <a:tcPr anchor="ctr" marL="63500" marR="63500" marT="38100" marB="38100">
                    <a:solidFill>
                      <a:srgbClr val="29AB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E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84.0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차순위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3위</a:t>
                      </a:r>
                    </a:p>
                  </a:txBody>
                  <a:tcPr anchor="ctr" marL="63500" marR="63500" marT="38100" marB="38100"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F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80.0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4위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 컨소시엄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76.0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탈락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5위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72.0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탈락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6위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B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68.0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탈락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7위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64.0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탈락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CMP-159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순위 비교표 (종합 순위)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종합 점수 기준 순위 뱃지 · 상위 3위 강조 (cyan)</a:t>
            </a:r>
          </a:p>
        </p:txBody>
      </p:sp>
      <p:graphicFrame>
        <p:nvGraphicFramePr>
          <p:cNvPr id="5" name="asset:CMP-159"/>
          <p:cNvGraphicFramePr>
            <a:graphicFrameLocks noGrp="1"/>
          </p:cNvGraphicFramePr>
          <p:nvPr/>
        </p:nvGraphicFramePr>
        <p:xfrm>
          <a:off x="1463040" y="1554480"/>
          <a:ext cx="9235440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160"/>
                <a:gridCol w="4114800"/>
                <a:gridCol w="1920240"/>
                <a:gridCol w="192024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순위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대상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종합 점수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비고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1위</a:t>
                      </a:r>
                    </a:p>
                  </a:txBody>
                  <a:tcPr anchor="ctr" marL="63500" marR="63500" marT="38100" marB="38100">
                    <a:solidFill>
                      <a:srgbClr val="29AB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E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90.0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선정 우선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2위</a:t>
                      </a:r>
                    </a:p>
                  </a:txBody>
                  <a:tcPr anchor="ctr" marL="63500" marR="63500" marT="38100" marB="38100">
                    <a:solidFill>
                      <a:srgbClr val="29AB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F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86.0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차순위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3위</a:t>
                      </a:r>
                    </a:p>
                  </a:txBody>
                  <a:tcPr anchor="ctr" marL="63500" marR="63500" marT="38100" marB="38100"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 컨소시엄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82.0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4위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78.0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탈락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CMP-160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순위 비교표 (종합 순위)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종합 점수 기준 순위 뱃지 · 상위 3위 강조 (purple)</a:t>
            </a:r>
          </a:p>
        </p:txBody>
      </p:sp>
      <p:graphicFrame>
        <p:nvGraphicFramePr>
          <p:cNvPr id="5" name="asset:CMP-160"/>
          <p:cNvGraphicFramePr>
            <a:graphicFrameLocks noGrp="1"/>
          </p:cNvGraphicFramePr>
          <p:nvPr/>
        </p:nvGraphicFramePr>
        <p:xfrm>
          <a:off x="1463040" y="1554480"/>
          <a:ext cx="9235440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160"/>
                <a:gridCol w="4114800"/>
                <a:gridCol w="1920240"/>
                <a:gridCol w="192024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순위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대상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종합 점수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비고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1위</a:t>
                      </a:r>
                    </a:p>
                  </a:txBody>
                  <a:tcPr anchor="ctr" marL="63500" marR="63500" marT="38100" marB="38100"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F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89.0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선정 우선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2위</a:t>
                      </a:r>
                    </a:p>
                  </a:txBody>
                  <a:tcPr anchor="ctr" marL="63500" marR="63500" marT="38100" marB="38100">
                    <a:solidFill>
                      <a:srgbClr val="29AB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 컨소시엄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85.0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차순위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3위</a:t>
                      </a:r>
                    </a:p>
                  </a:txBody>
                  <a:tcPr anchor="ctr" marL="63500" marR="63500" marT="38100" marB="38100"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81.0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4위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B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77.0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탈락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5위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73.0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탈락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