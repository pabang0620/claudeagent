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CMP-001</a:t>
            </a:r>
          </a:p>
        </p:txBody>
      </p:sp>
      <p:grpSp>
        <p:nvGrpSpPr>
          <p:cNvPr id="14" name="asset:CMP-001"/>
          <p:cNvGrpSpPr/>
          <p:nvPr/>
        </p:nvGrpSpPr>
        <p:grpSpPr>
          <a:xfrm>
            <a:off x="182879" y="475488"/>
            <a:ext cx="11475721" cy="5577840"/>
            <a:chOff x="182879" y="475488"/>
            <a:chExt cx="11475721" cy="557784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2x2 전략 포지셔닝 매트릭스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축 라벨과 4개 사분면 박스를 자유 편집</a:t>
              </a:r>
            </a:p>
          </p:txBody>
        </p:sp>
        <p:sp>
          <p:nvSpPr>
            <p:cNvPr id="5" name="CMP-001_bg"/>
            <p:cNvSpPr/>
            <p:nvPr/>
          </p:nvSpPr>
          <p:spPr>
            <a:xfrm>
              <a:off x="2651760" y="1371600"/>
              <a:ext cx="7772399" cy="42976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97480" y="1417320"/>
              <a:ext cx="3703319" cy="1965960"/>
            </a:xfrm>
            <a:prstGeom prst="roundRect">
              <a:avLst/>
            </a:prstGeom>
            <a:solidFill>
              <a:srgbClr val="2E75D6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집중 육성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글로벌 역량 우위 영역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75120" y="1417320"/>
              <a:ext cx="3703319" cy="1965960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선택 확대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협업 역량 강화 영역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697480" y="3657600"/>
              <a:ext cx="3703319" cy="196596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현상 유지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기존 사업 안정화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675120" y="3657600"/>
              <a:ext cx="3703319" cy="1965960"/>
            </a:xfrm>
            <a:prstGeom prst="roundRect">
              <a:avLst/>
            </a:prstGeom>
            <a:solidFill>
              <a:srgbClr val="2A4A7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재검토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AI 활용도 낮음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697480" y="3520440"/>
              <a:ext cx="76809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537959" y="1417320"/>
              <a:ext cx="0" cy="42062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697480" y="5733288"/>
              <a:ext cx="76809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시장 매력도  →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 rot="16200000">
              <a:off x="182879" y="3355848"/>
              <a:ext cx="4206240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실행 역량  →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CMP-002</a:t>
            </a:r>
          </a:p>
        </p:txBody>
      </p:sp>
      <p:grpSp>
        <p:nvGrpSpPr>
          <p:cNvPr id="14" name="asset:CMP-002"/>
          <p:cNvGrpSpPr/>
          <p:nvPr/>
        </p:nvGrpSpPr>
        <p:grpSpPr>
          <a:xfrm>
            <a:off x="182879" y="475488"/>
            <a:ext cx="11475721" cy="5577840"/>
            <a:chOff x="182879" y="475488"/>
            <a:chExt cx="11475721" cy="557784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2x2 우선순위 매트릭스 (색 변형)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네이비·틸 코퍼레이트 색 변형</a:t>
              </a:r>
            </a:p>
          </p:txBody>
        </p:sp>
        <p:sp>
          <p:nvSpPr>
            <p:cNvPr id="5" name="CMP-002_bg"/>
            <p:cNvSpPr/>
            <p:nvPr/>
          </p:nvSpPr>
          <p:spPr>
            <a:xfrm>
              <a:off x="2651760" y="1371600"/>
              <a:ext cx="7772399" cy="42976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97480" y="1417320"/>
              <a:ext cx="3703319" cy="1965960"/>
            </a:xfrm>
            <a:prstGeom prst="roundRect">
              <a:avLst/>
            </a:prstGeom>
            <a:solidFill>
              <a:srgbClr val="1F3864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즉시 착수 대상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675120" y="1417320"/>
              <a:ext cx="3703319" cy="1965960"/>
            </a:xfrm>
            <a:prstGeom prst="roundRect">
              <a:avLst/>
            </a:prstGeom>
            <a:solidFill>
              <a:srgbClr val="1F9E8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단계적 확대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697480" y="3657600"/>
              <a:ext cx="3703319" cy="1965960"/>
            </a:xfrm>
            <a:prstGeom prst="roundRect">
              <a:avLst/>
            </a:prstGeom>
            <a:solidFill>
              <a:srgbClr val="7B2D8E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보완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리스크 관리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675120" y="3657600"/>
              <a:ext cx="3703319" cy="196596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관망 과제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우선순위 후순위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697480" y="3520440"/>
              <a:ext cx="76809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537959" y="1417320"/>
              <a:ext cx="0" cy="42062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697480" y="5733288"/>
              <a:ext cx="76809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기대 효과  →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 rot="16200000">
              <a:off x="182879" y="3355848"/>
              <a:ext cx="4206240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투자 규모  →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CMP-009</a:t>
            </a:r>
          </a:p>
        </p:txBody>
      </p:sp>
      <p:grpSp>
        <p:nvGrpSpPr>
          <p:cNvPr id="24" name="asset:CMP-009"/>
          <p:cNvGrpSpPr/>
          <p:nvPr/>
        </p:nvGrpSpPr>
        <p:grpSpPr>
          <a:xfrm>
            <a:off x="182879" y="475488"/>
            <a:ext cx="11475721" cy="5577840"/>
            <a:chOff x="182879" y="475488"/>
            <a:chExt cx="11475721" cy="557784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우선순위 매트릭스 (중요도 x 긴급도)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과제를 4분면에 칩으로 배치</a:t>
              </a:r>
            </a:p>
          </p:txBody>
        </p:sp>
        <p:sp>
          <p:nvSpPr>
            <p:cNvPr id="5" name="CMP-009_bg"/>
            <p:cNvSpPr/>
            <p:nvPr/>
          </p:nvSpPr>
          <p:spPr>
            <a:xfrm>
              <a:off x="2651760" y="1371600"/>
              <a:ext cx="7772399" cy="42976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697480" y="1417320"/>
              <a:ext cx="3712463" cy="1975104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807208" y="1490472"/>
              <a:ext cx="349300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즉시 실행 (중요·긴급)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665975" y="1417320"/>
              <a:ext cx="3712463" cy="1975104"/>
            </a:xfrm>
            <a:prstGeom prst="rect">
              <a:avLst/>
            </a:prstGeom>
            <a:solidFill>
              <a:srgbClr val="FBF0E1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75703" y="1490472"/>
              <a:ext cx="349300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계획 수립 (중요)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697480" y="3648456"/>
              <a:ext cx="3712463" cy="1975104"/>
            </a:xfrm>
            <a:prstGeom prst="rect">
              <a:avLst/>
            </a:prstGeom>
            <a:solidFill>
              <a:srgbClr val="F2F2F2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807208" y="3721608"/>
              <a:ext cx="349300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위임 (긴급)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665975" y="3648456"/>
              <a:ext cx="3712463" cy="1975104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75703" y="3721608"/>
              <a:ext cx="3493007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보류 (후순위)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2926080" y="1874519"/>
              <a:ext cx="3255263" cy="4572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글로벌 진출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926080" y="2441448"/>
              <a:ext cx="3255263" cy="4572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AI 활용도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894575" y="1874519"/>
              <a:ext cx="3255263" cy="4572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협업 역량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894575" y="2441448"/>
              <a:ext cx="3255263" cy="4572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품질 관리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926080" y="4105656"/>
              <a:ext cx="3255263" cy="4572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현지화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894575" y="4105656"/>
              <a:ext cx="3255263" cy="4572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문서 정비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697480" y="3520440"/>
              <a:ext cx="7680960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537959" y="1417320"/>
              <a:ext cx="0" cy="42062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697480" y="5733288"/>
              <a:ext cx="76809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긴급도  →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 rot="16200000">
              <a:off x="182879" y="3355848"/>
              <a:ext cx="4206240" cy="32918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중요도  →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