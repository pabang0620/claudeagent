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CMP-187</a:t>
            </a:r>
          </a:p>
        </p:txBody>
      </p:sp>
      <p:grpSp>
        <p:nvGrpSpPr>
          <p:cNvPr id="21" name="asset:CMP-187"/>
          <p:cNvGrpSpPr/>
          <p:nvPr/>
        </p:nvGrpSpPr>
        <p:grpSpPr>
          <a:xfrm>
            <a:off x="1005840" y="1371600"/>
            <a:ext cx="10149840" cy="5029200"/>
            <a:chOff x="1005840" y="1371600"/>
            <a:chExt cx="10149840" cy="5029200"/>
          </a:xfrm>
        </p:grpSpPr>
        <p:sp>
          <p:nvSpPr>
            <p:cNvPr id="3" name="Rounded Rectangle 2"/>
            <p:cNvSpPr/>
            <p:nvPr/>
          </p:nvSpPr>
          <p:spPr>
            <a:xfrm>
              <a:off x="1005840" y="1371600"/>
              <a:ext cx="10149840" cy="5029200"/>
            </a:xfrm>
            <a:prstGeom prst="round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 Same Side Corner Rectangle 3"/>
            <p:cNvSpPr/>
            <p:nvPr/>
          </p:nvSpPr>
          <p:spPr>
            <a:xfrm>
              <a:off x="1005840" y="1371600"/>
              <a:ext cx="10149840" cy="640080"/>
            </a:xfrm>
            <a:prstGeom prst="round2Same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 추진 제안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325880" y="2240279"/>
              <a:ext cx="109728" cy="310896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554480" y="2194560"/>
              <a:ext cx="923544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추진 배경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1554480" y="2752344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810512" y="2633472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표준에 부합하는 대응 체계를 구축한다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1554480" y="3136391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810512" y="3017520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AI 기반 자동화로 품질 편차를 최소화한다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1554480" y="3520439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810512" y="3401568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통합 협업 플랫폼으로 커뮤니케이션 비용을 절감한다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325880" y="4343399"/>
              <a:ext cx="109728" cy="310896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54480" y="4297679"/>
              <a:ext cx="923544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기대 효과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1554480" y="4855464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810512" y="4736592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기반 의사결정 체계를 정착시킨다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1554480" y="5239512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810512" y="5120640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현지 파트너십을 통해 시장 진입 장벽을 낮춘다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1554480" y="5623559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810512" y="5504688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단계별 마일스톤으로 리스크를 관리한다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CMP-188</a:t>
            </a:r>
          </a:p>
        </p:txBody>
      </p:sp>
      <p:grpSp>
        <p:nvGrpSpPr>
          <p:cNvPr id="23" name="asset:CMP-188"/>
          <p:cNvGrpSpPr/>
          <p:nvPr/>
        </p:nvGrpSpPr>
        <p:grpSpPr>
          <a:xfrm>
            <a:off x="1005840" y="1371600"/>
            <a:ext cx="10149840" cy="5029200"/>
            <a:chOff x="1005840" y="1371600"/>
            <a:chExt cx="10149840" cy="5029200"/>
          </a:xfrm>
        </p:grpSpPr>
        <p:sp>
          <p:nvSpPr>
            <p:cNvPr id="3" name="Rounded Rectangle 2"/>
            <p:cNvSpPr/>
            <p:nvPr/>
          </p:nvSpPr>
          <p:spPr>
            <a:xfrm>
              <a:off x="1005840" y="1371600"/>
              <a:ext cx="10149840" cy="5029200"/>
            </a:xfrm>
            <a:prstGeom prst="round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 Same Side Corner Rectangle 3"/>
            <p:cNvSpPr/>
            <p:nvPr/>
          </p:nvSpPr>
          <p:spPr>
            <a:xfrm>
              <a:off x="1005840" y="1371600"/>
              <a:ext cx="10149840" cy="640080"/>
            </a:xfrm>
            <a:prstGeom prst="round2Same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핵심 전략 요약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325880" y="2240279"/>
              <a:ext cx="109728" cy="310896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554480" y="2194560"/>
              <a:ext cx="923544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기대 효과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1554480" y="2752344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810512" y="2633472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AI 기반 자동화로 품질 편차를 최소화한다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1554480" y="3136391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810512" y="3017520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통합 협업 플랫폼으로 커뮤니케이션 비용을 절감한다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325880" y="3642359"/>
              <a:ext cx="109728" cy="310896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554480" y="3596640"/>
              <a:ext cx="923544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핵심 전략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1554480" y="4154424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810512" y="4035552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현지 파트너십을 통해 시장 진입 장벽을 낮춘다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1554480" y="4538472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810512" y="4419600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단계별 마일스톤으로 리스크를 관리한다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325880" y="5044440"/>
              <a:ext cx="109728" cy="310896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554480" y="4998720"/>
              <a:ext cx="923544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실행 방안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1554480" y="5556504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810512" y="5437632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정량 지표로 성과를 추적한다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1554480" y="5940552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810512" y="5821680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사용자 피드백을 신속히 반영한다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CMP-189</a:t>
            </a:r>
          </a:p>
        </p:txBody>
      </p:sp>
      <p:grpSp>
        <p:nvGrpSpPr>
          <p:cNvPr id="21" name="asset:CMP-189"/>
          <p:cNvGrpSpPr/>
          <p:nvPr/>
        </p:nvGrpSpPr>
        <p:grpSpPr>
          <a:xfrm>
            <a:off x="1005840" y="1371600"/>
            <a:ext cx="10149840" cy="5029200"/>
            <a:chOff x="1005840" y="1371600"/>
            <a:chExt cx="10149840" cy="5029200"/>
          </a:xfrm>
        </p:grpSpPr>
        <p:sp>
          <p:nvSpPr>
            <p:cNvPr id="3" name="Rounded Rectangle 2"/>
            <p:cNvSpPr/>
            <p:nvPr/>
          </p:nvSpPr>
          <p:spPr>
            <a:xfrm>
              <a:off x="1005840" y="1371600"/>
              <a:ext cx="10149840" cy="5029200"/>
            </a:xfrm>
            <a:prstGeom prst="round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 Same Side Corner Rectangle 3"/>
            <p:cNvSpPr/>
            <p:nvPr/>
          </p:nvSpPr>
          <p:spPr>
            <a:xfrm>
              <a:off x="1005840" y="1371600"/>
              <a:ext cx="10149840" cy="640080"/>
            </a:xfrm>
            <a:prstGeom prst="round2Same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실행 계획 개요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325880" y="2240279"/>
              <a:ext cx="109728" cy="310896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554480" y="2194560"/>
              <a:ext cx="923544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핵심 전략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1554480" y="2752344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810512" y="2633472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통합 협업 플랫폼으로 커뮤니케이션 비용을 절감한다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1554480" y="3136391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810512" y="3017520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기반 의사결정 체계를 정착시킨다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1554480" y="3520439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810512" y="3401568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현지 파트너십을 통해 시장 진입 장벽을 낮춘다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325880" y="4343399"/>
              <a:ext cx="109728" cy="310896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54480" y="4297679"/>
              <a:ext cx="923544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실행 방안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1554480" y="4855464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810512" y="4736592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단계별 마일스톤으로 리스크를 관리한다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1554480" y="5239512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810512" y="5120640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전담 조직을 구성해 실행력을 확보한다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1554480" y="5623559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810512" y="5504688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정량 지표로 성과를 추적한다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CMP-190</a:t>
            </a:r>
          </a:p>
        </p:txBody>
      </p:sp>
      <p:grpSp>
        <p:nvGrpSpPr>
          <p:cNvPr id="23" name="asset:CMP-190"/>
          <p:cNvGrpSpPr/>
          <p:nvPr/>
        </p:nvGrpSpPr>
        <p:grpSpPr>
          <a:xfrm>
            <a:off x="1005840" y="1371600"/>
            <a:ext cx="10149840" cy="5029200"/>
            <a:chOff x="1005840" y="1371600"/>
            <a:chExt cx="10149840" cy="5029200"/>
          </a:xfrm>
        </p:grpSpPr>
        <p:sp>
          <p:nvSpPr>
            <p:cNvPr id="3" name="Rounded Rectangle 2"/>
            <p:cNvSpPr/>
            <p:nvPr/>
          </p:nvSpPr>
          <p:spPr>
            <a:xfrm>
              <a:off x="1005840" y="1371600"/>
              <a:ext cx="10149840" cy="5029200"/>
            </a:xfrm>
            <a:prstGeom prst="round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 Same Side Corner Rectangle 3"/>
            <p:cNvSpPr/>
            <p:nvPr/>
          </p:nvSpPr>
          <p:spPr>
            <a:xfrm>
              <a:off x="1005840" y="1371600"/>
              <a:ext cx="10149840" cy="640080"/>
            </a:xfrm>
            <a:prstGeom prst="round2Same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차별화 전략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325880" y="2240279"/>
              <a:ext cx="109728" cy="310896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554480" y="2194560"/>
              <a:ext cx="923544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실행 방안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1554480" y="2752344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810512" y="2633472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기반 의사결정 체계를 정착시킨다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1554480" y="3136391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810512" y="3017520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현지 파트너십을 통해 시장 진입 장벽을 낮춘다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325880" y="3642359"/>
              <a:ext cx="109728" cy="310896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554480" y="3596640"/>
              <a:ext cx="923544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차별화 요소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1554480" y="4154424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810512" y="4035552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전담 조직을 구성해 실행력을 확보한다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1554480" y="4538472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810512" y="4419600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정량 지표로 성과를 추적한다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325880" y="5044440"/>
              <a:ext cx="109728" cy="310896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554480" y="4998720"/>
              <a:ext cx="923544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리스크 대응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1554480" y="5556504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810512" y="5437632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보안·규제 요건을 선제적으로 충족한다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1554480" y="5940552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810512" y="5821680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확장 가능한 아키텍처로 미래 수요에 대응한다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CMP-191</a:t>
            </a:r>
          </a:p>
        </p:txBody>
      </p:sp>
      <p:grpSp>
        <p:nvGrpSpPr>
          <p:cNvPr id="21" name="asset:CMP-191"/>
          <p:cNvGrpSpPr/>
          <p:nvPr/>
        </p:nvGrpSpPr>
        <p:grpSpPr>
          <a:xfrm>
            <a:off x="1005840" y="1371600"/>
            <a:ext cx="10149840" cy="5029200"/>
            <a:chOff x="1005840" y="1371600"/>
            <a:chExt cx="10149840" cy="5029200"/>
          </a:xfrm>
        </p:grpSpPr>
        <p:sp>
          <p:nvSpPr>
            <p:cNvPr id="3" name="Rounded Rectangle 2"/>
            <p:cNvSpPr/>
            <p:nvPr/>
          </p:nvSpPr>
          <p:spPr>
            <a:xfrm>
              <a:off x="1005840" y="1371600"/>
              <a:ext cx="10149840" cy="5029200"/>
            </a:xfrm>
            <a:prstGeom prst="round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 Same Side Corner Rectangle 3"/>
            <p:cNvSpPr/>
            <p:nvPr/>
          </p:nvSpPr>
          <p:spPr>
            <a:xfrm>
              <a:off x="1005840" y="1371600"/>
              <a:ext cx="10149840" cy="640080"/>
            </a:xfrm>
            <a:prstGeom prst="round2Same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기대 성과 제안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325880" y="2240279"/>
              <a:ext cx="109728" cy="310896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554480" y="2194560"/>
              <a:ext cx="923544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차별화 요소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1554480" y="2752344"/>
              <a:ext cx="109728" cy="109728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810512" y="2633472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현지 파트너십을 통해 시장 진입 장벽을 낮춘다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1554480" y="3136391"/>
              <a:ext cx="109728" cy="109728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810512" y="3017520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단계별 마일스톤으로 리스크를 관리한다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1554480" y="3520439"/>
              <a:ext cx="109728" cy="109728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810512" y="3401568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전담 조직을 구성해 실행력을 확보한다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325880" y="4343399"/>
              <a:ext cx="109728" cy="310896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54480" y="4297679"/>
              <a:ext cx="923544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리스크 대응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1554480" y="4855464"/>
              <a:ext cx="109728" cy="109728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810512" y="4736592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정량 지표로 성과를 추적한다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1554480" y="5239512"/>
              <a:ext cx="109728" cy="109728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810512" y="5120640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사용자 피드백을 신속히 반영한다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1554480" y="5623559"/>
              <a:ext cx="109728" cy="109728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810512" y="5504688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보안·규제 요건을 선제적으로 충족한다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CMP-192</a:t>
            </a:r>
          </a:p>
        </p:txBody>
      </p:sp>
      <p:grpSp>
        <p:nvGrpSpPr>
          <p:cNvPr id="23" name="asset:CMP-192"/>
          <p:cNvGrpSpPr/>
          <p:nvPr/>
        </p:nvGrpSpPr>
        <p:grpSpPr>
          <a:xfrm>
            <a:off x="1005840" y="1371600"/>
            <a:ext cx="10149840" cy="5029200"/>
            <a:chOff x="1005840" y="1371600"/>
            <a:chExt cx="10149840" cy="5029200"/>
          </a:xfrm>
        </p:grpSpPr>
        <p:sp>
          <p:nvSpPr>
            <p:cNvPr id="3" name="Rounded Rectangle 2"/>
            <p:cNvSpPr/>
            <p:nvPr/>
          </p:nvSpPr>
          <p:spPr>
            <a:xfrm>
              <a:off x="1005840" y="1371600"/>
              <a:ext cx="10149840" cy="5029200"/>
            </a:xfrm>
            <a:prstGeom prst="round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 Same Side Corner Rectangle 3"/>
            <p:cNvSpPr/>
            <p:nvPr/>
          </p:nvSpPr>
          <p:spPr>
            <a:xfrm>
              <a:off x="1005840" y="1371600"/>
              <a:ext cx="10149840" cy="640080"/>
            </a:xfrm>
            <a:prstGeom prst="round2Same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운영 방안 요약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325880" y="2240279"/>
              <a:ext cx="109728" cy="310896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554480" y="2194560"/>
              <a:ext cx="923544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리스크 대응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1554480" y="2752344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810512" y="2633472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단계별 마일스톤으로 리스크를 관리한다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1554480" y="3136391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810512" y="3017520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전담 조직을 구성해 실행력을 확보한다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325880" y="3642359"/>
              <a:ext cx="109728" cy="310896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554480" y="3596640"/>
              <a:ext cx="923544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운영 계획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1554480" y="4154424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810512" y="4035552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사용자 피드백을 신속히 반영한다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1554480" y="4538472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810512" y="4419600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보안·규제 요건을 선제적으로 충족한다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325880" y="5044440"/>
              <a:ext cx="109728" cy="310896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554480" y="4998720"/>
              <a:ext cx="923544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성과 지표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1554480" y="5556504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810512" y="5437632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비용 효율적 운영 모델을 적용한다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1554480" y="5940552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810512" y="5821680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표준에 부합하는 대응 체계를 구축한다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CMP-193</a:t>
            </a:r>
          </a:p>
        </p:txBody>
      </p:sp>
      <p:grpSp>
        <p:nvGrpSpPr>
          <p:cNvPr id="21" name="asset:CMP-193"/>
          <p:cNvGrpSpPr/>
          <p:nvPr/>
        </p:nvGrpSpPr>
        <p:grpSpPr>
          <a:xfrm>
            <a:off x="1005840" y="1371600"/>
            <a:ext cx="10149840" cy="5029200"/>
            <a:chOff x="1005840" y="1371600"/>
            <a:chExt cx="10149840" cy="5029200"/>
          </a:xfrm>
        </p:grpSpPr>
        <p:sp>
          <p:nvSpPr>
            <p:cNvPr id="3" name="Rounded Rectangle 2"/>
            <p:cNvSpPr/>
            <p:nvPr/>
          </p:nvSpPr>
          <p:spPr>
            <a:xfrm>
              <a:off x="1005840" y="1371600"/>
              <a:ext cx="10149840" cy="5029200"/>
            </a:xfrm>
            <a:prstGeom prst="round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 Same Side Corner Rectangle 3"/>
            <p:cNvSpPr/>
            <p:nvPr/>
          </p:nvSpPr>
          <p:spPr>
            <a:xfrm>
              <a:off x="1005840" y="1371600"/>
              <a:ext cx="10149840" cy="640080"/>
            </a:xfrm>
            <a:prstGeom prst="round2Same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 추진 제안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325880" y="2240279"/>
              <a:ext cx="109728" cy="310896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554480" y="2194560"/>
              <a:ext cx="923544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운영 계획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1554480" y="2752344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810512" y="2633472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전담 조직을 구성해 실행력을 확보한다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1554480" y="3136391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810512" y="3017520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정량 지표로 성과를 추적한다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1554480" y="3520439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810512" y="3401568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사용자 피드백을 신속히 반영한다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325880" y="4343399"/>
              <a:ext cx="109728" cy="310896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54480" y="4297679"/>
              <a:ext cx="923544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성과 지표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1554480" y="4855464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810512" y="4736592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보안·규제 요건을 선제적으로 충족한다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1554480" y="5239512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810512" y="5120640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확장 가능한 아키텍처로 미래 수요에 대응한다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1554480" y="5623559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810512" y="5504688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비용 효율적 운영 모델을 적용한다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CMP-194</a:t>
            </a:r>
          </a:p>
        </p:txBody>
      </p:sp>
      <p:grpSp>
        <p:nvGrpSpPr>
          <p:cNvPr id="23" name="asset:CMP-194"/>
          <p:cNvGrpSpPr/>
          <p:nvPr/>
        </p:nvGrpSpPr>
        <p:grpSpPr>
          <a:xfrm>
            <a:off x="1005840" y="1371600"/>
            <a:ext cx="10149840" cy="5029200"/>
            <a:chOff x="1005840" y="1371600"/>
            <a:chExt cx="10149840" cy="5029200"/>
          </a:xfrm>
        </p:grpSpPr>
        <p:sp>
          <p:nvSpPr>
            <p:cNvPr id="3" name="Rounded Rectangle 2"/>
            <p:cNvSpPr/>
            <p:nvPr/>
          </p:nvSpPr>
          <p:spPr>
            <a:xfrm>
              <a:off x="1005840" y="1371600"/>
              <a:ext cx="10149840" cy="5029200"/>
            </a:xfrm>
            <a:prstGeom prst="round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 Same Side Corner Rectangle 3"/>
            <p:cNvSpPr/>
            <p:nvPr/>
          </p:nvSpPr>
          <p:spPr>
            <a:xfrm>
              <a:off x="1005840" y="1371600"/>
              <a:ext cx="10149840" cy="640080"/>
            </a:xfrm>
            <a:prstGeom prst="round2Same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핵심 전략 요약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325880" y="2240279"/>
              <a:ext cx="109728" cy="310896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554480" y="2194560"/>
              <a:ext cx="923544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성과 지표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1554480" y="2752344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810512" y="2633472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정량 지표로 성과를 추적한다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1554480" y="3136391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810512" y="3017520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사용자 피드백을 신속히 반영한다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325880" y="3642359"/>
              <a:ext cx="109728" cy="310896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554480" y="3596640"/>
              <a:ext cx="923544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추진 배경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1554480" y="4154424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810512" y="4035552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확장 가능한 아키텍처로 미래 수요에 대응한다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1554480" y="4538472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810512" y="4419600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비용 효율적 운영 모델을 적용한다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325880" y="5044440"/>
              <a:ext cx="109728" cy="310896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554480" y="4998720"/>
              <a:ext cx="923544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기대 효과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1554480" y="5556504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810512" y="5437632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AI 기반 자동화로 품질 편차를 최소화한다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1554480" y="5940552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810512" y="5821680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통합 협업 플랫폼으로 커뮤니케이션 비용을 절감한다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CMP-195</a:t>
            </a:r>
          </a:p>
        </p:txBody>
      </p:sp>
      <p:grpSp>
        <p:nvGrpSpPr>
          <p:cNvPr id="21" name="asset:CMP-195"/>
          <p:cNvGrpSpPr/>
          <p:nvPr/>
        </p:nvGrpSpPr>
        <p:grpSpPr>
          <a:xfrm>
            <a:off x="1005840" y="1371600"/>
            <a:ext cx="10149840" cy="5029200"/>
            <a:chOff x="1005840" y="1371600"/>
            <a:chExt cx="10149840" cy="5029200"/>
          </a:xfrm>
        </p:grpSpPr>
        <p:sp>
          <p:nvSpPr>
            <p:cNvPr id="3" name="Rounded Rectangle 2"/>
            <p:cNvSpPr/>
            <p:nvPr/>
          </p:nvSpPr>
          <p:spPr>
            <a:xfrm>
              <a:off x="1005840" y="1371600"/>
              <a:ext cx="10149840" cy="5029200"/>
            </a:xfrm>
            <a:prstGeom prst="round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 Same Side Corner Rectangle 3"/>
            <p:cNvSpPr/>
            <p:nvPr/>
          </p:nvSpPr>
          <p:spPr>
            <a:xfrm>
              <a:off x="1005840" y="1371600"/>
              <a:ext cx="10149840" cy="640080"/>
            </a:xfrm>
            <a:prstGeom prst="round2Same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실행 계획 개요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325880" y="2240279"/>
              <a:ext cx="109728" cy="310896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554480" y="2194560"/>
              <a:ext cx="923544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추진 배경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1554480" y="2752344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810512" y="2633472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사용자 피드백을 신속히 반영한다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1554480" y="3136391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810512" y="3017520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보안·규제 요건을 선제적으로 충족한다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1554480" y="3520439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810512" y="3401568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확장 가능한 아키텍처로 미래 수요에 대응한다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325880" y="4343399"/>
              <a:ext cx="109728" cy="310896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54480" y="4297679"/>
              <a:ext cx="923544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기대 효과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1554480" y="4855464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810512" y="4736592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비용 효율적 운영 모델을 적용한다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1554480" y="5239512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810512" y="5120640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표준에 부합하는 대응 체계를 구축한다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1554480" y="5623559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810512" y="5504688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AI 기반 자동화로 품질 편차를 최소화한다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CMP-196</a:t>
            </a:r>
          </a:p>
        </p:txBody>
      </p:sp>
      <p:grpSp>
        <p:nvGrpSpPr>
          <p:cNvPr id="23" name="asset:CMP-196"/>
          <p:cNvGrpSpPr/>
          <p:nvPr/>
        </p:nvGrpSpPr>
        <p:grpSpPr>
          <a:xfrm>
            <a:off x="1005840" y="1371600"/>
            <a:ext cx="10149840" cy="5029200"/>
            <a:chOff x="1005840" y="1371600"/>
            <a:chExt cx="10149840" cy="5029200"/>
          </a:xfrm>
        </p:grpSpPr>
        <p:sp>
          <p:nvSpPr>
            <p:cNvPr id="3" name="Rounded Rectangle 2"/>
            <p:cNvSpPr/>
            <p:nvPr/>
          </p:nvSpPr>
          <p:spPr>
            <a:xfrm>
              <a:off x="1005840" y="1371600"/>
              <a:ext cx="10149840" cy="5029200"/>
            </a:xfrm>
            <a:prstGeom prst="round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 Same Side Corner Rectangle 3"/>
            <p:cNvSpPr/>
            <p:nvPr/>
          </p:nvSpPr>
          <p:spPr>
            <a:xfrm>
              <a:off x="1005840" y="1371600"/>
              <a:ext cx="10149840" cy="640080"/>
            </a:xfrm>
            <a:prstGeom prst="round2Same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차별화 전략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325880" y="2240279"/>
              <a:ext cx="109728" cy="310896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554480" y="2194560"/>
              <a:ext cx="923544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기대 효과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1554480" y="2752344"/>
              <a:ext cx="109728" cy="109728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810512" y="2633472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보안·규제 요건을 선제적으로 충족한다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1554480" y="3136391"/>
              <a:ext cx="109728" cy="109728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810512" y="3017520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확장 가능한 아키텍처로 미래 수요에 대응한다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325880" y="3642359"/>
              <a:ext cx="109728" cy="310896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554480" y="3596640"/>
              <a:ext cx="923544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핵심 전략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1554480" y="4154424"/>
              <a:ext cx="109728" cy="109728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810512" y="4035552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표준에 부합하는 대응 체계를 구축한다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1554480" y="4538472"/>
              <a:ext cx="109728" cy="109728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810512" y="4419600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AI 기반 자동화로 품질 편차를 최소화한다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325880" y="5044440"/>
              <a:ext cx="109728" cy="310896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554480" y="4998720"/>
              <a:ext cx="923544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실행 방안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1554480" y="5556504"/>
              <a:ext cx="109728" cy="109728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810512" y="5437632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기반 의사결정 체계를 정착시킨다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1554480" y="5940552"/>
              <a:ext cx="109728" cy="109728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810512" y="5821680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현지 파트너십을 통해 시장 진입 장벽을 낮춘다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CMP-197</a:t>
            </a:r>
          </a:p>
        </p:txBody>
      </p:sp>
      <p:grpSp>
        <p:nvGrpSpPr>
          <p:cNvPr id="21" name="asset:CMP-197"/>
          <p:cNvGrpSpPr/>
          <p:nvPr/>
        </p:nvGrpSpPr>
        <p:grpSpPr>
          <a:xfrm>
            <a:off x="1005840" y="1371600"/>
            <a:ext cx="10149840" cy="5029200"/>
            <a:chOff x="1005840" y="1371600"/>
            <a:chExt cx="10149840" cy="5029200"/>
          </a:xfrm>
        </p:grpSpPr>
        <p:sp>
          <p:nvSpPr>
            <p:cNvPr id="3" name="Rounded Rectangle 2"/>
            <p:cNvSpPr/>
            <p:nvPr/>
          </p:nvSpPr>
          <p:spPr>
            <a:xfrm>
              <a:off x="1005840" y="1371600"/>
              <a:ext cx="10149840" cy="5029200"/>
            </a:xfrm>
            <a:prstGeom prst="round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 Same Side Corner Rectangle 3"/>
            <p:cNvSpPr/>
            <p:nvPr/>
          </p:nvSpPr>
          <p:spPr>
            <a:xfrm>
              <a:off x="1005840" y="1371600"/>
              <a:ext cx="10149840" cy="640080"/>
            </a:xfrm>
            <a:prstGeom prst="round2Same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기대 성과 제안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325880" y="2240279"/>
              <a:ext cx="109728" cy="310896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554480" y="2194560"/>
              <a:ext cx="923544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핵심 전략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1554480" y="2752344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810512" y="2633472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확장 가능한 아키텍처로 미래 수요에 대응한다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1554480" y="3136391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810512" y="3017520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비용 효율적 운영 모델을 적용한다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1554480" y="3520439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810512" y="3401568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표준에 부합하는 대응 체계를 구축한다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325880" y="4343399"/>
              <a:ext cx="109728" cy="310896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54480" y="4297679"/>
              <a:ext cx="923544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실행 방안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1554480" y="4855464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810512" y="4736592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AI 기반 자동화로 품질 편차를 최소화한다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1554480" y="5239512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810512" y="5120640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통합 협업 플랫폼으로 커뮤니케이션 비용을 절감한다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1554480" y="5623559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810512" y="5504688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기반 의사결정 체계를 정착시킨다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CMP-198</a:t>
            </a:r>
          </a:p>
        </p:txBody>
      </p:sp>
      <p:grpSp>
        <p:nvGrpSpPr>
          <p:cNvPr id="23" name="asset:CMP-198"/>
          <p:cNvGrpSpPr/>
          <p:nvPr/>
        </p:nvGrpSpPr>
        <p:grpSpPr>
          <a:xfrm>
            <a:off x="1005840" y="1371600"/>
            <a:ext cx="10149840" cy="5029200"/>
            <a:chOff x="1005840" y="1371600"/>
            <a:chExt cx="10149840" cy="5029200"/>
          </a:xfrm>
        </p:grpSpPr>
        <p:sp>
          <p:nvSpPr>
            <p:cNvPr id="3" name="Rounded Rectangle 2"/>
            <p:cNvSpPr/>
            <p:nvPr/>
          </p:nvSpPr>
          <p:spPr>
            <a:xfrm>
              <a:off x="1005840" y="1371600"/>
              <a:ext cx="10149840" cy="5029200"/>
            </a:xfrm>
            <a:prstGeom prst="round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 Same Side Corner Rectangle 3"/>
            <p:cNvSpPr/>
            <p:nvPr/>
          </p:nvSpPr>
          <p:spPr>
            <a:xfrm>
              <a:off x="1005840" y="1371600"/>
              <a:ext cx="10149840" cy="640080"/>
            </a:xfrm>
            <a:prstGeom prst="round2Same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운영 방안 요약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325880" y="2240279"/>
              <a:ext cx="109728" cy="310896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554480" y="2194560"/>
              <a:ext cx="923544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실행 방안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1554480" y="2752344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810512" y="2633472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비용 효율적 운영 모델을 적용한다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1554480" y="3136391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810512" y="3017520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표준에 부합하는 대응 체계를 구축한다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325880" y="3642359"/>
              <a:ext cx="109728" cy="310896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554480" y="3596640"/>
              <a:ext cx="923544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차별화 요소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1554480" y="4154424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810512" y="4035552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통합 협업 플랫폼으로 커뮤니케이션 비용을 절감한다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1554480" y="4538472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810512" y="4419600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기반 의사결정 체계를 정착시킨다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325880" y="5044440"/>
              <a:ext cx="109728" cy="310896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554480" y="4998720"/>
              <a:ext cx="923544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리스크 대응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1554480" y="5556504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810512" y="5437632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단계별 마일스톤으로 리스크를 관리한다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1554480" y="5940552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810512" y="5821680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전담 조직을 구성해 실행력을 확보한다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CMP-199</a:t>
            </a:r>
          </a:p>
        </p:txBody>
      </p:sp>
      <p:grpSp>
        <p:nvGrpSpPr>
          <p:cNvPr id="21" name="asset:CMP-199"/>
          <p:cNvGrpSpPr/>
          <p:nvPr/>
        </p:nvGrpSpPr>
        <p:grpSpPr>
          <a:xfrm>
            <a:off x="1005840" y="1371600"/>
            <a:ext cx="10149840" cy="5029200"/>
            <a:chOff x="1005840" y="1371600"/>
            <a:chExt cx="10149840" cy="5029200"/>
          </a:xfrm>
        </p:grpSpPr>
        <p:sp>
          <p:nvSpPr>
            <p:cNvPr id="3" name="Rounded Rectangle 2"/>
            <p:cNvSpPr/>
            <p:nvPr/>
          </p:nvSpPr>
          <p:spPr>
            <a:xfrm>
              <a:off x="1005840" y="1371600"/>
              <a:ext cx="10149840" cy="5029200"/>
            </a:xfrm>
            <a:prstGeom prst="round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 Same Side Corner Rectangle 3"/>
            <p:cNvSpPr/>
            <p:nvPr/>
          </p:nvSpPr>
          <p:spPr>
            <a:xfrm>
              <a:off x="1005840" y="1371600"/>
              <a:ext cx="10149840" cy="640080"/>
            </a:xfrm>
            <a:prstGeom prst="round2Same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 추진 제안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325880" y="2240279"/>
              <a:ext cx="109728" cy="310896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554480" y="2194560"/>
              <a:ext cx="923544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차별화 요소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1554480" y="2752344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810512" y="2633472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표준에 부합하는 대응 체계를 구축한다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1554480" y="3136391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810512" y="3017520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AI 기반 자동화로 품질 편차를 최소화한다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1554480" y="3520439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810512" y="3401568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통합 협업 플랫폼으로 커뮤니케이션 비용을 절감한다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325880" y="4343399"/>
              <a:ext cx="109728" cy="310896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54480" y="4297679"/>
              <a:ext cx="923544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리스크 대응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1554480" y="4855464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810512" y="4736592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기반 의사결정 체계를 정착시킨다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1554480" y="5239512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810512" y="5120640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현지 파트너십을 통해 시장 진입 장벽을 낮춘다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1554480" y="5623559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810512" y="5504688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단계별 마일스톤으로 리스크를 관리한다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CMP-200</a:t>
            </a:r>
          </a:p>
        </p:txBody>
      </p:sp>
      <p:grpSp>
        <p:nvGrpSpPr>
          <p:cNvPr id="23" name="asset:CMP-200"/>
          <p:cNvGrpSpPr/>
          <p:nvPr/>
        </p:nvGrpSpPr>
        <p:grpSpPr>
          <a:xfrm>
            <a:off x="1005840" y="1371600"/>
            <a:ext cx="10149840" cy="5029200"/>
            <a:chOff x="1005840" y="1371600"/>
            <a:chExt cx="10149840" cy="5029200"/>
          </a:xfrm>
        </p:grpSpPr>
        <p:sp>
          <p:nvSpPr>
            <p:cNvPr id="3" name="Rounded Rectangle 2"/>
            <p:cNvSpPr/>
            <p:nvPr/>
          </p:nvSpPr>
          <p:spPr>
            <a:xfrm>
              <a:off x="1005840" y="1371600"/>
              <a:ext cx="10149840" cy="5029200"/>
            </a:xfrm>
            <a:prstGeom prst="round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 Same Side Corner Rectangle 3"/>
            <p:cNvSpPr/>
            <p:nvPr/>
          </p:nvSpPr>
          <p:spPr>
            <a:xfrm>
              <a:off x="1005840" y="1371600"/>
              <a:ext cx="10149840" cy="640080"/>
            </a:xfrm>
            <a:prstGeom prst="round2Same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핵심 전략 요약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325880" y="2240279"/>
              <a:ext cx="109728" cy="310896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554480" y="2194560"/>
              <a:ext cx="923544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리스크 대응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1554480" y="2752344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810512" y="2633472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AI 기반 자동화로 품질 편차를 최소화한다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1554480" y="3136391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810512" y="3017520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통합 협업 플랫폼으로 커뮤니케이션 비용을 절감한다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325880" y="3642359"/>
              <a:ext cx="109728" cy="310896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554480" y="3596640"/>
              <a:ext cx="923544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운영 계획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1554480" y="4154424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810512" y="4035552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현지 파트너십을 통해 시장 진입 장벽을 낮춘다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1554480" y="4538472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810512" y="4419600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단계별 마일스톤으로 리스크를 관리한다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325880" y="5044440"/>
              <a:ext cx="109728" cy="310896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554480" y="4998720"/>
              <a:ext cx="923544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성과 지표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1554480" y="5556504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810512" y="5437632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정량 지표로 성과를 추적한다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1554480" y="5940552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810512" y="5821680"/>
              <a:ext cx="8887968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사용자 피드백을 신속히 반영한다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