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3열 평가표 (현행 vs 개선)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항목별 현행·개선 상태를 기호로 표기 (blue)</a:t>
            </a:r>
          </a:p>
        </p:txBody>
      </p:sp>
      <p:graphicFrame>
        <p:nvGraphicFramePr>
          <p:cNvPr id="5" name="asset:CMP-033"/>
          <p:cNvGraphicFramePr>
            <a:graphicFrameLocks noGrp="1"/>
          </p:cNvGraphicFramePr>
          <p:nvPr/>
        </p:nvGraphicFramePr>
        <p:xfrm>
          <a:off x="1005840" y="1417320"/>
          <a:ext cx="10149838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97680"/>
                <a:gridCol w="2926079"/>
                <a:gridCol w="2926079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현행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개선</a:t>
                      </a:r>
                    </a:p>
                  </a:txBody>
                  <a:tcPr anchor="ctr" marL="63500" marR="63500" marT="38100" marB="38100">
                    <a:solidFill>
                      <a:srgbClr val="2E75D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대응 역량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 보통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협업 프로세스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 미흡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 활용 성숙도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 보통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관리 체계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 미흡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4열 평가표 (현행 vs 개선)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항목별 현행·개선 상태를 기호로 표기 (teal)</a:t>
            </a:r>
          </a:p>
        </p:txBody>
      </p:sp>
      <p:graphicFrame>
        <p:nvGraphicFramePr>
          <p:cNvPr id="5" name="asset:CMP-034"/>
          <p:cNvGraphicFramePr>
            <a:graphicFrameLocks noGrp="1"/>
          </p:cNvGraphicFramePr>
          <p:nvPr/>
        </p:nvGraphicFramePr>
        <p:xfrm>
          <a:off x="1005840" y="1417320"/>
          <a:ext cx="10149839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49039"/>
                <a:gridCol w="2133600"/>
                <a:gridCol w="2133600"/>
                <a:gridCol w="213360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현행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개선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</a:t>
                      </a:r>
                    </a:p>
                  </a:txBody>
                  <a:tcPr anchor="ctr" marL="63500" marR="63500" marT="38100" marB="38100">
                    <a:solidFill>
                      <a:srgbClr val="1F9E8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협업 프로세스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 미흡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 활용 성숙도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 보통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 보통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관리 체계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 미흡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가격 경쟁력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 보통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납기 대응력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 미흡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 보통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3열 평가표 (현행 vs 개선)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항목별 현행·개선 상태를 기호로 표기 (cyan)</a:t>
            </a:r>
          </a:p>
        </p:txBody>
      </p:sp>
      <p:graphicFrame>
        <p:nvGraphicFramePr>
          <p:cNvPr id="5" name="asset:CMP-035"/>
          <p:cNvGraphicFramePr>
            <a:graphicFrameLocks noGrp="1"/>
          </p:cNvGraphicFramePr>
          <p:nvPr/>
        </p:nvGraphicFramePr>
        <p:xfrm>
          <a:off x="1005840" y="1417320"/>
          <a:ext cx="10149838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97680"/>
                <a:gridCol w="2926079"/>
                <a:gridCol w="2926079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현행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개선</a:t>
                      </a:r>
                    </a:p>
                  </a:txBody>
                  <a:tcPr anchor="ctr" marL="63500" marR="63500" marT="38100" marB="38100">
                    <a:solidFill>
                      <a:srgbClr val="29ABE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 활용 성숙도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 보통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관리 체계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 미흡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가격 경쟁력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 보통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납기 대응력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 미흡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기술 전문성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 보통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보안 수준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 미흡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4열 평가표 (현행 vs 개선)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항목별 현행·개선 상태를 기호로 표기 (purple)</a:t>
            </a:r>
          </a:p>
        </p:txBody>
      </p:sp>
      <p:graphicFrame>
        <p:nvGraphicFramePr>
          <p:cNvPr id="5" name="asset:CMP-036"/>
          <p:cNvGraphicFramePr>
            <a:graphicFrameLocks noGrp="1"/>
          </p:cNvGraphicFramePr>
          <p:nvPr/>
        </p:nvGraphicFramePr>
        <p:xfrm>
          <a:off x="1005840" y="1417320"/>
          <a:ext cx="10149839" cy="4389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49039"/>
                <a:gridCol w="2133600"/>
                <a:gridCol w="2133600"/>
                <a:gridCol w="213360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현행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개선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</a:t>
                      </a:r>
                    </a:p>
                  </a:txBody>
                  <a:tcPr anchor="ctr" marL="63500" marR="63500" marT="38100" marB="38100">
                    <a:solidFill>
                      <a:srgbClr val="7B2D8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관리 체계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 미흡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가격 경쟁력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 보통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납기 대응력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 미흡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 보통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기술 전문성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 보통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보안 수준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 미흡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사용자 경험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 보통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 보통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시스템 확장성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 미흡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3열 평가표 (현행 vs 개선)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항목별 현행·개선 상태를 기호로 표기 (navy)</a:t>
            </a:r>
          </a:p>
        </p:txBody>
      </p:sp>
      <p:graphicFrame>
        <p:nvGraphicFramePr>
          <p:cNvPr id="5" name="asset:CMP-037"/>
          <p:cNvGraphicFramePr>
            <a:graphicFrameLocks noGrp="1"/>
          </p:cNvGraphicFramePr>
          <p:nvPr/>
        </p:nvGraphicFramePr>
        <p:xfrm>
          <a:off x="1005840" y="1417320"/>
          <a:ext cx="10149838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97680"/>
                <a:gridCol w="2926079"/>
                <a:gridCol w="2926079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현행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개선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가격 경쟁력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 보통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납기 대응력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 미흡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기술 전문성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 보통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보안 수준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 미흡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4열 평가표 (현행 vs 개선)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항목별 현행·개선 상태를 기호로 표기 (blue)</a:t>
            </a:r>
          </a:p>
        </p:txBody>
      </p:sp>
      <p:graphicFrame>
        <p:nvGraphicFramePr>
          <p:cNvPr id="5" name="asset:CMP-038"/>
          <p:cNvGraphicFramePr>
            <a:graphicFrameLocks noGrp="1"/>
          </p:cNvGraphicFramePr>
          <p:nvPr/>
        </p:nvGraphicFramePr>
        <p:xfrm>
          <a:off x="1005840" y="1417320"/>
          <a:ext cx="10149839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49039"/>
                <a:gridCol w="2133600"/>
                <a:gridCol w="2133600"/>
                <a:gridCol w="213360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현행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개선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</a:t>
                      </a:r>
                    </a:p>
                  </a:txBody>
                  <a:tcPr anchor="ctr" marL="63500" marR="63500" marT="38100" marB="38100">
                    <a:solidFill>
                      <a:srgbClr val="2E75D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납기 대응력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 미흡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 보통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기술 전문성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 보통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보안 수준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 미흡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사용자 경험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 보통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 보통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시스템 확장성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 미흡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3열 평가표 (현행 vs 개선)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항목별 현행·개선 상태를 기호로 표기 (teal)</a:t>
            </a:r>
          </a:p>
        </p:txBody>
      </p:sp>
      <p:graphicFrame>
        <p:nvGraphicFramePr>
          <p:cNvPr id="5" name="asset:CMP-039"/>
          <p:cNvGraphicFramePr>
            <a:graphicFrameLocks noGrp="1"/>
          </p:cNvGraphicFramePr>
          <p:nvPr/>
        </p:nvGraphicFramePr>
        <p:xfrm>
          <a:off x="1005840" y="1417320"/>
          <a:ext cx="10149838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97680"/>
                <a:gridCol w="2926079"/>
                <a:gridCol w="2926079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현행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개선</a:t>
                      </a:r>
                    </a:p>
                  </a:txBody>
                  <a:tcPr anchor="ctr" marL="63500" marR="63500" marT="38100" marB="38100">
                    <a:solidFill>
                      <a:srgbClr val="1F9E8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기술 전문성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 보통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보안 수준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 미흡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사용자 경험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 보통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시스템 확장성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 미흡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 편의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 보통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 체계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 미흡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4열 평가표 (현행 vs 개선)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항목별 현행·개선 상태를 기호로 표기 (cyan)</a:t>
            </a:r>
          </a:p>
        </p:txBody>
      </p:sp>
      <p:graphicFrame>
        <p:nvGraphicFramePr>
          <p:cNvPr id="5" name="asset:CMP-040"/>
          <p:cNvGraphicFramePr>
            <a:graphicFrameLocks noGrp="1"/>
          </p:cNvGraphicFramePr>
          <p:nvPr/>
        </p:nvGraphicFramePr>
        <p:xfrm>
          <a:off x="1005840" y="1417320"/>
          <a:ext cx="10149839" cy="4389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49039"/>
                <a:gridCol w="2133600"/>
                <a:gridCol w="2133600"/>
                <a:gridCol w="213360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현행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개선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</a:t>
                      </a:r>
                    </a:p>
                  </a:txBody>
                  <a:tcPr anchor="ctr" marL="63500" marR="63500" marT="38100" marB="38100">
                    <a:solidFill>
                      <a:srgbClr val="29ABE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보안 수준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 미흡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사용자 경험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 보통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 보통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시스템 확장성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 미흡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 편의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 보통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 체계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 미흡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 보통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시장 이해도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 보통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효율성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 미흡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3열 평가표 (현행 vs 개선)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항목별 현행·개선 상태를 기호로 표기 (purple)</a:t>
            </a:r>
          </a:p>
        </p:txBody>
      </p:sp>
      <p:graphicFrame>
        <p:nvGraphicFramePr>
          <p:cNvPr id="5" name="asset:CMP-041"/>
          <p:cNvGraphicFramePr>
            <a:graphicFrameLocks noGrp="1"/>
          </p:cNvGraphicFramePr>
          <p:nvPr/>
        </p:nvGraphicFramePr>
        <p:xfrm>
          <a:off x="1005840" y="1417320"/>
          <a:ext cx="10149838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97680"/>
                <a:gridCol w="2926079"/>
                <a:gridCol w="2926079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현행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개선</a:t>
                      </a:r>
                    </a:p>
                  </a:txBody>
                  <a:tcPr anchor="ctr" marL="63500" marR="63500" marT="38100" marB="38100">
                    <a:solidFill>
                      <a:srgbClr val="7B2D8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사용자 경험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 보통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시스템 확장성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 미흡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 편의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 보통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 체계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 미흡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4열 평가표 (현행 vs 개선)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항목별 현행·개선 상태를 기호로 표기 (navy)</a:t>
            </a:r>
          </a:p>
        </p:txBody>
      </p:sp>
      <p:graphicFrame>
        <p:nvGraphicFramePr>
          <p:cNvPr id="5" name="asset:CMP-042"/>
          <p:cNvGraphicFramePr>
            <a:graphicFrameLocks noGrp="1"/>
          </p:cNvGraphicFramePr>
          <p:nvPr/>
        </p:nvGraphicFramePr>
        <p:xfrm>
          <a:off x="1005840" y="1417320"/>
          <a:ext cx="10149839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49039"/>
                <a:gridCol w="2133600"/>
                <a:gridCol w="2133600"/>
                <a:gridCol w="213360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현행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개선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시스템 확장성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 미흡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 편의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 보통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 체계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 미흡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 보통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시장 이해도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 보통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효율성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 미흡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3열 평가표 (현행 vs 개선)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항목별 현행·개선 상태를 기호로 표기 (blue)</a:t>
            </a:r>
          </a:p>
        </p:txBody>
      </p:sp>
      <p:graphicFrame>
        <p:nvGraphicFramePr>
          <p:cNvPr id="5" name="asset:CMP-043"/>
          <p:cNvGraphicFramePr>
            <a:graphicFrameLocks noGrp="1"/>
          </p:cNvGraphicFramePr>
          <p:nvPr/>
        </p:nvGraphicFramePr>
        <p:xfrm>
          <a:off x="1005840" y="1417320"/>
          <a:ext cx="10149838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97680"/>
                <a:gridCol w="2926079"/>
                <a:gridCol w="2926079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현행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개선</a:t>
                      </a:r>
                    </a:p>
                  </a:txBody>
                  <a:tcPr anchor="ctr" marL="63500" marR="63500" marT="38100" marB="38100">
                    <a:solidFill>
                      <a:srgbClr val="2E75D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 편의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 보통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 체계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 미흡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시장 이해도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 보통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효율성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 미흡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혁신 역량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 보통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신뢰도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 미흡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4열 평가표 (현행 vs 개선)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항목별 현행·개선 상태를 기호로 표기 (teal)</a:t>
            </a:r>
          </a:p>
        </p:txBody>
      </p:sp>
      <p:graphicFrame>
        <p:nvGraphicFramePr>
          <p:cNvPr id="5" name="asset:CMP-044"/>
          <p:cNvGraphicFramePr>
            <a:graphicFrameLocks noGrp="1"/>
          </p:cNvGraphicFramePr>
          <p:nvPr/>
        </p:nvGraphicFramePr>
        <p:xfrm>
          <a:off x="1005840" y="1417320"/>
          <a:ext cx="10149839" cy="4389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49039"/>
                <a:gridCol w="2133600"/>
                <a:gridCol w="2133600"/>
                <a:gridCol w="213360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현행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개선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</a:t>
                      </a:r>
                    </a:p>
                  </a:txBody>
                  <a:tcPr anchor="ctr" marL="63500" marR="63500" marT="38100" marB="38100">
                    <a:solidFill>
                      <a:srgbClr val="1F9E8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 체계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 미흡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 보통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시장 이해도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 보통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효율성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 미흡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혁신 역량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 보통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 보통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신뢰도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 미흡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수준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 보통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리스크 관리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 미흡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 보통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3열 평가표 (현행 vs 개선)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항목별 현행·개선 상태를 기호로 표기 (cyan)</a:t>
            </a:r>
          </a:p>
        </p:txBody>
      </p:sp>
      <p:graphicFrame>
        <p:nvGraphicFramePr>
          <p:cNvPr id="5" name="asset:CMP-045"/>
          <p:cNvGraphicFramePr>
            <a:graphicFrameLocks noGrp="1"/>
          </p:cNvGraphicFramePr>
          <p:nvPr/>
        </p:nvGraphicFramePr>
        <p:xfrm>
          <a:off x="1005840" y="1417320"/>
          <a:ext cx="10149838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97680"/>
                <a:gridCol w="2926079"/>
                <a:gridCol w="2926079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현행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개선</a:t>
                      </a:r>
                    </a:p>
                  </a:txBody>
                  <a:tcPr anchor="ctr" marL="63500" marR="63500" marT="38100" marB="38100">
                    <a:solidFill>
                      <a:srgbClr val="29ABE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시장 이해도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 보통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효율성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 미흡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혁신 역량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 보통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신뢰도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 미흡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4열 평가표 (현행 vs 개선)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항목별 현행·개선 상태를 기호로 표기 (purple)</a:t>
            </a:r>
          </a:p>
        </p:txBody>
      </p:sp>
      <p:graphicFrame>
        <p:nvGraphicFramePr>
          <p:cNvPr id="5" name="asset:CMP-046"/>
          <p:cNvGraphicFramePr>
            <a:graphicFrameLocks noGrp="1"/>
          </p:cNvGraphicFramePr>
          <p:nvPr/>
        </p:nvGraphicFramePr>
        <p:xfrm>
          <a:off x="1005840" y="1417320"/>
          <a:ext cx="10149839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49039"/>
                <a:gridCol w="2133600"/>
                <a:gridCol w="2133600"/>
                <a:gridCol w="213360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현행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개선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</a:t>
                      </a:r>
                    </a:p>
                  </a:txBody>
                  <a:tcPr anchor="ctr" marL="63500" marR="63500" marT="38100" marB="38100">
                    <a:solidFill>
                      <a:srgbClr val="7B2D8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효율성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 미흡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혁신 역량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 보통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 보통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신뢰도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 미흡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수준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 보통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리스크 관리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 미흡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 우수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 보통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