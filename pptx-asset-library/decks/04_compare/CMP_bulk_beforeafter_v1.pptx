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Before / After 대비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개선 전·후를 2열 카드로 대비 (blue)</a:t>
            </a:r>
          </a:p>
        </p:txBody>
      </p:sp>
      <p:grpSp>
        <p:nvGrpSpPr>
          <p:cNvPr id="22" name="asset:CMP-175"/>
          <p:cNvGrpSpPr/>
          <p:nvPr/>
        </p:nvGrpSpPr>
        <p:grpSpPr>
          <a:xfrm>
            <a:off x="1005840" y="1508760"/>
            <a:ext cx="10789919" cy="4206240"/>
            <a:chOff x="1005840" y="1508760"/>
            <a:chExt cx="10789919" cy="420624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508760"/>
              <a:ext cx="4892040" cy="4206240"/>
            </a:xfrm>
            <a:prstGeom prst="roundRect">
              <a:avLst/>
            </a:prstGeom>
            <a:solidFill>
              <a:srgbClr val="F2F2F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508760"/>
              <a:ext cx="4892040" cy="685800"/>
            </a:xfrm>
            <a:prstGeom prst="round2Same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Before (현행)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325880" y="2523744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81912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대응 체계 부재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325880" y="3090672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81912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중심 품질 관리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325880" y="3657599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81912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협업 프로세스 분산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903719" y="1508760"/>
              <a:ext cx="4892040" cy="42062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 Same Side Corner Rectangle 13"/>
            <p:cNvSpPr/>
            <p:nvPr/>
          </p:nvSpPr>
          <p:spPr>
            <a:xfrm>
              <a:off x="6903719" y="1508760"/>
              <a:ext cx="4892040" cy="68580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After (개선)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7223759" y="252374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479791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 대응 체계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7223759" y="309067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479791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품질 자동화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7223759" y="3657599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479791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</a:t>
              </a:r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6035040" y="3246120"/>
              <a:ext cx="731520" cy="73152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Before / After 대비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개선 전·후를 2열 카드로 대비 (teal)</a:t>
            </a:r>
          </a:p>
        </p:txBody>
      </p:sp>
      <p:grpSp>
        <p:nvGrpSpPr>
          <p:cNvPr id="26" name="asset:CMP-176"/>
          <p:cNvGrpSpPr/>
          <p:nvPr/>
        </p:nvGrpSpPr>
        <p:grpSpPr>
          <a:xfrm>
            <a:off x="1005840" y="1508760"/>
            <a:ext cx="10789919" cy="4206240"/>
            <a:chOff x="1005840" y="1508760"/>
            <a:chExt cx="10789919" cy="420624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508760"/>
              <a:ext cx="4892040" cy="4206240"/>
            </a:xfrm>
            <a:prstGeom prst="roundRect">
              <a:avLst/>
            </a:prstGeom>
            <a:solidFill>
              <a:srgbClr val="F2F2F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508760"/>
              <a:ext cx="4892040" cy="685800"/>
            </a:xfrm>
            <a:prstGeom prst="round2Same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Before (현행)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325880" y="2523744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81912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중심 품질 관리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325880" y="3090672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81912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협업 프로세스 분산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325880" y="3657599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81912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미적용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325880" y="4224528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81912" y="4105656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903719" y="1508760"/>
              <a:ext cx="4892040" cy="42062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 Same Side Corner Rectangle 15"/>
            <p:cNvSpPr/>
            <p:nvPr/>
          </p:nvSpPr>
          <p:spPr>
            <a:xfrm>
              <a:off x="6903719" y="1508760"/>
              <a:ext cx="4892040" cy="68580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After (개선)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7223759" y="252374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479791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품질 자동화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7223759" y="309067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479791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7223759" y="3657599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479791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7223759" y="4224528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79791" y="4105656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데이터 허브</a:t>
              </a:r>
            </a:p>
          </p:txBody>
        </p:sp>
        <p:sp>
          <p:nvSpPr>
            <p:cNvPr id="25" name="Right Arrow 24"/>
            <p:cNvSpPr/>
            <p:nvPr/>
          </p:nvSpPr>
          <p:spPr>
            <a:xfrm>
              <a:off x="6035040" y="3246120"/>
              <a:ext cx="731520" cy="73152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Before / After 대비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개선 전·후를 2열 카드로 대비 (cyan)</a:t>
            </a:r>
          </a:p>
        </p:txBody>
      </p:sp>
      <p:grpSp>
        <p:nvGrpSpPr>
          <p:cNvPr id="30" name="asset:CMP-177"/>
          <p:cNvGrpSpPr/>
          <p:nvPr/>
        </p:nvGrpSpPr>
        <p:grpSpPr>
          <a:xfrm>
            <a:off x="1005840" y="1508760"/>
            <a:ext cx="10789919" cy="4206240"/>
            <a:chOff x="1005840" y="1508760"/>
            <a:chExt cx="10789919" cy="420624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508760"/>
              <a:ext cx="4892040" cy="4206240"/>
            </a:xfrm>
            <a:prstGeom prst="roundRect">
              <a:avLst/>
            </a:prstGeom>
            <a:solidFill>
              <a:srgbClr val="F2F2F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508760"/>
              <a:ext cx="4892040" cy="685800"/>
            </a:xfrm>
            <a:prstGeom prst="round2Same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Before (현행)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325880" y="2523744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81912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협업 프로세스 분산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325880" y="3090672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81912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미적용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325880" y="3657599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81912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325880" y="4224528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81912" y="4105656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대응 속도 지연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325880" y="4791456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81912" y="4672584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대응 체계 부재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903719" y="1508760"/>
              <a:ext cx="4892040" cy="42062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6903719" y="1508760"/>
              <a:ext cx="4892040" cy="68580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After (개선)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7223759" y="252374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479791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7223759" y="309067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479791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7223759" y="3657599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79791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데이터 허브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7223759" y="4224528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479791" y="4105656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즉시 대응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7223759" y="4791456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479791" y="4672584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 대응 체계</a:t>
              </a:r>
            </a:p>
          </p:txBody>
        </p:sp>
        <p:sp>
          <p:nvSpPr>
            <p:cNvPr id="29" name="Right Arrow 28"/>
            <p:cNvSpPr/>
            <p:nvPr/>
          </p:nvSpPr>
          <p:spPr>
            <a:xfrm>
              <a:off x="6035040" y="3246120"/>
              <a:ext cx="731520" cy="73152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Before / After 대비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개선 전·후를 2열 카드로 대비 (purple)</a:t>
            </a:r>
          </a:p>
        </p:txBody>
      </p:sp>
      <p:grpSp>
        <p:nvGrpSpPr>
          <p:cNvPr id="22" name="asset:CMP-178"/>
          <p:cNvGrpSpPr/>
          <p:nvPr/>
        </p:nvGrpSpPr>
        <p:grpSpPr>
          <a:xfrm>
            <a:off x="1005840" y="1508760"/>
            <a:ext cx="10789919" cy="4206240"/>
            <a:chOff x="1005840" y="1508760"/>
            <a:chExt cx="10789919" cy="420624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508760"/>
              <a:ext cx="4892040" cy="4206240"/>
            </a:xfrm>
            <a:prstGeom prst="roundRect">
              <a:avLst/>
            </a:prstGeom>
            <a:solidFill>
              <a:srgbClr val="F2F2F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508760"/>
              <a:ext cx="4892040" cy="685800"/>
            </a:xfrm>
            <a:prstGeom prst="round2Same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Before (현행)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325880" y="2523744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81912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미적용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325880" y="3090672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81912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325880" y="3657599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81912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대응 속도 지연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903719" y="1508760"/>
              <a:ext cx="4892040" cy="42062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 Same Side Corner Rectangle 13"/>
            <p:cNvSpPr/>
            <p:nvPr/>
          </p:nvSpPr>
          <p:spPr>
            <a:xfrm>
              <a:off x="6903719" y="1508760"/>
              <a:ext cx="4892040" cy="685800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After (개선)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7223759" y="252374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479791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7223759" y="309067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479791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데이터 허브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7223759" y="3657599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479791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즉시 대응</a:t>
              </a:r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6035040" y="3246120"/>
              <a:ext cx="731520" cy="73152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Before / After 대비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개선 전·후를 2열 카드로 대비 (navy)</a:t>
            </a:r>
          </a:p>
        </p:txBody>
      </p:sp>
      <p:grpSp>
        <p:nvGrpSpPr>
          <p:cNvPr id="26" name="asset:CMP-179"/>
          <p:cNvGrpSpPr/>
          <p:nvPr/>
        </p:nvGrpSpPr>
        <p:grpSpPr>
          <a:xfrm>
            <a:off x="1005840" y="1508760"/>
            <a:ext cx="10789919" cy="4206240"/>
            <a:chOff x="1005840" y="1508760"/>
            <a:chExt cx="10789919" cy="420624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508760"/>
              <a:ext cx="4892040" cy="4206240"/>
            </a:xfrm>
            <a:prstGeom prst="roundRect">
              <a:avLst/>
            </a:prstGeom>
            <a:solidFill>
              <a:srgbClr val="F2F2F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508760"/>
              <a:ext cx="4892040" cy="685800"/>
            </a:xfrm>
            <a:prstGeom prst="round2Same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Before (현행)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325880" y="2523744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81912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325880" y="3090672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81912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대응 속도 지연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325880" y="3657599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81912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대응 체계 부재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325880" y="4224528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81912" y="4105656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중심 품질 관리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903719" y="1508760"/>
              <a:ext cx="4892040" cy="42062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 Same Side Corner Rectangle 15"/>
            <p:cNvSpPr/>
            <p:nvPr/>
          </p:nvSpPr>
          <p:spPr>
            <a:xfrm>
              <a:off x="6903719" y="1508760"/>
              <a:ext cx="4892040" cy="68580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After (개선)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7223759" y="2523744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479791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데이터 허브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7223759" y="3090672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479791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즉시 대응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7223759" y="3657599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479791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 대응 체계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7223759" y="4224528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79791" y="4105656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품질 자동화</a:t>
              </a:r>
            </a:p>
          </p:txBody>
        </p:sp>
        <p:sp>
          <p:nvSpPr>
            <p:cNvPr id="25" name="Right Arrow 24"/>
            <p:cNvSpPr/>
            <p:nvPr/>
          </p:nvSpPr>
          <p:spPr>
            <a:xfrm>
              <a:off x="6035040" y="3246120"/>
              <a:ext cx="731520" cy="73152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Before / After 대비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개선 전·후를 2열 카드로 대비 (blue)</a:t>
            </a:r>
          </a:p>
        </p:txBody>
      </p:sp>
      <p:grpSp>
        <p:nvGrpSpPr>
          <p:cNvPr id="30" name="asset:CMP-180"/>
          <p:cNvGrpSpPr/>
          <p:nvPr/>
        </p:nvGrpSpPr>
        <p:grpSpPr>
          <a:xfrm>
            <a:off x="1005840" y="1508760"/>
            <a:ext cx="10789919" cy="4206240"/>
            <a:chOff x="1005840" y="1508760"/>
            <a:chExt cx="10789919" cy="420624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508760"/>
              <a:ext cx="4892040" cy="4206240"/>
            </a:xfrm>
            <a:prstGeom prst="roundRect">
              <a:avLst/>
            </a:prstGeom>
            <a:solidFill>
              <a:srgbClr val="F2F2F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508760"/>
              <a:ext cx="4892040" cy="685800"/>
            </a:xfrm>
            <a:prstGeom prst="round2Same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Before (현행)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325880" y="2523744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81912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대응 속도 지연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325880" y="3090672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81912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대응 체계 부재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325880" y="3657599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81912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중심 품질 관리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325880" y="4224528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81912" y="4105656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협업 프로세스 분산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325880" y="4791456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81912" y="4672584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미적용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903719" y="1508760"/>
              <a:ext cx="4892040" cy="42062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6903719" y="1508760"/>
              <a:ext cx="4892040" cy="68580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After (개선)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7223759" y="252374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479791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즉시 대응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7223759" y="309067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479791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 대응 체계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7223759" y="3657599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79791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품질 자동화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7223759" y="4224528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479791" y="4105656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7223759" y="4791456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479791" y="4672584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29" name="Right Arrow 28"/>
            <p:cNvSpPr/>
            <p:nvPr/>
          </p:nvSpPr>
          <p:spPr>
            <a:xfrm>
              <a:off x="6035040" y="3246120"/>
              <a:ext cx="731520" cy="73152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Before / After 대비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개선 전·후를 2열 카드로 대비 (teal)</a:t>
            </a:r>
          </a:p>
        </p:txBody>
      </p:sp>
      <p:grpSp>
        <p:nvGrpSpPr>
          <p:cNvPr id="22" name="asset:CMP-181"/>
          <p:cNvGrpSpPr/>
          <p:nvPr/>
        </p:nvGrpSpPr>
        <p:grpSpPr>
          <a:xfrm>
            <a:off x="1005840" y="1508760"/>
            <a:ext cx="10789919" cy="4206240"/>
            <a:chOff x="1005840" y="1508760"/>
            <a:chExt cx="10789919" cy="420624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508760"/>
              <a:ext cx="4892040" cy="4206240"/>
            </a:xfrm>
            <a:prstGeom prst="roundRect">
              <a:avLst/>
            </a:prstGeom>
            <a:solidFill>
              <a:srgbClr val="F2F2F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508760"/>
              <a:ext cx="4892040" cy="685800"/>
            </a:xfrm>
            <a:prstGeom prst="round2Same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Before (현행)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325880" y="2523744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81912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대응 체계 부재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325880" y="3090672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81912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중심 품질 관리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325880" y="3657599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81912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협업 프로세스 분산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903719" y="1508760"/>
              <a:ext cx="4892040" cy="42062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 Same Side Corner Rectangle 13"/>
            <p:cNvSpPr/>
            <p:nvPr/>
          </p:nvSpPr>
          <p:spPr>
            <a:xfrm>
              <a:off x="6903719" y="1508760"/>
              <a:ext cx="4892040" cy="68580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After (개선)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7223759" y="252374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479791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 대응 체계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7223759" y="309067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479791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품질 자동화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7223759" y="3657599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479791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</a:t>
              </a:r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6035040" y="3246120"/>
              <a:ext cx="731520" cy="73152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Before / After 대비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개선 전·후를 2열 카드로 대비 (cyan)</a:t>
            </a:r>
          </a:p>
        </p:txBody>
      </p:sp>
      <p:grpSp>
        <p:nvGrpSpPr>
          <p:cNvPr id="26" name="asset:CMP-182"/>
          <p:cNvGrpSpPr/>
          <p:nvPr/>
        </p:nvGrpSpPr>
        <p:grpSpPr>
          <a:xfrm>
            <a:off x="1005840" y="1508760"/>
            <a:ext cx="10789919" cy="4206240"/>
            <a:chOff x="1005840" y="1508760"/>
            <a:chExt cx="10789919" cy="420624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508760"/>
              <a:ext cx="4892040" cy="4206240"/>
            </a:xfrm>
            <a:prstGeom prst="roundRect">
              <a:avLst/>
            </a:prstGeom>
            <a:solidFill>
              <a:srgbClr val="F2F2F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508760"/>
              <a:ext cx="4892040" cy="685800"/>
            </a:xfrm>
            <a:prstGeom prst="round2Same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Before (현행)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325880" y="2523744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81912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중심 품질 관리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325880" y="3090672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81912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협업 프로세스 분산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325880" y="3657599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81912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미적용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325880" y="4224528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81912" y="4105656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903719" y="1508760"/>
              <a:ext cx="4892040" cy="42062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 Same Side Corner Rectangle 15"/>
            <p:cNvSpPr/>
            <p:nvPr/>
          </p:nvSpPr>
          <p:spPr>
            <a:xfrm>
              <a:off x="6903719" y="1508760"/>
              <a:ext cx="4892040" cy="68580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After (개선)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7223759" y="252374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479791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품질 자동화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7223759" y="309067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479791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7223759" y="3657599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479791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7223759" y="4224528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79791" y="4105656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데이터 허브</a:t>
              </a:r>
            </a:p>
          </p:txBody>
        </p:sp>
        <p:sp>
          <p:nvSpPr>
            <p:cNvPr id="25" name="Right Arrow 24"/>
            <p:cNvSpPr/>
            <p:nvPr/>
          </p:nvSpPr>
          <p:spPr>
            <a:xfrm>
              <a:off x="6035040" y="3246120"/>
              <a:ext cx="731520" cy="73152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Before / After 대비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개선 전·후를 2열 카드로 대비 (purple)</a:t>
            </a:r>
          </a:p>
        </p:txBody>
      </p:sp>
      <p:grpSp>
        <p:nvGrpSpPr>
          <p:cNvPr id="30" name="asset:CMP-183"/>
          <p:cNvGrpSpPr/>
          <p:nvPr/>
        </p:nvGrpSpPr>
        <p:grpSpPr>
          <a:xfrm>
            <a:off x="1005840" y="1508760"/>
            <a:ext cx="10789919" cy="4206240"/>
            <a:chOff x="1005840" y="1508760"/>
            <a:chExt cx="10789919" cy="420624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508760"/>
              <a:ext cx="4892040" cy="4206240"/>
            </a:xfrm>
            <a:prstGeom prst="roundRect">
              <a:avLst/>
            </a:prstGeom>
            <a:solidFill>
              <a:srgbClr val="F2F2F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508760"/>
              <a:ext cx="4892040" cy="685800"/>
            </a:xfrm>
            <a:prstGeom prst="round2Same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Before (현행)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325880" y="2523744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81912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협업 프로세스 분산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325880" y="3090672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81912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미적용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325880" y="3657599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81912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325880" y="4224528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81912" y="4105656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대응 속도 지연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325880" y="4791456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81912" y="4672584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대응 체계 부재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903719" y="1508760"/>
              <a:ext cx="4892040" cy="42062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6903719" y="1508760"/>
              <a:ext cx="4892040" cy="685800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After (개선)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7223759" y="252374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479791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7223759" y="309067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479791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7223759" y="3657599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79791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데이터 허브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7223759" y="4224528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479791" y="4105656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즉시 대응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7223759" y="4791456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479791" y="4672584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 대응 체계</a:t>
              </a:r>
            </a:p>
          </p:txBody>
        </p:sp>
        <p:sp>
          <p:nvSpPr>
            <p:cNvPr id="29" name="Right Arrow 28"/>
            <p:cNvSpPr/>
            <p:nvPr/>
          </p:nvSpPr>
          <p:spPr>
            <a:xfrm>
              <a:off x="6035040" y="3246120"/>
              <a:ext cx="731520" cy="73152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Before / After 대비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개선 전·후를 2열 카드로 대비 (navy)</a:t>
            </a:r>
          </a:p>
        </p:txBody>
      </p:sp>
      <p:grpSp>
        <p:nvGrpSpPr>
          <p:cNvPr id="22" name="asset:CMP-184"/>
          <p:cNvGrpSpPr/>
          <p:nvPr/>
        </p:nvGrpSpPr>
        <p:grpSpPr>
          <a:xfrm>
            <a:off x="1005840" y="1508760"/>
            <a:ext cx="10789919" cy="4206240"/>
            <a:chOff x="1005840" y="1508760"/>
            <a:chExt cx="10789919" cy="420624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508760"/>
              <a:ext cx="4892040" cy="4206240"/>
            </a:xfrm>
            <a:prstGeom prst="roundRect">
              <a:avLst/>
            </a:prstGeom>
            <a:solidFill>
              <a:srgbClr val="F2F2F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508760"/>
              <a:ext cx="4892040" cy="685800"/>
            </a:xfrm>
            <a:prstGeom prst="round2Same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Before (현행)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325880" y="2523744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81912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미적용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325880" y="3090672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81912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325880" y="3657599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81912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대응 속도 지연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903719" y="1508760"/>
              <a:ext cx="4892040" cy="42062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 Same Side Corner Rectangle 13"/>
            <p:cNvSpPr/>
            <p:nvPr/>
          </p:nvSpPr>
          <p:spPr>
            <a:xfrm>
              <a:off x="6903719" y="1508760"/>
              <a:ext cx="4892040" cy="68580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After (개선)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7223759" y="2523744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479791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7223759" y="3090672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479791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데이터 허브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7223759" y="3657599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479791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즉시 대응</a:t>
              </a:r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6035040" y="3246120"/>
              <a:ext cx="731520" cy="73152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Before / After 대비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개선 전·후를 2열 카드로 대비 (blue)</a:t>
            </a:r>
          </a:p>
        </p:txBody>
      </p:sp>
      <p:grpSp>
        <p:nvGrpSpPr>
          <p:cNvPr id="26" name="asset:CMP-185"/>
          <p:cNvGrpSpPr/>
          <p:nvPr/>
        </p:nvGrpSpPr>
        <p:grpSpPr>
          <a:xfrm>
            <a:off x="1005840" y="1508760"/>
            <a:ext cx="10789919" cy="4206240"/>
            <a:chOff x="1005840" y="1508760"/>
            <a:chExt cx="10789919" cy="420624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508760"/>
              <a:ext cx="4892040" cy="4206240"/>
            </a:xfrm>
            <a:prstGeom prst="roundRect">
              <a:avLst/>
            </a:prstGeom>
            <a:solidFill>
              <a:srgbClr val="F2F2F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508760"/>
              <a:ext cx="4892040" cy="685800"/>
            </a:xfrm>
            <a:prstGeom prst="round2Same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Before (현행)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325880" y="2523744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81912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325880" y="3090672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81912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대응 속도 지연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325880" y="3657599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81912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대응 체계 부재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325880" y="4224528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81912" y="4105656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중심 품질 관리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903719" y="1508760"/>
              <a:ext cx="4892040" cy="42062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 Same Side Corner Rectangle 15"/>
            <p:cNvSpPr/>
            <p:nvPr/>
          </p:nvSpPr>
          <p:spPr>
            <a:xfrm>
              <a:off x="6903719" y="1508760"/>
              <a:ext cx="4892040" cy="68580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After (개선)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7223759" y="252374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479791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데이터 허브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7223759" y="309067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479791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즉시 대응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7223759" y="3657599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479791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 대응 체계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7223759" y="4224528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79791" y="4105656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품질 자동화</a:t>
              </a:r>
            </a:p>
          </p:txBody>
        </p:sp>
        <p:sp>
          <p:nvSpPr>
            <p:cNvPr id="25" name="Right Arrow 24"/>
            <p:cNvSpPr/>
            <p:nvPr/>
          </p:nvSpPr>
          <p:spPr>
            <a:xfrm>
              <a:off x="6035040" y="3246120"/>
              <a:ext cx="731520" cy="73152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Before / After 대비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개선 전·후를 2열 카드로 대비 (teal)</a:t>
            </a:r>
          </a:p>
        </p:txBody>
      </p:sp>
      <p:grpSp>
        <p:nvGrpSpPr>
          <p:cNvPr id="30" name="asset:CMP-186"/>
          <p:cNvGrpSpPr/>
          <p:nvPr/>
        </p:nvGrpSpPr>
        <p:grpSpPr>
          <a:xfrm>
            <a:off x="1005840" y="1508760"/>
            <a:ext cx="10789919" cy="4206240"/>
            <a:chOff x="1005840" y="1508760"/>
            <a:chExt cx="10789919" cy="420624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508760"/>
              <a:ext cx="4892040" cy="4206240"/>
            </a:xfrm>
            <a:prstGeom prst="roundRect">
              <a:avLst/>
            </a:prstGeom>
            <a:solidFill>
              <a:srgbClr val="F2F2F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508760"/>
              <a:ext cx="4892040" cy="685800"/>
            </a:xfrm>
            <a:prstGeom prst="round2Same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Before (현행)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325880" y="2523744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81912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대응 속도 지연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325880" y="3090672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81912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대응 체계 부재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325880" y="3657599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81912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중심 품질 관리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325880" y="4224528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81912" y="4105656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협업 프로세스 분산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325880" y="4791456"/>
              <a:ext cx="109728" cy="10972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81912" y="4672584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미적용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903719" y="1508760"/>
              <a:ext cx="4892040" cy="42062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6903719" y="1508760"/>
              <a:ext cx="4892040" cy="68580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After (개선)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7223759" y="252374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479791" y="2404872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즉시 대응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7223759" y="309067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479791" y="2971800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 대응 체계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7223759" y="3657599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79791" y="3538727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품질 자동화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7223759" y="4224528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479791" y="4105656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7223759" y="4791456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479791" y="4672584"/>
              <a:ext cx="3995927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29" name="Right Arrow 28"/>
            <p:cNvSpPr/>
            <p:nvPr/>
          </p:nvSpPr>
          <p:spPr>
            <a:xfrm>
              <a:off x="6035040" y="3246120"/>
              <a:ext cx="731520" cy="73152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